
<file path=[Content_Types].xml><?xml version="1.0" encoding="utf-8"?>
<Types xmlns="http://schemas.openxmlformats.org/package/2006/content-types">
  <Default Extension="emf" ContentType="image/x-emf"/>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sldIdLst>
    <p:sldId id="257" r:id="rId5"/>
    <p:sldId id="258" r:id="rId6"/>
    <p:sldId id="260" r:id="rId7"/>
    <p:sldId id="294" r:id="rId8"/>
    <p:sldId id="311" r:id="rId9"/>
    <p:sldId id="312" r:id="rId10"/>
    <p:sldId id="295" r:id="rId11"/>
    <p:sldId id="293" r:id="rId12"/>
    <p:sldId id="316" r:id="rId13"/>
    <p:sldId id="313" r:id="rId14"/>
    <p:sldId id="317" r:id="rId15"/>
    <p:sldId id="315" r:id="rId16"/>
    <p:sldId id="314" r:id="rId17"/>
    <p:sldId id="297" r:id="rId18"/>
    <p:sldId id="318" r:id="rId19"/>
    <p:sldId id="319" r:id="rId20"/>
    <p:sldId id="298" r:id="rId21"/>
    <p:sldId id="308" r:id="rId22"/>
    <p:sldId id="309" r:id="rId23"/>
    <p:sldId id="310" r:id="rId24"/>
    <p:sldId id="299" r:id="rId25"/>
    <p:sldId id="320" r:id="rId26"/>
    <p:sldId id="321" r:id="rId27"/>
    <p:sldId id="300" r:id="rId28"/>
    <p:sldId id="322" r:id="rId29"/>
    <p:sldId id="323" r:id="rId30"/>
    <p:sldId id="324" r:id="rId31"/>
    <p:sldId id="301" r:id="rId32"/>
    <p:sldId id="326" r:id="rId33"/>
    <p:sldId id="327" r:id="rId34"/>
    <p:sldId id="325" r:id="rId35"/>
    <p:sldId id="328" r:id="rId36"/>
    <p:sldId id="302" r:id="rId37"/>
    <p:sldId id="304" r:id="rId38"/>
    <p:sldId id="305" r:id="rId39"/>
    <p:sldId id="306" r:id="rId40"/>
    <p:sldId id="329" r:id="rId41"/>
    <p:sldId id="307" r:id="rId42"/>
    <p:sldId id="284" r:id="rId43"/>
  </p:sldIdLst>
  <p:sldSz cx="12192000" cy="6858000"/>
  <p:notesSz cx="6858000" cy="9144000"/>
  <p:defaultTex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BA470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Orta Stil 2 - Vurgu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F1AB2-1976-4502-BF36-3FF5EA218861}" styleName="Orta Stil 4 - Vurgu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0" d="100"/>
          <a:sy n="70" d="100"/>
        </p:scale>
        <p:origin x="738" y="60"/>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theme" Target="theme/theme1.xml"/><Relationship Id="rId20" Type="http://schemas.openxmlformats.org/officeDocument/2006/relationships/slide" Target="slides/slide16.xml"/><Relationship Id="rId41" Type="http://schemas.openxmlformats.org/officeDocument/2006/relationships/slide" Target="slides/slide3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Başlık Slaydı">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35EF0D81-3932-DCDE-3681-0DCD02CED74F}"/>
              </a:ext>
            </a:extLst>
          </p:cNvPr>
          <p:cNvSpPr>
            <a:spLocks noGrp="1"/>
          </p:cNvSpPr>
          <p:nvPr>
            <p:ph type="ctrTitle"/>
          </p:nvPr>
        </p:nvSpPr>
        <p:spPr>
          <a:xfrm>
            <a:off x="1524000" y="1122363"/>
            <a:ext cx="9144000" cy="2387600"/>
          </a:xfrm>
        </p:spPr>
        <p:txBody>
          <a:bodyPr anchor="b"/>
          <a:lstStyle>
            <a:lvl1pPr algn="ctr">
              <a:defRPr sz="6000"/>
            </a:lvl1pPr>
          </a:lstStyle>
          <a:p>
            <a:r>
              <a:rPr lang="tr-TR"/>
              <a:t>Asıl başlık stilini düzenlemek için tıklayın</a:t>
            </a:r>
          </a:p>
        </p:txBody>
      </p:sp>
      <p:sp>
        <p:nvSpPr>
          <p:cNvPr id="3" name="Alt Başlık 2">
            <a:extLst>
              <a:ext uri="{FF2B5EF4-FFF2-40B4-BE49-F238E27FC236}">
                <a16:creationId xmlns:a16="http://schemas.microsoft.com/office/drawing/2014/main" id="{A50714F6-0FC8-FE26-1F38-A1001C0AABC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tr-TR"/>
              <a:t>Asıl alt başlık stilini düzenlemek için tıklayın</a:t>
            </a:r>
          </a:p>
        </p:txBody>
      </p:sp>
      <p:sp>
        <p:nvSpPr>
          <p:cNvPr id="4" name="Veri Yer Tutucusu 3">
            <a:extLst>
              <a:ext uri="{FF2B5EF4-FFF2-40B4-BE49-F238E27FC236}">
                <a16:creationId xmlns:a16="http://schemas.microsoft.com/office/drawing/2014/main" id="{8C856B84-33E5-0D67-64AA-5CA109570076}"/>
              </a:ext>
            </a:extLst>
          </p:cNvPr>
          <p:cNvSpPr>
            <a:spLocks noGrp="1"/>
          </p:cNvSpPr>
          <p:nvPr>
            <p:ph type="dt" sz="half" idx="10"/>
          </p:nvPr>
        </p:nvSpPr>
        <p:spPr/>
        <p:txBody>
          <a:bodyPr/>
          <a:lstStyle/>
          <a:p>
            <a:fld id="{4C346B30-8727-437F-A876-6C8AB807B940}" type="datetimeFigureOut">
              <a:rPr lang="tr-TR" smtClean="0"/>
              <a:t>26.02.2024</a:t>
            </a:fld>
            <a:endParaRPr lang="tr-TR"/>
          </a:p>
        </p:txBody>
      </p:sp>
      <p:sp>
        <p:nvSpPr>
          <p:cNvPr id="5" name="Alt Bilgi Yer Tutucusu 4">
            <a:extLst>
              <a:ext uri="{FF2B5EF4-FFF2-40B4-BE49-F238E27FC236}">
                <a16:creationId xmlns:a16="http://schemas.microsoft.com/office/drawing/2014/main" id="{783833DC-CCF0-E2E2-86C1-57A82AC0152D}"/>
              </a:ext>
            </a:extLst>
          </p:cNvPr>
          <p:cNvSpPr>
            <a:spLocks noGrp="1"/>
          </p:cNvSpPr>
          <p:nvPr>
            <p:ph type="ftr" sz="quarter" idx="11"/>
          </p:nvPr>
        </p:nvSpPr>
        <p:spPr/>
        <p:txBody>
          <a:bodyPr/>
          <a:lstStyle/>
          <a:p>
            <a:endParaRPr lang="tr-TR"/>
          </a:p>
        </p:txBody>
      </p:sp>
      <p:sp>
        <p:nvSpPr>
          <p:cNvPr id="6" name="Slayt Numarası Yer Tutucusu 5">
            <a:extLst>
              <a:ext uri="{FF2B5EF4-FFF2-40B4-BE49-F238E27FC236}">
                <a16:creationId xmlns:a16="http://schemas.microsoft.com/office/drawing/2014/main" id="{7EF8EC0D-3FC7-3901-1F54-99B509590B47}"/>
              </a:ext>
            </a:extLst>
          </p:cNvPr>
          <p:cNvSpPr>
            <a:spLocks noGrp="1"/>
          </p:cNvSpPr>
          <p:nvPr>
            <p:ph type="sldNum" sz="quarter" idx="12"/>
          </p:nvPr>
        </p:nvSpPr>
        <p:spPr/>
        <p:txBody>
          <a:bodyPr/>
          <a:lstStyle/>
          <a:p>
            <a:fld id="{C47CF137-9694-42F5-AD3F-DF7F4286E53B}" type="slidenum">
              <a:rPr lang="tr-TR" smtClean="0"/>
              <a:t>‹#›</a:t>
            </a:fld>
            <a:endParaRPr lang="tr-TR"/>
          </a:p>
        </p:txBody>
      </p:sp>
    </p:spTree>
    <p:extLst>
      <p:ext uri="{BB962C8B-B14F-4D97-AF65-F5344CB8AC3E}">
        <p14:creationId xmlns:p14="http://schemas.microsoft.com/office/powerpoint/2010/main" val="42247400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1E863CD1-C2BB-ED91-E749-91D1579F3C8F}"/>
              </a:ext>
            </a:extLst>
          </p:cNvPr>
          <p:cNvSpPr>
            <a:spLocks noGrp="1"/>
          </p:cNvSpPr>
          <p:nvPr>
            <p:ph type="title"/>
          </p:nvPr>
        </p:nvSpPr>
        <p:spPr/>
        <p:txBody>
          <a:bodyPr/>
          <a:lstStyle/>
          <a:p>
            <a:r>
              <a:rPr lang="tr-TR"/>
              <a:t>Asıl başlık stilini düzenlemek için tıklayın</a:t>
            </a:r>
          </a:p>
        </p:txBody>
      </p:sp>
      <p:sp>
        <p:nvSpPr>
          <p:cNvPr id="3" name="İçerik Yer Tutucusu 2">
            <a:extLst>
              <a:ext uri="{FF2B5EF4-FFF2-40B4-BE49-F238E27FC236}">
                <a16:creationId xmlns:a16="http://schemas.microsoft.com/office/drawing/2014/main" id="{66666C8A-1BE3-8D0D-2EF7-462B11627948}"/>
              </a:ext>
            </a:extLst>
          </p:cNvPr>
          <p:cNvSpPr>
            <a:spLocks noGrp="1"/>
          </p:cNvSpPr>
          <p:nvPr>
            <p:ph idx="1"/>
          </p:nvPr>
        </p:nvSpPr>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a:extLst>
              <a:ext uri="{FF2B5EF4-FFF2-40B4-BE49-F238E27FC236}">
                <a16:creationId xmlns:a16="http://schemas.microsoft.com/office/drawing/2014/main" id="{DF5CAE76-712A-3318-137F-BE35BDFAD39A}"/>
              </a:ext>
            </a:extLst>
          </p:cNvPr>
          <p:cNvSpPr>
            <a:spLocks noGrp="1"/>
          </p:cNvSpPr>
          <p:nvPr>
            <p:ph type="dt" sz="half" idx="10"/>
          </p:nvPr>
        </p:nvSpPr>
        <p:spPr/>
        <p:txBody>
          <a:bodyPr/>
          <a:lstStyle/>
          <a:p>
            <a:fld id="{4C346B30-8727-437F-A876-6C8AB807B940}" type="datetimeFigureOut">
              <a:rPr lang="tr-TR" smtClean="0"/>
              <a:t>26.02.2024</a:t>
            </a:fld>
            <a:endParaRPr lang="tr-TR"/>
          </a:p>
        </p:txBody>
      </p:sp>
      <p:sp>
        <p:nvSpPr>
          <p:cNvPr id="5" name="Alt Bilgi Yer Tutucusu 4">
            <a:extLst>
              <a:ext uri="{FF2B5EF4-FFF2-40B4-BE49-F238E27FC236}">
                <a16:creationId xmlns:a16="http://schemas.microsoft.com/office/drawing/2014/main" id="{FD9385D2-730A-47EC-3552-E71929ED822D}"/>
              </a:ext>
            </a:extLst>
          </p:cNvPr>
          <p:cNvSpPr>
            <a:spLocks noGrp="1"/>
          </p:cNvSpPr>
          <p:nvPr>
            <p:ph type="ftr" sz="quarter" idx="11"/>
          </p:nvPr>
        </p:nvSpPr>
        <p:spPr/>
        <p:txBody>
          <a:bodyPr/>
          <a:lstStyle/>
          <a:p>
            <a:endParaRPr lang="tr-TR"/>
          </a:p>
        </p:txBody>
      </p:sp>
      <p:sp>
        <p:nvSpPr>
          <p:cNvPr id="6" name="Slayt Numarası Yer Tutucusu 5">
            <a:extLst>
              <a:ext uri="{FF2B5EF4-FFF2-40B4-BE49-F238E27FC236}">
                <a16:creationId xmlns:a16="http://schemas.microsoft.com/office/drawing/2014/main" id="{A03F5ADA-E82E-5640-E825-5BBCDB5E24DD}"/>
              </a:ext>
            </a:extLst>
          </p:cNvPr>
          <p:cNvSpPr>
            <a:spLocks noGrp="1"/>
          </p:cNvSpPr>
          <p:nvPr>
            <p:ph type="sldNum" sz="quarter" idx="12"/>
          </p:nvPr>
        </p:nvSpPr>
        <p:spPr/>
        <p:txBody>
          <a:bodyPr/>
          <a:lstStyle/>
          <a:p>
            <a:fld id="{C47CF137-9694-42F5-AD3F-DF7F4286E53B}" type="slidenum">
              <a:rPr lang="tr-TR" smtClean="0"/>
              <a:t>‹#›</a:t>
            </a:fld>
            <a:endParaRPr lang="tr-TR"/>
          </a:p>
        </p:txBody>
      </p:sp>
    </p:spTree>
    <p:extLst>
      <p:ext uri="{BB962C8B-B14F-4D97-AF65-F5344CB8AC3E}">
        <p14:creationId xmlns:p14="http://schemas.microsoft.com/office/powerpoint/2010/main" val="31229651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Bölüm Üst Bilgisi">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C2A07A9A-6FAF-0BD4-3BB3-70AA992DCDBA}"/>
              </a:ext>
            </a:extLst>
          </p:cNvPr>
          <p:cNvSpPr>
            <a:spLocks noGrp="1"/>
          </p:cNvSpPr>
          <p:nvPr>
            <p:ph type="title"/>
          </p:nvPr>
        </p:nvSpPr>
        <p:spPr>
          <a:xfrm>
            <a:off x="831850" y="1709738"/>
            <a:ext cx="10515600" cy="2852737"/>
          </a:xfrm>
        </p:spPr>
        <p:txBody>
          <a:bodyPr anchor="b"/>
          <a:lstStyle>
            <a:lvl1pPr>
              <a:defRPr sz="6000"/>
            </a:lvl1pPr>
          </a:lstStyle>
          <a:p>
            <a:r>
              <a:rPr lang="tr-TR"/>
              <a:t>Asıl başlık stilini düzenlemek için tıklayın</a:t>
            </a:r>
          </a:p>
        </p:txBody>
      </p:sp>
      <p:sp>
        <p:nvSpPr>
          <p:cNvPr id="3" name="Metin Yer Tutucusu 2">
            <a:extLst>
              <a:ext uri="{FF2B5EF4-FFF2-40B4-BE49-F238E27FC236}">
                <a16:creationId xmlns:a16="http://schemas.microsoft.com/office/drawing/2014/main" id="{4C73B45F-6D24-6786-F21B-AF115C328F1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tr-TR"/>
              <a:t>Asıl metin stillerini düzenlemek için tıklayın</a:t>
            </a:r>
          </a:p>
        </p:txBody>
      </p:sp>
      <p:sp>
        <p:nvSpPr>
          <p:cNvPr id="4" name="Veri Yer Tutucusu 3">
            <a:extLst>
              <a:ext uri="{FF2B5EF4-FFF2-40B4-BE49-F238E27FC236}">
                <a16:creationId xmlns:a16="http://schemas.microsoft.com/office/drawing/2014/main" id="{5462822D-087A-9615-FF83-5F3BDCE25BD6}"/>
              </a:ext>
            </a:extLst>
          </p:cNvPr>
          <p:cNvSpPr>
            <a:spLocks noGrp="1"/>
          </p:cNvSpPr>
          <p:nvPr>
            <p:ph type="dt" sz="half" idx="10"/>
          </p:nvPr>
        </p:nvSpPr>
        <p:spPr/>
        <p:txBody>
          <a:bodyPr/>
          <a:lstStyle/>
          <a:p>
            <a:fld id="{4C346B30-8727-437F-A876-6C8AB807B940}" type="datetimeFigureOut">
              <a:rPr lang="tr-TR" smtClean="0"/>
              <a:t>26.02.2024</a:t>
            </a:fld>
            <a:endParaRPr lang="tr-TR"/>
          </a:p>
        </p:txBody>
      </p:sp>
      <p:sp>
        <p:nvSpPr>
          <p:cNvPr id="5" name="Alt Bilgi Yer Tutucusu 4">
            <a:extLst>
              <a:ext uri="{FF2B5EF4-FFF2-40B4-BE49-F238E27FC236}">
                <a16:creationId xmlns:a16="http://schemas.microsoft.com/office/drawing/2014/main" id="{E89D94BB-B9F9-D019-5B63-F45BA7C2D361}"/>
              </a:ext>
            </a:extLst>
          </p:cNvPr>
          <p:cNvSpPr>
            <a:spLocks noGrp="1"/>
          </p:cNvSpPr>
          <p:nvPr>
            <p:ph type="ftr" sz="quarter" idx="11"/>
          </p:nvPr>
        </p:nvSpPr>
        <p:spPr/>
        <p:txBody>
          <a:bodyPr/>
          <a:lstStyle/>
          <a:p>
            <a:endParaRPr lang="tr-TR"/>
          </a:p>
        </p:txBody>
      </p:sp>
      <p:sp>
        <p:nvSpPr>
          <p:cNvPr id="6" name="Slayt Numarası Yer Tutucusu 5">
            <a:extLst>
              <a:ext uri="{FF2B5EF4-FFF2-40B4-BE49-F238E27FC236}">
                <a16:creationId xmlns:a16="http://schemas.microsoft.com/office/drawing/2014/main" id="{7ABBA78D-7277-305C-26C1-4CEC586A9605}"/>
              </a:ext>
            </a:extLst>
          </p:cNvPr>
          <p:cNvSpPr>
            <a:spLocks noGrp="1"/>
          </p:cNvSpPr>
          <p:nvPr>
            <p:ph type="sldNum" sz="quarter" idx="12"/>
          </p:nvPr>
        </p:nvSpPr>
        <p:spPr/>
        <p:txBody>
          <a:bodyPr/>
          <a:lstStyle/>
          <a:p>
            <a:fld id="{C47CF137-9694-42F5-AD3F-DF7F4286E53B}" type="slidenum">
              <a:rPr lang="tr-TR" smtClean="0"/>
              <a:t>‹#›</a:t>
            </a:fld>
            <a:endParaRPr lang="tr-TR"/>
          </a:p>
        </p:txBody>
      </p:sp>
    </p:spTree>
    <p:extLst>
      <p:ext uri="{BB962C8B-B14F-4D97-AF65-F5344CB8AC3E}">
        <p14:creationId xmlns:p14="http://schemas.microsoft.com/office/powerpoint/2010/main" val="562563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BFC852FC-6427-11AD-604C-448C68789976}"/>
              </a:ext>
            </a:extLst>
          </p:cNvPr>
          <p:cNvSpPr>
            <a:spLocks noGrp="1"/>
          </p:cNvSpPr>
          <p:nvPr>
            <p:ph type="title"/>
          </p:nvPr>
        </p:nvSpPr>
        <p:spPr/>
        <p:txBody>
          <a:bodyPr/>
          <a:lstStyle/>
          <a:p>
            <a:r>
              <a:rPr lang="tr-TR"/>
              <a:t>Asıl başlık stilini düzenlemek için tıklayın</a:t>
            </a:r>
          </a:p>
        </p:txBody>
      </p:sp>
      <p:sp>
        <p:nvSpPr>
          <p:cNvPr id="3" name="İçerik Yer Tutucusu 2">
            <a:extLst>
              <a:ext uri="{FF2B5EF4-FFF2-40B4-BE49-F238E27FC236}">
                <a16:creationId xmlns:a16="http://schemas.microsoft.com/office/drawing/2014/main" id="{2D842765-2155-EABE-0FB6-E0AD9A5E6BE9}"/>
              </a:ext>
            </a:extLst>
          </p:cNvPr>
          <p:cNvSpPr>
            <a:spLocks noGrp="1"/>
          </p:cNvSpPr>
          <p:nvPr>
            <p:ph sz="half" idx="1"/>
          </p:nvPr>
        </p:nvSpPr>
        <p:spPr>
          <a:xfrm>
            <a:off x="838200" y="1825625"/>
            <a:ext cx="5181600" cy="4351338"/>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İçerik Yer Tutucusu 3">
            <a:extLst>
              <a:ext uri="{FF2B5EF4-FFF2-40B4-BE49-F238E27FC236}">
                <a16:creationId xmlns:a16="http://schemas.microsoft.com/office/drawing/2014/main" id="{EFD02439-DEE2-8AA4-EA98-409F8EC78E97}"/>
              </a:ext>
            </a:extLst>
          </p:cNvPr>
          <p:cNvSpPr>
            <a:spLocks noGrp="1"/>
          </p:cNvSpPr>
          <p:nvPr>
            <p:ph sz="half" idx="2"/>
          </p:nvPr>
        </p:nvSpPr>
        <p:spPr>
          <a:xfrm>
            <a:off x="6172200" y="1825625"/>
            <a:ext cx="5181600" cy="4351338"/>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5" name="Veri Yer Tutucusu 4">
            <a:extLst>
              <a:ext uri="{FF2B5EF4-FFF2-40B4-BE49-F238E27FC236}">
                <a16:creationId xmlns:a16="http://schemas.microsoft.com/office/drawing/2014/main" id="{8806990F-5A41-8E33-C6BA-B48C63E03070}"/>
              </a:ext>
            </a:extLst>
          </p:cNvPr>
          <p:cNvSpPr>
            <a:spLocks noGrp="1"/>
          </p:cNvSpPr>
          <p:nvPr>
            <p:ph type="dt" sz="half" idx="10"/>
          </p:nvPr>
        </p:nvSpPr>
        <p:spPr/>
        <p:txBody>
          <a:bodyPr/>
          <a:lstStyle/>
          <a:p>
            <a:fld id="{4C346B30-8727-437F-A876-6C8AB807B940}" type="datetimeFigureOut">
              <a:rPr lang="tr-TR" smtClean="0"/>
              <a:t>26.02.2024</a:t>
            </a:fld>
            <a:endParaRPr lang="tr-TR"/>
          </a:p>
        </p:txBody>
      </p:sp>
      <p:sp>
        <p:nvSpPr>
          <p:cNvPr id="6" name="Alt Bilgi Yer Tutucusu 5">
            <a:extLst>
              <a:ext uri="{FF2B5EF4-FFF2-40B4-BE49-F238E27FC236}">
                <a16:creationId xmlns:a16="http://schemas.microsoft.com/office/drawing/2014/main" id="{DA9C92D2-D572-FCEE-D415-9FD4C0504FF2}"/>
              </a:ext>
            </a:extLst>
          </p:cNvPr>
          <p:cNvSpPr>
            <a:spLocks noGrp="1"/>
          </p:cNvSpPr>
          <p:nvPr>
            <p:ph type="ftr" sz="quarter" idx="11"/>
          </p:nvPr>
        </p:nvSpPr>
        <p:spPr/>
        <p:txBody>
          <a:bodyPr/>
          <a:lstStyle/>
          <a:p>
            <a:endParaRPr lang="tr-TR"/>
          </a:p>
        </p:txBody>
      </p:sp>
      <p:sp>
        <p:nvSpPr>
          <p:cNvPr id="7" name="Slayt Numarası Yer Tutucusu 6">
            <a:extLst>
              <a:ext uri="{FF2B5EF4-FFF2-40B4-BE49-F238E27FC236}">
                <a16:creationId xmlns:a16="http://schemas.microsoft.com/office/drawing/2014/main" id="{85DDB6E0-CD6F-C19E-E89C-8B7FA80C8BE5}"/>
              </a:ext>
            </a:extLst>
          </p:cNvPr>
          <p:cNvSpPr>
            <a:spLocks noGrp="1"/>
          </p:cNvSpPr>
          <p:nvPr>
            <p:ph type="sldNum" sz="quarter" idx="12"/>
          </p:nvPr>
        </p:nvSpPr>
        <p:spPr/>
        <p:txBody>
          <a:bodyPr/>
          <a:lstStyle/>
          <a:p>
            <a:fld id="{C47CF137-9694-42F5-AD3F-DF7F4286E53B}" type="slidenum">
              <a:rPr lang="tr-TR" smtClean="0"/>
              <a:t>‹#›</a:t>
            </a:fld>
            <a:endParaRPr lang="tr-TR"/>
          </a:p>
        </p:txBody>
      </p:sp>
    </p:spTree>
    <p:extLst>
      <p:ext uri="{BB962C8B-B14F-4D97-AF65-F5344CB8AC3E}">
        <p14:creationId xmlns:p14="http://schemas.microsoft.com/office/powerpoint/2010/main" val="11774176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FE288B38-FCD6-87DA-B3D9-766CFC30D09C}"/>
              </a:ext>
            </a:extLst>
          </p:cNvPr>
          <p:cNvSpPr>
            <a:spLocks noGrp="1"/>
          </p:cNvSpPr>
          <p:nvPr>
            <p:ph type="title"/>
          </p:nvPr>
        </p:nvSpPr>
        <p:spPr>
          <a:xfrm>
            <a:off x="839788" y="365125"/>
            <a:ext cx="10515600" cy="1325563"/>
          </a:xfrm>
        </p:spPr>
        <p:txBody>
          <a:bodyPr/>
          <a:lstStyle/>
          <a:p>
            <a:r>
              <a:rPr lang="tr-TR"/>
              <a:t>Asıl başlık stilini düzenlemek için tıklayın</a:t>
            </a:r>
          </a:p>
        </p:txBody>
      </p:sp>
      <p:sp>
        <p:nvSpPr>
          <p:cNvPr id="3" name="Metin Yer Tutucusu 2">
            <a:extLst>
              <a:ext uri="{FF2B5EF4-FFF2-40B4-BE49-F238E27FC236}">
                <a16:creationId xmlns:a16="http://schemas.microsoft.com/office/drawing/2014/main" id="{CAA9E39C-3932-55A0-45E4-C10703054B6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4" name="İçerik Yer Tutucusu 3">
            <a:extLst>
              <a:ext uri="{FF2B5EF4-FFF2-40B4-BE49-F238E27FC236}">
                <a16:creationId xmlns:a16="http://schemas.microsoft.com/office/drawing/2014/main" id="{8E7DE807-83F1-0D1F-82F1-375328743517}"/>
              </a:ext>
            </a:extLst>
          </p:cNvPr>
          <p:cNvSpPr>
            <a:spLocks noGrp="1"/>
          </p:cNvSpPr>
          <p:nvPr>
            <p:ph sz="half" idx="2"/>
          </p:nvPr>
        </p:nvSpPr>
        <p:spPr>
          <a:xfrm>
            <a:off x="839788" y="2505075"/>
            <a:ext cx="5157787" cy="3684588"/>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5" name="Metin Yer Tutucusu 4">
            <a:extLst>
              <a:ext uri="{FF2B5EF4-FFF2-40B4-BE49-F238E27FC236}">
                <a16:creationId xmlns:a16="http://schemas.microsoft.com/office/drawing/2014/main" id="{7A85DFB2-150B-D60D-8D65-C515CF1AF2E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6" name="İçerik Yer Tutucusu 5">
            <a:extLst>
              <a:ext uri="{FF2B5EF4-FFF2-40B4-BE49-F238E27FC236}">
                <a16:creationId xmlns:a16="http://schemas.microsoft.com/office/drawing/2014/main" id="{9EC6C8B2-4607-A2EA-984D-C2E6A6A31DF7}"/>
              </a:ext>
            </a:extLst>
          </p:cNvPr>
          <p:cNvSpPr>
            <a:spLocks noGrp="1"/>
          </p:cNvSpPr>
          <p:nvPr>
            <p:ph sz="quarter" idx="4"/>
          </p:nvPr>
        </p:nvSpPr>
        <p:spPr>
          <a:xfrm>
            <a:off x="6172200" y="2505075"/>
            <a:ext cx="5183188" cy="3684588"/>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7" name="Veri Yer Tutucusu 6">
            <a:extLst>
              <a:ext uri="{FF2B5EF4-FFF2-40B4-BE49-F238E27FC236}">
                <a16:creationId xmlns:a16="http://schemas.microsoft.com/office/drawing/2014/main" id="{72FF06FA-8A92-9850-3737-64AD20310F22}"/>
              </a:ext>
            </a:extLst>
          </p:cNvPr>
          <p:cNvSpPr>
            <a:spLocks noGrp="1"/>
          </p:cNvSpPr>
          <p:nvPr>
            <p:ph type="dt" sz="half" idx="10"/>
          </p:nvPr>
        </p:nvSpPr>
        <p:spPr/>
        <p:txBody>
          <a:bodyPr/>
          <a:lstStyle/>
          <a:p>
            <a:fld id="{4C346B30-8727-437F-A876-6C8AB807B940}" type="datetimeFigureOut">
              <a:rPr lang="tr-TR" smtClean="0"/>
              <a:t>26.02.2024</a:t>
            </a:fld>
            <a:endParaRPr lang="tr-TR"/>
          </a:p>
        </p:txBody>
      </p:sp>
      <p:sp>
        <p:nvSpPr>
          <p:cNvPr id="8" name="Alt Bilgi Yer Tutucusu 7">
            <a:extLst>
              <a:ext uri="{FF2B5EF4-FFF2-40B4-BE49-F238E27FC236}">
                <a16:creationId xmlns:a16="http://schemas.microsoft.com/office/drawing/2014/main" id="{C4A6BFF9-BBD5-003D-E293-505E6C3769E4}"/>
              </a:ext>
            </a:extLst>
          </p:cNvPr>
          <p:cNvSpPr>
            <a:spLocks noGrp="1"/>
          </p:cNvSpPr>
          <p:nvPr>
            <p:ph type="ftr" sz="quarter" idx="11"/>
          </p:nvPr>
        </p:nvSpPr>
        <p:spPr/>
        <p:txBody>
          <a:bodyPr/>
          <a:lstStyle/>
          <a:p>
            <a:endParaRPr lang="tr-TR"/>
          </a:p>
        </p:txBody>
      </p:sp>
      <p:sp>
        <p:nvSpPr>
          <p:cNvPr id="9" name="Slayt Numarası Yer Tutucusu 8">
            <a:extLst>
              <a:ext uri="{FF2B5EF4-FFF2-40B4-BE49-F238E27FC236}">
                <a16:creationId xmlns:a16="http://schemas.microsoft.com/office/drawing/2014/main" id="{D5FA21B8-0F90-33C6-7190-AB037A63C18E}"/>
              </a:ext>
            </a:extLst>
          </p:cNvPr>
          <p:cNvSpPr>
            <a:spLocks noGrp="1"/>
          </p:cNvSpPr>
          <p:nvPr>
            <p:ph type="sldNum" sz="quarter" idx="12"/>
          </p:nvPr>
        </p:nvSpPr>
        <p:spPr/>
        <p:txBody>
          <a:bodyPr/>
          <a:lstStyle/>
          <a:p>
            <a:fld id="{C47CF137-9694-42F5-AD3F-DF7F4286E53B}" type="slidenum">
              <a:rPr lang="tr-TR" smtClean="0"/>
              <a:t>‹#›</a:t>
            </a:fld>
            <a:endParaRPr lang="tr-TR"/>
          </a:p>
        </p:txBody>
      </p:sp>
    </p:spTree>
    <p:extLst>
      <p:ext uri="{BB962C8B-B14F-4D97-AF65-F5344CB8AC3E}">
        <p14:creationId xmlns:p14="http://schemas.microsoft.com/office/powerpoint/2010/main" val="25255661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DB3F0719-FC0C-D6D1-E42A-2FD1D60630DF}"/>
              </a:ext>
            </a:extLst>
          </p:cNvPr>
          <p:cNvSpPr>
            <a:spLocks noGrp="1"/>
          </p:cNvSpPr>
          <p:nvPr>
            <p:ph type="title"/>
          </p:nvPr>
        </p:nvSpPr>
        <p:spPr/>
        <p:txBody>
          <a:bodyPr/>
          <a:lstStyle/>
          <a:p>
            <a:r>
              <a:rPr lang="tr-TR"/>
              <a:t>Asıl başlık stilini düzenlemek için tıklayın</a:t>
            </a:r>
          </a:p>
        </p:txBody>
      </p:sp>
      <p:sp>
        <p:nvSpPr>
          <p:cNvPr id="3" name="Veri Yer Tutucusu 2">
            <a:extLst>
              <a:ext uri="{FF2B5EF4-FFF2-40B4-BE49-F238E27FC236}">
                <a16:creationId xmlns:a16="http://schemas.microsoft.com/office/drawing/2014/main" id="{4C183F86-5CC9-5E3A-11AA-DAD664C31AD6}"/>
              </a:ext>
            </a:extLst>
          </p:cNvPr>
          <p:cNvSpPr>
            <a:spLocks noGrp="1"/>
          </p:cNvSpPr>
          <p:nvPr>
            <p:ph type="dt" sz="half" idx="10"/>
          </p:nvPr>
        </p:nvSpPr>
        <p:spPr/>
        <p:txBody>
          <a:bodyPr/>
          <a:lstStyle/>
          <a:p>
            <a:fld id="{4C346B30-8727-437F-A876-6C8AB807B940}" type="datetimeFigureOut">
              <a:rPr lang="tr-TR" smtClean="0"/>
              <a:t>26.02.2024</a:t>
            </a:fld>
            <a:endParaRPr lang="tr-TR"/>
          </a:p>
        </p:txBody>
      </p:sp>
      <p:sp>
        <p:nvSpPr>
          <p:cNvPr id="4" name="Alt Bilgi Yer Tutucusu 3">
            <a:extLst>
              <a:ext uri="{FF2B5EF4-FFF2-40B4-BE49-F238E27FC236}">
                <a16:creationId xmlns:a16="http://schemas.microsoft.com/office/drawing/2014/main" id="{E89181EF-E4C4-F06C-8BEF-13FA036CA092}"/>
              </a:ext>
            </a:extLst>
          </p:cNvPr>
          <p:cNvSpPr>
            <a:spLocks noGrp="1"/>
          </p:cNvSpPr>
          <p:nvPr>
            <p:ph type="ftr" sz="quarter" idx="11"/>
          </p:nvPr>
        </p:nvSpPr>
        <p:spPr/>
        <p:txBody>
          <a:bodyPr/>
          <a:lstStyle/>
          <a:p>
            <a:endParaRPr lang="tr-TR"/>
          </a:p>
        </p:txBody>
      </p:sp>
      <p:sp>
        <p:nvSpPr>
          <p:cNvPr id="5" name="Slayt Numarası Yer Tutucusu 4">
            <a:extLst>
              <a:ext uri="{FF2B5EF4-FFF2-40B4-BE49-F238E27FC236}">
                <a16:creationId xmlns:a16="http://schemas.microsoft.com/office/drawing/2014/main" id="{0FFE7357-B69A-38E2-D339-06D71B269DD6}"/>
              </a:ext>
            </a:extLst>
          </p:cNvPr>
          <p:cNvSpPr>
            <a:spLocks noGrp="1"/>
          </p:cNvSpPr>
          <p:nvPr>
            <p:ph type="sldNum" sz="quarter" idx="12"/>
          </p:nvPr>
        </p:nvSpPr>
        <p:spPr/>
        <p:txBody>
          <a:bodyPr/>
          <a:lstStyle/>
          <a:p>
            <a:fld id="{C47CF137-9694-42F5-AD3F-DF7F4286E53B}" type="slidenum">
              <a:rPr lang="tr-TR" smtClean="0"/>
              <a:t>‹#›</a:t>
            </a:fld>
            <a:endParaRPr lang="tr-TR"/>
          </a:p>
        </p:txBody>
      </p:sp>
    </p:spTree>
    <p:extLst>
      <p:ext uri="{BB962C8B-B14F-4D97-AF65-F5344CB8AC3E}">
        <p14:creationId xmlns:p14="http://schemas.microsoft.com/office/powerpoint/2010/main" val="16941181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Veri Yer Tutucusu 1">
            <a:extLst>
              <a:ext uri="{FF2B5EF4-FFF2-40B4-BE49-F238E27FC236}">
                <a16:creationId xmlns:a16="http://schemas.microsoft.com/office/drawing/2014/main" id="{2C4F81A7-AA21-7C24-4231-4D9246CEC5E5}"/>
              </a:ext>
            </a:extLst>
          </p:cNvPr>
          <p:cNvSpPr>
            <a:spLocks noGrp="1"/>
          </p:cNvSpPr>
          <p:nvPr>
            <p:ph type="dt" sz="half" idx="10"/>
          </p:nvPr>
        </p:nvSpPr>
        <p:spPr/>
        <p:txBody>
          <a:bodyPr/>
          <a:lstStyle/>
          <a:p>
            <a:fld id="{4C346B30-8727-437F-A876-6C8AB807B940}" type="datetimeFigureOut">
              <a:rPr lang="tr-TR" smtClean="0"/>
              <a:t>26.02.2024</a:t>
            </a:fld>
            <a:endParaRPr lang="tr-TR"/>
          </a:p>
        </p:txBody>
      </p:sp>
      <p:sp>
        <p:nvSpPr>
          <p:cNvPr id="3" name="Alt Bilgi Yer Tutucusu 2">
            <a:extLst>
              <a:ext uri="{FF2B5EF4-FFF2-40B4-BE49-F238E27FC236}">
                <a16:creationId xmlns:a16="http://schemas.microsoft.com/office/drawing/2014/main" id="{6A98BFB3-66C4-0A48-0221-EC3264E1DCF0}"/>
              </a:ext>
            </a:extLst>
          </p:cNvPr>
          <p:cNvSpPr>
            <a:spLocks noGrp="1"/>
          </p:cNvSpPr>
          <p:nvPr>
            <p:ph type="ftr" sz="quarter" idx="11"/>
          </p:nvPr>
        </p:nvSpPr>
        <p:spPr/>
        <p:txBody>
          <a:bodyPr/>
          <a:lstStyle/>
          <a:p>
            <a:endParaRPr lang="tr-TR"/>
          </a:p>
        </p:txBody>
      </p:sp>
      <p:sp>
        <p:nvSpPr>
          <p:cNvPr id="4" name="Slayt Numarası Yer Tutucusu 3">
            <a:extLst>
              <a:ext uri="{FF2B5EF4-FFF2-40B4-BE49-F238E27FC236}">
                <a16:creationId xmlns:a16="http://schemas.microsoft.com/office/drawing/2014/main" id="{7310985A-11A3-CBCF-5747-094F6DAD505A}"/>
              </a:ext>
            </a:extLst>
          </p:cNvPr>
          <p:cNvSpPr>
            <a:spLocks noGrp="1"/>
          </p:cNvSpPr>
          <p:nvPr>
            <p:ph type="sldNum" sz="quarter" idx="12"/>
          </p:nvPr>
        </p:nvSpPr>
        <p:spPr/>
        <p:txBody>
          <a:bodyPr/>
          <a:lstStyle/>
          <a:p>
            <a:fld id="{C47CF137-9694-42F5-AD3F-DF7F4286E53B}" type="slidenum">
              <a:rPr lang="tr-TR" smtClean="0"/>
              <a:t>‹#›</a:t>
            </a:fld>
            <a:endParaRPr lang="tr-TR"/>
          </a:p>
        </p:txBody>
      </p:sp>
    </p:spTree>
    <p:extLst>
      <p:ext uri="{BB962C8B-B14F-4D97-AF65-F5344CB8AC3E}">
        <p14:creationId xmlns:p14="http://schemas.microsoft.com/office/powerpoint/2010/main" val="17821662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B801851D-7601-8C51-EF08-5A1C2FEDF365}"/>
              </a:ext>
            </a:extLst>
          </p:cNvPr>
          <p:cNvSpPr>
            <a:spLocks noGrp="1"/>
          </p:cNvSpPr>
          <p:nvPr>
            <p:ph type="title"/>
          </p:nvPr>
        </p:nvSpPr>
        <p:spPr>
          <a:xfrm>
            <a:off x="839788" y="457200"/>
            <a:ext cx="3932237" cy="1600200"/>
          </a:xfrm>
        </p:spPr>
        <p:txBody>
          <a:bodyPr anchor="b"/>
          <a:lstStyle>
            <a:lvl1pPr>
              <a:defRPr sz="3200"/>
            </a:lvl1pPr>
          </a:lstStyle>
          <a:p>
            <a:r>
              <a:rPr lang="tr-TR"/>
              <a:t>Asıl başlık stilini düzenlemek için tıklayın</a:t>
            </a:r>
          </a:p>
        </p:txBody>
      </p:sp>
      <p:sp>
        <p:nvSpPr>
          <p:cNvPr id="3" name="İçerik Yer Tutucusu 2">
            <a:extLst>
              <a:ext uri="{FF2B5EF4-FFF2-40B4-BE49-F238E27FC236}">
                <a16:creationId xmlns:a16="http://schemas.microsoft.com/office/drawing/2014/main" id="{E919BF2B-291C-E932-8110-C19EC3A6FE9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Metin Yer Tutucusu 3">
            <a:extLst>
              <a:ext uri="{FF2B5EF4-FFF2-40B4-BE49-F238E27FC236}">
                <a16:creationId xmlns:a16="http://schemas.microsoft.com/office/drawing/2014/main" id="{CC0C7A1A-77A8-E1CD-DA08-DA6654D9E4D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düzenlemek için tıklayın</a:t>
            </a:r>
          </a:p>
        </p:txBody>
      </p:sp>
      <p:sp>
        <p:nvSpPr>
          <p:cNvPr id="5" name="Veri Yer Tutucusu 4">
            <a:extLst>
              <a:ext uri="{FF2B5EF4-FFF2-40B4-BE49-F238E27FC236}">
                <a16:creationId xmlns:a16="http://schemas.microsoft.com/office/drawing/2014/main" id="{9808725A-0340-DD6A-8491-FF09B5A836A9}"/>
              </a:ext>
            </a:extLst>
          </p:cNvPr>
          <p:cNvSpPr>
            <a:spLocks noGrp="1"/>
          </p:cNvSpPr>
          <p:nvPr>
            <p:ph type="dt" sz="half" idx="10"/>
          </p:nvPr>
        </p:nvSpPr>
        <p:spPr/>
        <p:txBody>
          <a:bodyPr/>
          <a:lstStyle/>
          <a:p>
            <a:fld id="{4C346B30-8727-437F-A876-6C8AB807B940}" type="datetimeFigureOut">
              <a:rPr lang="tr-TR" smtClean="0"/>
              <a:t>26.02.2024</a:t>
            </a:fld>
            <a:endParaRPr lang="tr-TR"/>
          </a:p>
        </p:txBody>
      </p:sp>
      <p:sp>
        <p:nvSpPr>
          <p:cNvPr id="6" name="Alt Bilgi Yer Tutucusu 5">
            <a:extLst>
              <a:ext uri="{FF2B5EF4-FFF2-40B4-BE49-F238E27FC236}">
                <a16:creationId xmlns:a16="http://schemas.microsoft.com/office/drawing/2014/main" id="{C5B90777-FC63-0FCE-90C0-670B76F559C1}"/>
              </a:ext>
            </a:extLst>
          </p:cNvPr>
          <p:cNvSpPr>
            <a:spLocks noGrp="1"/>
          </p:cNvSpPr>
          <p:nvPr>
            <p:ph type="ftr" sz="quarter" idx="11"/>
          </p:nvPr>
        </p:nvSpPr>
        <p:spPr/>
        <p:txBody>
          <a:bodyPr/>
          <a:lstStyle/>
          <a:p>
            <a:endParaRPr lang="tr-TR"/>
          </a:p>
        </p:txBody>
      </p:sp>
      <p:sp>
        <p:nvSpPr>
          <p:cNvPr id="7" name="Slayt Numarası Yer Tutucusu 6">
            <a:extLst>
              <a:ext uri="{FF2B5EF4-FFF2-40B4-BE49-F238E27FC236}">
                <a16:creationId xmlns:a16="http://schemas.microsoft.com/office/drawing/2014/main" id="{4E5308AF-A173-43D7-D4C8-2271F89244CC}"/>
              </a:ext>
            </a:extLst>
          </p:cNvPr>
          <p:cNvSpPr>
            <a:spLocks noGrp="1"/>
          </p:cNvSpPr>
          <p:nvPr>
            <p:ph type="sldNum" sz="quarter" idx="12"/>
          </p:nvPr>
        </p:nvSpPr>
        <p:spPr/>
        <p:txBody>
          <a:bodyPr/>
          <a:lstStyle/>
          <a:p>
            <a:fld id="{C47CF137-9694-42F5-AD3F-DF7F4286E53B}" type="slidenum">
              <a:rPr lang="tr-TR" smtClean="0"/>
              <a:t>‹#›</a:t>
            </a:fld>
            <a:endParaRPr lang="tr-TR"/>
          </a:p>
        </p:txBody>
      </p:sp>
    </p:spTree>
    <p:extLst>
      <p:ext uri="{BB962C8B-B14F-4D97-AF65-F5344CB8AC3E}">
        <p14:creationId xmlns:p14="http://schemas.microsoft.com/office/powerpoint/2010/main" val="18603591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aşlıklı Resim">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75AEF9FF-05CD-0D94-6EC7-BDC910E6C588}"/>
              </a:ext>
            </a:extLst>
          </p:cNvPr>
          <p:cNvSpPr>
            <a:spLocks noGrp="1"/>
          </p:cNvSpPr>
          <p:nvPr>
            <p:ph type="title"/>
          </p:nvPr>
        </p:nvSpPr>
        <p:spPr>
          <a:xfrm>
            <a:off x="839788" y="457200"/>
            <a:ext cx="3932237" cy="1600200"/>
          </a:xfrm>
        </p:spPr>
        <p:txBody>
          <a:bodyPr anchor="b"/>
          <a:lstStyle>
            <a:lvl1pPr>
              <a:defRPr sz="3200"/>
            </a:lvl1pPr>
          </a:lstStyle>
          <a:p>
            <a:r>
              <a:rPr lang="tr-TR"/>
              <a:t>Asıl başlık stilini düzenlemek için tıklayın</a:t>
            </a:r>
          </a:p>
        </p:txBody>
      </p:sp>
      <p:sp>
        <p:nvSpPr>
          <p:cNvPr id="3" name="Resim Yer Tutucusu 2">
            <a:extLst>
              <a:ext uri="{FF2B5EF4-FFF2-40B4-BE49-F238E27FC236}">
                <a16:creationId xmlns:a16="http://schemas.microsoft.com/office/drawing/2014/main" id="{CFF338BE-1459-5A7C-1A5B-E27A3454002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tr-TR"/>
          </a:p>
        </p:txBody>
      </p:sp>
      <p:sp>
        <p:nvSpPr>
          <p:cNvPr id="4" name="Metin Yer Tutucusu 3">
            <a:extLst>
              <a:ext uri="{FF2B5EF4-FFF2-40B4-BE49-F238E27FC236}">
                <a16:creationId xmlns:a16="http://schemas.microsoft.com/office/drawing/2014/main" id="{A9F9B6CD-6A7D-ACAF-B773-CC03F2EE13C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düzenlemek için tıklayın</a:t>
            </a:r>
          </a:p>
        </p:txBody>
      </p:sp>
      <p:sp>
        <p:nvSpPr>
          <p:cNvPr id="5" name="Veri Yer Tutucusu 4">
            <a:extLst>
              <a:ext uri="{FF2B5EF4-FFF2-40B4-BE49-F238E27FC236}">
                <a16:creationId xmlns:a16="http://schemas.microsoft.com/office/drawing/2014/main" id="{B036AB66-03E0-FDDD-112B-2A32CC1BD324}"/>
              </a:ext>
            </a:extLst>
          </p:cNvPr>
          <p:cNvSpPr>
            <a:spLocks noGrp="1"/>
          </p:cNvSpPr>
          <p:nvPr>
            <p:ph type="dt" sz="half" idx="10"/>
          </p:nvPr>
        </p:nvSpPr>
        <p:spPr/>
        <p:txBody>
          <a:bodyPr/>
          <a:lstStyle/>
          <a:p>
            <a:fld id="{4C346B30-8727-437F-A876-6C8AB807B940}" type="datetimeFigureOut">
              <a:rPr lang="tr-TR" smtClean="0"/>
              <a:t>26.02.2024</a:t>
            </a:fld>
            <a:endParaRPr lang="tr-TR"/>
          </a:p>
        </p:txBody>
      </p:sp>
      <p:sp>
        <p:nvSpPr>
          <p:cNvPr id="6" name="Alt Bilgi Yer Tutucusu 5">
            <a:extLst>
              <a:ext uri="{FF2B5EF4-FFF2-40B4-BE49-F238E27FC236}">
                <a16:creationId xmlns:a16="http://schemas.microsoft.com/office/drawing/2014/main" id="{7A2DB094-74D0-EE08-62B4-1F9DF59E02A2}"/>
              </a:ext>
            </a:extLst>
          </p:cNvPr>
          <p:cNvSpPr>
            <a:spLocks noGrp="1"/>
          </p:cNvSpPr>
          <p:nvPr>
            <p:ph type="ftr" sz="quarter" idx="11"/>
          </p:nvPr>
        </p:nvSpPr>
        <p:spPr/>
        <p:txBody>
          <a:bodyPr/>
          <a:lstStyle/>
          <a:p>
            <a:endParaRPr lang="tr-TR"/>
          </a:p>
        </p:txBody>
      </p:sp>
      <p:sp>
        <p:nvSpPr>
          <p:cNvPr id="7" name="Slayt Numarası Yer Tutucusu 6">
            <a:extLst>
              <a:ext uri="{FF2B5EF4-FFF2-40B4-BE49-F238E27FC236}">
                <a16:creationId xmlns:a16="http://schemas.microsoft.com/office/drawing/2014/main" id="{1455BD35-C824-39CE-860D-3CE706677B64}"/>
              </a:ext>
            </a:extLst>
          </p:cNvPr>
          <p:cNvSpPr>
            <a:spLocks noGrp="1"/>
          </p:cNvSpPr>
          <p:nvPr>
            <p:ph type="sldNum" sz="quarter" idx="12"/>
          </p:nvPr>
        </p:nvSpPr>
        <p:spPr/>
        <p:txBody>
          <a:bodyPr/>
          <a:lstStyle/>
          <a:p>
            <a:fld id="{C47CF137-9694-42F5-AD3F-DF7F4286E53B}" type="slidenum">
              <a:rPr lang="tr-TR" smtClean="0"/>
              <a:t>‹#›</a:t>
            </a:fld>
            <a:endParaRPr lang="tr-TR"/>
          </a:p>
        </p:txBody>
      </p:sp>
    </p:spTree>
    <p:extLst>
      <p:ext uri="{BB962C8B-B14F-4D97-AF65-F5344CB8AC3E}">
        <p14:creationId xmlns:p14="http://schemas.microsoft.com/office/powerpoint/2010/main" val="22321116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Başlık ve Dikey Metin">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772DF397-4B28-4A1F-51BD-24DB07AF6290}"/>
              </a:ext>
            </a:extLst>
          </p:cNvPr>
          <p:cNvSpPr>
            <a:spLocks noGrp="1"/>
          </p:cNvSpPr>
          <p:nvPr>
            <p:ph type="title"/>
          </p:nvPr>
        </p:nvSpPr>
        <p:spPr/>
        <p:txBody>
          <a:bodyPr/>
          <a:lstStyle/>
          <a:p>
            <a:r>
              <a:rPr lang="tr-TR"/>
              <a:t>Asıl başlık stilini düzenlemek için tıklayın</a:t>
            </a:r>
          </a:p>
        </p:txBody>
      </p:sp>
      <p:sp>
        <p:nvSpPr>
          <p:cNvPr id="3" name="Dikey Metin Yer Tutucusu 2">
            <a:extLst>
              <a:ext uri="{FF2B5EF4-FFF2-40B4-BE49-F238E27FC236}">
                <a16:creationId xmlns:a16="http://schemas.microsoft.com/office/drawing/2014/main" id="{4C5C5818-0718-6620-FBF0-E50222C0B322}"/>
              </a:ext>
            </a:extLst>
          </p:cNvPr>
          <p:cNvSpPr>
            <a:spLocks noGrp="1"/>
          </p:cNvSpPr>
          <p:nvPr>
            <p:ph type="body" orient="vert" idx="1"/>
          </p:nvPr>
        </p:nvSpPr>
        <p:spPr/>
        <p:txBody>
          <a:bodyPr vert="eaVert"/>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a:extLst>
              <a:ext uri="{FF2B5EF4-FFF2-40B4-BE49-F238E27FC236}">
                <a16:creationId xmlns:a16="http://schemas.microsoft.com/office/drawing/2014/main" id="{5B427477-E5D0-0E1E-EEA7-EAA0C2F8F278}"/>
              </a:ext>
            </a:extLst>
          </p:cNvPr>
          <p:cNvSpPr>
            <a:spLocks noGrp="1"/>
          </p:cNvSpPr>
          <p:nvPr>
            <p:ph type="dt" sz="half" idx="10"/>
          </p:nvPr>
        </p:nvSpPr>
        <p:spPr/>
        <p:txBody>
          <a:bodyPr/>
          <a:lstStyle/>
          <a:p>
            <a:fld id="{4C346B30-8727-437F-A876-6C8AB807B940}" type="datetimeFigureOut">
              <a:rPr lang="tr-TR" smtClean="0"/>
              <a:t>26.02.2024</a:t>
            </a:fld>
            <a:endParaRPr lang="tr-TR"/>
          </a:p>
        </p:txBody>
      </p:sp>
      <p:sp>
        <p:nvSpPr>
          <p:cNvPr id="5" name="Alt Bilgi Yer Tutucusu 4">
            <a:extLst>
              <a:ext uri="{FF2B5EF4-FFF2-40B4-BE49-F238E27FC236}">
                <a16:creationId xmlns:a16="http://schemas.microsoft.com/office/drawing/2014/main" id="{EED89ADD-8CC5-88F7-1C85-82304A17895F}"/>
              </a:ext>
            </a:extLst>
          </p:cNvPr>
          <p:cNvSpPr>
            <a:spLocks noGrp="1"/>
          </p:cNvSpPr>
          <p:nvPr>
            <p:ph type="ftr" sz="quarter" idx="11"/>
          </p:nvPr>
        </p:nvSpPr>
        <p:spPr/>
        <p:txBody>
          <a:bodyPr/>
          <a:lstStyle/>
          <a:p>
            <a:endParaRPr lang="tr-TR"/>
          </a:p>
        </p:txBody>
      </p:sp>
      <p:sp>
        <p:nvSpPr>
          <p:cNvPr id="6" name="Slayt Numarası Yer Tutucusu 5">
            <a:extLst>
              <a:ext uri="{FF2B5EF4-FFF2-40B4-BE49-F238E27FC236}">
                <a16:creationId xmlns:a16="http://schemas.microsoft.com/office/drawing/2014/main" id="{6FF1A69C-75A6-E9D5-E51B-C1E194F68B9D}"/>
              </a:ext>
            </a:extLst>
          </p:cNvPr>
          <p:cNvSpPr>
            <a:spLocks noGrp="1"/>
          </p:cNvSpPr>
          <p:nvPr>
            <p:ph type="sldNum" sz="quarter" idx="12"/>
          </p:nvPr>
        </p:nvSpPr>
        <p:spPr/>
        <p:txBody>
          <a:bodyPr/>
          <a:lstStyle/>
          <a:p>
            <a:fld id="{C47CF137-9694-42F5-AD3F-DF7F4286E53B}" type="slidenum">
              <a:rPr lang="tr-TR" smtClean="0"/>
              <a:t>‹#›</a:t>
            </a:fld>
            <a:endParaRPr lang="tr-TR"/>
          </a:p>
        </p:txBody>
      </p:sp>
    </p:spTree>
    <p:extLst>
      <p:ext uri="{BB962C8B-B14F-4D97-AF65-F5344CB8AC3E}">
        <p14:creationId xmlns:p14="http://schemas.microsoft.com/office/powerpoint/2010/main" val="610036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Dikey Başlık 1">
            <a:extLst>
              <a:ext uri="{FF2B5EF4-FFF2-40B4-BE49-F238E27FC236}">
                <a16:creationId xmlns:a16="http://schemas.microsoft.com/office/drawing/2014/main" id="{0EA7C6AC-FD6E-498B-0BD6-9DBE90E690AA}"/>
              </a:ext>
            </a:extLst>
          </p:cNvPr>
          <p:cNvSpPr>
            <a:spLocks noGrp="1"/>
          </p:cNvSpPr>
          <p:nvPr>
            <p:ph type="title" orient="vert"/>
          </p:nvPr>
        </p:nvSpPr>
        <p:spPr>
          <a:xfrm>
            <a:off x="8724900" y="365125"/>
            <a:ext cx="2628900" cy="5811838"/>
          </a:xfrm>
        </p:spPr>
        <p:txBody>
          <a:bodyPr vert="eaVert"/>
          <a:lstStyle/>
          <a:p>
            <a:r>
              <a:rPr lang="tr-TR"/>
              <a:t>Asıl başlık stilini düzenlemek için tıklayın</a:t>
            </a:r>
          </a:p>
        </p:txBody>
      </p:sp>
      <p:sp>
        <p:nvSpPr>
          <p:cNvPr id="3" name="Dikey Metin Yer Tutucusu 2">
            <a:extLst>
              <a:ext uri="{FF2B5EF4-FFF2-40B4-BE49-F238E27FC236}">
                <a16:creationId xmlns:a16="http://schemas.microsoft.com/office/drawing/2014/main" id="{F6B462EA-B07C-CC2A-6FF0-B36C410A3101}"/>
              </a:ext>
            </a:extLst>
          </p:cNvPr>
          <p:cNvSpPr>
            <a:spLocks noGrp="1"/>
          </p:cNvSpPr>
          <p:nvPr>
            <p:ph type="body" orient="vert" idx="1"/>
          </p:nvPr>
        </p:nvSpPr>
        <p:spPr>
          <a:xfrm>
            <a:off x="838200" y="365125"/>
            <a:ext cx="7734300" cy="5811838"/>
          </a:xfrm>
        </p:spPr>
        <p:txBody>
          <a:bodyPr vert="eaVert"/>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a:extLst>
              <a:ext uri="{FF2B5EF4-FFF2-40B4-BE49-F238E27FC236}">
                <a16:creationId xmlns:a16="http://schemas.microsoft.com/office/drawing/2014/main" id="{A0F3DEFA-FC6B-25A5-4173-6DD9510BD2AF}"/>
              </a:ext>
            </a:extLst>
          </p:cNvPr>
          <p:cNvSpPr>
            <a:spLocks noGrp="1"/>
          </p:cNvSpPr>
          <p:nvPr>
            <p:ph type="dt" sz="half" idx="10"/>
          </p:nvPr>
        </p:nvSpPr>
        <p:spPr/>
        <p:txBody>
          <a:bodyPr/>
          <a:lstStyle/>
          <a:p>
            <a:fld id="{4C346B30-8727-437F-A876-6C8AB807B940}" type="datetimeFigureOut">
              <a:rPr lang="tr-TR" smtClean="0"/>
              <a:t>26.02.2024</a:t>
            </a:fld>
            <a:endParaRPr lang="tr-TR"/>
          </a:p>
        </p:txBody>
      </p:sp>
      <p:sp>
        <p:nvSpPr>
          <p:cNvPr id="5" name="Alt Bilgi Yer Tutucusu 4">
            <a:extLst>
              <a:ext uri="{FF2B5EF4-FFF2-40B4-BE49-F238E27FC236}">
                <a16:creationId xmlns:a16="http://schemas.microsoft.com/office/drawing/2014/main" id="{0BD35489-162B-2864-371E-29BC4E01AE7B}"/>
              </a:ext>
            </a:extLst>
          </p:cNvPr>
          <p:cNvSpPr>
            <a:spLocks noGrp="1"/>
          </p:cNvSpPr>
          <p:nvPr>
            <p:ph type="ftr" sz="quarter" idx="11"/>
          </p:nvPr>
        </p:nvSpPr>
        <p:spPr/>
        <p:txBody>
          <a:bodyPr/>
          <a:lstStyle/>
          <a:p>
            <a:endParaRPr lang="tr-TR"/>
          </a:p>
        </p:txBody>
      </p:sp>
      <p:sp>
        <p:nvSpPr>
          <p:cNvPr id="6" name="Slayt Numarası Yer Tutucusu 5">
            <a:extLst>
              <a:ext uri="{FF2B5EF4-FFF2-40B4-BE49-F238E27FC236}">
                <a16:creationId xmlns:a16="http://schemas.microsoft.com/office/drawing/2014/main" id="{EDCE761D-29C3-FC43-EB62-3315D81E056A}"/>
              </a:ext>
            </a:extLst>
          </p:cNvPr>
          <p:cNvSpPr>
            <a:spLocks noGrp="1"/>
          </p:cNvSpPr>
          <p:nvPr>
            <p:ph type="sldNum" sz="quarter" idx="12"/>
          </p:nvPr>
        </p:nvSpPr>
        <p:spPr/>
        <p:txBody>
          <a:bodyPr/>
          <a:lstStyle/>
          <a:p>
            <a:fld id="{C47CF137-9694-42F5-AD3F-DF7F4286E53B}" type="slidenum">
              <a:rPr lang="tr-TR" smtClean="0"/>
              <a:t>‹#›</a:t>
            </a:fld>
            <a:endParaRPr lang="tr-TR"/>
          </a:p>
        </p:txBody>
      </p:sp>
    </p:spTree>
    <p:extLst>
      <p:ext uri="{BB962C8B-B14F-4D97-AF65-F5344CB8AC3E}">
        <p14:creationId xmlns:p14="http://schemas.microsoft.com/office/powerpoint/2010/main" val="5780185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Başlık Yer Tutucusu 1">
            <a:extLst>
              <a:ext uri="{FF2B5EF4-FFF2-40B4-BE49-F238E27FC236}">
                <a16:creationId xmlns:a16="http://schemas.microsoft.com/office/drawing/2014/main" id="{561F7801-657F-C7E1-4202-6C695B23D51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tr-TR"/>
              <a:t>Asıl başlık stilini düzenlemek için tıklayın</a:t>
            </a:r>
          </a:p>
        </p:txBody>
      </p:sp>
      <p:sp>
        <p:nvSpPr>
          <p:cNvPr id="3" name="Metin Yer Tutucusu 2">
            <a:extLst>
              <a:ext uri="{FF2B5EF4-FFF2-40B4-BE49-F238E27FC236}">
                <a16:creationId xmlns:a16="http://schemas.microsoft.com/office/drawing/2014/main" id="{231DA2CF-B126-A67C-F5B7-C7F9EB6513F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a:extLst>
              <a:ext uri="{FF2B5EF4-FFF2-40B4-BE49-F238E27FC236}">
                <a16:creationId xmlns:a16="http://schemas.microsoft.com/office/drawing/2014/main" id="{FD5A231E-05DD-09BD-82F4-18A17983A86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C346B30-8727-437F-A876-6C8AB807B940}" type="datetimeFigureOut">
              <a:rPr lang="tr-TR" smtClean="0"/>
              <a:t>26.02.2024</a:t>
            </a:fld>
            <a:endParaRPr lang="tr-TR"/>
          </a:p>
        </p:txBody>
      </p:sp>
      <p:sp>
        <p:nvSpPr>
          <p:cNvPr id="5" name="Alt Bilgi Yer Tutucusu 4">
            <a:extLst>
              <a:ext uri="{FF2B5EF4-FFF2-40B4-BE49-F238E27FC236}">
                <a16:creationId xmlns:a16="http://schemas.microsoft.com/office/drawing/2014/main" id="{048165A3-0DFD-374F-8119-69F2A8DA3E6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tr-TR"/>
          </a:p>
        </p:txBody>
      </p:sp>
      <p:sp>
        <p:nvSpPr>
          <p:cNvPr id="6" name="Slayt Numarası Yer Tutucusu 5">
            <a:extLst>
              <a:ext uri="{FF2B5EF4-FFF2-40B4-BE49-F238E27FC236}">
                <a16:creationId xmlns:a16="http://schemas.microsoft.com/office/drawing/2014/main" id="{293FDF04-CAD1-00D3-5052-66FC7A9DBB9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47CF137-9694-42F5-AD3F-DF7F4286E53B}" type="slidenum">
              <a:rPr lang="tr-TR" smtClean="0"/>
              <a:t>‹#›</a:t>
            </a:fld>
            <a:endParaRPr lang="tr-TR"/>
          </a:p>
        </p:txBody>
      </p:sp>
    </p:spTree>
    <p:extLst>
      <p:ext uri="{BB962C8B-B14F-4D97-AF65-F5344CB8AC3E}">
        <p14:creationId xmlns:p14="http://schemas.microsoft.com/office/powerpoint/2010/main" val="360424794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jpeg"/></Relationships>
</file>

<file path=ppt/slides/_rels/slide1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3.gif"/><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2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39.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23.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Parallel computing for high-performance simulations">
            <a:extLst>
              <a:ext uri="{FF2B5EF4-FFF2-40B4-BE49-F238E27FC236}">
                <a16:creationId xmlns:a16="http://schemas.microsoft.com/office/drawing/2014/main" id="{B8705AA7-AC07-A96C-0DF3-11A2601E413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61472"/>
          <a:stretch/>
        </p:blipFill>
        <p:spPr bwMode="auto">
          <a:xfrm flipV="1">
            <a:off x="-8546" y="5596983"/>
            <a:ext cx="12200546" cy="1296961"/>
          </a:xfrm>
          <a:prstGeom prst="rect">
            <a:avLst/>
          </a:prstGeom>
          <a:noFill/>
          <a:extLst>
            <a:ext uri="{909E8E84-426E-40DD-AFC4-6F175D3DCCD1}">
              <a14:hiddenFill xmlns:a14="http://schemas.microsoft.com/office/drawing/2010/main">
                <a:solidFill>
                  <a:srgbClr val="FFFFFF"/>
                </a:solidFill>
              </a14:hiddenFill>
            </a:ext>
          </a:extLst>
        </p:spPr>
      </p:pic>
      <p:sp>
        <p:nvSpPr>
          <p:cNvPr id="5" name="Metin kutusu 4">
            <a:extLst>
              <a:ext uri="{FF2B5EF4-FFF2-40B4-BE49-F238E27FC236}">
                <a16:creationId xmlns:a16="http://schemas.microsoft.com/office/drawing/2014/main" id="{8958C0E2-3DE4-1E74-4308-2BA87AD5B0A7}"/>
              </a:ext>
            </a:extLst>
          </p:cNvPr>
          <p:cNvSpPr txBox="1"/>
          <p:nvPr/>
        </p:nvSpPr>
        <p:spPr>
          <a:xfrm>
            <a:off x="1877537" y="3019872"/>
            <a:ext cx="8436925" cy="553998"/>
          </a:xfrm>
          <a:prstGeom prst="rect">
            <a:avLst/>
          </a:prstGeom>
          <a:noFill/>
        </p:spPr>
        <p:txBody>
          <a:bodyPr wrap="none" rtlCol="0">
            <a:spAutoFit/>
          </a:bodyPr>
          <a:lstStyle/>
          <a:p>
            <a:r>
              <a:rPr lang="tr-TR" sz="3000" b="1" dirty="0">
                <a:latin typeface="Consolas" panose="020B0609020204030204" pitchFamily="49" charset="0"/>
              </a:rPr>
              <a:t>BIL406 – Paralel ve Dağıtık Programlama</a:t>
            </a:r>
          </a:p>
        </p:txBody>
      </p:sp>
      <p:sp>
        <p:nvSpPr>
          <p:cNvPr id="6" name="Metin kutusu 5">
            <a:extLst>
              <a:ext uri="{FF2B5EF4-FFF2-40B4-BE49-F238E27FC236}">
                <a16:creationId xmlns:a16="http://schemas.microsoft.com/office/drawing/2014/main" id="{5626C697-7B6F-A2FF-C2FF-2E4BF6DFB94C}"/>
              </a:ext>
            </a:extLst>
          </p:cNvPr>
          <p:cNvSpPr txBox="1"/>
          <p:nvPr/>
        </p:nvSpPr>
        <p:spPr>
          <a:xfrm>
            <a:off x="1665941" y="1497296"/>
            <a:ext cx="8860118" cy="1015663"/>
          </a:xfrm>
          <a:prstGeom prst="rect">
            <a:avLst/>
          </a:prstGeom>
          <a:noFill/>
          <a:ln>
            <a:solidFill>
              <a:srgbClr val="1B83A7"/>
            </a:solidFill>
          </a:ln>
        </p:spPr>
        <p:txBody>
          <a:bodyPr wrap="none" rtlCol="0">
            <a:spAutoFit/>
          </a:bodyPr>
          <a:lstStyle/>
          <a:p>
            <a:pPr algn="ctr"/>
            <a:r>
              <a:rPr lang="tr-TR" sz="3000" dirty="0">
                <a:solidFill>
                  <a:srgbClr val="0B203C"/>
                </a:solidFill>
                <a:latin typeface="Consolas" panose="020B0609020204030204" pitchFamily="49" charset="0"/>
              </a:rPr>
              <a:t>Amasya Üniversitesi Mühendislik Fakültesi</a:t>
            </a:r>
          </a:p>
          <a:p>
            <a:pPr algn="ctr"/>
            <a:r>
              <a:rPr lang="tr-TR" sz="3000" dirty="0">
                <a:solidFill>
                  <a:srgbClr val="0B203C"/>
                </a:solidFill>
                <a:latin typeface="Consolas" panose="020B0609020204030204" pitchFamily="49" charset="0"/>
              </a:rPr>
              <a:t>Bilgisayar Mühendisliği Bölümü</a:t>
            </a:r>
          </a:p>
        </p:txBody>
      </p:sp>
      <p:sp>
        <p:nvSpPr>
          <p:cNvPr id="7" name="Metin kutusu 6">
            <a:extLst>
              <a:ext uri="{FF2B5EF4-FFF2-40B4-BE49-F238E27FC236}">
                <a16:creationId xmlns:a16="http://schemas.microsoft.com/office/drawing/2014/main" id="{290D712B-E0F2-7A71-1456-3AE90D5EC770}"/>
              </a:ext>
            </a:extLst>
          </p:cNvPr>
          <p:cNvSpPr txBox="1"/>
          <p:nvPr/>
        </p:nvSpPr>
        <p:spPr>
          <a:xfrm>
            <a:off x="4305656" y="3816742"/>
            <a:ext cx="3102131" cy="569387"/>
          </a:xfrm>
          <a:prstGeom prst="rect">
            <a:avLst/>
          </a:prstGeom>
          <a:noFill/>
        </p:spPr>
        <p:txBody>
          <a:bodyPr wrap="none" rtlCol="0">
            <a:spAutoFit/>
          </a:bodyPr>
          <a:lstStyle/>
          <a:p>
            <a:pPr algn="ctr"/>
            <a:r>
              <a:rPr lang="tr-TR" sz="1500" dirty="0">
                <a:latin typeface="Consolas" panose="020B0609020204030204" pitchFamily="49" charset="0"/>
              </a:rPr>
              <a:t>Hafta 2</a:t>
            </a:r>
          </a:p>
          <a:p>
            <a:pPr algn="ctr"/>
            <a:r>
              <a:rPr lang="tr-TR" sz="1600" b="1" dirty="0">
                <a:latin typeface="Consolas" panose="020B0609020204030204" pitchFamily="49" charset="0"/>
              </a:rPr>
              <a:t>PARALEL DONANIM MİMARİLERİ</a:t>
            </a:r>
          </a:p>
        </p:txBody>
      </p:sp>
      <p:sp>
        <p:nvSpPr>
          <p:cNvPr id="8" name="Metin kutusu 7">
            <a:extLst>
              <a:ext uri="{FF2B5EF4-FFF2-40B4-BE49-F238E27FC236}">
                <a16:creationId xmlns:a16="http://schemas.microsoft.com/office/drawing/2014/main" id="{F487D820-CAE8-0A3E-CE73-D9224B8B5DCE}"/>
              </a:ext>
            </a:extLst>
          </p:cNvPr>
          <p:cNvSpPr txBox="1"/>
          <p:nvPr/>
        </p:nvSpPr>
        <p:spPr>
          <a:xfrm>
            <a:off x="4319563" y="4874993"/>
            <a:ext cx="3005951" cy="400110"/>
          </a:xfrm>
          <a:prstGeom prst="rect">
            <a:avLst/>
          </a:prstGeom>
          <a:noFill/>
        </p:spPr>
        <p:txBody>
          <a:bodyPr wrap="none" rtlCol="0">
            <a:spAutoFit/>
          </a:bodyPr>
          <a:lstStyle/>
          <a:p>
            <a:pPr algn="ctr"/>
            <a:r>
              <a:rPr lang="tr-TR" sz="2000" dirty="0">
                <a:latin typeface="Consolas" panose="020B0609020204030204" pitchFamily="49" charset="0"/>
              </a:rPr>
              <a:t>Dr. Funda KUTLU ONAY</a:t>
            </a:r>
          </a:p>
        </p:txBody>
      </p:sp>
    </p:spTree>
    <p:extLst>
      <p:ext uri="{BB962C8B-B14F-4D97-AF65-F5344CB8AC3E}">
        <p14:creationId xmlns:p14="http://schemas.microsoft.com/office/powerpoint/2010/main" val="23250194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Parallel computing for high-performance simulations">
            <a:extLst>
              <a:ext uri="{FF2B5EF4-FFF2-40B4-BE49-F238E27FC236}">
                <a16:creationId xmlns:a16="http://schemas.microsoft.com/office/drawing/2014/main" id="{2DF2FAFB-8FBC-D1F6-10FB-B22FC22E7B7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51802" b="-1"/>
          <a:stretch/>
        </p:blipFill>
        <p:spPr bwMode="auto">
          <a:xfrm rot="5400000">
            <a:off x="-2989346" y="2971346"/>
            <a:ext cx="6876000" cy="914399"/>
          </a:xfrm>
          <a:prstGeom prst="rect">
            <a:avLst/>
          </a:prstGeom>
          <a:noFill/>
          <a:extLst>
            <a:ext uri="{909E8E84-426E-40DD-AFC4-6F175D3DCCD1}">
              <a14:hiddenFill xmlns:a14="http://schemas.microsoft.com/office/drawing/2010/main">
                <a:solidFill>
                  <a:srgbClr val="FFFFFF"/>
                </a:solidFill>
              </a14:hiddenFill>
            </a:ext>
          </a:extLst>
        </p:spPr>
      </p:pic>
      <p:sp>
        <p:nvSpPr>
          <p:cNvPr id="6" name="Metin kutusu 5">
            <a:extLst>
              <a:ext uri="{FF2B5EF4-FFF2-40B4-BE49-F238E27FC236}">
                <a16:creationId xmlns:a16="http://schemas.microsoft.com/office/drawing/2014/main" id="{7E4D4629-93BD-9B46-AD20-4084588D814A}"/>
              </a:ext>
            </a:extLst>
          </p:cNvPr>
          <p:cNvSpPr txBox="1"/>
          <p:nvPr/>
        </p:nvSpPr>
        <p:spPr>
          <a:xfrm>
            <a:off x="1164349" y="184777"/>
            <a:ext cx="10688668" cy="553998"/>
          </a:xfrm>
          <a:prstGeom prst="rect">
            <a:avLst/>
          </a:prstGeom>
          <a:noFill/>
        </p:spPr>
        <p:txBody>
          <a:bodyPr wrap="square" rtlCol="0">
            <a:spAutoFit/>
          </a:bodyPr>
          <a:lstStyle/>
          <a:p>
            <a:r>
              <a:rPr lang="tr-TR" sz="3000" b="1" dirty="0">
                <a:latin typeface="Consolas" panose="020B0609020204030204" pitchFamily="49" charset="0"/>
              </a:rPr>
              <a:t>Ders İçeriği</a:t>
            </a:r>
          </a:p>
        </p:txBody>
      </p:sp>
      <p:sp>
        <p:nvSpPr>
          <p:cNvPr id="7" name="Metin kutusu 6">
            <a:extLst>
              <a:ext uri="{FF2B5EF4-FFF2-40B4-BE49-F238E27FC236}">
                <a16:creationId xmlns:a16="http://schemas.microsoft.com/office/drawing/2014/main" id="{AA89D77E-8335-0B08-2D4B-4270DDA5B0E0}"/>
              </a:ext>
            </a:extLst>
          </p:cNvPr>
          <p:cNvSpPr txBox="1"/>
          <p:nvPr/>
        </p:nvSpPr>
        <p:spPr>
          <a:xfrm>
            <a:off x="1164349" y="759758"/>
            <a:ext cx="10688668" cy="2862322"/>
          </a:xfrm>
          <a:prstGeom prst="rect">
            <a:avLst/>
          </a:prstGeom>
          <a:noFill/>
        </p:spPr>
        <p:txBody>
          <a:bodyPr wrap="square" rtlCol="0">
            <a:spAutoFit/>
          </a:bodyPr>
          <a:lstStyle/>
          <a:p>
            <a:pPr marL="457200" indent="-457200">
              <a:buFont typeface="Arial" panose="020B0604020202020204" pitchFamily="34" charset="0"/>
              <a:buChar char="•"/>
            </a:pPr>
            <a:r>
              <a:rPr lang="tr-TR" sz="3000" dirty="0">
                <a:latin typeface="Consolas" panose="020B0609020204030204" pitchFamily="49" charset="0"/>
              </a:rPr>
              <a:t>Paralel Donanımlar ve Yazılımlar</a:t>
            </a:r>
          </a:p>
          <a:p>
            <a:pPr marL="457200" indent="-457200">
              <a:buFont typeface="Arial" panose="020B0604020202020204" pitchFamily="34" charset="0"/>
              <a:buChar char="•"/>
            </a:pPr>
            <a:r>
              <a:rPr lang="tr-TR" sz="3000" dirty="0" err="1">
                <a:latin typeface="Consolas" panose="020B0609020204030204" pitchFamily="49" charset="0"/>
              </a:rPr>
              <a:t>Von</a:t>
            </a:r>
            <a:r>
              <a:rPr lang="tr-TR" sz="3000" dirty="0">
                <a:latin typeface="Consolas" panose="020B0609020204030204" pitchFamily="49" charset="0"/>
              </a:rPr>
              <a:t> Neumann Architecture</a:t>
            </a:r>
          </a:p>
          <a:p>
            <a:pPr marL="457200" indent="-457200">
              <a:buFont typeface="Arial" panose="020B0604020202020204" pitchFamily="34" charset="0"/>
              <a:buChar char="•"/>
            </a:pPr>
            <a:r>
              <a:rPr lang="tr-TR" sz="3000" dirty="0">
                <a:latin typeface="Consolas" panose="020B0609020204030204" pitchFamily="49" charset="0"/>
              </a:rPr>
              <a:t>İşlem (</a:t>
            </a:r>
            <a:r>
              <a:rPr lang="tr-TR" sz="3000" dirty="0" err="1">
                <a:latin typeface="Consolas" panose="020B0609020204030204" pitchFamily="49" charset="0"/>
              </a:rPr>
              <a:t>Process</a:t>
            </a:r>
            <a:r>
              <a:rPr lang="tr-TR" sz="3000" dirty="0">
                <a:latin typeface="Consolas" panose="020B0609020204030204" pitchFamily="49" charset="0"/>
              </a:rPr>
              <a:t>), Multi-</a:t>
            </a:r>
            <a:r>
              <a:rPr lang="tr-TR" sz="3000" dirty="0" err="1">
                <a:latin typeface="Consolas" panose="020B0609020204030204" pitchFamily="49" charset="0"/>
              </a:rPr>
              <a:t>tasking</a:t>
            </a:r>
            <a:r>
              <a:rPr lang="tr-TR" sz="3000" dirty="0">
                <a:latin typeface="Consolas" panose="020B0609020204030204" pitchFamily="49" charset="0"/>
              </a:rPr>
              <a:t> ve </a:t>
            </a:r>
            <a:r>
              <a:rPr lang="tr-TR" sz="3000" dirty="0" err="1">
                <a:latin typeface="Consolas" panose="020B0609020204030204" pitchFamily="49" charset="0"/>
              </a:rPr>
              <a:t>Thread</a:t>
            </a:r>
            <a:endParaRPr lang="tr-TR" sz="3000" dirty="0">
              <a:latin typeface="Consolas" panose="020B0609020204030204" pitchFamily="49" charset="0"/>
            </a:endParaRPr>
          </a:p>
          <a:p>
            <a:pPr marL="457200" indent="-457200">
              <a:buFont typeface="Arial" panose="020B0604020202020204" pitchFamily="34" charset="0"/>
              <a:buChar char="•"/>
            </a:pPr>
            <a:r>
              <a:rPr lang="tr-TR" sz="3000" dirty="0" err="1">
                <a:latin typeface="Consolas" panose="020B0609020204030204" pitchFamily="49" charset="0"/>
              </a:rPr>
              <a:t>Caching</a:t>
            </a:r>
            <a:r>
              <a:rPr lang="tr-TR" sz="3000" dirty="0">
                <a:latin typeface="Consolas" panose="020B0609020204030204" pitchFamily="49" charset="0"/>
              </a:rPr>
              <a:t> ve Sanal Bellek (Virtual Memory)</a:t>
            </a:r>
          </a:p>
          <a:p>
            <a:pPr marL="457200" indent="-457200">
              <a:buFont typeface="Arial" panose="020B0604020202020204" pitchFamily="34" charset="0"/>
              <a:buChar char="•"/>
            </a:pPr>
            <a:r>
              <a:rPr lang="tr-TR" sz="3000" dirty="0" err="1">
                <a:latin typeface="Consolas" panose="020B0609020204030204" pitchFamily="49" charset="0"/>
              </a:rPr>
              <a:t>Pipelines</a:t>
            </a:r>
            <a:endParaRPr lang="tr-TR" sz="3000" dirty="0">
              <a:latin typeface="Consolas" panose="020B0609020204030204" pitchFamily="49" charset="0"/>
            </a:endParaRPr>
          </a:p>
          <a:p>
            <a:pPr marL="457200" indent="-457200">
              <a:buFont typeface="Arial" panose="020B0604020202020204" pitchFamily="34" charset="0"/>
              <a:buChar char="•"/>
            </a:pPr>
            <a:r>
              <a:rPr lang="tr-TR" sz="3000" dirty="0">
                <a:latin typeface="Consolas" panose="020B0609020204030204" pitchFamily="49" charset="0"/>
              </a:rPr>
              <a:t>Paralel Donanım Mimarileri</a:t>
            </a:r>
          </a:p>
        </p:txBody>
      </p:sp>
    </p:spTree>
    <p:extLst>
      <p:ext uri="{BB962C8B-B14F-4D97-AF65-F5344CB8AC3E}">
        <p14:creationId xmlns:p14="http://schemas.microsoft.com/office/powerpoint/2010/main" val="14453092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973771-9CBA-4CED-16D1-EEDF831841FC}"/>
            </a:ext>
          </a:extLst>
        </p:cNvPr>
        <p:cNvGrpSpPr/>
        <p:nvPr/>
      </p:nvGrpSpPr>
      <p:grpSpPr>
        <a:xfrm>
          <a:off x="0" y="0"/>
          <a:ext cx="0" cy="0"/>
          <a:chOff x="0" y="0"/>
          <a:chExt cx="0" cy="0"/>
        </a:xfrm>
      </p:grpSpPr>
      <p:pic>
        <p:nvPicPr>
          <p:cNvPr id="4" name="Picture 2" descr="Parallel computing for high-performance simulations">
            <a:extLst>
              <a:ext uri="{FF2B5EF4-FFF2-40B4-BE49-F238E27FC236}">
                <a16:creationId xmlns:a16="http://schemas.microsoft.com/office/drawing/2014/main" id="{DB13D94C-A8D2-C303-592D-A1242C10CA3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51802" b="-1"/>
          <a:stretch/>
        </p:blipFill>
        <p:spPr bwMode="auto">
          <a:xfrm rot="5400000">
            <a:off x="-2989346" y="2971346"/>
            <a:ext cx="6876000" cy="914399"/>
          </a:xfrm>
          <a:prstGeom prst="rect">
            <a:avLst/>
          </a:prstGeom>
          <a:noFill/>
          <a:extLst>
            <a:ext uri="{909E8E84-426E-40DD-AFC4-6F175D3DCCD1}">
              <a14:hiddenFill xmlns:a14="http://schemas.microsoft.com/office/drawing/2010/main">
                <a:solidFill>
                  <a:srgbClr val="FFFFFF"/>
                </a:solidFill>
              </a14:hiddenFill>
            </a:ext>
          </a:extLst>
        </p:spPr>
      </p:pic>
      <p:sp>
        <p:nvSpPr>
          <p:cNvPr id="6" name="Metin kutusu 5">
            <a:extLst>
              <a:ext uri="{FF2B5EF4-FFF2-40B4-BE49-F238E27FC236}">
                <a16:creationId xmlns:a16="http://schemas.microsoft.com/office/drawing/2014/main" id="{68DBF6EA-4C4D-C4F2-AB9A-2CE64C2AE959}"/>
              </a:ext>
            </a:extLst>
          </p:cNvPr>
          <p:cNvSpPr txBox="1"/>
          <p:nvPr/>
        </p:nvSpPr>
        <p:spPr>
          <a:xfrm>
            <a:off x="1164349" y="184777"/>
            <a:ext cx="10688668" cy="553998"/>
          </a:xfrm>
          <a:prstGeom prst="rect">
            <a:avLst/>
          </a:prstGeom>
          <a:noFill/>
        </p:spPr>
        <p:txBody>
          <a:bodyPr wrap="square" rtlCol="0">
            <a:spAutoFit/>
          </a:bodyPr>
          <a:lstStyle/>
          <a:p>
            <a:r>
              <a:rPr lang="tr-TR" sz="3000" b="1" dirty="0" err="1">
                <a:latin typeface="Consolas" panose="020B0609020204030204" pitchFamily="49" charset="0"/>
              </a:rPr>
              <a:t>Von</a:t>
            </a:r>
            <a:r>
              <a:rPr lang="tr-TR" sz="3000" b="1" dirty="0">
                <a:latin typeface="Consolas" panose="020B0609020204030204" pitchFamily="49" charset="0"/>
              </a:rPr>
              <a:t> Neumann Mimarisi</a:t>
            </a:r>
          </a:p>
        </p:txBody>
      </p:sp>
      <p:sp>
        <p:nvSpPr>
          <p:cNvPr id="7" name="Metin kutusu 6">
            <a:extLst>
              <a:ext uri="{FF2B5EF4-FFF2-40B4-BE49-F238E27FC236}">
                <a16:creationId xmlns:a16="http://schemas.microsoft.com/office/drawing/2014/main" id="{A10FF1FF-D648-9D8B-2317-B6ADEE656A7D}"/>
              </a:ext>
            </a:extLst>
          </p:cNvPr>
          <p:cNvSpPr txBox="1"/>
          <p:nvPr/>
        </p:nvSpPr>
        <p:spPr>
          <a:xfrm>
            <a:off x="1164349" y="759758"/>
            <a:ext cx="7597514" cy="5693866"/>
          </a:xfrm>
          <a:prstGeom prst="rect">
            <a:avLst/>
          </a:prstGeom>
          <a:noFill/>
        </p:spPr>
        <p:txBody>
          <a:bodyPr wrap="square" rtlCol="0">
            <a:spAutoFit/>
          </a:bodyPr>
          <a:lstStyle/>
          <a:p>
            <a:pPr marL="457200" indent="-457200">
              <a:buFont typeface="Arial" panose="020B0604020202020204" pitchFamily="34" charset="0"/>
              <a:buChar char="•"/>
            </a:pPr>
            <a:r>
              <a:rPr lang="tr-TR" sz="2800" dirty="0">
                <a:latin typeface="Consolas" panose="020B0609020204030204" pitchFamily="49" charset="0"/>
              </a:rPr>
              <a:t>İsmini Macar asıllı ünlü Matematikçi John </a:t>
            </a:r>
            <a:r>
              <a:rPr lang="tr-TR" sz="2800" dirty="0" err="1">
                <a:latin typeface="Consolas" panose="020B0609020204030204" pitchFamily="49" charset="0"/>
              </a:rPr>
              <a:t>von</a:t>
            </a:r>
            <a:r>
              <a:rPr lang="tr-TR" sz="2800" dirty="0">
                <a:latin typeface="Consolas" panose="020B0609020204030204" pitchFamily="49" charset="0"/>
              </a:rPr>
              <a:t> </a:t>
            </a:r>
            <a:r>
              <a:rPr lang="tr-TR" sz="2800" dirty="0" err="1">
                <a:latin typeface="Consolas" panose="020B0609020204030204" pitchFamily="49" charset="0"/>
              </a:rPr>
              <a:t>Neumann’den</a:t>
            </a:r>
            <a:r>
              <a:rPr lang="tr-TR" sz="2800" dirty="0">
                <a:latin typeface="Consolas" panose="020B0609020204030204" pitchFamily="49" charset="0"/>
              </a:rPr>
              <a:t> almıştır.</a:t>
            </a:r>
          </a:p>
          <a:p>
            <a:pPr marL="457200" indent="-457200">
              <a:buFont typeface="Arial" panose="020B0604020202020204" pitchFamily="34" charset="0"/>
              <a:buChar char="•"/>
            </a:pPr>
            <a:r>
              <a:rPr lang="tr-TR" sz="2800" dirty="0" err="1">
                <a:latin typeface="Consolas" panose="020B0609020204030204" pitchFamily="49" charset="0"/>
              </a:rPr>
              <a:t>Stored</a:t>
            </a:r>
            <a:r>
              <a:rPr lang="tr-TR" sz="2800" dirty="0">
                <a:latin typeface="Consolas" panose="020B0609020204030204" pitchFamily="49" charset="0"/>
              </a:rPr>
              <a:t>-Program </a:t>
            </a:r>
            <a:r>
              <a:rPr lang="tr-TR" sz="2800" dirty="0" err="1">
                <a:latin typeface="Consolas" panose="020B0609020204030204" pitchFamily="49" charset="0"/>
              </a:rPr>
              <a:t>Computer</a:t>
            </a:r>
            <a:r>
              <a:rPr lang="tr-TR" sz="2800" dirty="0">
                <a:latin typeface="Consolas" panose="020B0609020204030204" pitchFamily="49" charset="0"/>
              </a:rPr>
              <a:t> olarak da bilinmektedir.</a:t>
            </a:r>
          </a:p>
          <a:p>
            <a:pPr marL="457200" indent="-457200">
              <a:buFont typeface="Arial" panose="020B0604020202020204" pitchFamily="34" charset="0"/>
              <a:buChar char="•"/>
            </a:pPr>
            <a:r>
              <a:rPr lang="tr-TR" sz="2800" dirty="0">
                <a:latin typeface="Consolas" panose="020B0609020204030204" pitchFamily="49" charset="0"/>
              </a:rPr>
              <a:t>Bu mimaride hem program komutları hem de veriler aynı elektronik bellekte tutulmaktadır. </a:t>
            </a:r>
          </a:p>
          <a:p>
            <a:pPr marL="457200" indent="-457200">
              <a:buFont typeface="Arial" panose="020B0604020202020204" pitchFamily="34" charset="0"/>
              <a:buChar char="•"/>
            </a:pPr>
            <a:r>
              <a:rPr lang="tr-TR" sz="2800" dirty="0" err="1">
                <a:latin typeface="Consolas" panose="020B0609020204030204" pitchFamily="49" charset="0"/>
              </a:rPr>
              <a:t>Von</a:t>
            </a:r>
            <a:r>
              <a:rPr lang="tr-TR" sz="2800" dirty="0">
                <a:latin typeface="Consolas" panose="020B0609020204030204" pitchFamily="49" charset="0"/>
              </a:rPr>
              <a:t> Neumann mimarisi, modern bilgisayar mimarilerinin temelini oluşturan ve genellikle "tek tip bellek" mimarisi olarak da bilinen bir bilgisayar mimarisidir. </a:t>
            </a:r>
          </a:p>
        </p:txBody>
      </p:sp>
      <p:pic>
        <p:nvPicPr>
          <p:cNvPr id="2" name="Resim 1">
            <a:extLst>
              <a:ext uri="{FF2B5EF4-FFF2-40B4-BE49-F238E27FC236}">
                <a16:creationId xmlns:a16="http://schemas.microsoft.com/office/drawing/2014/main" id="{1A514B10-2921-61CC-3339-E4587433E063}"/>
              </a:ext>
            </a:extLst>
          </p:cNvPr>
          <p:cNvPicPr>
            <a:picLocks noChangeAspect="1"/>
          </p:cNvPicPr>
          <p:nvPr/>
        </p:nvPicPr>
        <p:blipFill>
          <a:blip r:embed="rId3"/>
          <a:stretch>
            <a:fillRect/>
          </a:stretch>
        </p:blipFill>
        <p:spPr>
          <a:xfrm>
            <a:off x="9355144" y="1828800"/>
            <a:ext cx="2497873" cy="3200400"/>
          </a:xfrm>
          <a:prstGeom prst="rect">
            <a:avLst/>
          </a:prstGeom>
        </p:spPr>
      </p:pic>
    </p:spTree>
    <p:extLst>
      <p:ext uri="{BB962C8B-B14F-4D97-AF65-F5344CB8AC3E}">
        <p14:creationId xmlns:p14="http://schemas.microsoft.com/office/powerpoint/2010/main" val="17256616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B10A6A-49B2-0A12-7A1E-88CEFDC499D4}"/>
            </a:ext>
          </a:extLst>
        </p:cNvPr>
        <p:cNvGrpSpPr/>
        <p:nvPr/>
      </p:nvGrpSpPr>
      <p:grpSpPr>
        <a:xfrm>
          <a:off x="0" y="0"/>
          <a:ext cx="0" cy="0"/>
          <a:chOff x="0" y="0"/>
          <a:chExt cx="0" cy="0"/>
        </a:xfrm>
      </p:grpSpPr>
      <p:pic>
        <p:nvPicPr>
          <p:cNvPr id="4" name="Picture 2" descr="Parallel computing for high-performance simulations">
            <a:extLst>
              <a:ext uri="{FF2B5EF4-FFF2-40B4-BE49-F238E27FC236}">
                <a16:creationId xmlns:a16="http://schemas.microsoft.com/office/drawing/2014/main" id="{943E86E4-2A0A-A611-0274-6743B89B836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51802" b="-1"/>
          <a:stretch/>
        </p:blipFill>
        <p:spPr bwMode="auto">
          <a:xfrm rot="5400000">
            <a:off x="-2989346" y="2971346"/>
            <a:ext cx="6876000" cy="914399"/>
          </a:xfrm>
          <a:prstGeom prst="rect">
            <a:avLst/>
          </a:prstGeom>
          <a:noFill/>
          <a:extLst>
            <a:ext uri="{909E8E84-426E-40DD-AFC4-6F175D3DCCD1}">
              <a14:hiddenFill xmlns:a14="http://schemas.microsoft.com/office/drawing/2010/main">
                <a:solidFill>
                  <a:srgbClr val="FFFFFF"/>
                </a:solidFill>
              </a14:hiddenFill>
            </a:ext>
          </a:extLst>
        </p:spPr>
      </p:pic>
      <p:sp>
        <p:nvSpPr>
          <p:cNvPr id="6" name="Metin kutusu 5">
            <a:extLst>
              <a:ext uri="{FF2B5EF4-FFF2-40B4-BE49-F238E27FC236}">
                <a16:creationId xmlns:a16="http://schemas.microsoft.com/office/drawing/2014/main" id="{904B74C8-52BC-E060-BD3A-0E92F8D6B456}"/>
              </a:ext>
            </a:extLst>
          </p:cNvPr>
          <p:cNvSpPr txBox="1"/>
          <p:nvPr/>
        </p:nvSpPr>
        <p:spPr>
          <a:xfrm>
            <a:off x="1164349" y="184777"/>
            <a:ext cx="10688668" cy="553998"/>
          </a:xfrm>
          <a:prstGeom prst="rect">
            <a:avLst/>
          </a:prstGeom>
          <a:noFill/>
        </p:spPr>
        <p:txBody>
          <a:bodyPr wrap="square" rtlCol="0">
            <a:spAutoFit/>
          </a:bodyPr>
          <a:lstStyle/>
          <a:p>
            <a:r>
              <a:rPr lang="tr-TR" sz="3000" b="1" dirty="0" err="1">
                <a:latin typeface="Consolas" panose="020B0609020204030204" pitchFamily="49" charset="0"/>
              </a:rPr>
              <a:t>Von</a:t>
            </a:r>
            <a:r>
              <a:rPr lang="tr-TR" sz="3000" b="1" dirty="0">
                <a:latin typeface="Consolas" panose="020B0609020204030204" pitchFamily="49" charset="0"/>
              </a:rPr>
              <a:t> Neumann Mimarisi</a:t>
            </a:r>
          </a:p>
        </p:txBody>
      </p:sp>
      <p:sp>
        <p:nvSpPr>
          <p:cNvPr id="7" name="Metin kutusu 6">
            <a:extLst>
              <a:ext uri="{FF2B5EF4-FFF2-40B4-BE49-F238E27FC236}">
                <a16:creationId xmlns:a16="http://schemas.microsoft.com/office/drawing/2014/main" id="{3939E40B-0B94-66BB-32E7-E7078AD5E759}"/>
              </a:ext>
            </a:extLst>
          </p:cNvPr>
          <p:cNvSpPr txBox="1"/>
          <p:nvPr/>
        </p:nvSpPr>
        <p:spPr>
          <a:xfrm>
            <a:off x="1164349" y="759758"/>
            <a:ext cx="10688668" cy="3539430"/>
          </a:xfrm>
          <a:prstGeom prst="rect">
            <a:avLst/>
          </a:prstGeom>
          <a:noFill/>
        </p:spPr>
        <p:txBody>
          <a:bodyPr wrap="square" rtlCol="0">
            <a:spAutoFit/>
          </a:bodyPr>
          <a:lstStyle/>
          <a:p>
            <a:pPr marL="457200" indent="-457200" algn="just">
              <a:buFont typeface="Arial" panose="020B0604020202020204" pitchFamily="34" charset="0"/>
              <a:buChar char="•"/>
            </a:pPr>
            <a:r>
              <a:rPr lang="tr-TR" sz="2800" dirty="0">
                <a:latin typeface="Consolas" panose="020B0609020204030204" pitchFamily="49" charset="0"/>
              </a:rPr>
              <a:t>Dört ana unsurdan oluşmaktadır:</a:t>
            </a:r>
          </a:p>
          <a:p>
            <a:pPr marL="914400" lvl="1" indent="-457200" algn="just">
              <a:buFont typeface="Arial" panose="020B0604020202020204" pitchFamily="34" charset="0"/>
              <a:buChar char="•"/>
            </a:pPr>
            <a:r>
              <a:rPr lang="tr-TR" sz="2800" dirty="0">
                <a:latin typeface="Consolas" panose="020B0609020204030204" pitchFamily="49" charset="0"/>
              </a:rPr>
              <a:t>CPU bileşenleri:</a:t>
            </a:r>
          </a:p>
          <a:p>
            <a:pPr marL="1371600" lvl="2" indent="-457200" algn="just">
              <a:buFont typeface="Arial" panose="020B0604020202020204" pitchFamily="34" charset="0"/>
              <a:buChar char="•"/>
            </a:pPr>
            <a:r>
              <a:rPr lang="tr-TR" sz="2800" dirty="0">
                <a:latin typeface="Consolas" panose="020B0609020204030204" pitchFamily="49" charset="0"/>
              </a:rPr>
              <a:t>Aritmetik ve Mantıksal Ünite (</a:t>
            </a:r>
            <a:r>
              <a:rPr lang="tr-TR" sz="2800" dirty="0" err="1">
                <a:latin typeface="Consolas" panose="020B0609020204030204" pitchFamily="49" charset="0"/>
              </a:rPr>
              <a:t>Arithmetic</a:t>
            </a:r>
            <a:r>
              <a:rPr lang="tr-TR" sz="2800" dirty="0">
                <a:latin typeface="Consolas" panose="020B0609020204030204" pitchFamily="49" charset="0"/>
              </a:rPr>
              <a:t> </a:t>
            </a:r>
            <a:r>
              <a:rPr lang="tr-TR" sz="2800" dirty="0" err="1">
                <a:latin typeface="Consolas" panose="020B0609020204030204" pitchFamily="49" charset="0"/>
              </a:rPr>
              <a:t>and</a:t>
            </a:r>
            <a:r>
              <a:rPr lang="tr-TR" sz="2800" dirty="0">
                <a:latin typeface="Consolas" panose="020B0609020204030204" pitchFamily="49" charset="0"/>
              </a:rPr>
              <a:t> </a:t>
            </a:r>
            <a:r>
              <a:rPr lang="tr-TR" sz="2800" dirty="0" err="1">
                <a:latin typeface="Consolas" panose="020B0609020204030204" pitchFamily="49" charset="0"/>
              </a:rPr>
              <a:t>Logic</a:t>
            </a:r>
            <a:r>
              <a:rPr lang="tr-TR" sz="2800" dirty="0">
                <a:latin typeface="Consolas" panose="020B0609020204030204" pitchFamily="49" charset="0"/>
              </a:rPr>
              <a:t> </a:t>
            </a:r>
            <a:r>
              <a:rPr lang="tr-TR" sz="2800" dirty="0" err="1">
                <a:latin typeface="Consolas" panose="020B0609020204030204" pitchFamily="49" charset="0"/>
              </a:rPr>
              <a:t>Unit</a:t>
            </a:r>
            <a:r>
              <a:rPr lang="tr-TR" sz="2800" dirty="0">
                <a:latin typeface="Consolas" panose="020B0609020204030204" pitchFamily="49" charset="0"/>
              </a:rPr>
              <a:t>-ALU)</a:t>
            </a:r>
          </a:p>
          <a:p>
            <a:pPr marL="1371600" lvl="2" indent="-457200" algn="just">
              <a:buFont typeface="Arial" panose="020B0604020202020204" pitchFamily="34" charset="0"/>
              <a:buChar char="•"/>
            </a:pPr>
            <a:r>
              <a:rPr lang="tr-TR" sz="2800" dirty="0">
                <a:latin typeface="Consolas" panose="020B0609020204030204" pitchFamily="49" charset="0"/>
              </a:rPr>
              <a:t>Kontrol Ünitesi (Control </a:t>
            </a:r>
            <a:r>
              <a:rPr lang="tr-TR" sz="2800" dirty="0" err="1">
                <a:latin typeface="Consolas" panose="020B0609020204030204" pitchFamily="49" charset="0"/>
              </a:rPr>
              <a:t>Unit</a:t>
            </a:r>
            <a:r>
              <a:rPr lang="tr-TR" sz="2800" dirty="0">
                <a:latin typeface="Consolas" panose="020B0609020204030204" pitchFamily="49" charset="0"/>
              </a:rPr>
              <a:t>)</a:t>
            </a:r>
          </a:p>
          <a:p>
            <a:pPr marL="914400" lvl="1" indent="-457200" algn="just">
              <a:buFont typeface="Arial" panose="020B0604020202020204" pitchFamily="34" charset="0"/>
              <a:buChar char="•"/>
            </a:pPr>
            <a:r>
              <a:rPr lang="tr-TR" sz="2800" dirty="0">
                <a:latin typeface="Consolas" panose="020B0609020204030204" pitchFamily="49" charset="0"/>
              </a:rPr>
              <a:t>Bellek (Memory)</a:t>
            </a:r>
          </a:p>
          <a:p>
            <a:pPr marL="914400" lvl="1" indent="-457200" algn="just">
              <a:buFont typeface="Arial" panose="020B0604020202020204" pitchFamily="34" charset="0"/>
              <a:buChar char="•"/>
            </a:pPr>
            <a:r>
              <a:rPr lang="tr-TR" sz="2800" dirty="0">
                <a:latin typeface="Consolas" panose="020B0609020204030204" pitchFamily="49" charset="0"/>
              </a:rPr>
              <a:t>Bağlantılar (</a:t>
            </a:r>
            <a:r>
              <a:rPr lang="tr-TR" sz="2800" dirty="0" err="1">
                <a:latin typeface="Consolas" panose="020B0609020204030204" pitchFamily="49" charset="0"/>
              </a:rPr>
              <a:t>Interconnections</a:t>
            </a:r>
            <a:r>
              <a:rPr lang="tr-TR" sz="2800" dirty="0">
                <a:latin typeface="Consolas" panose="020B0609020204030204" pitchFamily="49" charset="0"/>
              </a:rPr>
              <a:t>)</a:t>
            </a:r>
          </a:p>
          <a:p>
            <a:pPr marL="1371600" lvl="2" indent="-457200" algn="just">
              <a:buFont typeface="Arial" panose="020B0604020202020204" pitchFamily="34" charset="0"/>
              <a:buChar char="•"/>
            </a:pPr>
            <a:r>
              <a:rPr lang="tr-TR" sz="2800" dirty="0">
                <a:latin typeface="Consolas" panose="020B0609020204030204" pitchFamily="49" charset="0"/>
              </a:rPr>
              <a:t>Giriş/Çıkış (</a:t>
            </a:r>
            <a:r>
              <a:rPr lang="tr-TR" sz="2800" dirty="0" err="1">
                <a:latin typeface="Consolas" panose="020B0609020204030204" pitchFamily="49" charset="0"/>
              </a:rPr>
              <a:t>Input</a:t>
            </a:r>
            <a:r>
              <a:rPr lang="tr-TR" sz="2800" dirty="0">
                <a:latin typeface="Consolas" panose="020B0609020204030204" pitchFamily="49" charset="0"/>
              </a:rPr>
              <a:t>/</a:t>
            </a:r>
            <a:r>
              <a:rPr lang="tr-TR" sz="2800" dirty="0" err="1">
                <a:latin typeface="Consolas" panose="020B0609020204030204" pitchFamily="49" charset="0"/>
              </a:rPr>
              <a:t>Output</a:t>
            </a:r>
            <a:r>
              <a:rPr lang="tr-TR" sz="2800" dirty="0">
                <a:latin typeface="Consolas" panose="020B0609020204030204" pitchFamily="49" charset="0"/>
              </a:rPr>
              <a:t>)</a:t>
            </a:r>
          </a:p>
        </p:txBody>
      </p:sp>
      <p:pic>
        <p:nvPicPr>
          <p:cNvPr id="3" name="Resim 2">
            <a:extLst>
              <a:ext uri="{FF2B5EF4-FFF2-40B4-BE49-F238E27FC236}">
                <a16:creationId xmlns:a16="http://schemas.microsoft.com/office/drawing/2014/main" id="{556F5F93-DD77-B27A-A422-2244771673CB}"/>
              </a:ext>
            </a:extLst>
          </p:cNvPr>
          <p:cNvPicPr>
            <a:picLocks noChangeAspect="1"/>
          </p:cNvPicPr>
          <p:nvPr/>
        </p:nvPicPr>
        <p:blipFill>
          <a:blip r:embed="rId3"/>
          <a:stretch>
            <a:fillRect/>
          </a:stretch>
        </p:blipFill>
        <p:spPr>
          <a:xfrm>
            <a:off x="8259469" y="3008781"/>
            <a:ext cx="3679478" cy="3443295"/>
          </a:xfrm>
          <a:prstGeom prst="rect">
            <a:avLst/>
          </a:prstGeom>
        </p:spPr>
      </p:pic>
    </p:spTree>
    <p:extLst>
      <p:ext uri="{BB962C8B-B14F-4D97-AF65-F5344CB8AC3E}">
        <p14:creationId xmlns:p14="http://schemas.microsoft.com/office/powerpoint/2010/main" val="37778847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0EF905-EED5-5705-0D6D-551504D0B3C8}"/>
            </a:ext>
          </a:extLst>
        </p:cNvPr>
        <p:cNvGrpSpPr/>
        <p:nvPr/>
      </p:nvGrpSpPr>
      <p:grpSpPr>
        <a:xfrm>
          <a:off x="0" y="0"/>
          <a:ext cx="0" cy="0"/>
          <a:chOff x="0" y="0"/>
          <a:chExt cx="0" cy="0"/>
        </a:xfrm>
      </p:grpSpPr>
      <p:pic>
        <p:nvPicPr>
          <p:cNvPr id="4" name="Picture 2" descr="Parallel computing for high-performance simulations">
            <a:extLst>
              <a:ext uri="{FF2B5EF4-FFF2-40B4-BE49-F238E27FC236}">
                <a16:creationId xmlns:a16="http://schemas.microsoft.com/office/drawing/2014/main" id="{13CF4E21-AA07-C14F-B637-59DADA3DBAC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51802" b="-1"/>
          <a:stretch/>
        </p:blipFill>
        <p:spPr bwMode="auto">
          <a:xfrm rot="5400000">
            <a:off x="-2989346" y="2971346"/>
            <a:ext cx="6876000" cy="914399"/>
          </a:xfrm>
          <a:prstGeom prst="rect">
            <a:avLst/>
          </a:prstGeom>
          <a:noFill/>
          <a:extLst>
            <a:ext uri="{909E8E84-426E-40DD-AFC4-6F175D3DCCD1}">
              <a14:hiddenFill xmlns:a14="http://schemas.microsoft.com/office/drawing/2010/main">
                <a:solidFill>
                  <a:srgbClr val="FFFFFF"/>
                </a:solidFill>
              </a14:hiddenFill>
            </a:ext>
          </a:extLst>
        </p:spPr>
      </p:pic>
      <p:sp>
        <p:nvSpPr>
          <p:cNvPr id="6" name="Metin kutusu 5">
            <a:extLst>
              <a:ext uri="{FF2B5EF4-FFF2-40B4-BE49-F238E27FC236}">
                <a16:creationId xmlns:a16="http://schemas.microsoft.com/office/drawing/2014/main" id="{8153BCCD-307A-3394-EA69-64E1082ECFE1}"/>
              </a:ext>
            </a:extLst>
          </p:cNvPr>
          <p:cNvSpPr txBox="1"/>
          <p:nvPr/>
        </p:nvSpPr>
        <p:spPr>
          <a:xfrm>
            <a:off x="1164349" y="184777"/>
            <a:ext cx="10688668" cy="553998"/>
          </a:xfrm>
          <a:prstGeom prst="rect">
            <a:avLst/>
          </a:prstGeom>
          <a:noFill/>
        </p:spPr>
        <p:txBody>
          <a:bodyPr wrap="square" rtlCol="0">
            <a:spAutoFit/>
          </a:bodyPr>
          <a:lstStyle/>
          <a:p>
            <a:r>
              <a:rPr lang="tr-TR" sz="3000" b="1" dirty="0" err="1">
                <a:latin typeface="Consolas" panose="020B0609020204030204" pitchFamily="49" charset="0"/>
              </a:rPr>
              <a:t>Von</a:t>
            </a:r>
            <a:r>
              <a:rPr lang="tr-TR" sz="3000" b="1" dirty="0">
                <a:latin typeface="Consolas" panose="020B0609020204030204" pitchFamily="49" charset="0"/>
              </a:rPr>
              <a:t> Neumann Mimarisinin Özellikleri</a:t>
            </a:r>
          </a:p>
        </p:txBody>
      </p:sp>
      <p:sp>
        <p:nvSpPr>
          <p:cNvPr id="7" name="Metin kutusu 6">
            <a:extLst>
              <a:ext uri="{FF2B5EF4-FFF2-40B4-BE49-F238E27FC236}">
                <a16:creationId xmlns:a16="http://schemas.microsoft.com/office/drawing/2014/main" id="{98A3E415-8ED3-6AF9-DD40-4033A98245AD}"/>
              </a:ext>
            </a:extLst>
          </p:cNvPr>
          <p:cNvSpPr txBox="1"/>
          <p:nvPr/>
        </p:nvSpPr>
        <p:spPr>
          <a:xfrm>
            <a:off x="1164349" y="759758"/>
            <a:ext cx="10688668" cy="5632311"/>
          </a:xfrm>
          <a:prstGeom prst="rect">
            <a:avLst/>
          </a:prstGeom>
          <a:noFill/>
        </p:spPr>
        <p:txBody>
          <a:bodyPr wrap="square" rtlCol="0">
            <a:spAutoFit/>
          </a:bodyPr>
          <a:lstStyle/>
          <a:p>
            <a:r>
              <a:rPr lang="tr-TR" sz="2000" b="1" i="1" dirty="0">
                <a:solidFill>
                  <a:srgbClr val="0070C0"/>
                </a:solidFill>
                <a:latin typeface="Consolas" panose="020B0609020204030204" pitchFamily="49" charset="0"/>
              </a:rPr>
              <a:t>Tek Tip Bellek:</a:t>
            </a:r>
          </a:p>
          <a:p>
            <a:pPr marL="285750" indent="-285750">
              <a:buFont typeface="Arial" panose="020B0604020202020204" pitchFamily="34" charset="0"/>
              <a:buChar char="•"/>
            </a:pPr>
            <a:r>
              <a:rPr lang="tr-TR" sz="2000" dirty="0">
                <a:latin typeface="Consolas" panose="020B0609020204030204" pitchFamily="49" charset="0"/>
              </a:rPr>
              <a:t>Programlar ve veriler aynı bellek alanında saklanır.</a:t>
            </a:r>
          </a:p>
          <a:p>
            <a:pPr marL="285750" indent="-285750">
              <a:buFont typeface="Arial" panose="020B0604020202020204" pitchFamily="34" charset="0"/>
              <a:buChar char="•"/>
            </a:pPr>
            <a:r>
              <a:rPr lang="tr-TR" sz="2000" dirty="0">
                <a:latin typeface="Consolas" panose="020B0609020204030204" pitchFamily="49" charset="0"/>
              </a:rPr>
              <a:t>Program kodu ve veri, aynı bellek birimlerine yüklenir ve aynı veri yolu üzerinden işlenir.</a:t>
            </a:r>
          </a:p>
          <a:p>
            <a:r>
              <a:rPr lang="tr-TR" sz="2000" b="1" i="1" dirty="0">
                <a:solidFill>
                  <a:srgbClr val="0070C0"/>
                </a:solidFill>
                <a:latin typeface="Consolas" panose="020B0609020204030204" pitchFamily="49" charset="0"/>
              </a:rPr>
              <a:t>Merkezi İşlem Birimi (CPU):</a:t>
            </a:r>
          </a:p>
          <a:p>
            <a:pPr marL="285750" indent="-285750">
              <a:buFont typeface="Arial" panose="020B0604020202020204" pitchFamily="34" charset="0"/>
              <a:buChar char="•"/>
            </a:pPr>
            <a:r>
              <a:rPr lang="tr-TR" sz="2000" dirty="0">
                <a:latin typeface="Consolas" panose="020B0609020204030204" pitchFamily="49" charset="0"/>
              </a:rPr>
              <a:t>Programları yürüten ve veri işleyen ana bileşendir.</a:t>
            </a:r>
          </a:p>
          <a:p>
            <a:pPr marL="285750" indent="-285750">
              <a:buFont typeface="Arial" panose="020B0604020202020204" pitchFamily="34" charset="0"/>
              <a:buChar char="•"/>
            </a:pPr>
            <a:r>
              <a:rPr lang="tr-TR" sz="2000" dirty="0">
                <a:latin typeface="Consolas" panose="020B0609020204030204" pitchFamily="49" charset="0"/>
              </a:rPr>
              <a:t>Komutları işler, verileri okur/yazar ve aritmetik işlemleri gerçekleştirir.</a:t>
            </a:r>
          </a:p>
          <a:p>
            <a:r>
              <a:rPr lang="tr-TR" sz="2000" b="1" i="1" dirty="0">
                <a:solidFill>
                  <a:srgbClr val="0070C0"/>
                </a:solidFill>
                <a:latin typeface="Consolas" panose="020B0609020204030204" pitchFamily="49" charset="0"/>
              </a:rPr>
              <a:t>Bellek:</a:t>
            </a:r>
          </a:p>
          <a:p>
            <a:pPr marL="285750" indent="-285750">
              <a:buFont typeface="Arial" panose="020B0604020202020204" pitchFamily="34" charset="0"/>
              <a:buChar char="•"/>
            </a:pPr>
            <a:r>
              <a:rPr lang="tr-TR" sz="2000" dirty="0">
                <a:latin typeface="Consolas" panose="020B0609020204030204" pitchFamily="49" charset="0"/>
              </a:rPr>
              <a:t>Program kodu ve veri, bellekte depolanır.</a:t>
            </a:r>
          </a:p>
          <a:p>
            <a:pPr marL="285750" indent="-285750">
              <a:buFont typeface="Arial" panose="020B0604020202020204" pitchFamily="34" charset="0"/>
              <a:buChar char="•"/>
            </a:pPr>
            <a:r>
              <a:rPr lang="tr-TR" sz="2000" dirty="0">
                <a:latin typeface="Consolas" panose="020B0609020204030204" pitchFamily="49" charset="0"/>
              </a:rPr>
              <a:t>Veriler ve komutlar aynı bellek alanında tutulur ve aynı yoldan işlenir.</a:t>
            </a:r>
          </a:p>
          <a:p>
            <a:r>
              <a:rPr lang="tr-TR" sz="2000" b="1" i="1" dirty="0">
                <a:solidFill>
                  <a:srgbClr val="0070C0"/>
                </a:solidFill>
                <a:latin typeface="Consolas" panose="020B0609020204030204" pitchFamily="49" charset="0"/>
              </a:rPr>
              <a:t>Birlikte Kontrol ve Veri Yolu:</a:t>
            </a:r>
          </a:p>
          <a:p>
            <a:pPr marL="285750" indent="-285750">
              <a:buFont typeface="Arial" panose="020B0604020202020204" pitchFamily="34" charset="0"/>
              <a:buChar char="•"/>
            </a:pPr>
            <a:r>
              <a:rPr lang="tr-TR" sz="2000" dirty="0">
                <a:latin typeface="Consolas" panose="020B0609020204030204" pitchFamily="49" charset="0"/>
              </a:rPr>
              <a:t>Kontrol sinyalleri ve veri, aynı veri yolu üzerinden taşınır.</a:t>
            </a:r>
          </a:p>
          <a:p>
            <a:pPr marL="285750" indent="-285750">
              <a:buFont typeface="Arial" panose="020B0604020202020204" pitchFamily="34" charset="0"/>
              <a:buChar char="•"/>
            </a:pPr>
            <a:r>
              <a:rPr lang="tr-TR" sz="2000" dirty="0">
                <a:latin typeface="Consolas" panose="020B0609020204030204" pitchFamily="49" charset="0"/>
              </a:rPr>
              <a:t>Bu, programların ve verilerin aynı yoldan geçmesini sağlar, bu da tasarımı basitleştirir.</a:t>
            </a:r>
          </a:p>
          <a:p>
            <a:r>
              <a:rPr lang="tr-TR" sz="2000" b="1" i="1" dirty="0">
                <a:solidFill>
                  <a:srgbClr val="0070C0"/>
                </a:solidFill>
                <a:latin typeface="Consolas" panose="020B0609020204030204" pitchFamily="49" charset="0"/>
              </a:rPr>
              <a:t>Program Sayacı (Program Counter):</a:t>
            </a:r>
          </a:p>
          <a:p>
            <a:pPr marL="285750" indent="-285750">
              <a:buFont typeface="Arial" panose="020B0604020202020204" pitchFamily="34" charset="0"/>
              <a:buChar char="•"/>
            </a:pPr>
            <a:r>
              <a:rPr lang="tr-TR" sz="2000" dirty="0">
                <a:latin typeface="Consolas" panose="020B0609020204030204" pitchFamily="49" charset="0"/>
              </a:rPr>
              <a:t>Bir sonraki yürütülecek komutun bellek adresini tutar.</a:t>
            </a:r>
          </a:p>
          <a:p>
            <a:pPr marL="285750" indent="-285750">
              <a:buFont typeface="Arial" panose="020B0604020202020204" pitchFamily="34" charset="0"/>
              <a:buChar char="•"/>
            </a:pPr>
            <a:r>
              <a:rPr lang="tr-TR" sz="2000" dirty="0">
                <a:latin typeface="Consolas" panose="020B0609020204030204" pitchFamily="49" charset="0"/>
              </a:rPr>
              <a:t>CPU'nun yürütme akışını kontrol eder.</a:t>
            </a:r>
          </a:p>
        </p:txBody>
      </p:sp>
    </p:spTree>
    <p:extLst>
      <p:ext uri="{BB962C8B-B14F-4D97-AF65-F5344CB8AC3E}">
        <p14:creationId xmlns:p14="http://schemas.microsoft.com/office/powerpoint/2010/main" val="41104755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E8C15F-9F3E-1C2A-5FC5-F1F7E3B1EA1D}"/>
            </a:ext>
          </a:extLst>
        </p:cNvPr>
        <p:cNvGrpSpPr/>
        <p:nvPr/>
      </p:nvGrpSpPr>
      <p:grpSpPr>
        <a:xfrm>
          <a:off x="0" y="0"/>
          <a:ext cx="0" cy="0"/>
          <a:chOff x="0" y="0"/>
          <a:chExt cx="0" cy="0"/>
        </a:xfrm>
      </p:grpSpPr>
      <p:pic>
        <p:nvPicPr>
          <p:cNvPr id="4" name="Picture 2" descr="Parallel computing for high-performance simulations">
            <a:extLst>
              <a:ext uri="{FF2B5EF4-FFF2-40B4-BE49-F238E27FC236}">
                <a16:creationId xmlns:a16="http://schemas.microsoft.com/office/drawing/2014/main" id="{57799652-C48D-D35C-6215-E70AC11E9E0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51802" b="-1"/>
          <a:stretch/>
        </p:blipFill>
        <p:spPr bwMode="auto">
          <a:xfrm rot="5400000">
            <a:off x="-2989346" y="2971346"/>
            <a:ext cx="6876000" cy="914399"/>
          </a:xfrm>
          <a:prstGeom prst="rect">
            <a:avLst/>
          </a:prstGeom>
          <a:noFill/>
          <a:extLst>
            <a:ext uri="{909E8E84-426E-40DD-AFC4-6F175D3DCCD1}">
              <a14:hiddenFill xmlns:a14="http://schemas.microsoft.com/office/drawing/2010/main">
                <a:solidFill>
                  <a:srgbClr val="FFFFFF"/>
                </a:solidFill>
              </a14:hiddenFill>
            </a:ext>
          </a:extLst>
        </p:spPr>
      </p:pic>
      <p:sp>
        <p:nvSpPr>
          <p:cNvPr id="6" name="Metin kutusu 5">
            <a:extLst>
              <a:ext uri="{FF2B5EF4-FFF2-40B4-BE49-F238E27FC236}">
                <a16:creationId xmlns:a16="http://schemas.microsoft.com/office/drawing/2014/main" id="{F180C10D-4158-6126-3848-283EB7DE6609}"/>
              </a:ext>
            </a:extLst>
          </p:cNvPr>
          <p:cNvSpPr txBox="1"/>
          <p:nvPr/>
        </p:nvSpPr>
        <p:spPr>
          <a:xfrm>
            <a:off x="1164349" y="184777"/>
            <a:ext cx="10688668" cy="553998"/>
          </a:xfrm>
          <a:prstGeom prst="rect">
            <a:avLst/>
          </a:prstGeom>
          <a:noFill/>
        </p:spPr>
        <p:txBody>
          <a:bodyPr wrap="square" rtlCol="0">
            <a:spAutoFit/>
          </a:bodyPr>
          <a:lstStyle/>
          <a:p>
            <a:r>
              <a:rPr lang="tr-TR" sz="3000" b="1" dirty="0" err="1">
                <a:latin typeface="Consolas" panose="020B0609020204030204" pitchFamily="49" charset="0"/>
              </a:rPr>
              <a:t>Von</a:t>
            </a:r>
            <a:r>
              <a:rPr lang="tr-TR" sz="3000" b="1" dirty="0">
                <a:latin typeface="Consolas" panose="020B0609020204030204" pitchFamily="49" charset="0"/>
              </a:rPr>
              <a:t> Neumann Darboğazı/Dar geçidi (</a:t>
            </a:r>
            <a:r>
              <a:rPr lang="tr-TR" sz="3000" b="1" dirty="0" err="1">
                <a:latin typeface="Consolas" panose="020B0609020204030204" pitchFamily="49" charset="0"/>
              </a:rPr>
              <a:t>Bottleneck</a:t>
            </a:r>
            <a:r>
              <a:rPr lang="tr-TR" sz="3000" b="1" dirty="0">
                <a:latin typeface="Consolas" panose="020B0609020204030204" pitchFamily="49" charset="0"/>
              </a:rPr>
              <a:t>)</a:t>
            </a:r>
          </a:p>
        </p:txBody>
      </p:sp>
      <p:sp>
        <p:nvSpPr>
          <p:cNvPr id="7" name="Metin kutusu 6">
            <a:extLst>
              <a:ext uri="{FF2B5EF4-FFF2-40B4-BE49-F238E27FC236}">
                <a16:creationId xmlns:a16="http://schemas.microsoft.com/office/drawing/2014/main" id="{58450885-9698-352C-4D7C-CD9B472A4F9E}"/>
              </a:ext>
            </a:extLst>
          </p:cNvPr>
          <p:cNvSpPr txBox="1"/>
          <p:nvPr/>
        </p:nvSpPr>
        <p:spPr>
          <a:xfrm>
            <a:off x="1164349" y="759759"/>
            <a:ext cx="10688668" cy="2677656"/>
          </a:xfrm>
          <a:prstGeom prst="rect">
            <a:avLst/>
          </a:prstGeom>
          <a:noFill/>
        </p:spPr>
        <p:txBody>
          <a:bodyPr wrap="square" rtlCol="0">
            <a:spAutoFit/>
          </a:bodyPr>
          <a:lstStyle/>
          <a:p>
            <a:pPr marL="457200" indent="-457200" algn="just">
              <a:buFont typeface="Arial" panose="020B0604020202020204" pitchFamily="34" charset="0"/>
              <a:buChar char="•"/>
            </a:pPr>
            <a:r>
              <a:rPr lang="tr-TR" sz="2400" dirty="0" err="1">
                <a:latin typeface="Consolas" panose="020B0609020204030204" pitchFamily="49" charset="0"/>
              </a:rPr>
              <a:t>Von</a:t>
            </a:r>
            <a:r>
              <a:rPr lang="tr-TR" sz="2400" dirty="0">
                <a:latin typeface="Consolas" panose="020B0609020204030204" pitchFamily="49" charset="0"/>
              </a:rPr>
              <a:t> Neumann Darboğazı, bilgisayar biliminde bir terimdir ve bir bilgisayarın performansını sınırlayan bir durumu ifade eder. Özellikle </a:t>
            </a:r>
            <a:r>
              <a:rPr lang="tr-TR" sz="2400" dirty="0" err="1">
                <a:latin typeface="Consolas" panose="020B0609020204030204" pitchFamily="49" charset="0"/>
              </a:rPr>
              <a:t>von</a:t>
            </a:r>
            <a:r>
              <a:rPr lang="tr-TR" sz="2400" dirty="0">
                <a:latin typeface="Consolas" panose="020B0609020204030204" pitchFamily="49" charset="0"/>
              </a:rPr>
              <a:t> Neumann mimarisine sahip bilgisayar sistemlerinde karşılaşılan bir kavramdır.</a:t>
            </a:r>
          </a:p>
          <a:p>
            <a:pPr marL="457200" indent="-457200" algn="just">
              <a:buFont typeface="Arial" panose="020B0604020202020204" pitchFamily="34" charset="0"/>
              <a:buChar char="•"/>
            </a:pPr>
            <a:r>
              <a:rPr lang="tr-TR" sz="2400" dirty="0">
                <a:latin typeface="Consolas" panose="020B0609020204030204" pitchFamily="49" charset="0"/>
              </a:rPr>
              <a:t>Bu mimarinin en büyük sorunu bilgisayarın komutları (</a:t>
            </a:r>
            <a:r>
              <a:rPr lang="tr-TR" sz="2400" dirty="0" err="1">
                <a:latin typeface="Consolas" panose="020B0609020204030204" pitchFamily="49" charset="0"/>
              </a:rPr>
              <a:t>instruction</a:t>
            </a:r>
            <a:r>
              <a:rPr lang="tr-TR" sz="2400" dirty="0">
                <a:latin typeface="Consolas" panose="020B0609020204030204" pitchFamily="49" charset="0"/>
              </a:rPr>
              <a:t>) okuyarak işlemesi için sürekli olarak işlemi askıya alıp hafızaya erişmesi gerekmektedir.</a:t>
            </a:r>
          </a:p>
        </p:txBody>
      </p:sp>
      <p:pic>
        <p:nvPicPr>
          <p:cNvPr id="1026" name="Picture 2" descr="In-Memory Computing for Low-Power Neural Network Inference - SemiWiki">
            <a:extLst>
              <a:ext uri="{FF2B5EF4-FFF2-40B4-BE49-F238E27FC236}">
                <a16:creationId xmlns:a16="http://schemas.microsoft.com/office/drawing/2014/main" id="{592DDC1C-48A3-A736-BE7A-70DE8FA4341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23392" y="3736115"/>
            <a:ext cx="4588120" cy="2583888"/>
          </a:xfrm>
          <a:prstGeom prst="rect">
            <a:avLst/>
          </a:prstGeom>
          <a:noFill/>
          <a:extLst>
            <a:ext uri="{909E8E84-426E-40DD-AFC4-6F175D3DCCD1}">
              <a14:hiddenFill xmlns:a14="http://schemas.microsoft.com/office/drawing/2010/main">
                <a:solidFill>
                  <a:srgbClr val="FFFFFF"/>
                </a:solidFill>
              </a14:hiddenFill>
            </a:ext>
          </a:extLst>
        </p:spPr>
      </p:pic>
      <p:sp>
        <p:nvSpPr>
          <p:cNvPr id="5" name="Metin kutusu 4">
            <a:extLst>
              <a:ext uri="{FF2B5EF4-FFF2-40B4-BE49-F238E27FC236}">
                <a16:creationId xmlns:a16="http://schemas.microsoft.com/office/drawing/2014/main" id="{F07695B3-0757-8470-13BD-ADF685D8F745}"/>
              </a:ext>
            </a:extLst>
          </p:cNvPr>
          <p:cNvSpPr txBox="1"/>
          <p:nvPr/>
        </p:nvSpPr>
        <p:spPr>
          <a:xfrm>
            <a:off x="1164349" y="3458399"/>
            <a:ext cx="6100548" cy="1785104"/>
          </a:xfrm>
          <a:prstGeom prst="rect">
            <a:avLst/>
          </a:prstGeom>
          <a:noFill/>
        </p:spPr>
        <p:txBody>
          <a:bodyPr wrap="square">
            <a:spAutoFit/>
          </a:bodyPr>
          <a:lstStyle/>
          <a:p>
            <a:pPr marL="457200" indent="-457200">
              <a:buFont typeface="Arial" panose="020B0604020202020204" pitchFamily="34" charset="0"/>
              <a:buChar char="•"/>
            </a:pPr>
            <a:r>
              <a:rPr lang="tr-TR" sz="2200" dirty="0">
                <a:latin typeface="Consolas" panose="020B0609020204030204" pitchFamily="49" charset="0"/>
              </a:rPr>
              <a:t>Bu da çok daha hızlı çalışabilecek olan </a:t>
            </a:r>
            <a:r>
              <a:rPr lang="tr-TR" sz="2200" dirty="0" err="1">
                <a:latin typeface="Consolas" panose="020B0609020204030204" pitchFamily="49" charset="0"/>
              </a:rPr>
              <a:t>ALU’nun</a:t>
            </a:r>
            <a:r>
              <a:rPr lang="tr-TR" sz="2200" dirty="0">
                <a:latin typeface="Consolas" panose="020B0609020204030204" pitchFamily="49" charset="0"/>
              </a:rPr>
              <a:t> sürekli komut okuma (</a:t>
            </a:r>
            <a:r>
              <a:rPr lang="tr-TR" sz="2200" dirty="0" err="1">
                <a:latin typeface="Consolas" panose="020B0609020204030204" pitchFamily="49" charset="0"/>
              </a:rPr>
              <a:t>fetch</a:t>
            </a:r>
            <a:r>
              <a:rPr lang="tr-TR" sz="2200" dirty="0">
                <a:latin typeface="Consolas" panose="020B0609020204030204" pitchFamily="49" charset="0"/>
              </a:rPr>
              <a:t>) ve çözümleme (</a:t>
            </a:r>
            <a:r>
              <a:rPr lang="tr-TR" sz="2200" dirty="0" err="1">
                <a:latin typeface="Consolas" panose="020B0609020204030204" pitchFamily="49" charset="0"/>
              </a:rPr>
              <a:t>decode</a:t>
            </a:r>
            <a:r>
              <a:rPr lang="tr-TR" sz="2200" dirty="0">
                <a:latin typeface="Consolas" panose="020B0609020204030204" pitchFamily="49" charset="0"/>
              </a:rPr>
              <a:t>) işlemleri süresince boşa beklemesine neden olmaktadır.</a:t>
            </a:r>
          </a:p>
        </p:txBody>
      </p:sp>
    </p:spTree>
    <p:extLst>
      <p:ext uri="{BB962C8B-B14F-4D97-AF65-F5344CB8AC3E}">
        <p14:creationId xmlns:p14="http://schemas.microsoft.com/office/powerpoint/2010/main" val="16081900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599987-B8C6-288E-641B-49D597FFFC7F}"/>
            </a:ext>
          </a:extLst>
        </p:cNvPr>
        <p:cNvGrpSpPr/>
        <p:nvPr/>
      </p:nvGrpSpPr>
      <p:grpSpPr>
        <a:xfrm>
          <a:off x="0" y="0"/>
          <a:ext cx="0" cy="0"/>
          <a:chOff x="0" y="0"/>
          <a:chExt cx="0" cy="0"/>
        </a:xfrm>
      </p:grpSpPr>
      <p:pic>
        <p:nvPicPr>
          <p:cNvPr id="4" name="Picture 2" descr="Parallel computing for high-performance simulations">
            <a:extLst>
              <a:ext uri="{FF2B5EF4-FFF2-40B4-BE49-F238E27FC236}">
                <a16:creationId xmlns:a16="http://schemas.microsoft.com/office/drawing/2014/main" id="{C474C1C2-71EA-ADD6-BAA6-501A13088D3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51802" b="-1"/>
          <a:stretch/>
        </p:blipFill>
        <p:spPr bwMode="auto">
          <a:xfrm rot="5400000">
            <a:off x="-2989346" y="2971346"/>
            <a:ext cx="6876000" cy="914399"/>
          </a:xfrm>
          <a:prstGeom prst="rect">
            <a:avLst/>
          </a:prstGeom>
          <a:noFill/>
          <a:extLst>
            <a:ext uri="{909E8E84-426E-40DD-AFC4-6F175D3DCCD1}">
              <a14:hiddenFill xmlns:a14="http://schemas.microsoft.com/office/drawing/2010/main">
                <a:solidFill>
                  <a:srgbClr val="FFFFFF"/>
                </a:solidFill>
              </a14:hiddenFill>
            </a:ext>
          </a:extLst>
        </p:spPr>
      </p:pic>
      <p:sp>
        <p:nvSpPr>
          <p:cNvPr id="6" name="Metin kutusu 5">
            <a:extLst>
              <a:ext uri="{FF2B5EF4-FFF2-40B4-BE49-F238E27FC236}">
                <a16:creationId xmlns:a16="http://schemas.microsoft.com/office/drawing/2014/main" id="{45AD1BB6-5ABB-B0A7-02DE-5185040553DD}"/>
              </a:ext>
            </a:extLst>
          </p:cNvPr>
          <p:cNvSpPr txBox="1"/>
          <p:nvPr/>
        </p:nvSpPr>
        <p:spPr>
          <a:xfrm>
            <a:off x="1164349" y="184777"/>
            <a:ext cx="10688668" cy="553998"/>
          </a:xfrm>
          <a:prstGeom prst="rect">
            <a:avLst/>
          </a:prstGeom>
          <a:noFill/>
        </p:spPr>
        <p:txBody>
          <a:bodyPr wrap="square" rtlCol="0">
            <a:spAutoFit/>
          </a:bodyPr>
          <a:lstStyle/>
          <a:p>
            <a:r>
              <a:rPr lang="tr-TR" sz="3000" b="1" dirty="0" err="1">
                <a:latin typeface="Consolas" panose="020B0609020204030204" pitchFamily="49" charset="0"/>
              </a:rPr>
              <a:t>Von</a:t>
            </a:r>
            <a:r>
              <a:rPr lang="tr-TR" sz="3000" b="1" dirty="0">
                <a:latin typeface="Consolas" panose="020B0609020204030204" pitchFamily="49" charset="0"/>
              </a:rPr>
              <a:t> Neumann Darboğazı/Dar geçidi (</a:t>
            </a:r>
            <a:r>
              <a:rPr lang="tr-TR" sz="3000" b="1" dirty="0" err="1">
                <a:latin typeface="Consolas" panose="020B0609020204030204" pitchFamily="49" charset="0"/>
              </a:rPr>
              <a:t>Bottleneck</a:t>
            </a:r>
            <a:r>
              <a:rPr lang="tr-TR" sz="3000" b="1" dirty="0">
                <a:latin typeface="Consolas" panose="020B0609020204030204" pitchFamily="49" charset="0"/>
              </a:rPr>
              <a:t>)</a:t>
            </a:r>
          </a:p>
        </p:txBody>
      </p:sp>
      <p:sp>
        <p:nvSpPr>
          <p:cNvPr id="7" name="Metin kutusu 6">
            <a:extLst>
              <a:ext uri="{FF2B5EF4-FFF2-40B4-BE49-F238E27FC236}">
                <a16:creationId xmlns:a16="http://schemas.microsoft.com/office/drawing/2014/main" id="{E5DE293D-7945-F430-A990-878F3DEE464A}"/>
              </a:ext>
            </a:extLst>
          </p:cNvPr>
          <p:cNvSpPr txBox="1"/>
          <p:nvPr/>
        </p:nvSpPr>
        <p:spPr>
          <a:xfrm>
            <a:off x="1164349" y="759759"/>
            <a:ext cx="10688668" cy="5632311"/>
          </a:xfrm>
          <a:prstGeom prst="rect">
            <a:avLst/>
          </a:prstGeom>
          <a:noFill/>
        </p:spPr>
        <p:txBody>
          <a:bodyPr wrap="square" rtlCol="0">
            <a:spAutoFit/>
          </a:bodyPr>
          <a:lstStyle/>
          <a:p>
            <a:pPr marL="457200" indent="-457200" algn="just">
              <a:buFont typeface="Arial" panose="020B0604020202020204" pitchFamily="34" charset="0"/>
              <a:buChar char="•"/>
            </a:pPr>
            <a:r>
              <a:rPr lang="tr-TR" sz="2400" dirty="0" err="1">
                <a:latin typeface="Consolas" panose="020B0609020204030204" pitchFamily="49" charset="0"/>
              </a:rPr>
              <a:t>Von</a:t>
            </a:r>
            <a:r>
              <a:rPr lang="tr-TR" sz="2400" dirty="0">
                <a:latin typeface="Consolas" panose="020B0609020204030204" pitchFamily="49" charset="0"/>
              </a:rPr>
              <a:t> Neumann Darboğazı, merkezi işlem birimi (CPU) ile bellek arasındaki veri aktarım hızının, CPU'nun işlem kapasitesini aşan bir hızda olması durumunda ortaya çıkar. Bu durum, CPU'nun bellekteki verilere erişmesi veya bellekten veri alması için gereken sürenin, CPU'nun işlem yapma kapasitesinden daha uzun olması anlamına gelir.</a:t>
            </a:r>
          </a:p>
          <a:p>
            <a:pPr marL="457200" indent="-457200" algn="just">
              <a:buFont typeface="Arial" panose="020B0604020202020204" pitchFamily="34" charset="0"/>
              <a:buChar char="•"/>
            </a:pPr>
            <a:r>
              <a:rPr lang="tr-TR" sz="2400" dirty="0">
                <a:latin typeface="Consolas" panose="020B0609020204030204" pitchFamily="49" charset="0"/>
              </a:rPr>
              <a:t>Bir başka deyişle, CPU'nun hızlı çalışmasına rağmen, bellekten veri alıp veri gönderme hızı yetersiz olduğunda, CPU bellekten veri beklemek zorunda kalır ve bu da işlem hızını etkiler. Dolayısıyla, CPU'nun çalışma hızı bellek erişim hızına bağlı olarak sınırlanır.</a:t>
            </a:r>
          </a:p>
          <a:p>
            <a:pPr marL="457200" indent="-457200" algn="just">
              <a:buFont typeface="Arial" panose="020B0604020202020204" pitchFamily="34" charset="0"/>
              <a:buChar char="•"/>
            </a:pPr>
            <a:r>
              <a:rPr lang="tr-TR" sz="2400" dirty="0" err="1">
                <a:latin typeface="Consolas" panose="020B0609020204030204" pitchFamily="49" charset="0"/>
              </a:rPr>
              <a:t>Von</a:t>
            </a:r>
            <a:r>
              <a:rPr lang="tr-TR" sz="2400" dirty="0">
                <a:latin typeface="Consolas" panose="020B0609020204030204" pitchFamily="49" charset="0"/>
              </a:rPr>
              <a:t> Neumann Darboğazı, özellikle bellek erişim hızını artırmak için geliştirilen önbellekler (</a:t>
            </a:r>
            <a:r>
              <a:rPr lang="tr-TR" sz="2400" dirty="0" err="1">
                <a:latin typeface="Consolas" panose="020B0609020204030204" pitchFamily="49" charset="0"/>
              </a:rPr>
              <a:t>cache</a:t>
            </a:r>
            <a:r>
              <a:rPr lang="tr-TR" sz="2400" dirty="0">
                <a:latin typeface="Consolas" panose="020B0609020204030204" pitchFamily="49" charset="0"/>
              </a:rPr>
              <a:t>) gibi teknolojilerle hafifletilebilir. </a:t>
            </a:r>
          </a:p>
          <a:p>
            <a:pPr marL="457200" indent="-457200" algn="just">
              <a:buFont typeface="Arial" panose="020B0604020202020204" pitchFamily="34" charset="0"/>
              <a:buChar char="•"/>
            </a:pPr>
            <a:endParaRPr lang="tr-TR" sz="2400" dirty="0">
              <a:latin typeface="Consolas" panose="020B0609020204030204" pitchFamily="49" charset="0"/>
            </a:endParaRPr>
          </a:p>
        </p:txBody>
      </p:sp>
    </p:spTree>
    <p:extLst>
      <p:ext uri="{BB962C8B-B14F-4D97-AF65-F5344CB8AC3E}">
        <p14:creationId xmlns:p14="http://schemas.microsoft.com/office/powerpoint/2010/main" val="21082157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443D7A-9749-30EE-33FA-868BB2533A54}"/>
            </a:ext>
          </a:extLst>
        </p:cNvPr>
        <p:cNvGrpSpPr/>
        <p:nvPr/>
      </p:nvGrpSpPr>
      <p:grpSpPr>
        <a:xfrm>
          <a:off x="0" y="0"/>
          <a:ext cx="0" cy="0"/>
          <a:chOff x="0" y="0"/>
          <a:chExt cx="0" cy="0"/>
        </a:xfrm>
      </p:grpSpPr>
      <p:pic>
        <p:nvPicPr>
          <p:cNvPr id="4" name="Picture 2" descr="Parallel computing for high-performance simulations">
            <a:extLst>
              <a:ext uri="{FF2B5EF4-FFF2-40B4-BE49-F238E27FC236}">
                <a16:creationId xmlns:a16="http://schemas.microsoft.com/office/drawing/2014/main" id="{B22FA774-AD49-FBC9-8612-06BB78537B0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51802" b="-1"/>
          <a:stretch/>
        </p:blipFill>
        <p:spPr bwMode="auto">
          <a:xfrm rot="5400000">
            <a:off x="-2989346" y="2971346"/>
            <a:ext cx="6876000" cy="914399"/>
          </a:xfrm>
          <a:prstGeom prst="rect">
            <a:avLst/>
          </a:prstGeom>
          <a:noFill/>
          <a:extLst>
            <a:ext uri="{909E8E84-426E-40DD-AFC4-6F175D3DCCD1}">
              <a14:hiddenFill xmlns:a14="http://schemas.microsoft.com/office/drawing/2010/main">
                <a:solidFill>
                  <a:srgbClr val="FFFFFF"/>
                </a:solidFill>
              </a14:hiddenFill>
            </a:ext>
          </a:extLst>
        </p:spPr>
      </p:pic>
      <p:sp>
        <p:nvSpPr>
          <p:cNvPr id="3" name="Metin kutusu 2">
            <a:extLst>
              <a:ext uri="{FF2B5EF4-FFF2-40B4-BE49-F238E27FC236}">
                <a16:creationId xmlns:a16="http://schemas.microsoft.com/office/drawing/2014/main" id="{D5910D11-27C4-0949-7158-0B2FAB610DD2}"/>
              </a:ext>
            </a:extLst>
          </p:cNvPr>
          <p:cNvSpPr txBox="1"/>
          <p:nvPr/>
        </p:nvSpPr>
        <p:spPr>
          <a:xfrm>
            <a:off x="3377821" y="2592662"/>
            <a:ext cx="6100548" cy="1477328"/>
          </a:xfrm>
          <a:prstGeom prst="rect">
            <a:avLst/>
          </a:prstGeom>
          <a:noFill/>
        </p:spPr>
        <p:txBody>
          <a:bodyPr wrap="square">
            <a:spAutoFit/>
          </a:bodyPr>
          <a:lstStyle/>
          <a:p>
            <a:pPr algn="ctr"/>
            <a:r>
              <a:rPr lang="tr-TR" sz="3000" b="1" dirty="0">
                <a:latin typeface="Consolas" panose="020B0609020204030204" pitchFamily="49" charset="0"/>
              </a:rPr>
              <a:t>İşlem (</a:t>
            </a:r>
            <a:r>
              <a:rPr lang="tr-TR" sz="3000" b="1" dirty="0" err="1">
                <a:latin typeface="Consolas" panose="020B0609020204030204" pitchFamily="49" charset="0"/>
              </a:rPr>
              <a:t>Process</a:t>
            </a:r>
            <a:r>
              <a:rPr lang="tr-TR" sz="3000" b="1" dirty="0">
                <a:latin typeface="Consolas" panose="020B0609020204030204" pitchFamily="49" charset="0"/>
              </a:rPr>
              <a:t>)</a:t>
            </a:r>
          </a:p>
          <a:p>
            <a:pPr algn="ctr"/>
            <a:r>
              <a:rPr lang="tr-TR" sz="3000" b="1" dirty="0">
                <a:latin typeface="Consolas" panose="020B0609020204030204" pitchFamily="49" charset="0"/>
              </a:rPr>
              <a:t>Çoklu Görev (Multitasking)</a:t>
            </a:r>
          </a:p>
          <a:p>
            <a:pPr algn="ctr"/>
            <a:r>
              <a:rPr lang="tr-TR" sz="3000" b="1" dirty="0">
                <a:latin typeface="Consolas" panose="020B0609020204030204" pitchFamily="49" charset="0"/>
              </a:rPr>
              <a:t>İş Parçacığı (</a:t>
            </a:r>
            <a:r>
              <a:rPr lang="tr-TR" sz="3000" b="1" dirty="0" err="1">
                <a:latin typeface="Consolas" panose="020B0609020204030204" pitchFamily="49" charset="0"/>
              </a:rPr>
              <a:t>Thread</a:t>
            </a:r>
            <a:r>
              <a:rPr lang="tr-TR" sz="3000" b="1" dirty="0">
                <a:latin typeface="Consolas" panose="020B0609020204030204" pitchFamily="49" charset="0"/>
              </a:rPr>
              <a:t>)</a:t>
            </a:r>
          </a:p>
        </p:txBody>
      </p:sp>
    </p:spTree>
    <p:extLst>
      <p:ext uri="{BB962C8B-B14F-4D97-AF65-F5344CB8AC3E}">
        <p14:creationId xmlns:p14="http://schemas.microsoft.com/office/powerpoint/2010/main" val="7846791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828E82-29A9-C6A3-8301-1C20FF670E7D}"/>
            </a:ext>
          </a:extLst>
        </p:cNvPr>
        <p:cNvGrpSpPr/>
        <p:nvPr/>
      </p:nvGrpSpPr>
      <p:grpSpPr>
        <a:xfrm>
          <a:off x="0" y="0"/>
          <a:ext cx="0" cy="0"/>
          <a:chOff x="0" y="0"/>
          <a:chExt cx="0" cy="0"/>
        </a:xfrm>
      </p:grpSpPr>
      <p:pic>
        <p:nvPicPr>
          <p:cNvPr id="4" name="Picture 2" descr="Parallel computing for high-performance simulations">
            <a:extLst>
              <a:ext uri="{FF2B5EF4-FFF2-40B4-BE49-F238E27FC236}">
                <a16:creationId xmlns:a16="http://schemas.microsoft.com/office/drawing/2014/main" id="{3853884F-9CB6-0AD7-5601-894A07B217D3}"/>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51802" b="-1"/>
          <a:stretch/>
        </p:blipFill>
        <p:spPr bwMode="auto">
          <a:xfrm rot="5400000">
            <a:off x="-2989346" y="2971346"/>
            <a:ext cx="6876000" cy="914399"/>
          </a:xfrm>
          <a:prstGeom prst="rect">
            <a:avLst/>
          </a:prstGeom>
          <a:noFill/>
          <a:extLst>
            <a:ext uri="{909E8E84-426E-40DD-AFC4-6F175D3DCCD1}">
              <a14:hiddenFill xmlns:a14="http://schemas.microsoft.com/office/drawing/2010/main">
                <a:solidFill>
                  <a:srgbClr val="FFFFFF"/>
                </a:solidFill>
              </a14:hiddenFill>
            </a:ext>
          </a:extLst>
        </p:spPr>
      </p:pic>
      <p:sp>
        <p:nvSpPr>
          <p:cNvPr id="6" name="Metin kutusu 5">
            <a:extLst>
              <a:ext uri="{FF2B5EF4-FFF2-40B4-BE49-F238E27FC236}">
                <a16:creationId xmlns:a16="http://schemas.microsoft.com/office/drawing/2014/main" id="{8E191197-C57F-04C7-9414-FB731E2479C5}"/>
              </a:ext>
            </a:extLst>
          </p:cNvPr>
          <p:cNvSpPr txBox="1"/>
          <p:nvPr/>
        </p:nvSpPr>
        <p:spPr>
          <a:xfrm>
            <a:off x="1164349" y="184777"/>
            <a:ext cx="10688668" cy="553998"/>
          </a:xfrm>
          <a:prstGeom prst="rect">
            <a:avLst/>
          </a:prstGeom>
          <a:noFill/>
        </p:spPr>
        <p:txBody>
          <a:bodyPr wrap="square" rtlCol="0">
            <a:spAutoFit/>
          </a:bodyPr>
          <a:lstStyle/>
          <a:p>
            <a:r>
              <a:rPr lang="tr-TR" sz="3000" b="1" dirty="0">
                <a:latin typeface="Consolas" panose="020B0609020204030204" pitchFamily="49" charset="0"/>
              </a:rPr>
              <a:t>İşletim Sistemleri (Operating </a:t>
            </a:r>
            <a:r>
              <a:rPr lang="tr-TR" sz="3000" b="1" dirty="0" err="1">
                <a:latin typeface="Consolas" panose="020B0609020204030204" pitchFamily="49" charset="0"/>
              </a:rPr>
              <a:t>Systems</a:t>
            </a:r>
            <a:r>
              <a:rPr lang="tr-TR" sz="3000" b="1" dirty="0">
                <a:latin typeface="Consolas" panose="020B0609020204030204" pitchFamily="49" charset="0"/>
              </a:rPr>
              <a:t>)</a:t>
            </a:r>
          </a:p>
        </p:txBody>
      </p:sp>
      <p:sp>
        <p:nvSpPr>
          <p:cNvPr id="7" name="Metin kutusu 6">
            <a:extLst>
              <a:ext uri="{FF2B5EF4-FFF2-40B4-BE49-F238E27FC236}">
                <a16:creationId xmlns:a16="http://schemas.microsoft.com/office/drawing/2014/main" id="{EEA860F3-A5A5-852A-1228-E341A60900E9}"/>
              </a:ext>
            </a:extLst>
          </p:cNvPr>
          <p:cNvSpPr txBox="1"/>
          <p:nvPr/>
        </p:nvSpPr>
        <p:spPr>
          <a:xfrm>
            <a:off x="1164349" y="947669"/>
            <a:ext cx="7474684" cy="5170646"/>
          </a:xfrm>
          <a:prstGeom prst="rect">
            <a:avLst/>
          </a:prstGeom>
          <a:noFill/>
        </p:spPr>
        <p:txBody>
          <a:bodyPr wrap="square" rtlCol="0">
            <a:spAutoFit/>
          </a:bodyPr>
          <a:lstStyle/>
          <a:p>
            <a:pPr marL="457200" indent="-457200">
              <a:buFont typeface="Wingdings" panose="05000000000000000000" pitchFamily="2" charset="2"/>
              <a:buChar char="§"/>
            </a:pPr>
            <a:r>
              <a:rPr lang="tr-TR" sz="3000" dirty="0">
                <a:latin typeface="Consolas" panose="020B0609020204030204" pitchFamily="49" charset="0"/>
              </a:rPr>
              <a:t>Bilgisayar donanım kaynaklarını yöneten ve çeşitli uygulama yazılımları için yaygın servisleri sağlayan bir yazılımlar bütünüdür.</a:t>
            </a:r>
          </a:p>
          <a:p>
            <a:pPr marL="457200" indent="-457200">
              <a:buFont typeface="Wingdings" panose="05000000000000000000" pitchFamily="2" charset="2"/>
              <a:buChar char="§"/>
            </a:pPr>
            <a:r>
              <a:rPr lang="tr-TR" sz="3000" dirty="0">
                <a:latin typeface="Consolas" panose="020B0609020204030204" pitchFamily="49" charset="0"/>
              </a:rPr>
              <a:t>İşletim sistemleri hangi programların nasıl ve ne zaman çalışacağını belirler.</a:t>
            </a:r>
          </a:p>
          <a:p>
            <a:pPr marL="457200" indent="-457200">
              <a:buFont typeface="Wingdings" panose="05000000000000000000" pitchFamily="2" charset="2"/>
              <a:buChar char="§"/>
            </a:pPr>
            <a:r>
              <a:rPr lang="tr-TR" sz="3000" dirty="0">
                <a:latin typeface="Consolas" panose="020B0609020204030204" pitchFamily="49" charset="0"/>
              </a:rPr>
              <a:t>Hafıza, sabit disk ve I/O birimlerinin yönetiminden de sorumludur.</a:t>
            </a:r>
          </a:p>
        </p:txBody>
      </p:sp>
      <p:pic>
        <p:nvPicPr>
          <p:cNvPr id="5122" name="Picture 2" descr="İşletim sistemi - Turkcewiki.org">
            <a:extLst>
              <a:ext uri="{FF2B5EF4-FFF2-40B4-BE49-F238E27FC236}">
                <a16:creationId xmlns:a16="http://schemas.microsoft.com/office/drawing/2014/main" id="{7A28C5CC-DA13-765A-B059-979FA20F9B5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47517" y="908545"/>
            <a:ext cx="3405500" cy="504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838624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DC5D74-9105-25C3-376A-4695073AF43F}"/>
            </a:ext>
          </a:extLst>
        </p:cNvPr>
        <p:cNvGrpSpPr/>
        <p:nvPr/>
      </p:nvGrpSpPr>
      <p:grpSpPr>
        <a:xfrm>
          <a:off x="0" y="0"/>
          <a:ext cx="0" cy="0"/>
          <a:chOff x="0" y="0"/>
          <a:chExt cx="0" cy="0"/>
        </a:xfrm>
      </p:grpSpPr>
      <p:pic>
        <p:nvPicPr>
          <p:cNvPr id="4" name="Picture 2" descr="Parallel computing for high-performance simulations">
            <a:extLst>
              <a:ext uri="{FF2B5EF4-FFF2-40B4-BE49-F238E27FC236}">
                <a16:creationId xmlns:a16="http://schemas.microsoft.com/office/drawing/2014/main" id="{A831DD8B-961A-87C6-8002-5380C7CC658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51802" b="-1"/>
          <a:stretch/>
        </p:blipFill>
        <p:spPr bwMode="auto">
          <a:xfrm rot="5400000">
            <a:off x="-2989346" y="2971346"/>
            <a:ext cx="6876000" cy="914399"/>
          </a:xfrm>
          <a:prstGeom prst="rect">
            <a:avLst/>
          </a:prstGeom>
          <a:noFill/>
          <a:extLst>
            <a:ext uri="{909E8E84-426E-40DD-AFC4-6F175D3DCCD1}">
              <a14:hiddenFill xmlns:a14="http://schemas.microsoft.com/office/drawing/2010/main">
                <a:solidFill>
                  <a:srgbClr val="FFFFFF"/>
                </a:solidFill>
              </a14:hiddenFill>
            </a:ext>
          </a:extLst>
        </p:spPr>
      </p:pic>
      <p:sp>
        <p:nvSpPr>
          <p:cNvPr id="6" name="Metin kutusu 5">
            <a:extLst>
              <a:ext uri="{FF2B5EF4-FFF2-40B4-BE49-F238E27FC236}">
                <a16:creationId xmlns:a16="http://schemas.microsoft.com/office/drawing/2014/main" id="{4DD3D8ED-FAD9-F1E2-12D7-ADC5A1F75D91}"/>
              </a:ext>
            </a:extLst>
          </p:cNvPr>
          <p:cNvSpPr txBox="1"/>
          <p:nvPr/>
        </p:nvSpPr>
        <p:spPr>
          <a:xfrm>
            <a:off x="1164349" y="184777"/>
            <a:ext cx="10688668" cy="553998"/>
          </a:xfrm>
          <a:prstGeom prst="rect">
            <a:avLst/>
          </a:prstGeom>
          <a:noFill/>
        </p:spPr>
        <p:txBody>
          <a:bodyPr wrap="square" rtlCol="0">
            <a:spAutoFit/>
          </a:bodyPr>
          <a:lstStyle/>
          <a:p>
            <a:r>
              <a:rPr lang="tr-TR" sz="3000" b="1" dirty="0">
                <a:latin typeface="Consolas" panose="020B0609020204030204" pitchFamily="49" charset="0"/>
              </a:rPr>
              <a:t>İşlem (</a:t>
            </a:r>
            <a:r>
              <a:rPr lang="tr-TR" sz="3000" b="1" dirty="0" err="1">
                <a:latin typeface="Consolas" panose="020B0609020204030204" pitchFamily="49" charset="0"/>
              </a:rPr>
              <a:t>Process</a:t>
            </a:r>
            <a:r>
              <a:rPr lang="tr-TR" sz="3000" b="1" dirty="0">
                <a:latin typeface="Consolas" panose="020B0609020204030204" pitchFamily="49" charset="0"/>
              </a:rPr>
              <a:t>)</a:t>
            </a:r>
          </a:p>
        </p:txBody>
      </p:sp>
      <p:sp>
        <p:nvSpPr>
          <p:cNvPr id="7" name="Metin kutusu 6">
            <a:extLst>
              <a:ext uri="{FF2B5EF4-FFF2-40B4-BE49-F238E27FC236}">
                <a16:creationId xmlns:a16="http://schemas.microsoft.com/office/drawing/2014/main" id="{E20406B9-44D4-9DCF-4FA9-E85CDAD4F8FC}"/>
              </a:ext>
            </a:extLst>
          </p:cNvPr>
          <p:cNvSpPr txBox="1"/>
          <p:nvPr/>
        </p:nvSpPr>
        <p:spPr>
          <a:xfrm>
            <a:off x="1164349" y="759758"/>
            <a:ext cx="10688668" cy="4893647"/>
          </a:xfrm>
          <a:prstGeom prst="rect">
            <a:avLst/>
          </a:prstGeom>
          <a:noFill/>
        </p:spPr>
        <p:txBody>
          <a:bodyPr wrap="square" rtlCol="0">
            <a:spAutoFit/>
          </a:bodyPr>
          <a:lstStyle/>
          <a:p>
            <a:pPr marL="457200" indent="-457200">
              <a:buFont typeface="Wingdings" panose="05000000000000000000" pitchFamily="2" charset="2"/>
              <a:buChar char="§"/>
            </a:pPr>
            <a:r>
              <a:rPr lang="tr-TR" sz="2400" dirty="0">
                <a:latin typeface="Consolas" panose="020B0609020204030204" pitchFamily="49" charset="0"/>
              </a:rPr>
              <a:t>Genel anlamda işlemci üzerinde yürütülmekte olan her bir program.</a:t>
            </a:r>
          </a:p>
          <a:p>
            <a:pPr marL="457200" indent="-457200">
              <a:buFont typeface="Wingdings" panose="05000000000000000000" pitchFamily="2" charset="2"/>
              <a:buChar char="§"/>
            </a:pPr>
            <a:r>
              <a:rPr lang="tr-TR" sz="2400" dirty="0">
                <a:latin typeface="Consolas" panose="020B0609020204030204" pitchFamily="49" charset="0"/>
              </a:rPr>
              <a:t>Multitasking (çoklu görev), bir bilgisayarın aynı anda birden fazla işlemi veya görevi gerçekleştirebilme yeteneğidir. </a:t>
            </a:r>
          </a:p>
          <a:p>
            <a:pPr marL="457200" indent="-457200">
              <a:buFont typeface="Wingdings" panose="05000000000000000000" pitchFamily="2" charset="2"/>
              <a:buChar char="§"/>
            </a:pPr>
            <a:r>
              <a:rPr lang="tr-TR" sz="2400" dirty="0">
                <a:latin typeface="Consolas" panose="020B0609020204030204" pitchFamily="49" charset="0"/>
              </a:rPr>
              <a:t>Bu işlemler genellikle işletim sistemi tarafından yönetilir ve birbirinden bağımsız olarak yürütülür. İşte bu çoklu görevlerin her biri bir süreç olarak adlandırılır.</a:t>
            </a:r>
          </a:p>
          <a:p>
            <a:pPr marL="457200" indent="-457200">
              <a:buFont typeface="Wingdings" panose="05000000000000000000" pitchFamily="2" charset="2"/>
              <a:buChar char="§"/>
            </a:pPr>
            <a:r>
              <a:rPr lang="tr-TR" sz="2400" dirty="0">
                <a:latin typeface="Consolas" panose="020B0609020204030204" pitchFamily="49" charset="0"/>
              </a:rPr>
              <a:t>Bu nedenle, </a:t>
            </a:r>
            <a:r>
              <a:rPr lang="tr-TR" sz="2400" dirty="0" err="1">
                <a:latin typeface="Consolas" panose="020B0609020204030204" pitchFamily="49" charset="0"/>
              </a:rPr>
              <a:t>multitasking</a:t>
            </a:r>
            <a:r>
              <a:rPr lang="tr-TR" sz="2400" dirty="0">
                <a:latin typeface="Consolas" panose="020B0609020204030204" pitchFamily="49" charset="0"/>
              </a:rPr>
              <a:t> işletim sistemleri, aynı anda birden fazla süreci çalıştırabilir. </a:t>
            </a:r>
          </a:p>
          <a:p>
            <a:pPr marL="457200" indent="-457200">
              <a:buFont typeface="Wingdings" panose="05000000000000000000" pitchFamily="2" charset="2"/>
              <a:buChar char="§"/>
            </a:pPr>
            <a:r>
              <a:rPr lang="tr-TR" sz="2400" dirty="0">
                <a:latin typeface="Consolas" panose="020B0609020204030204" pitchFamily="49" charset="0"/>
              </a:rPr>
              <a:t>Her bir süreç, kendi adres alanına sahip olan ve kendi kaynaklarına (bellek, CPU zamanı, dosya ve cihazlar gibi) sahip olan birimlerdir. </a:t>
            </a:r>
          </a:p>
        </p:txBody>
      </p:sp>
    </p:spTree>
    <p:extLst>
      <p:ext uri="{BB962C8B-B14F-4D97-AF65-F5344CB8AC3E}">
        <p14:creationId xmlns:p14="http://schemas.microsoft.com/office/powerpoint/2010/main" val="27034241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A4EE88-169A-2104-C7E8-D3B62D0FD645}"/>
            </a:ext>
          </a:extLst>
        </p:cNvPr>
        <p:cNvGrpSpPr/>
        <p:nvPr/>
      </p:nvGrpSpPr>
      <p:grpSpPr>
        <a:xfrm>
          <a:off x="0" y="0"/>
          <a:ext cx="0" cy="0"/>
          <a:chOff x="0" y="0"/>
          <a:chExt cx="0" cy="0"/>
        </a:xfrm>
      </p:grpSpPr>
      <p:pic>
        <p:nvPicPr>
          <p:cNvPr id="4" name="Picture 2" descr="Parallel computing for high-performance simulations">
            <a:extLst>
              <a:ext uri="{FF2B5EF4-FFF2-40B4-BE49-F238E27FC236}">
                <a16:creationId xmlns:a16="http://schemas.microsoft.com/office/drawing/2014/main" id="{CA4A940A-D7A3-D2AA-7670-D91512A53083}"/>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51802" b="-1"/>
          <a:stretch/>
        </p:blipFill>
        <p:spPr bwMode="auto">
          <a:xfrm rot="5400000">
            <a:off x="-2989346" y="2971346"/>
            <a:ext cx="6876000" cy="914399"/>
          </a:xfrm>
          <a:prstGeom prst="rect">
            <a:avLst/>
          </a:prstGeom>
          <a:noFill/>
          <a:extLst>
            <a:ext uri="{909E8E84-426E-40DD-AFC4-6F175D3DCCD1}">
              <a14:hiddenFill xmlns:a14="http://schemas.microsoft.com/office/drawing/2010/main">
                <a:solidFill>
                  <a:srgbClr val="FFFFFF"/>
                </a:solidFill>
              </a14:hiddenFill>
            </a:ext>
          </a:extLst>
        </p:spPr>
      </p:pic>
      <p:sp>
        <p:nvSpPr>
          <p:cNvPr id="6" name="Metin kutusu 5">
            <a:extLst>
              <a:ext uri="{FF2B5EF4-FFF2-40B4-BE49-F238E27FC236}">
                <a16:creationId xmlns:a16="http://schemas.microsoft.com/office/drawing/2014/main" id="{6E5339FF-B184-8135-9270-09AD4D2BD63C}"/>
              </a:ext>
            </a:extLst>
          </p:cNvPr>
          <p:cNvSpPr txBox="1"/>
          <p:nvPr/>
        </p:nvSpPr>
        <p:spPr>
          <a:xfrm>
            <a:off x="1164349" y="184777"/>
            <a:ext cx="10688668" cy="553998"/>
          </a:xfrm>
          <a:prstGeom prst="rect">
            <a:avLst/>
          </a:prstGeom>
          <a:noFill/>
        </p:spPr>
        <p:txBody>
          <a:bodyPr wrap="square" rtlCol="0">
            <a:spAutoFit/>
          </a:bodyPr>
          <a:lstStyle/>
          <a:p>
            <a:r>
              <a:rPr lang="tr-TR" sz="3000" b="1" dirty="0">
                <a:latin typeface="Consolas" panose="020B0609020204030204" pitchFamily="49" charset="0"/>
              </a:rPr>
              <a:t>İşlem (</a:t>
            </a:r>
            <a:r>
              <a:rPr lang="tr-TR" sz="3000" b="1" dirty="0" err="1">
                <a:latin typeface="Consolas" panose="020B0609020204030204" pitchFamily="49" charset="0"/>
              </a:rPr>
              <a:t>Process</a:t>
            </a:r>
            <a:r>
              <a:rPr lang="tr-TR" sz="3000" b="1" dirty="0">
                <a:latin typeface="Consolas" panose="020B0609020204030204" pitchFamily="49" charset="0"/>
              </a:rPr>
              <a:t>)</a:t>
            </a:r>
          </a:p>
        </p:txBody>
      </p:sp>
      <p:sp>
        <p:nvSpPr>
          <p:cNvPr id="7" name="Metin kutusu 6">
            <a:extLst>
              <a:ext uri="{FF2B5EF4-FFF2-40B4-BE49-F238E27FC236}">
                <a16:creationId xmlns:a16="http://schemas.microsoft.com/office/drawing/2014/main" id="{CC0E7CB2-72FB-3B58-D82C-F2468B6B6D47}"/>
              </a:ext>
            </a:extLst>
          </p:cNvPr>
          <p:cNvSpPr txBox="1"/>
          <p:nvPr/>
        </p:nvSpPr>
        <p:spPr>
          <a:xfrm>
            <a:off x="1164349" y="759758"/>
            <a:ext cx="10688668" cy="5632311"/>
          </a:xfrm>
          <a:prstGeom prst="rect">
            <a:avLst/>
          </a:prstGeom>
          <a:noFill/>
        </p:spPr>
        <p:txBody>
          <a:bodyPr wrap="square" rtlCol="0">
            <a:spAutoFit/>
          </a:bodyPr>
          <a:lstStyle/>
          <a:p>
            <a:pPr marL="457200" indent="-457200">
              <a:buFont typeface="Wingdings" panose="05000000000000000000" pitchFamily="2" charset="2"/>
              <a:buChar char="§"/>
            </a:pPr>
            <a:r>
              <a:rPr lang="tr-TR" sz="2400" dirty="0">
                <a:latin typeface="Consolas" panose="020B0609020204030204" pitchFamily="49" charset="0"/>
              </a:rPr>
              <a:t>Her bir süreç, işletim sistemi tarafından birbirinden bağımsız olarak yönetilir ve çalıştırılır.</a:t>
            </a:r>
          </a:p>
          <a:p>
            <a:pPr marL="457200" indent="-457200">
              <a:buFont typeface="Wingdings" panose="05000000000000000000" pitchFamily="2" charset="2"/>
              <a:buChar char="§"/>
            </a:pPr>
            <a:r>
              <a:rPr lang="tr-TR" sz="2400" dirty="0">
                <a:latin typeface="Consolas" panose="020B0609020204030204" pitchFamily="49" charset="0"/>
              </a:rPr>
              <a:t>Bir işletim sistemi, genellikle aynı anda birçok süreci yönetebilir ve bu süreçler arasında zaman paylaşımı yaparak kullanıcıya sanki aynı anda birden fazla iş yapılıyormuş gibi bir izlenim verir. Örneğin, bir kullanıcı aynı anda bir metin editöründe çalışırken bir web tarayıcısını kullanabilir veya müzik çalabilir.</a:t>
            </a:r>
          </a:p>
          <a:p>
            <a:pPr marL="457200" indent="-457200">
              <a:buFont typeface="Wingdings" panose="05000000000000000000" pitchFamily="2" charset="2"/>
              <a:buChar char="§"/>
            </a:pPr>
            <a:r>
              <a:rPr lang="tr-TR" sz="2400" dirty="0">
                <a:latin typeface="Consolas" panose="020B0609020204030204" pitchFamily="49" charset="0"/>
              </a:rPr>
              <a:t>Bununla birlikte, işletim sistemi, her bir sürecin çalışma zamanını planlayarak ve kaynakları yöneterek çoklu görevi gerçekleştirir. Süreçler arasında geçiş yapmak için zaman paylaşımı yöntemi kullanılır ve bu, CPU zamanının farklı süreçler arasında bölünmesini sağlar. Bu sayede, kullanıcılar birden fazla görevi aynı anda gerçekleştirebilirler.</a:t>
            </a:r>
          </a:p>
        </p:txBody>
      </p:sp>
    </p:spTree>
    <p:extLst>
      <p:ext uri="{BB962C8B-B14F-4D97-AF65-F5344CB8AC3E}">
        <p14:creationId xmlns:p14="http://schemas.microsoft.com/office/powerpoint/2010/main" val="2469617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B74C4D-3F2A-6A0A-6D94-811685D2C845}"/>
            </a:ext>
          </a:extLst>
        </p:cNvPr>
        <p:cNvGrpSpPr/>
        <p:nvPr/>
      </p:nvGrpSpPr>
      <p:grpSpPr>
        <a:xfrm>
          <a:off x="0" y="0"/>
          <a:ext cx="0" cy="0"/>
          <a:chOff x="0" y="0"/>
          <a:chExt cx="0" cy="0"/>
        </a:xfrm>
      </p:grpSpPr>
      <p:pic>
        <p:nvPicPr>
          <p:cNvPr id="4" name="Picture 2" descr="Parallel computing for high-performance simulations">
            <a:extLst>
              <a:ext uri="{FF2B5EF4-FFF2-40B4-BE49-F238E27FC236}">
                <a16:creationId xmlns:a16="http://schemas.microsoft.com/office/drawing/2014/main" id="{9E2E1A5F-1057-46D8-0720-992BA1E2BE70}"/>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51802" b="-1"/>
          <a:stretch/>
        </p:blipFill>
        <p:spPr bwMode="auto">
          <a:xfrm rot="5400000">
            <a:off x="-2989346" y="2971346"/>
            <a:ext cx="6876000" cy="914399"/>
          </a:xfrm>
          <a:prstGeom prst="rect">
            <a:avLst/>
          </a:prstGeom>
          <a:noFill/>
          <a:extLst>
            <a:ext uri="{909E8E84-426E-40DD-AFC4-6F175D3DCCD1}">
              <a14:hiddenFill xmlns:a14="http://schemas.microsoft.com/office/drawing/2010/main">
                <a:solidFill>
                  <a:srgbClr val="FFFFFF"/>
                </a:solidFill>
              </a14:hiddenFill>
            </a:ext>
          </a:extLst>
        </p:spPr>
      </p:pic>
      <p:sp>
        <p:nvSpPr>
          <p:cNvPr id="6" name="Metin kutusu 5">
            <a:extLst>
              <a:ext uri="{FF2B5EF4-FFF2-40B4-BE49-F238E27FC236}">
                <a16:creationId xmlns:a16="http://schemas.microsoft.com/office/drawing/2014/main" id="{9A369635-8B53-5326-38BB-AF463FD65E94}"/>
              </a:ext>
            </a:extLst>
          </p:cNvPr>
          <p:cNvSpPr txBox="1"/>
          <p:nvPr/>
        </p:nvSpPr>
        <p:spPr>
          <a:xfrm>
            <a:off x="1164349" y="184777"/>
            <a:ext cx="10688668" cy="553998"/>
          </a:xfrm>
          <a:prstGeom prst="rect">
            <a:avLst/>
          </a:prstGeom>
          <a:noFill/>
        </p:spPr>
        <p:txBody>
          <a:bodyPr wrap="square" rtlCol="0">
            <a:spAutoFit/>
          </a:bodyPr>
          <a:lstStyle/>
          <a:p>
            <a:r>
              <a:rPr lang="tr-TR" sz="3000" b="1" dirty="0">
                <a:latin typeface="Consolas" panose="020B0609020204030204" pitchFamily="49" charset="0"/>
              </a:rPr>
              <a:t>İşlem Yaşam Döngüsü (</a:t>
            </a:r>
            <a:r>
              <a:rPr lang="tr-TR" sz="3000" b="1" dirty="0" err="1">
                <a:latin typeface="Consolas" panose="020B0609020204030204" pitchFamily="49" charset="0"/>
              </a:rPr>
              <a:t>Process</a:t>
            </a:r>
            <a:r>
              <a:rPr lang="tr-TR" sz="3000" b="1" dirty="0">
                <a:latin typeface="Consolas" panose="020B0609020204030204" pitchFamily="49" charset="0"/>
              </a:rPr>
              <a:t> Life </a:t>
            </a:r>
            <a:r>
              <a:rPr lang="tr-TR" sz="3000" b="1" dirty="0" err="1">
                <a:latin typeface="Consolas" panose="020B0609020204030204" pitchFamily="49" charset="0"/>
              </a:rPr>
              <a:t>Cycle</a:t>
            </a:r>
            <a:r>
              <a:rPr lang="tr-TR" sz="3000" b="1" dirty="0">
                <a:latin typeface="Consolas" panose="020B0609020204030204" pitchFamily="49" charset="0"/>
              </a:rPr>
              <a:t>)</a:t>
            </a:r>
          </a:p>
        </p:txBody>
      </p:sp>
      <p:pic>
        <p:nvPicPr>
          <p:cNvPr id="6146" name="Picture 2" descr="Process Life Cycle - ZITOC">
            <a:extLst>
              <a:ext uri="{FF2B5EF4-FFF2-40B4-BE49-F238E27FC236}">
                <a16:creationId xmlns:a16="http://schemas.microsoft.com/office/drawing/2014/main" id="{72FA733A-3421-ED41-5CDF-C1E456128A1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78500" y="906520"/>
            <a:ext cx="9088138" cy="3597388"/>
          </a:xfrm>
          <a:prstGeom prst="rect">
            <a:avLst/>
          </a:prstGeom>
          <a:noFill/>
          <a:extLst>
            <a:ext uri="{909E8E84-426E-40DD-AFC4-6F175D3DCCD1}">
              <a14:hiddenFill xmlns:a14="http://schemas.microsoft.com/office/drawing/2010/main">
                <a:solidFill>
                  <a:srgbClr val="FFFFFF"/>
                </a:solidFill>
              </a14:hiddenFill>
            </a:ext>
          </a:extLst>
        </p:spPr>
      </p:pic>
      <p:sp>
        <p:nvSpPr>
          <p:cNvPr id="5" name="Metin kutusu 4">
            <a:extLst>
              <a:ext uri="{FF2B5EF4-FFF2-40B4-BE49-F238E27FC236}">
                <a16:creationId xmlns:a16="http://schemas.microsoft.com/office/drawing/2014/main" id="{2F68D46F-FE64-8425-4B23-3F986F31188C}"/>
              </a:ext>
            </a:extLst>
          </p:cNvPr>
          <p:cNvSpPr txBox="1"/>
          <p:nvPr/>
        </p:nvSpPr>
        <p:spPr>
          <a:xfrm>
            <a:off x="1164349" y="4503907"/>
            <a:ext cx="10845681" cy="2123658"/>
          </a:xfrm>
          <a:prstGeom prst="rect">
            <a:avLst/>
          </a:prstGeom>
          <a:noFill/>
        </p:spPr>
        <p:txBody>
          <a:bodyPr wrap="square">
            <a:spAutoFit/>
          </a:bodyPr>
          <a:lstStyle/>
          <a:p>
            <a:pPr algn="l"/>
            <a:r>
              <a:rPr lang="tr-TR" sz="2200" b="0" i="0" dirty="0">
                <a:solidFill>
                  <a:schemeClr val="tx1">
                    <a:lumMod val="95000"/>
                    <a:lumOff val="5000"/>
                  </a:schemeClr>
                </a:solidFill>
                <a:effectLst/>
                <a:latin typeface="Söhne"/>
              </a:rPr>
              <a:t>Bu durumlar, </a:t>
            </a:r>
            <a:r>
              <a:rPr lang="tr-TR" sz="2200" b="0" i="0" dirty="0" err="1">
                <a:solidFill>
                  <a:schemeClr val="tx1">
                    <a:lumMod val="95000"/>
                    <a:lumOff val="5000"/>
                  </a:schemeClr>
                </a:solidFill>
                <a:effectLst/>
                <a:latin typeface="Söhne"/>
              </a:rPr>
              <a:t>processlerin</a:t>
            </a:r>
            <a:r>
              <a:rPr lang="tr-TR" sz="2200" b="0" i="0" dirty="0">
                <a:solidFill>
                  <a:schemeClr val="tx1">
                    <a:lumMod val="95000"/>
                    <a:lumOff val="5000"/>
                  </a:schemeClr>
                </a:solidFill>
                <a:effectLst/>
                <a:latin typeface="Söhne"/>
              </a:rPr>
              <a:t> yaşam döngüsünü temsil eder ve işletim sistemi, </a:t>
            </a:r>
            <a:r>
              <a:rPr lang="tr-TR" sz="2200" b="0" i="0" dirty="0" err="1">
                <a:solidFill>
                  <a:schemeClr val="tx1">
                    <a:lumMod val="95000"/>
                    <a:lumOff val="5000"/>
                  </a:schemeClr>
                </a:solidFill>
                <a:effectLst/>
                <a:latin typeface="Söhne"/>
              </a:rPr>
              <a:t>processleri</a:t>
            </a:r>
            <a:r>
              <a:rPr lang="tr-TR" sz="2200" b="0" i="0" dirty="0">
                <a:solidFill>
                  <a:schemeClr val="tx1">
                    <a:lumMod val="95000"/>
                    <a:lumOff val="5000"/>
                  </a:schemeClr>
                </a:solidFill>
                <a:effectLst/>
                <a:latin typeface="Söhne"/>
              </a:rPr>
              <a:t> bu farklı durumlar arasında geçiş yaparak yönetir. </a:t>
            </a:r>
          </a:p>
          <a:p>
            <a:pPr algn="l"/>
            <a:r>
              <a:rPr lang="tr-TR" sz="2200" b="0" i="0" dirty="0">
                <a:solidFill>
                  <a:schemeClr val="tx1">
                    <a:lumMod val="95000"/>
                    <a:lumOff val="5000"/>
                  </a:schemeClr>
                </a:solidFill>
                <a:effectLst/>
                <a:latin typeface="Söhne"/>
              </a:rPr>
              <a:t>Örneğin, bir </a:t>
            </a:r>
            <a:r>
              <a:rPr lang="tr-TR" sz="2200" b="0" i="0" dirty="0" err="1">
                <a:solidFill>
                  <a:schemeClr val="tx1">
                    <a:lumMod val="95000"/>
                    <a:lumOff val="5000"/>
                  </a:schemeClr>
                </a:solidFill>
                <a:effectLst/>
                <a:latin typeface="Söhne"/>
              </a:rPr>
              <a:t>process</a:t>
            </a:r>
            <a:r>
              <a:rPr lang="tr-TR" sz="2200" b="0" i="0" dirty="0">
                <a:solidFill>
                  <a:schemeClr val="tx1">
                    <a:lumMod val="95000"/>
                    <a:lumOff val="5000"/>
                  </a:schemeClr>
                </a:solidFill>
                <a:effectLst/>
                <a:latin typeface="Söhne"/>
              </a:rPr>
              <a:t> çalıştırılmaya hazır olduğunda (</a:t>
            </a:r>
            <a:r>
              <a:rPr lang="tr-TR" sz="2200" b="0" i="0" dirty="0" err="1">
                <a:solidFill>
                  <a:schemeClr val="tx1">
                    <a:lumMod val="95000"/>
                    <a:lumOff val="5000"/>
                  </a:schemeClr>
                </a:solidFill>
                <a:effectLst/>
                <a:latin typeface="Söhne"/>
              </a:rPr>
              <a:t>ready</a:t>
            </a:r>
            <a:r>
              <a:rPr lang="tr-TR" sz="2200" b="0" i="0" dirty="0">
                <a:solidFill>
                  <a:schemeClr val="tx1">
                    <a:lumMod val="95000"/>
                    <a:lumOff val="5000"/>
                  </a:schemeClr>
                </a:solidFill>
                <a:effectLst/>
                <a:latin typeface="Söhne"/>
              </a:rPr>
              <a:t>), işletim sistemi tarafından uygun bir anda işlemciye atanır (</a:t>
            </a:r>
            <a:r>
              <a:rPr lang="tr-TR" sz="2200" b="0" i="0" dirty="0" err="1">
                <a:solidFill>
                  <a:schemeClr val="tx1">
                    <a:lumMod val="95000"/>
                    <a:lumOff val="5000"/>
                  </a:schemeClr>
                </a:solidFill>
                <a:effectLst/>
                <a:latin typeface="Söhne"/>
              </a:rPr>
              <a:t>running</a:t>
            </a:r>
            <a:r>
              <a:rPr lang="tr-TR" sz="2200" b="0" i="0" dirty="0">
                <a:solidFill>
                  <a:schemeClr val="tx1">
                    <a:lumMod val="95000"/>
                    <a:lumOff val="5000"/>
                  </a:schemeClr>
                </a:solidFill>
                <a:effectLst/>
                <a:latin typeface="Söhne"/>
              </a:rPr>
              <a:t>). İşlemi tamamlandığında, </a:t>
            </a:r>
            <a:r>
              <a:rPr lang="tr-TR" sz="2200" b="0" i="0" dirty="0" err="1">
                <a:solidFill>
                  <a:schemeClr val="tx1">
                    <a:lumMod val="95000"/>
                    <a:lumOff val="5000"/>
                  </a:schemeClr>
                </a:solidFill>
                <a:effectLst/>
                <a:latin typeface="Söhne"/>
              </a:rPr>
              <a:t>process</a:t>
            </a:r>
            <a:r>
              <a:rPr lang="tr-TR" sz="2200" b="0" i="0" dirty="0">
                <a:solidFill>
                  <a:schemeClr val="tx1">
                    <a:lumMod val="95000"/>
                    <a:lumOff val="5000"/>
                  </a:schemeClr>
                </a:solidFill>
                <a:effectLst/>
                <a:latin typeface="Söhne"/>
              </a:rPr>
              <a:t> bitmiş duruma geçer ve işletim sistemi tarafından temizlenir (</a:t>
            </a:r>
            <a:r>
              <a:rPr lang="tr-TR" sz="2200" b="0" i="0" dirty="0" err="1">
                <a:solidFill>
                  <a:schemeClr val="tx1">
                    <a:lumMod val="95000"/>
                    <a:lumOff val="5000"/>
                  </a:schemeClr>
                </a:solidFill>
                <a:effectLst/>
                <a:latin typeface="Söhne"/>
              </a:rPr>
              <a:t>terminated</a:t>
            </a:r>
            <a:r>
              <a:rPr lang="tr-TR" sz="2200" b="0" i="0" dirty="0">
                <a:solidFill>
                  <a:schemeClr val="tx1">
                    <a:lumMod val="95000"/>
                    <a:lumOff val="5000"/>
                  </a:schemeClr>
                </a:solidFill>
                <a:effectLst/>
                <a:latin typeface="Söhne"/>
              </a:rPr>
              <a:t>). Bu döngü, işletim sistemi tarafından sürekli olarak yönetilir ve </a:t>
            </a:r>
            <a:r>
              <a:rPr lang="tr-TR" sz="2200" b="0" i="0" dirty="0" err="1">
                <a:solidFill>
                  <a:schemeClr val="tx1">
                    <a:lumMod val="95000"/>
                    <a:lumOff val="5000"/>
                  </a:schemeClr>
                </a:solidFill>
                <a:effectLst/>
                <a:latin typeface="Söhne"/>
              </a:rPr>
              <a:t>processlerin</a:t>
            </a:r>
            <a:r>
              <a:rPr lang="tr-TR" sz="2200" b="0" i="0" dirty="0">
                <a:solidFill>
                  <a:schemeClr val="tx1">
                    <a:lumMod val="95000"/>
                    <a:lumOff val="5000"/>
                  </a:schemeClr>
                </a:solidFill>
                <a:effectLst/>
                <a:latin typeface="Söhne"/>
              </a:rPr>
              <a:t> verimli bir şekilde çalışmasını sağlar.</a:t>
            </a:r>
          </a:p>
        </p:txBody>
      </p:sp>
    </p:spTree>
    <p:extLst>
      <p:ext uri="{BB962C8B-B14F-4D97-AF65-F5344CB8AC3E}">
        <p14:creationId xmlns:p14="http://schemas.microsoft.com/office/powerpoint/2010/main" val="244149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8D8CCB-F002-F44D-27D9-B7433ECA4492}"/>
            </a:ext>
          </a:extLst>
        </p:cNvPr>
        <p:cNvGrpSpPr/>
        <p:nvPr/>
      </p:nvGrpSpPr>
      <p:grpSpPr>
        <a:xfrm>
          <a:off x="0" y="0"/>
          <a:ext cx="0" cy="0"/>
          <a:chOff x="0" y="0"/>
          <a:chExt cx="0" cy="0"/>
        </a:xfrm>
      </p:grpSpPr>
      <p:pic>
        <p:nvPicPr>
          <p:cNvPr id="4" name="Picture 2" descr="Parallel computing for high-performance simulations">
            <a:extLst>
              <a:ext uri="{FF2B5EF4-FFF2-40B4-BE49-F238E27FC236}">
                <a16:creationId xmlns:a16="http://schemas.microsoft.com/office/drawing/2014/main" id="{D8C4D1E1-5D1E-90B4-E972-65A4DC28A56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51802" b="-1"/>
          <a:stretch/>
        </p:blipFill>
        <p:spPr bwMode="auto">
          <a:xfrm rot="5400000">
            <a:off x="-2989346" y="2971346"/>
            <a:ext cx="6876000" cy="914399"/>
          </a:xfrm>
          <a:prstGeom prst="rect">
            <a:avLst/>
          </a:prstGeom>
          <a:noFill/>
          <a:extLst>
            <a:ext uri="{909E8E84-426E-40DD-AFC4-6F175D3DCCD1}">
              <a14:hiddenFill xmlns:a14="http://schemas.microsoft.com/office/drawing/2010/main">
                <a:solidFill>
                  <a:srgbClr val="FFFFFF"/>
                </a:solidFill>
              </a14:hiddenFill>
            </a:ext>
          </a:extLst>
        </p:spPr>
      </p:pic>
      <p:sp>
        <p:nvSpPr>
          <p:cNvPr id="6" name="Metin kutusu 5">
            <a:extLst>
              <a:ext uri="{FF2B5EF4-FFF2-40B4-BE49-F238E27FC236}">
                <a16:creationId xmlns:a16="http://schemas.microsoft.com/office/drawing/2014/main" id="{88F8974B-C78A-5E32-57E2-63B7DE00C751}"/>
              </a:ext>
            </a:extLst>
          </p:cNvPr>
          <p:cNvSpPr txBox="1"/>
          <p:nvPr/>
        </p:nvSpPr>
        <p:spPr>
          <a:xfrm>
            <a:off x="1164349" y="184777"/>
            <a:ext cx="10688668" cy="553998"/>
          </a:xfrm>
          <a:prstGeom prst="rect">
            <a:avLst/>
          </a:prstGeom>
          <a:noFill/>
        </p:spPr>
        <p:txBody>
          <a:bodyPr wrap="square" rtlCol="0">
            <a:spAutoFit/>
          </a:bodyPr>
          <a:lstStyle/>
          <a:p>
            <a:r>
              <a:rPr lang="tr-TR" sz="3000" b="1" dirty="0">
                <a:latin typeface="Consolas" panose="020B0609020204030204" pitchFamily="49" charset="0"/>
              </a:rPr>
              <a:t>İşlem Yaşam Döngüsü (</a:t>
            </a:r>
            <a:r>
              <a:rPr lang="tr-TR" sz="3000" b="1" dirty="0" err="1">
                <a:latin typeface="Consolas" panose="020B0609020204030204" pitchFamily="49" charset="0"/>
              </a:rPr>
              <a:t>Process</a:t>
            </a:r>
            <a:r>
              <a:rPr lang="tr-TR" sz="3000" b="1" dirty="0">
                <a:latin typeface="Consolas" panose="020B0609020204030204" pitchFamily="49" charset="0"/>
              </a:rPr>
              <a:t> Life </a:t>
            </a:r>
            <a:r>
              <a:rPr lang="tr-TR" sz="3000" b="1" dirty="0" err="1">
                <a:latin typeface="Consolas" panose="020B0609020204030204" pitchFamily="49" charset="0"/>
              </a:rPr>
              <a:t>Cycle</a:t>
            </a:r>
            <a:r>
              <a:rPr lang="tr-TR" sz="3000" b="1" dirty="0">
                <a:latin typeface="Consolas" panose="020B0609020204030204" pitchFamily="49" charset="0"/>
              </a:rPr>
              <a:t>)</a:t>
            </a:r>
          </a:p>
        </p:txBody>
      </p:sp>
      <p:pic>
        <p:nvPicPr>
          <p:cNvPr id="6146" name="Picture 2" descr="Process Life Cycle - ZITOC">
            <a:extLst>
              <a:ext uri="{FF2B5EF4-FFF2-40B4-BE49-F238E27FC236}">
                <a16:creationId xmlns:a16="http://schemas.microsoft.com/office/drawing/2014/main" id="{DBBF52E0-4CA8-9F4E-08EB-1DA07C86B41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46738" y="2011988"/>
            <a:ext cx="9088138" cy="3597388"/>
          </a:xfrm>
          <a:prstGeom prst="rect">
            <a:avLst/>
          </a:prstGeom>
          <a:noFill/>
          <a:extLst>
            <a:ext uri="{909E8E84-426E-40DD-AFC4-6F175D3DCCD1}">
              <a14:hiddenFill xmlns:a14="http://schemas.microsoft.com/office/drawing/2010/main">
                <a:solidFill>
                  <a:srgbClr val="FFFFFF"/>
                </a:solidFill>
              </a14:hiddenFill>
            </a:ext>
          </a:extLst>
        </p:spPr>
      </p:pic>
      <p:sp>
        <p:nvSpPr>
          <p:cNvPr id="3" name="Metin kutusu 2">
            <a:extLst>
              <a:ext uri="{FF2B5EF4-FFF2-40B4-BE49-F238E27FC236}">
                <a16:creationId xmlns:a16="http://schemas.microsoft.com/office/drawing/2014/main" id="{346F0E90-BEB1-4294-1796-A509A0AD16BF}"/>
              </a:ext>
            </a:extLst>
          </p:cNvPr>
          <p:cNvSpPr txBox="1"/>
          <p:nvPr/>
        </p:nvSpPr>
        <p:spPr>
          <a:xfrm>
            <a:off x="1016758" y="3667540"/>
            <a:ext cx="4073856" cy="1600438"/>
          </a:xfrm>
          <a:prstGeom prst="rect">
            <a:avLst/>
          </a:prstGeom>
          <a:noFill/>
        </p:spPr>
        <p:txBody>
          <a:bodyPr wrap="square">
            <a:spAutoFit/>
          </a:bodyPr>
          <a:lstStyle/>
          <a:p>
            <a:pPr algn="l"/>
            <a:r>
              <a:rPr lang="tr-TR" sz="1400" b="1" i="0" dirty="0">
                <a:solidFill>
                  <a:srgbClr val="0070C0"/>
                </a:solidFill>
                <a:effectLst/>
                <a:latin typeface="Söhne"/>
              </a:rPr>
              <a:t>Hazır (Ready):</a:t>
            </a:r>
            <a:endParaRPr lang="tr-TR" sz="1400" b="0" i="0" dirty="0">
              <a:solidFill>
                <a:srgbClr val="0070C0"/>
              </a:solidFill>
              <a:effectLst/>
              <a:latin typeface="Söhne"/>
            </a:endParaRPr>
          </a:p>
          <a:p>
            <a:pPr algn="l">
              <a:buFont typeface="Arial" panose="020B0604020202020204" pitchFamily="34" charset="0"/>
              <a:buChar char="•"/>
            </a:pPr>
            <a:r>
              <a:rPr lang="tr-TR" sz="1400" b="0" i="0" dirty="0" err="1">
                <a:solidFill>
                  <a:srgbClr val="0070C0"/>
                </a:solidFill>
                <a:effectLst/>
                <a:latin typeface="Söhne"/>
              </a:rPr>
              <a:t>Process</a:t>
            </a:r>
            <a:r>
              <a:rPr lang="tr-TR" sz="1400" b="0" i="0" dirty="0">
                <a:solidFill>
                  <a:srgbClr val="0070C0"/>
                </a:solidFill>
                <a:effectLst/>
                <a:latin typeface="Söhne"/>
              </a:rPr>
              <a:t>, işlemciye atanmayı bekler durumdadır.</a:t>
            </a:r>
          </a:p>
          <a:p>
            <a:pPr algn="l">
              <a:buFont typeface="Arial" panose="020B0604020202020204" pitchFamily="34" charset="0"/>
              <a:buChar char="•"/>
            </a:pPr>
            <a:r>
              <a:rPr lang="tr-TR" sz="1400" b="0" i="0" dirty="0">
                <a:solidFill>
                  <a:srgbClr val="0070C0"/>
                </a:solidFill>
                <a:effectLst/>
                <a:latin typeface="Söhne"/>
              </a:rPr>
              <a:t>İşletim sistemi, </a:t>
            </a:r>
            <a:r>
              <a:rPr lang="tr-TR" sz="1400" b="0" i="0" dirty="0" err="1">
                <a:solidFill>
                  <a:srgbClr val="0070C0"/>
                </a:solidFill>
                <a:effectLst/>
                <a:latin typeface="Söhne"/>
              </a:rPr>
              <a:t>processin</a:t>
            </a:r>
            <a:r>
              <a:rPr lang="tr-TR" sz="1400" b="0" i="0" dirty="0">
                <a:solidFill>
                  <a:srgbClr val="0070C0"/>
                </a:solidFill>
                <a:effectLst/>
                <a:latin typeface="Söhne"/>
              </a:rPr>
              <a:t> işlemciye atanabilecek durumda olduğunu belirler ve onu işlemciye atayacak sırayı bekletir.</a:t>
            </a:r>
          </a:p>
          <a:p>
            <a:pPr algn="l">
              <a:buFont typeface="Arial" panose="020B0604020202020204" pitchFamily="34" charset="0"/>
              <a:buChar char="•"/>
            </a:pPr>
            <a:r>
              <a:rPr lang="tr-TR" sz="1400" b="0" i="0" dirty="0">
                <a:solidFill>
                  <a:srgbClr val="0070C0"/>
                </a:solidFill>
                <a:effectLst/>
                <a:latin typeface="Söhne"/>
              </a:rPr>
              <a:t>Hazır durumda olan </a:t>
            </a:r>
            <a:r>
              <a:rPr lang="tr-TR" sz="1400" b="0" i="0" dirty="0" err="1">
                <a:solidFill>
                  <a:srgbClr val="0070C0"/>
                </a:solidFill>
                <a:effectLst/>
                <a:latin typeface="Söhne"/>
              </a:rPr>
              <a:t>processler</a:t>
            </a:r>
            <a:r>
              <a:rPr lang="tr-TR" sz="1400" b="0" i="0" dirty="0">
                <a:solidFill>
                  <a:srgbClr val="0070C0"/>
                </a:solidFill>
                <a:effectLst/>
                <a:latin typeface="Söhne"/>
              </a:rPr>
              <a:t>, genellikle işlemciye atanmayı bekledikleri için bir sıra içinde beklerler.</a:t>
            </a:r>
          </a:p>
        </p:txBody>
      </p:sp>
      <p:sp>
        <p:nvSpPr>
          <p:cNvPr id="7" name="Metin kutusu 6">
            <a:extLst>
              <a:ext uri="{FF2B5EF4-FFF2-40B4-BE49-F238E27FC236}">
                <a16:creationId xmlns:a16="http://schemas.microsoft.com/office/drawing/2014/main" id="{7E3E0563-96F8-8923-E352-75E16DE12CDD}"/>
              </a:ext>
            </a:extLst>
          </p:cNvPr>
          <p:cNvSpPr txBox="1"/>
          <p:nvPr/>
        </p:nvSpPr>
        <p:spPr>
          <a:xfrm>
            <a:off x="8376572" y="2975042"/>
            <a:ext cx="3910083" cy="1384995"/>
          </a:xfrm>
          <a:prstGeom prst="rect">
            <a:avLst/>
          </a:prstGeom>
          <a:noFill/>
        </p:spPr>
        <p:txBody>
          <a:bodyPr wrap="square">
            <a:spAutoFit/>
          </a:bodyPr>
          <a:lstStyle/>
          <a:p>
            <a:pPr algn="l"/>
            <a:r>
              <a:rPr lang="tr-TR" sz="1400" b="1" i="0" dirty="0">
                <a:solidFill>
                  <a:srgbClr val="0070C0"/>
                </a:solidFill>
                <a:effectLst/>
                <a:latin typeface="Söhne"/>
              </a:rPr>
              <a:t>Çalışan (</a:t>
            </a:r>
            <a:r>
              <a:rPr lang="tr-TR" sz="1400" b="1" i="0" dirty="0" err="1">
                <a:solidFill>
                  <a:srgbClr val="0070C0"/>
                </a:solidFill>
                <a:effectLst/>
                <a:latin typeface="Söhne"/>
              </a:rPr>
              <a:t>Running</a:t>
            </a:r>
            <a:r>
              <a:rPr lang="tr-TR" sz="1400" b="1" i="0" dirty="0">
                <a:solidFill>
                  <a:srgbClr val="0070C0"/>
                </a:solidFill>
                <a:effectLst/>
                <a:latin typeface="Söhne"/>
              </a:rPr>
              <a:t>):</a:t>
            </a:r>
            <a:endParaRPr lang="tr-TR" sz="1400" b="0" i="0" dirty="0">
              <a:solidFill>
                <a:srgbClr val="0070C0"/>
              </a:solidFill>
              <a:effectLst/>
              <a:latin typeface="Söhne"/>
            </a:endParaRPr>
          </a:p>
          <a:p>
            <a:pPr algn="l">
              <a:buFont typeface="Arial" panose="020B0604020202020204" pitchFamily="34" charset="0"/>
              <a:buChar char="•"/>
            </a:pPr>
            <a:r>
              <a:rPr lang="tr-TR" sz="1400" b="0" i="0" dirty="0" err="1">
                <a:solidFill>
                  <a:srgbClr val="0070C0"/>
                </a:solidFill>
                <a:effectLst/>
                <a:latin typeface="Söhne"/>
              </a:rPr>
              <a:t>Process</a:t>
            </a:r>
            <a:r>
              <a:rPr lang="tr-TR" sz="1400" b="0" i="0" dirty="0">
                <a:solidFill>
                  <a:srgbClr val="0070C0"/>
                </a:solidFill>
                <a:effectLst/>
                <a:latin typeface="Söhne"/>
              </a:rPr>
              <a:t>, işlemci üzerinde işlem yapmaktadır.</a:t>
            </a:r>
          </a:p>
          <a:p>
            <a:pPr algn="l">
              <a:buFont typeface="Arial" panose="020B0604020202020204" pitchFamily="34" charset="0"/>
              <a:buChar char="•"/>
            </a:pPr>
            <a:r>
              <a:rPr lang="tr-TR" sz="1400" b="0" i="0" dirty="0">
                <a:solidFill>
                  <a:srgbClr val="0070C0"/>
                </a:solidFill>
                <a:effectLst/>
                <a:latin typeface="Söhne"/>
              </a:rPr>
              <a:t>İşletim sistemi, </a:t>
            </a:r>
            <a:r>
              <a:rPr lang="tr-TR" sz="1400" b="0" i="0" dirty="0" err="1">
                <a:solidFill>
                  <a:srgbClr val="0070C0"/>
                </a:solidFill>
                <a:effectLst/>
                <a:latin typeface="Söhne"/>
              </a:rPr>
              <a:t>processi</a:t>
            </a:r>
            <a:r>
              <a:rPr lang="tr-TR" sz="1400" b="0" i="0" dirty="0">
                <a:solidFill>
                  <a:srgbClr val="0070C0"/>
                </a:solidFill>
                <a:effectLst/>
                <a:latin typeface="Söhne"/>
              </a:rPr>
              <a:t> işlemciye atar ve onun çalışmasını sağlar.</a:t>
            </a:r>
          </a:p>
          <a:p>
            <a:pPr algn="l">
              <a:buFont typeface="Arial" panose="020B0604020202020204" pitchFamily="34" charset="0"/>
              <a:buChar char="•"/>
            </a:pPr>
            <a:r>
              <a:rPr lang="tr-TR" sz="1400" b="0" i="0" dirty="0">
                <a:solidFill>
                  <a:srgbClr val="0070C0"/>
                </a:solidFill>
                <a:effectLst/>
                <a:latin typeface="Söhne"/>
              </a:rPr>
              <a:t>Çalışan </a:t>
            </a:r>
            <a:r>
              <a:rPr lang="tr-TR" sz="1400" b="0" i="0" dirty="0" err="1">
                <a:solidFill>
                  <a:srgbClr val="0070C0"/>
                </a:solidFill>
                <a:effectLst/>
                <a:latin typeface="Söhne"/>
              </a:rPr>
              <a:t>process</a:t>
            </a:r>
            <a:r>
              <a:rPr lang="tr-TR" sz="1400" b="0" i="0" dirty="0">
                <a:solidFill>
                  <a:srgbClr val="0070C0"/>
                </a:solidFill>
                <a:effectLst/>
                <a:latin typeface="Söhne"/>
              </a:rPr>
              <a:t>, işlemci üzerinde işlem yapmakta ve işlemi tamamlamak için işlemciyi kullanmaktadır.</a:t>
            </a:r>
          </a:p>
        </p:txBody>
      </p:sp>
      <p:sp>
        <p:nvSpPr>
          <p:cNvPr id="9" name="Metin kutusu 8">
            <a:extLst>
              <a:ext uri="{FF2B5EF4-FFF2-40B4-BE49-F238E27FC236}">
                <a16:creationId xmlns:a16="http://schemas.microsoft.com/office/drawing/2014/main" id="{BC79485C-B146-704C-AB6C-973E153FB87E}"/>
              </a:ext>
            </a:extLst>
          </p:cNvPr>
          <p:cNvSpPr txBox="1"/>
          <p:nvPr/>
        </p:nvSpPr>
        <p:spPr>
          <a:xfrm>
            <a:off x="4190122" y="5473005"/>
            <a:ext cx="6155140" cy="1384995"/>
          </a:xfrm>
          <a:prstGeom prst="rect">
            <a:avLst/>
          </a:prstGeom>
          <a:noFill/>
        </p:spPr>
        <p:txBody>
          <a:bodyPr wrap="square">
            <a:spAutoFit/>
          </a:bodyPr>
          <a:lstStyle/>
          <a:p>
            <a:pPr algn="l"/>
            <a:r>
              <a:rPr lang="tr-TR" sz="1400" b="1" i="0" dirty="0">
                <a:solidFill>
                  <a:srgbClr val="0070C0"/>
                </a:solidFill>
                <a:effectLst/>
                <a:latin typeface="Söhne"/>
              </a:rPr>
              <a:t>Bekleme (</a:t>
            </a:r>
            <a:r>
              <a:rPr lang="tr-TR" sz="1400" b="1" i="0" dirty="0" err="1">
                <a:solidFill>
                  <a:srgbClr val="0070C0"/>
                </a:solidFill>
                <a:effectLst/>
                <a:latin typeface="Söhne"/>
              </a:rPr>
              <a:t>Waiting</a:t>
            </a:r>
            <a:r>
              <a:rPr lang="tr-TR" sz="1400" b="1" i="0" dirty="0">
                <a:solidFill>
                  <a:srgbClr val="0070C0"/>
                </a:solidFill>
                <a:effectLst/>
                <a:latin typeface="Söhne"/>
              </a:rPr>
              <a:t>):</a:t>
            </a:r>
            <a:endParaRPr lang="tr-TR" sz="1400" b="0" i="0" dirty="0">
              <a:solidFill>
                <a:srgbClr val="0070C0"/>
              </a:solidFill>
              <a:effectLst/>
              <a:latin typeface="Söhne"/>
            </a:endParaRPr>
          </a:p>
          <a:p>
            <a:pPr algn="l">
              <a:buFont typeface="Arial" panose="020B0604020202020204" pitchFamily="34" charset="0"/>
              <a:buChar char="•"/>
            </a:pPr>
            <a:r>
              <a:rPr lang="tr-TR" sz="1400" b="0" i="0" dirty="0" err="1">
                <a:solidFill>
                  <a:srgbClr val="0070C0"/>
                </a:solidFill>
                <a:effectLst/>
                <a:latin typeface="Söhne"/>
              </a:rPr>
              <a:t>Process</a:t>
            </a:r>
            <a:r>
              <a:rPr lang="tr-TR" sz="1400" b="0" i="0" dirty="0">
                <a:solidFill>
                  <a:srgbClr val="0070C0"/>
                </a:solidFill>
                <a:effectLst/>
                <a:latin typeface="Söhne"/>
              </a:rPr>
              <a:t>, bir olayın gerçekleşmesini bekler durumdadır.</a:t>
            </a:r>
          </a:p>
          <a:p>
            <a:pPr algn="l">
              <a:buFont typeface="Arial" panose="020B0604020202020204" pitchFamily="34" charset="0"/>
              <a:buChar char="•"/>
            </a:pPr>
            <a:r>
              <a:rPr lang="tr-TR" sz="1400" b="0" i="0" dirty="0" err="1">
                <a:solidFill>
                  <a:srgbClr val="0070C0"/>
                </a:solidFill>
                <a:effectLst/>
                <a:latin typeface="Söhne"/>
              </a:rPr>
              <a:t>Process</a:t>
            </a:r>
            <a:r>
              <a:rPr lang="tr-TR" sz="1400" b="0" i="0" dirty="0">
                <a:solidFill>
                  <a:srgbClr val="0070C0"/>
                </a:solidFill>
                <a:effectLst/>
                <a:latin typeface="Söhne"/>
              </a:rPr>
              <a:t>, bir giriş/çıkış işlemi tamamlanana kadar veya bir kaynağın serbest kalmasını beklerken beklemeye alınır.</a:t>
            </a:r>
          </a:p>
          <a:p>
            <a:pPr algn="l">
              <a:buFont typeface="Arial" panose="020B0604020202020204" pitchFamily="34" charset="0"/>
              <a:buChar char="•"/>
            </a:pPr>
            <a:r>
              <a:rPr lang="tr-TR" sz="1400" b="0" i="0" dirty="0">
                <a:solidFill>
                  <a:srgbClr val="0070C0"/>
                </a:solidFill>
                <a:effectLst/>
                <a:latin typeface="Söhne"/>
              </a:rPr>
              <a:t>Bekleme durumunda olan </a:t>
            </a:r>
            <a:r>
              <a:rPr lang="tr-TR" sz="1400" b="0" i="0" dirty="0" err="1">
                <a:solidFill>
                  <a:srgbClr val="0070C0"/>
                </a:solidFill>
                <a:effectLst/>
                <a:latin typeface="Söhne"/>
              </a:rPr>
              <a:t>process</a:t>
            </a:r>
            <a:r>
              <a:rPr lang="tr-TR" sz="1400" b="0" i="0" dirty="0">
                <a:solidFill>
                  <a:srgbClr val="0070C0"/>
                </a:solidFill>
                <a:effectLst/>
                <a:latin typeface="Söhne"/>
              </a:rPr>
              <a:t>, olayın gerçekleşmesini beklerken uygun durumda değildir ve işletim sistemi tarafından işlemciye atanmayı bekler.</a:t>
            </a:r>
          </a:p>
        </p:txBody>
      </p:sp>
      <p:sp>
        <p:nvSpPr>
          <p:cNvPr id="11" name="Metin kutusu 10">
            <a:extLst>
              <a:ext uri="{FF2B5EF4-FFF2-40B4-BE49-F238E27FC236}">
                <a16:creationId xmlns:a16="http://schemas.microsoft.com/office/drawing/2014/main" id="{7B48B7AD-1178-21C1-6A12-8250122D4623}"/>
              </a:ext>
            </a:extLst>
          </p:cNvPr>
          <p:cNvSpPr txBox="1"/>
          <p:nvPr/>
        </p:nvSpPr>
        <p:spPr>
          <a:xfrm>
            <a:off x="7898900" y="753364"/>
            <a:ext cx="4128691" cy="1384995"/>
          </a:xfrm>
          <a:prstGeom prst="rect">
            <a:avLst/>
          </a:prstGeom>
          <a:noFill/>
        </p:spPr>
        <p:txBody>
          <a:bodyPr wrap="square">
            <a:spAutoFit/>
          </a:bodyPr>
          <a:lstStyle/>
          <a:p>
            <a:pPr algn="l"/>
            <a:r>
              <a:rPr lang="tr-TR" sz="1400" b="1" i="0" dirty="0">
                <a:solidFill>
                  <a:srgbClr val="0070C0"/>
                </a:solidFill>
                <a:effectLst/>
                <a:latin typeface="Söhne"/>
              </a:rPr>
              <a:t>Bitmiş (</a:t>
            </a:r>
            <a:r>
              <a:rPr lang="tr-TR" sz="1400" b="1" i="0" dirty="0" err="1">
                <a:solidFill>
                  <a:srgbClr val="0070C0"/>
                </a:solidFill>
                <a:effectLst/>
                <a:latin typeface="Söhne"/>
              </a:rPr>
              <a:t>Terminated</a:t>
            </a:r>
            <a:r>
              <a:rPr lang="tr-TR" sz="1400" b="1" i="0" dirty="0">
                <a:solidFill>
                  <a:srgbClr val="0070C0"/>
                </a:solidFill>
                <a:effectLst/>
                <a:latin typeface="Söhne"/>
              </a:rPr>
              <a:t>):</a:t>
            </a:r>
            <a:endParaRPr lang="tr-TR" sz="1400" b="0" i="0" dirty="0">
              <a:solidFill>
                <a:srgbClr val="0070C0"/>
              </a:solidFill>
              <a:effectLst/>
              <a:latin typeface="Söhne"/>
            </a:endParaRPr>
          </a:p>
          <a:p>
            <a:pPr algn="l">
              <a:buFont typeface="Arial" panose="020B0604020202020204" pitchFamily="34" charset="0"/>
              <a:buChar char="•"/>
            </a:pPr>
            <a:r>
              <a:rPr lang="tr-TR" sz="1400" b="0" i="0" dirty="0" err="1">
                <a:solidFill>
                  <a:srgbClr val="0070C0"/>
                </a:solidFill>
                <a:effectLst/>
                <a:latin typeface="Söhne"/>
              </a:rPr>
              <a:t>Process</a:t>
            </a:r>
            <a:r>
              <a:rPr lang="tr-TR" sz="1400" b="0" i="0" dirty="0">
                <a:solidFill>
                  <a:srgbClr val="0070C0"/>
                </a:solidFill>
                <a:effectLst/>
                <a:latin typeface="Söhne"/>
              </a:rPr>
              <a:t>, tamamlanmış ve sonlanmıştır.</a:t>
            </a:r>
          </a:p>
          <a:p>
            <a:pPr algn="l">
              <a:buFont typeface="Arial" panose="020B0604020202020204" pitchFamily="34" charset="0"/>
              <a:buChar char="•"/>
            </a:pPr>
            <a:r>
              <a:rPr lang="tr-TR" sz="1400" b="0" i="0" dirty="0" err="1">
                <a:solidFill>
                  <a:srgbClr val="0070C0"/>
                </a:solidFill>
                <a:effectLst/>
                <a:latin typeface="Söhne"/>
              </a:rPr>
              <a:t>Process</a:t>
            </a:r>
            <a:r>
              <a:rPr lang="tr-TR" sz="1400" b="0" i="0" dirty="0">
                <a:solidFill>
                  <a:srgbClr val="0070C0"/>
                </a:solidFill>
                <a:effectLst/>
                <a:latin typeface="Söhne"/>
              </a:rPr>
              <a:t>, başarıyla tamamlanmış veya bir hata nedeniyle sonlanmış olabilir.</a:t>
            </a:r>
          </a:p>
          <a:p>
            <a:pPr algn="l">
              <a:buFont typeface="Arial" panose="020B0604020202020204" pitchFamily="34" charset="0"/>
              <a:buChar char="•"/>
            </a:pPr>
            <a:r>
              <a:rPr lang="tr-TR" sz="1400" b="0" i="0" dirty="0">
                <a:solidFill>
                  <a:srgbClr val="0070C0"/>
                </a:solidFill>
                <a:effectLst/>
                <a:latin typeface="Söhne"/>
              </a:rPr>
              <a:t>Bitmiş durumdaki </a:t>
            </a:r>
            <a:r>
              <a:rPr lang="tr-TR" sz="1400" b="0" i="0" dirty="0" err="1">
                <a:solidFill>
                  <a:srgbClr val="0070C0"/>
                </a:solidFill>
                <a:effectLst/>
                <a:latin typeface="Söhne"/>
              </a:rPr>
              <a:t>process</a:t>
            </a:r>
            <a:r>
              <a:rPr lang="tr-TR" sz="1400" b="0" i="0" dirty="0">
                <a:solidFill>
                  <a:srgbClr val="0070C0"/>
                </a:solidFill>
                <a:effectLst/>
                <a:latin typeface="Söhne"/>
              </a:rPr>
              <a:t>, işletim sistemi tarafından temizlenir ve kaynakları serbest bırakılır.</a:t>
            </a:r>
          </a:p>
        </p:txBody>
      </p:sp>
    </p:spTree>
    <p:extLst>
      <p:ext uri="{BB962C8B-B14F-4D97-AF65-F5344CB8AC3E}">
        <p14:creationId xmlns:p14="http://schemas.microsoft.com/office/powerpoint/2010/main" val="3183655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468C7F-2E30-BCCF-B233-05069A559EF9}"/>
            </a:ext>
          </a:extLst>
        </p:cNvPr>
        <p:cNvGrpSpPr/>
        <p:nvPr/>
      </p:nvGrpSpPr>
      <p:grpSpPr>
        <a:xfrm>
          <a:off x="0" y="0"/>
          <a:ext cx="0" cy="0"/>
          <a:chOff x="0" y="0"/>
          <a:chExt cx="0" cy="0"/>
        </a:xfrm>
      </p:grpSpPr>
      <p:pic>
        <p:nvPicPr>
          <p:cNvPr id="4" name="Picture 2" descr="Parallel computing for high-performance simulations">
            <a:extLst>
              <a:ext uri="{FF2B5EF4-FFF2-40B4-BE49-F238E27FC236}">
                <a16:creationId xmlns:a16="http://schemas.microsoft.com/office/drawing/2014/main" id="{099ECEC7-701D-658F-E0E8-2128026720B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51802" b="-1"/>
          <a:stretch/>
        </p:blipFill>
        <p:spPr bwMode="auto">
          <a:xfrm rot="5400000">
            <a:off x="-2989346" y="2971346"/>
            <a:ext cx="6876000" cy="914399"/>
          </a:xfrm>
          <a:prstGeom prst="rect">
            <a:avLst/>
          </a:prstGeom>
          <a:noFill/>
          <a:extLst>
            <a:ext uri="{909E8E84-426E-40DD-AFC4-6F175D3DCCD1}">
              <a14:hiddenFill xmlns:a14="http://schemas.microsoft.com/office/drawing/2010/main">
                <a:solidFill>
                  <a:srgbClr val="FFFFFF"/>
                </a:solidFill>
              </a14:hiddenFill>
            </a:ext>
          </a:extLst>
        </p:spPr>
      </p:pic>
      <p:sp>
        <p:nvSpPr>
          <p:cNvPr id="6" name="Metin kutusu 5">
            <a:extLst>
              <a:ext uri="{FF2B5EF4-FFF2-40B4-BE49-F238E27FC236}">
                <a16:creationId xmlns:a16="http://schemas.microsoft.com/office/drawing/2014/main" id="{9EDEA13F-A997-CB02-9825-DA5173BCB9C6}"/>
              </a:ext>
            </a:extLst>
          </p:cNvPr>
          <p:cNvSpPr txBox="1"/>
          <p:nvPr/>
        </p:nvSpPr>
        <p:spPr>
          <a:xfrm>
            <a:off x="1164349" y="184777"/>
            <a:ext cx="10688668" cy="553998"/>
          </a:xfrm>
          <a:prstGeom prst="rect">
            <a:avLst/>
          </a:prstGeom>
          <a:noFill/>
        </p:spPr>
        <p:txBody>
          <a:bodyPr wrap="square" rtlCol="0">
            <a:spAutoFit/>
          </a:bodyPr>
          <a:lstStyle/>
          <a:p>
            <a:r>
              <a:rPr lang="tr-TR" sz="3000" b="1" dirty="0">
                <a:latin typeface="Consolas" panose="020B0609020204030204" pitchFamily="49" charset="0"/>
              </a:rPr>
              <a:t>Multitasking (Çoklu Görev)</a:t>
            </a:r>
          </a:p>
        </p:txBody>
      </p:sp>
      <p:sp>
        <p:nvSpPr>
          <p:cNvPr id="7" name="Metin kutusu 6">
            <a:extLst>
              <a:ext uri="{FF2B5EF4-FFF2-40B4-BE49-F238E27FC236}">
                <a16:creationId xmlns:a16="http://schemas.microsoft.com/office/drawing/2014/main" id="{CB7BE020-06A3-04B0-79A0-EAC070899E6C}"/>
              </a:ext>
            </a:extLst>
          </p:cNvPr>
          <p:cNvSpPr txBox="1"/>
          <p:nvPr/>
        </p:nvSpPr>
        <p:spPr>
          <a:xfrm>
            <a:off x="1164349" y="759758"/>
            <a:ext cx="10688668" cy="2677656"/>
          </a:xfrm>
          <a:prstGeom prst="rect">
            <a:avLst/>
          </a:prstGeom>
          <a:noFill/>
        </p:spPr>
        <p:txBody>
          <a:bodyPr wrap="square" rtlCol="0">
            <a:spAutoFit/>
          </a:bodyPr>
          <a:lstStyle/>
          <a:p>
            <a:pPr marL="457200" indent="-457200">
              <a:buFont typeface="Wingdings" panose="05000000000000000000" pitchFamily="2" charset="2"/>
              <a:buChar char="§"/>
            </a:pPr>
            <a:r>
              <a:rPr lang="tr-TR" sz="2400" dirty="0">
                <a:latin typeface="Consolas" panose="020B0609020204030204" pitchFamily="49" charset="0"/>
              </a:rPr>
              <a:t>İşletim sisteminin eş zamanlı olarak birden fazla işlemi çalıştırabilmesi yeteneği. </a:t>
            </a:r>
          </a:p>
          <a:p>
            <a:pPr marL="457200" indent="-457200">
              <a:buFont typeface="Wingdings" panose="05000000000000000000" pitchFamily="2" charset="2"/>
              <a:buChar char="§"/>
            </a:pPr>
            <a:r>
              <a:rPr lang="tr-TR" sz="2400" dirty="0">
                <a:latin typeface="Consolas" panose="020B0609020204030204" pitchFamily="49" charset="0"/>
              </a:rPr>
              <a:t>İşletim sistemi çalışmakta olan bir işlemi yarıda keserek çok kısa aralıklarda farklı işlemleri eş zamanlı olarak bir arada çalıştırabilir.</a:t>
            </a:r>
          </a:p>
          <a:p>
            <a:pPr marL="457200" indent="-457200">
              <a:buFont typeface="Wingdings" panose="05000000000000000000" pitchFamily="2" charset="2"/>
              <a:buChar char="§"/>
            </a:pPr>
            <a:r>
              <a:rPr lang="tr-TR" sz="2400" dirty="0">
                <a:latin typeface="Consolas" panose="020B0609020204030204" pitchFamily="49" charset="0"/>
              </a:rPr>
              <a:t>Aradaki geçiş süreleri </a:t>
            </a:r>
            <a:r>
              <a:rPr lang="tr-TR" sz="2400" dirty="0">
                <a:solidFill>
                  <a:srgbClr val="0070C0"/>
                </a:solidFill>
                <a:latin typeface="Consolas" panose="020B0609020204030204" pitchFamily="49" charset="0"/>
              </a:rPr>
              <a:t>time-</a:t>
            </a:r>
            <a:r>
              <a:rPr lang="tr-TR" sz="2400" dirty="0" err="1">
                <a:solidFill>
                  <a:srgbClr val="0070C0"/>
                </a:solidFill>
                <a:latin typeface="Consolas" panose="020B0609020204030204" pitchFamily="49" charset="0"/>
              </a:rPr>
              <a:t>slice</a:t>
            </a:r>
            <a:r>
              <a:rPr lang="tr-TR" sz="2400" dirty="0">
                <a:latin typeface="Consolas" panose="020B0609020204030204" pitchFamily="49" charset="0"/>
              </a:rPr>
              <a:t> olarak adlandırılmaktadır.</a:t>
            </a:r>
          </a:p>
        </p:txBody>
      </p:sp>
      <p:pic>
        <p:nvPicPr>
          <p:cNvPr id="2050" name="Picture 2" descr="Multitasking Operating System - javatpoint">
            <a:extLst>
              <a:ext uri="{FF2B5EF4-FFF2-40B4-BE49-F238E27FC236}">
                <a16:creationId xmlns:a16="http://schemas.microsoft.com/office/drawing/2014/main" id="{F0D147A8-62F6-0024-E415-046B41CB4ED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61872" y="3552984"/>
            <a:ext cx="4337276" cy="2941462"/>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Time Slicing in CPU scheduling - GeeksforGeeks">
            <a:extLst>
              <a:ext uri="{FF2B5EF4-FFF2-40B4-BE49-F238E27FC236}">
                <a16:creationId xmlns:a16="http://schemas.microsoft.com/office/drawing/2014/main" id="{D15F8A6D-F49F-45B8-1425-60D5FA092D7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08683" y="3141589"/>
            <a:ext cx="5090833" cy="360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352757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CDFAEF-1157-2A55-023C-BCDDEAF572B6}"/>
            </a:ext>
          </a:extLst>
        </p:cNvPr>
        <p:cNvGrpSpPr/>
        <p:nvPr/>
      </p:nvGrpSpPr>
      <p:grpSpPr>
        <a:xfrm>
          <a:off x="0" y="0"/>
          <a:ext cx="0" cy="0"/>
          <a:chOff x="0" y="0"/>
          <a:chExt cx="0" cy="0"/>
        </a:xfrm>
      </p:grpSpPr>
      <p:pic>
        <p:nvPicPr>
          <p:cNvPr id="4" name="Picture 2" descr="Parallel computing for high-performance simulations">
            <a:extLst>
              <a:ext uri="{FF2B5EF4-FFF2-40B4-BE49-F238E27FC236}">
                <a16:creationId xmlns:a16="http://schemas.microsoft.com/office/drawing/2014/main" id="{D3972292-7FD9-4997-8B2E-19FC8010037D}"/>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51802" b="-1"/>
          <a:stretch/>
        </p:blipFill>
        <p:spPr bwMode="auto">
          <a:xfrm rot="5400000">
            <a:off x="-2989346" y="2971346"/>
            <a:ext cx="6876000" cy="914399"/>
          </a:xfrm>
          <a:prstGeom prst="rect">
            <a:avLst/>
          </a:prstGeom>
          <a:noFill/>
          <a:extLst>
            <a:ext uri="{909E8E84-426E-40DD-AFC4-6F175D3DCCD1}">
              <a14:hiddenFill xmlns:a14="http://schemas.microsoft.com/office/drawing/2010/main">
                <a:solidFill>
                  <a:srgbClr val="FFFFFF"/>
                </a:solidFill>
              </a14:hiddenFill>
            </a:ext>
          </a:extLst>
        </p:spPr>
      </p:pic>
      <p:sp>
        <p:nvSpPr>
          <p:cNvPr id="6" name="Metin kutusu 5">
            <a:extLst>
              <a:ext uri="{FF2B5EF4-FFF2-40B4-BE49-F238E27FC236}">
                <a16:creationId xmlns:a16="http://schemas.microsoft.com/office/drawing/2014/main" id="{BD140CFA-6789-7481-3809-CD5806AC9E00}"/>
              </a:ext>
            </a:extLst>
          </p:cNvPr>
          <p:cNvSpPr txBox="1"/>
          <p:nvPr/>
        </p:nvSpPr>
        <p:spPr>
          <a:xfrm>
            <a:off x="1164349" y="184777"/>
            <a:ext cx="10688668" cy="553998"/>
          </a:xfrm>
          <a:prstGeom prst="rect">
            <a:avLst/>
          </a:prstGeom>
          <a:noFill/>
        </p:spPr>
        <p:txBody>
          <a:bodyPr wrap="square" rtlCol="0">
            <a:spAutoFit/>
          </a:bodyPr>
          <a:lstStyle/>
          <a:p>
            <a:r>
              <a:rPr lang="tr-TR" sz="3000" b="1" dirty="0">
                <a:latin typeface="Consolas" panose="020B0609020204030204" pitchFamily="49" charset="0"/>
              </a:rPr>
              <a:t>Multitasking (Çoklu Görev)</a:t>
            </a:r>
          </a:p>
        </p:txBody>
      </p:sp>
      <p:sp>
        <p:nvSpPr>
          <p:cNvPr id="7" name="Metin kutusu 6">
            <a:extLst>
              <a:ext uri="{FF2B5EF4-FFF2-40B4-BE49-F238E27FC236}">
                <a16:creationId xmlns:a16="http://schemas.microsoft.com/office/drawing/2014/main" id="{D3DAFEC7-6356-2D44-63EF-DFB1F0FE29EA}"/>
              </a:ext>
            </a:extLst>
          </p:cNvPr>
          <p:cNvSpPr txBox="1"/>
          <p:nvPr/>
        </p:nvSpPr>
        <p:spPr>
          <a:xfrm>
            <a:off x="1164349" y="759758"/>
            <a:ext cx="10688668" cy="5909310"/>
          </a:xfrm>
          <a:prstGeom prst="rect">
            <a:avLst/>
          </a:prstGeom>
          <a:noFill/>
        </p:spPr>
        <p:txBody>
          <a:bodyPr wrap="square" rtlCol="0">
            <a:spAutoFit/>
          </a:bodyPr>
          <a:lstStyle/>
          <a:p>
            <a:pPr marL="457200" indent="-457200">
              <a:buFont typeface="Wingdings" panose="05000000000000000000" pitchFamily="2" charset="2"/>
              <a:buChar char="§"/>
            </a:pPr>
            <a:r>
              <a:rPr lang="tr-TR" dirty="0" err="1">
                <a:latin typeface="Consolas" panose="020B0609020204030204" pitchFamily="49" charset="0"/>
              </a:rPr>
              <a:t>Multitasking'in</a:t>
            </a:r>
            <a:r>
              <a:rPr lang="tr-TR" dirty="0">
                <a:latin typeface="Consolas" panose="020B0609020204030204" pitchFamily="49" charset="0"/>
              </a:rPr>
              <a:t> gerçekleştirilmesi işletim sistemi tarafından sağlanır ve genellikle şu şekilde gerçekleştirilir:</a:t>
            </a:r>
          </a:p>
          <a:p>
            <a:pPr marL="457200" indent="-457200">
              <a:buFont typeface="Wingdings" panose="05000000000000000000" pitchFamily="2" charset="2"/>
              <a:buChar char="§"/>
            </a:pPr>
            <a:endParaRPr lang="tr-TR" dirty="0">
              <a:latin typeface="Consolas" panose="020B0609020204030204" pitchFamily="49" charset="0"/>
            </a:endParaRPr>
          </a:p>
          <a:p>
            <a:pPr marL="914400" lvl="1" indent="-457200">
              <a:buFont typeface="Wingdings" panose="05000000000000000000" pitchFamily="2" charset="2"/>
              <a:buChar char="§"/>
            </a:pPr>
            <a:r>
              <a:rPr lang="tr-TR" dirty="0">
                <a:latin typeface="Consolas" panose="020B0609020204030204" pitchFamily="49" charset="0"/>
              </a:rPr>
              <a:t>Zaman Paylaşımı (Time </a:t>
            </a:r>
            <a:r>
              <a:rPr lang="tr-TR" dirty="0" err="1">
                <a:latin typeface="Consolas" panose="020B0609020204030204" pitchFamily="49" charset="0"/>
              </a:rPr>
              <a:t>Sharing</a:t>
            </a:r>
            <a:r>
              <a:rPr lang="tr-TR" dirty="0">
                <a:latin typeface="Consolas" panose="020B0609020204030204" pitchFamily="49" charset="0"/>
              </a:rPr>
              <a:t>): İşletim sistemi, CPU zamanını farklı süreçler arasında paylaşır. CPU, her bir sürece belirli bir süre verilir ve bu süre dolduktan sonra işletim sistemi bir sonraki sürece geçer. Bu sayede, birçok süreç arasında hızlı bir şekilde geçiş yapılır ve kullanıcıya çoklu görev izlenimi verilir.</a:t>
            </a:r>
          </a:p>
          <a:p>
            <a:pPr lvl="1"/>
            <a:endParaRPr lang="tr-TR" dirty="0">
              <a:latin typeface="Consolas" panose="020B0609020204030204" pitchFamily="49" charset="0"/>
            </a:endParaRPr>
          </a:p>
          <a:p>
            <a:pPr marL="914400" lvl="1" indent="-457200">
              <a:buFont typeface="Wingdings" panose="05000000000000000000" pitchFamily="2" charset="2"/>
              <a:buChar char="§"/>
            </a:pPr>
            <a:r>
              <a:rPr lang="tr-TR" dirty="0">
                <a:latin typeface="Consolas" panose="020B0609020204030204" pitchFamily="49" charset="0"/>
              </a:rPr>
              <a:t>İşlem Durumları:</a:t>
            </a:r>
          </a:p>
          <a:p>
            <a:pPr marL="1371600" lvl="2" indent="-457200">
              <a:buFont typeface="Wingdings" panose="05000000000000000000" pitchFamily="2" charset="2"/>
              <a:buChar char="ü"/>
            </a:pPr>
            <a:r>
              <a:rPr lang="tr-TR" dirty="0">
                <a:latin typeface="Consolas" panose="020B0609020204030204" pitchFamily="49" charset="0"/>
              </a:rPr>
              <a:t>Hazır (Ready): İşletim sistemi tarafından yürütülmeye hazır bekleyen süreçlerdir. CPU zamanı gelene kadar beklerler.</a:t>
            </a:r>
          </a:p>
          <a:p>
            <a:pPr marL="1371600" lvl="2" indent="-457200">
              <a:buFont typeface="Wingdings" panose="05000000000000000000" pitchFamily="2" charset="2"/>
              <a:buChar char="ü"/>
            </a:pPr>
            <a:r>
              <a:rPr lang="tr-TR" dirty="0">
                <a:latin typeface="Consolas" panose="020B0609020204030204" pitchFamily="49" charset="0"/>
              </a:rPr>
              <a:t>Çalışan (</a:t>
            </a:r>
            <a:r>
              <a:rPr lang="tr-TR" dirty="0" err="1">
                <a:latin typeface="Consolas" panose="020B0609020204030204" pitchFamily="49" charset="0"/>
              </a:rPr>
              <a:t>Running</a:t>
            </a:r>
            <a:r>
              <a:rPr lang="tr-TR" dirty="0">
                <a:latin typeface="Consolas" panose="020B0609020204030204" pitchFamily="49" charset="0"/>
              </a:rPr>
              <a:t>): CPU tarafından yürütülen ve işlem yapmakta olan süreçlerdir.</a:t>
            </a:r>
          </a:p>
          <a:p>
            <a:pPr marL="1371600" lvl="2" indent="-457200">
              <a:buFont typeface="Wingdings" panose="05000000000000000000" pitchFamily="2" charset="2"/>
              <a:buChar char="ü"/>
            </a:pPr>
            <a:r>
              <a:rPr lang="tr-TR" dirty="0">
                <a:latin typeface="Consolas" panose="020B0609020204030204" pitchFamily="49" charset="0"/>
              </a:rPr>
              <a:t>Bekleme (</a:t>
            </a:r>
            <a:r>
              <a:rPr lang="tr-TR" dirty="0" err="1">
                <a:latin typeface="Consolas" panose="020B0609020204030204" pitchFamily="49" charset="0"/>
              </a:rPr>
              <a:t>Blocked</a:t>
            </a:r>
            <a:r>
              <a:rPr lang="tr-TR" dirty="0">
                <a:latin typeface="Consolas" panose="020B0609020204030204" pitchFamily="49" charset="0"/>
              </a:rPr>
              <a:t> veya </a:t>
            </a:r>
            <a:r>
              <a:rPr lang="tr-TR" dirty="0" err="1">
                <a:latin typeface="Consolas" panose="020B0609020204030204" pitchFamily="49" charset="0"/>
              </a:rPr>
              <a:t>Waiting</a:t>
            </a:r>
            <a:r>
              <a:rPr lang="tr-TR" dirty="0">
                <a:latin typeface="Consolas" panose="020B0609020204030204" pitchFamily="49" charset="0"/>
              </a:rPr>
              <a:t>): Kaynaklara erişim bekleyen veya bir olayın gerçekleşmesini bekleyen süreçlerdir. Örneğin, bir dosyanın okunmasını bekleyen bir süreç bu durumda olabilir.</a:t>
            </a:r>
          </a:p>
          <a:p>
            <a:pPr marL="914400" lvl="1" indent="-457200">
              <a:buFont typeface="Wingdings" panose="05000000000000000000" pitchFamily="2" charset="2"/>
              <a:buChar char="§"/>
            </a:pPr>
            <a:r>
              <a:rPr lang="tr-TR" dirty="0">
                <a:latin typeface="Consolas" panose="020B0609020204030204" pitchFamily="49" charset="0"/>
              </a:rPr>
              <a:t>Program Sayacı (Program Counter): İşletim sistemi, her bir sürecin ne zaman çalıştırılacağını belirlemek için bir program sayacı kullanır. Program sayacı, CPU'nun bir sonraki komutun nerede olduğunu ve hangi sürece ait olduğunu belirtir.</a:t>
            </a:r>
          </a:p>
        </p:txBody>
      </p:sp>
    </p:spTree>
    <p:extLst>
      <p:ext uri="{BB962C8B-B14F-4D97-AF65-F5344CB8AC3E}">
        <p14:creationId xmlns:p14="http://schemas.microsoft.com/office/powerpoint/2010/main" val="23768719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335695-E357-845E-08EB-358836882BDE}"/>
            </a:ext>
          </a:extLst>
        </p:cNvPr>
        <p:cNvGrpSpPr/>
        <p:nvPr/>
      </p:nvGrpSpPr>
      <p:grpSpPr>
        <a:xfrm>
          <a:off x="0" y="0"/>
          <a:ext cx="0" cy="0"/>
          <a:chOff x="0" y="0"/>
          <a:chExt cx="0" cy="0"/>
        </a:xfrm>
      </p:grpSpPr>
      <p:pic>
        <p:nvPicPr>
          <p:cNvPr id="4" name="Picture 2" descr="Parallel computing for high-performance simulations">
            <a:extLst>
              <a:ext uri="{FF2B5EF4-FFF2-40B4-BE49-F238E27FC236}">
                <a16:creationId xmlns:a16="http://schemas.microsoft.com/office/drawing/2014/main" id="{F50DE71A-6F72-7678-7374-CBE754EACAF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51802" b="-1"/>
          <a:stretch/>
        </p:blipFill>
        <p:spPr bwMode="auto">
          <a:xfrm rot="5400000">
            <a:off x="-2989346" y="2971346"/>
            <a:ext cx="6876000" cy="914399"/>
          </a:xfrm>
          <a:prstGeom prst="rect">
            <a:avLst/>
          </a:prstGeom>
          <a:noFill/>
          <a:extLst>
            <a:ext uri="{909E8E84-426E-40DD-AFC4-6F175D3DCCD1}">
              <a14:hiddenFill xmlns:a14="http://schemas.microsoft.com/office/drawing/2010/main">
                <a:solidFill>
                  <a:srgbClr val="FFFFFF"/>
                </a:solidFill>
              </a14:hiddenFill>
            </a:ext>
          </a:extLst>
        </p:spPr>
      </p:pic>
      <p:sp>
        <p:nvSpPr>
          <p:cNvPr id="6" name="Metin kutusu 5">
            <a:extLst>
              <a:ext uri="{FF2B5EF4-FFF2-40B4-BE49-F238E27FC236}">
                <a16:creationId xmlns:a16="http://schemas.microsoft.com/office/drawing/2014/main" id="{38561072-4B57-D603-C1A3-AB8FFF6EBBB5}"/>
              </a:ext>
            </a:extLst>
          </p:cNvPr>
          <p:cNvSpPr txBox="1"/>
          <p:nvPr/>
        </p:nvSpPr>
        <p:spPr>
          <a:xfrm>
            <a:off x="1164349" y="184777"/>
            <a:ext cx="10688668" cy="553998"/>
          </a:xfrm>
          <a:prstGeom prst="rect">
            <a:avLst/>
          </a:prstGeom>
          <a:noFill/>
        </p:spPr>
        <p:txBody>
          <a:bodyPr wrap="square" rtlCol="0">
            <a:spAutoFit/>
          </a:bodyPr>
          <a:lstStyle/>
          <a:p>
            <a:r>
              <a:rPr lang="tr-TR" sz="3000" b="1" dirty="0">
                <a:latin typeface="Consolas" panose="020B0609020204030204" pitchFamily="49" charset="0"/>
              </a:rPr>
              <a:t>Multitasking (Çoklu Görev)</a:t>
            </a:r>
          </a:p>
        </p:txBody>
      </p:sp>
      <p:sp>
        <p:nvSpPr>
          <p:cNvPr id="7" name="Metin kutusu 6">
            <a:extLst>
              <a:ext uri="{FF2B5EF4-FFF2-40B4-BE49-F238E27FC236}">
                <a16:creationId xmlns:a16="http://schemas.microsoft.com/office/drawing/2014/main" id="{AB08A4B9-8D8B-6A3E-7FBE-14C43A731CAE}"/>
              </a:ext>
            </a:extLst>
          </p:cNvPr>
          <p:cNvSpPr txBox="1"/>
          <p:nvPr/>
        </p:nvSpPr>
        <p:spPr>
          <a:xfrm>
            <a:off x="1164349" y="759758"/>
            <a:ext cx="10688668" cy="5632311"/>
          </a:xfrm>
          <a:prstGeom prst="rect">
            <a:avLst/>
          </a:prstGeom>
          <a:noFill/>
        </p:spPr>
        <p:txBody>
          <a:bodyPr wrap="square" rtlCol="0">
            <a:spAutoFit/>
          </a:bodyPr>
          <a:lstStyle/>
          <a:p>
            <a:pPr marL="457200" indent="-457200">
              <a:buFont typeface="Wingdings" panose="05000000000000000000" pitchFamily="2" charset="2"/>
              <a:buChar char="§"/>
            </a:pPr>
            <a:r>
              <a:rPr lang="tr-TR" dirty="0" err="1">
                <a:latin typeface="Consolas" panose="020B0609020204030204" pitchFamily="49" charset="0"/>
              </a:rPr>
              <a:t>Multitasking'in</a:t>
            </a:r>
            <a:r>
              <a:rPr lang="tr-TR" dirty="0">
                <a:latin typeface="Consolas" panose="020B0609020204030204" pitchFamily="49" charset="0"/>
              </a:rPr>
              <a:t> gerçekleştirilmesi işletim sistemi tarafından sağlanır ve genellikle şu şekilde gerçekleştirilir:</a:t>
            </a:r>
          </a:p>
          <a:p>
            <a:pPr marL="457200" indent="-457200">
              <a:buFont typeface="Wingdings" panose="05000000000000000000" pitchFamily="2" charset="2"/>
              <a:buChar char="§"/>
            </a:pPr>
            <a:endParaRPr lang="tr-TR" dirty="0">
              <a:latin typeface="Consolas" panose="020B0609020204030204" pitchFamily="49" charset="0"/>
            </a:endParaRPr>
          </a:p>
          <a:p>
            <a:pPr marL="914400" lvl="1" indent="-457200">
              <a:buFont typeface="Wingdings" panose="05000000000000000000" pitchFamily="2" charset="2"/>
              <a:buChar char="§"/>
            </a:pPr>
            <a:r>
              <a:rPr lang="tr-TR" dirty="0">
                <a:latin typeface="Consolas" panose="020B0609020204030204" pitchFamily="49" charset="0"/>
              </a:rPr>
              <a:t>Kesintiler (</a:t>
            </a:r>
            <a:r>
              <a:rPr lang="tr-TR" dirty="0" err="1">
                <a:latin typeface="Consolas" panose="020B0609020204030204" pitchFamily="49" charset="0"/>
              </a:rPr>
              <a:t>Interrupts</a:t>
            </a:r>
            <a:r>
              <a:rPr lang="tr-TR" dirty="0">
                <a:latin typeface="Consolas" panose="020B0609020204030204" pitchFamily="49" charset="0"/>
              </a:rPr>
              <a:t>): Donanım veya yazılım olayları, işletim sistemini çalışan bir süreci duraklatmaya ve başka bir sürece geçmeye zorlar. Bu olaylara kesinti (</a:t>
            </a:r>
            <a:r>
              <a:rPr lang="tr-TR" dirty="0" err="1">
                <a:latin typeface="Consolas" panose="020B0609020204030204" pitchFamily="49" charset="0"/>
              </a:rPr>
              <a:t>interrupt</a:t>
            </a:r>
            <a:r>
              <a:rPr lang="tr-TR" dirty="0">
                <a:latin typeface="Consolas" panose="020B0609020204030204" pitchFamily="49" charset="0"/>
              </a:rPr>
              <a:t>) denir ve işletim sistemi bu kesintileri işleyerek çoklu görev yapmayı sağlar.</a:t>
            </a:r>
          </a:p>
          <a:p>
            <a:pPr marL="914400" lvl="1" indent="-457200">
              <a:buFont typeface="Wingdings" panose="05000000000000000000" pitchFamily="2" charset="2"/>
              <a:buChar char="§"/>
            </a:pPr>
            <a:endParaRPr lang="tr-TR" dirty="0">
              <a:latin typeface="Consolas" panose="020B0609020204030204" pitchFamily="49" charset="0"/>
            </a:endParaRPr>
          </a:p>
          <a:p>
            <a:pPr marL="914400" lvl="1" indent="-457200">
              <a:buFont typeface="Wingdings" panose="05000000000000000000" pitchFamily="2" charset="2"/>
              <a:buChar char="§"/>
            </a:pPr>
            <a:endParaRPr lang="tr-TR" dirty="0">
              <a:latin typeface="Consolas" panose="020B0609020204030204" pitchFamily="49" charset="0"/>
            </a:endParaRPr>
          </a:p>
          <a:p>
            <a:pPr marL="457200" indent="-457200">
              <a:buFont typeface="Wingdings" panose="05000000000000000000" pitchFamily="2" charset="2"/>
              <a:buChar char="§"/>
            </a:pPr>
            <a:endParaRPr lang="tr-TR" dirty="0">
              <a:latin typeface="Consolas" panose="020B0609020204030204" pitchFamily="49" charset="0"/>
            </a:endParaRPr>
          </a:p>
          <a:p>
            <a:pPr marL="457200" indent="-457200">
              <a:buFont typeface="Wingdings" panose="05000000000000000000" pitchFamily="2" charset="2"/>
              <a:buChar char="§"/>
            </a:pPr>
            <a:endParaRPr lang="tr-TR" dirty="0">
              <a:latin typeface="Consolas" panose="020B0609020204030204" pitchFamily="49" charset="0"/>
            </a:endParaRPr>
          </a:p>
          <a:p>
            <a:pPr marL="457200" indent="-457200">
              <a:buFont typeface="Wingdings" panose="05000000000000000000" pitchFamily="2" charset="2"/>
              <a:buChar char="§"/>
            </a:pPr>
            <a:endParaRPr lang="tr-TR" dirty="0">
              <a:latin typeface="Consolas" panose="020B0609020204030204" pitchFamily="49" charset="0"/>
            </a:endParaRPr>
          </a:p>
          <a:p>
            <a:pPr marL="457200" indent="-457200">
              <a:buFont typeface="Wingdings" panose="05000000000000000000" pitchFamily="2" charset="2"/>
              <a:buChar char="§"/>
            </a:pPr>
            <a:endParaRPr lang="tr-TR" dirty="0">
              <a:latin typeface="Consolas" panose="020B0609020204030204" pitchFamily="49" charset="0"/>
            </a:endParaRPr>
          </a:p>
          <a:p>
            <a:pPr marL="457200" indent="-457200">
              <a:buFont typeface="Wingdings" panose="05000000000000000000" pitchFamily="2" charset="2"/>
              <a:buChar char="§"/>
            </a:pPr>
            <a:endParaRPr lang="tr-TR" dirty="0">
              <a:latin typeface="Consolas" panose="020B0609020204030204" pitchFamily="49" charset="0"/>
            </a:endParaRPr>
          </a:p>
          <a:p>
            <a:pPr marL="457200" indent="-457200">
              <a:buFont typeface="Wingdings" panose="05000000000000000000" pitchFamily="2" charset="2"/>
              <a:buChar char="§"/>
            </a:pPr>
            <a:endParaRPr lang="tr-TR" dirty="0">
              <a:latin typeface="Consolas" panose="020B0609020204030204" pitchFamily="49" charset="0"/>
            </a:endParaRPr>
          </a:p>
          <a:p>
            <a:pPr marL="457200" indent="-457200">
              <a:buFont typeface="Wingdings" panose="05000000000000000000" pitchFamily="2" charset="2"/>
              <a:buChar char="§"/>
            </a:pPr>
            <a:endParaRPr lang="tr-TR" dirty="0">
              <a:latin typeface="Consolas" panose="020B0609020204030204" pitchFamily="49" charset="0"/>
            </a:endParaRPr>
          </a:p>
          <a:p>
            <a:pPr marL="914400" lvl="1" indent="-457200">
              <a:buFont typeface="Wingdings" panose="05000000000000000000" pitchFamily="2" charset="2"/>
              <a:buChar char="§"/>
            </a:pPr>
            <a:r>
              <a:rPr lang="tr-TR" dirty="0">
                <a:latin typeface="Consolas" panose="020B0609020204030204" pitchFamily="49" charset="0"/>
              </a:rPr>
              <a:t>Önbellekler (</a:t>
            </a:r>
            <a:r>
              <a:rPr lang="tr-TR" dirty="0" err="1">
                <a:latin typeface="Consolas" panose="020B0609020204030204" pitchFamily="49" charset="0"/>
              </a:rPr>
              <a:t>Caches</a:t>
            </a:r>
            <a:r>
              <a:rPr lang="tr-TR" dirty="0">
                <a:latin typeface="Consolas" panose="020B0609020204030204" pitchFamily="49" charset="0"/>
              </a:rPr>
              <a:t>): İşletim sistemi, CPU'nun hızlı bir şekilde erişebilmesi için sık kullanılan verileri belleğe (önbelleğe) alır. Bu, sık kullanılan verilere daha hızlı erişim sağlar ve işlemlerin daha hızlı gerçekleştirilmesine yardımcı olur.</a:t>
            </a:r>
          </a:p>
        </p:txBody>
      </p:sp>
      <p:pic>
        <p:nvPicPr>
          <p:cNvPr id="7170" name="Picture 2" descr="Microprocessor Design/Interrupts - Wikibooks, open books for an open world">
            <a:extLst>
              <a:ext uri="{FF2B5EF4-FFF2-40B4-BE49-F238E27FC236}">
                <a16:creationId xmlns:a16="http://schemas.microsoft.com/office/drawing/2014/main" id="{897CA02B-B14F-A658-3691-954F8562923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10484" y="3023746"/>
            <a:ext cx="6488028" cy="18894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497574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7C3B86-33BC-6034-ECA6-54E66BA2E048}"/>
            </a:ext>
          </a:extLst>
        </p:cNvPr>
        <p:cNvGrpSpPr/>
        <p:nvPr/>
      </p:nvGrpSpPr>
      <p:grpSpPr>
        <a:xfrm>
          <a:off x="0" y="0"/>
          <a:ext cx="0" cy="0"/>
          <a:chOff x="0" y="0"/>
          <a:chExt cx="0" cy="0"/>
        </a:xfrm>
      </p:grpSpPr>
      <p:pic>
        <p:nvPicPr>
          <p:cNvPr id="8194" name="Picture 2" descr="Difference between Thread vs Process in Java? Example | Java67">
            <a:extLst>
              <a:ext uri="{FF2B5EF4-FFF2-40B4-BE49-F238E27FC236}">
                <a16:creationId xmlns:a16="http://schemas.microsoft.com/office/drawing/2014/main" id="{759BFC12-6DF7-DA4E-72DB-697FB66AA8B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43825" y="184777"/>
            <a:ext cx="4295440" cy="2629861"/>
          </a:xfrm>
          <a:prstGeom prst="rect">
            <a:avLst/>
          </a:prstGeom>
          <a:noFill/>
          <a:extLst>
            <a:ext uri="{909E8E84-426E-40DD-AFC4-6F175D3DCCD1}">
              <a14:hiddenFill xmlns:a14="http://schemas.microsoft.com/office/drawing/2010/main">
                <a:solidFill>
                  <a:srgbClr val="FFFFFF"/>
                </a:solidFill>
              </a14:hiddenFill>
            </a:ext>
          </a:extLst>
        </p:spPr>
      </p:pic>
      <p:pic>
        <p:nvPicPr>
          <p:cNvPr id="2" name="İçerik Yer Tutucusu 4">
            <a:extLst>
              <a:ext uri="{FF2B5EF4-FFF2-40B4-BE49-F238E27FC236}">
                <a16:creationId xmlns:a16="http://schemas.microsoft.com/office/drawing/2014/main" id="{9B8C07AE-AD00-CF51-6816-8F3BA7111DB6}"/>
              </a:ext>
            </a:extLst>
          </p:cNvPr>
          <p:cNvPicPr>
            <a:picLocks noGrp="1" noChangeAspect="1"/>
          </p:cNvPicPr>
          <p:nvPr>
            <p:ph idx="1"/>
          </p:nvPr>
        </p:nvPicPr>
        <p:blipFill>
          <a:blip r:embed="rId3"/>
          <a:stretch>
            <a:fillRect/>
          </a:stretch>
        </p:blipFill>
        <p:spPr>
          <a:xfrm>
            <a:off x="2239881" y="2562560"/>
            <a:ext cx="8537603" cy="4295440"/>
          </a:xfrm>
        </p:spPr>
      </p:pic>
      <p:pic>
        <p:nvPicPr>
          <p:cNvPr id="4" name="Picture 2" descr="Parallel computing for high-performance simulations">
            <a:extLst>
              <a:ext uri="{FF2B5EF4-FFF2-40B4-BE49-F238E27FC236}">
                <a16:creationId xmlns:a16="http://schemas.microsoft.com/office/drawing/2014/main" id="{DCDABFB4-9523-C155-7828-7016399402DD}"/>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51802" b="-1"/>
          <a:stretch/>
        </p:blipFill>
        <p:spPr bwMode="auto">
          <a:xfrm rot="5400000">
            <a:off x="-2989346" y="2971346"/>
            <a:ext cx="6876000" cy="914399"/>
          </a:xfrm>
          <a:prstGeom prst="rect">
            <a:avLst/>
          </a:prstGeom>
          <a:noFill/>
          <a:extLst>
            <a:ext uri="{909E8E84-426E-40DD-AFC4-6F175D3DCCD1}">
              <a14:hiddenFill xmlns:a14="http://schemas.microsoft.com/office/drawing/2010/main">
                <a:solidFill>
                  <a:srgbClr val="FFFFFF"/>
                </a:solidFill>
              </a14:hiddenFill>
            </a:ext>
          </a:extLst>
        </p:spPr>
      </p:pic>
      <p:sp>
        <p:nvSpPr>
          <p:cNvPr id="6" name="Metin kutusu 5">
            <a:extLst>
              <a:ext uri="{FF2B5EF4-FFF2-40B4-BE49-F238E27FC236}">
                <a16:creationId xmlns:a16="http://schemas.microsoft.com/office/drawing/2014/main" id="{69755796-4B30-2F1F-2B69-DC75B05B9E69}"/>
              </a:ext>
            </a:extLst>
          </p:cNvPr>
          <p:cNvSpPr txBox="1"/>
          <p:nvPr/>
        </p:nvSpPr>
        <p:spPr>
          <a:xfrm>
            <a:off x="1164349" y="184777"/>
            <a:ext cx="10688668" cy="553998"/>
          </a:xfrm>
          <a:prstGeom prst="rect">
            <a:avLst/>
          </a:prstGeom>
          <a:noFill/>
        </p:spPr>
        <p:txBody>
          <a:bodyPr wrap="square" rtlCol="0">
            <a:spAutoFit/>
          </a:bodyPr>
          <a:lstStyle/>
          <a:p>
            <a:r>
              <a:rPr lang="tr-TR" sz="3000" b="1" dirty="0" err="1">
                <a:latin typeface="Consolas" panose="020B0609020204030204" pitchFamily="49" charset="0"/>
              </a:rPr>
              <a:t>Thread</a:t>
            </a:r>
            <a:r>
              <a:rPr lang="tr-TR" sz="3000" b="1" dirty="0">
                <a:latin typeface="Consolas" panose="020B0609020204030204" pitchFamily="49" charset="0"/>
              </a:rPr>
              <a:t> : </a:t>
            </a:r>
            <a:r>
              <a:rPr lang="tr-TR" sz="3000" b="1" dirty="0" err="1">
                <a:latin typeface="Consolas" panose="020B0609020204030204" pitchFamily="49" charset="0"/>
              </a:rPr>
              <a:t>Lightweight</a:t>
            </a:r>
            <a:r>
              <a:rPr lang="tr-TR" sz="3000" b="1" dirty="0">
                <a:latin typeface="Consolas" panose="020B0609020204030204" pitchFamily="49" charset="0"/>
              </a:rPr>
              <a:t> </a:t>
            </a:r>
            <a:r>
              <a:rPr lang="tr-TR" sz="3000" b="1" dirty="0" err="1">
                <a:latin typeface="Consolas" panose="020B0609020204030204" pitchFamily="49" charset="0"/>
              </a:rPr>
              <a:t>process</a:t>
            </a:r>
            <a:r>
              <a:rPr lang="tr-TR" sz="3000" b="1" dirty="0">
                <a:latin typeface="Consolas" panose="020B0609020204030204" pitchFamily="49" charset="0"/>
              </a:rPr>
              <a:t>  </a:t>
            </a:r>
          </a:p>
        </p:txBody>
      </p:sp>
      <p:sp>
        <p:nvSpPr>
          <p:cNvPr id="7" name="Metin kutusu 6">
            <a:extLst>
              <a:ext uri="{FF2B5EF4-FFF2-40B4-BE49-F238E27FC236}">
                <a16:creationId xmlns:a16="http://schemas.microsoft.com/office/drawing/2014/main" id="{E466C609-27A3-A8E9-89E9-AC5517F76CE7}"/>
              </a:ext>
            </a:extLst>
          </p:cNvPr>
          <p:cNvSpPr txBox="1"/>
          <p:nvPr/>
        </p:nvSpPr>
        <p:spPr>
          <a:xfrm>
            <a:off x="1164349" y="759758"/>
            <a:ext cx="6579476" cy="2308324"/>
          </a:xfrm>
          <a:prstGeom prst="rect">
            <a:avLst/>
          </a:prstGeom>
          <a:noFill/>
        </p:spPr>
        <p:txBody>
          <a:bodyPr wrap="square" rtlCol="0">
            <a:spAutoFit/>
          </a:bodyPr>
          <a:lstStyle/>
          <a:p>
            <a:pPr marL="457200" indent="-457200">
              <a:buFont typeface="Wingdings" panose="05000000000000000000" pitchFamily="2" charset="2"/>
              <a:buChar char="§"/>
            </a:pPr>
            <a:r>
              <a:rPr lang="tr-TR" sz="2400" dirty="0" err="1">
                <a:latin typeface="Consolas" panose="020B0609020204030204" pitchFamily="49" charset="0"/>
              </a:rPr>
              <a:t>Thread’ler</a:t>
            </a:r>
            <a:r>
              <a:rPr lang="tr-TR" sz="2400" dirty="0">
                <a:latin typeface="Consolas" panose="020B0609020204030204" pitchFamily="49" charset="0"/>
              </a:rPr>
              <a:t> bir programın paralel ve birbirinden bağımsız işlemler yapılmasını sağlar.</a:t>
            </a:r>
          </a:p>
          <a:p>
            <a:pPr marL="457200" indent="-457200">
              <a:buFont typeface="Wingdings" panose="05000000000000000000" pitchFamily="2" charset="2"/>
              <a:buChar char="§"/>
            </a:pPr>
            <a:r>
              <a:rPr lang="tr-TR" sz="2400" dirty="0">
                <a:latin typeface="Consolas" panose="020B0609020204030204" pitchFamily="49" charset="0"/>
              </a:rPr>
              <a:t>İki tip </a:t>
            </a:r>
            <a:r>
              <a:rPr lang="tr-TR" sz="2400" dirty="0" err="1">
                <a:latin typeface="Consolas" panose="020B0609020204030204" pitchFamily="49" charset="0"/>
              </a:rPr>
              <a:t>thread</a:t>
            </a:r>
            <a:r>
              <a:rPr lang="tr-TR" sz="2400" dirty="0">
                <a:latin typeface="Consolas" panose="020B0609020204030204" pitchFamily="49" charset="0"/>
              </a:rPr>
              <a:t> yapısı vardır:</a:t>
            </a:r>
          </a:p>
          <a:p>
            <a:pPr marL="914400" lvl="1" indent="-457200">
              <a:buFont typeface="Wingdings" panose="05000000000000000000" pitchFamily="2" charset="2"/>
              <a:buChar char="§"/>
            </a:pPr>
            <a:r>
              <a:rPr lang="tr-TR" sz="2400" dirty="0">
                <a:latin typeface="Consolas" panose="020B0609020204030204" pitchFamily="49" charset="0"/>
              </a:rPr>
              <a:t>User-</a:t>
            </a:r>
            <a:r>
              <a:rPr lang="tr-TR" sz="2400" dirty="0" err="1">
                <a:latin typeface="Consolas" panose="020B0609020204030204" pitchFamily="49" charset="0"/>
              </a:rPr>
              <a:t>level</a:t>
            </a:r>
            <a:r>
              <a:rPr lang="tr-TR" sz="2400" dirty="0">
                <a:latin typeface="Consolas" panose="020B0609020204030204" pitchFamily="49" charset="0"/>
              </a:rPr>
              <a:t> </a:t>
            </a:r>
            <a:r>
              <a:rPr lang="tr-TR" sz="2400" dirty="0" err="1">
                <a:latin typeface="Consolas" panose="020B0609020204030204" pitchFamily="49" charset="0"/>
              </a:rPr>
              <a:t>Threads</a:t>
            </a:r>
            <a:endParaRPr lang="tr-TR" sz="2400" dirty="0">
              <a:latin typeface="Consolas" panose="020B0609020204030204" pitchFamily="49" charset="0"/>
            </a:endParaRPr>
          </a:p>
          <a:p>
            <a:pPr marL="914400" lvl="1" indent="-457200">
              <a:buFont typeface="Wingdings" panose="05000000000000000000" pitchFamily="2" charset="2"/>
              <a:buChar char="§"/>
            </a:pPr>
            <a:r>
              <a:rPr lang="tr-TR" sz="2400" dirty="0">
                <a:latin typeface="Consolas" panose="020B0609020204030204" pitchFamily="49" charset="0"/>
              </a:rPr>
              <a:t>Kernel-</a:t>
            </a:r>
            <a:r>
              <a:rPr lang="tr-TR" sz="2400" dirty="0" err="1">
                <a:latin typeface="Consolas" panose="020B0609020204030204" pitchFamily="49" charset="0"/>
              </a:rPr>
              <a:t>level</a:t>
            </a:r>
            <a:r>
              <a:rPr lang="tr-TR" sz="2400" dirty="0">
                <a:latin typeface="Consolas" panose="020B0609020204030204" pitchFamily="49" charset="0"/>
              </a:rPr>
              <a:t> </a:t>
            </a:r>
            <a:r>
              <a:rPr lang="tr-TR" sz="2400" dirty="0" err="1">
                <a:latin typeface="Consolas" panose="020B0609020204030204" pitchFamily="49" charset="0"/>
              </a:rPr>
              <a:t>Threads</a:t>
            </a:r>
            <a:endParaRPr lang="tr-TR" sz="2400" dirty="0">
              <a:latin typeface="Consolas" panose="020B0609020204030204" pitchFamily="49" charset="0"/>
            </a:endParaRPr>
          </a:p>
        </p:txBody>
      </p:sp>
    </p:spTree>
    <p:extLst>
      <p:ext uri="{BB962C8B-B14F-4D97-AF65-F5344CB8AC3E}">
        <p14:creationId xmlns:p14="http://schemas.microsoft.com/office/powerpoint/2010/main" val="166436831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851A40-BBB3-5B55-4098-5E30FB160F3D}"/>
            </a:ext>
          </a:extLst>
        </p:cNvPr>
        <p:cNvGrpSpPr/>
        <p:nvPr/>
      </p:nvGrpSpPr>
      <p:grpSpPr>
        <a:xfrm>
          <a:off x="0" y="0"/>
          <a:ext cx="0" cy="0"/>
          <a:chOff x="0" y="0"/>
          <a:chExt cx="0" cy="0"/>
        </a:xfrm>
      </p:grpSpPr>
      <p:pic>
        <p:nvPicPr>
          <p:cNvPr id="4" name="Picture 2" descr="Parallel computing for high-performance simulations">
            <a:extLst>
              <a:ext uri="{FF2B5EF4-FFF2-40B4-BE49-F238E27FC236}">
                <a16:creationId xmlns:a16="http://schemas.microsoft.com/office/drawing/2014/main" id="{6D20DD81-5F8E-02BE-0842-1B7C6917402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51802" b="-1"/>
          <a:stretch/>
        </p:blipFill>
        <p:spPr bwMode="auto">
          <a:xfrm rot="5400000">
            <a:off x="-2989346" y="2971346"/>
            <a:ext cx="6876000" cy="914399"/>
          </a:xfrm>
          <a:prstGeom prst="rect">
            <a:avLst/>
          </a:prstGeom>
          <a:noFill/>
          <a:extLst>
            <a:ext uri="{909E8E84-426E-40DD-AFC4-6F175D3DCCD1}">
              <a14:hiddenFill xmlns:a14="http://schemas.microsoft.com/office/drawing/2010/main">
                <a:solidFill>
                  <a:srgbClr val="FFFFFF"/>
                </a:solidFill>
              </a14:hiddenFill>
            </a:ext>
          </a:extLst>
        </p:spPr>
      </p:pic>
      <p:sp>
        <p:nvSpPr>
          <p:cNvPr id="6" name="Metin kutusu 5">
            <a:extLst>
              <a:ext uri="{FF2B5EF4-FFF2-40B4-BE49-F238E27FC236}">
                <a16:creationId xmlns:a16="http://schemas.microsoft.com/office/drawing/2014/main" id="{2D3E00BD-FDD9-D7AC-4687-C450F822CB96}"/>
              </a:ext>
            </a:extLst>
          </p:cNvPr>
          <p:cNvSpPr txBox="1"/>
          <p:nvPr/>
        </p:nvSpPr>
        <p:spPr>
          <a:xfrm>
            <a:off x="1164349" y="184777"/>
            <a:ext cx="10688668" cy="553998"/>
          </a:xfrm>
          <a:prstGeom prst="rect">
            <a:avLst/>
          </a:prstGeom>
          <a:noFill/>
        </p:spPr>
        <p:txBody>
          <a:bodyPr wrap="square" rtlCol="0">
            <a:spAutoFit/>
          </a:bodyPr>
          <a:lstStyle/>
          <a:p>
            <a:r>
              <a:rPr lang="tr-TR" sz="3000" b="1" dirty="0">
                <a:latin typeface="Consolas" panose="020B0609020204030204" pitchFamily="49" charset="0"/>
              </a:rPr>
              <a:t>User Level </a:t>
            </a:r>
            <a:r>
              <a:rPr lang="tr-TR" sz="3000" b="1" dirty="0" err="1">
                <a:latin typeface="Consolas" panose="020B0609020204030204" pitchFamily="49" charset="0"/>
              </a:rPr>
              <a:t>Thread</a:t>
            </a:r>
            <a:r>
              <a:rPr lang="tr-TR" sz="3000" b="1" dirty="0">
                <a:latin typeface="Consolas" panose="020B0609020204030204" pitchFamily="49" charset="0"/>
              </a:rPr>
              <a:t> </a:t>
            </a:r>
            <a:r>
              <a:rPr lang="tr-TR" sz="3000" b="1" dirty="0" err="1">
                <a:latin typeface="Consolas" panose="020B0609020204030204" pitchFamily="49" charset="0"/>
              </a:rPr>
              <a:t>vs</a:t>
            </a:r>
            <a:r>
              <a:rPr lang="tr-TR" sz="3000" b="1" dirty="0">
                <a:latin typeface="Consolas" panose="020B0609020204030204" pitchFamily="49" charset="0"/>
              </a:rPr>
              <a:t> Kernel Level </a:t>
            </a:r>
            <a:r>
              <a:rPr lang="tr-TR" sz="3000" b="1" dirty="0" err="1">
                <a:latin typeface="Consolas" panose="020B0609020204030204" pitchFamily="49" charset="0"/>
              </a:rPr>
              <a:t>Thread</a:t>
            </a:r>
            <a:endParaRPr lang="tr-TR" sz="3000" b="1" dirty="0">
              <a:latin typeface="Consolas" panose="020B0609020204030204" pitchFamily="49" charset="0"/>
            </a:endParaRPr>
          </a:p>
        </p:txBody>
      </p:sp>
      <p:graphicFrame>
        <p:nvGraphicFramePr>
          <p:cNvPr id="8" name="Tablo 7">
            <a:extLst>
              <a:ext uri="{FF2B5EF4-FFF2-40B4-BE49-F238E27FC236}">
                <a16:creationId xmlns:a16="http://schemas.microsoft.com/office/drawing/2014/main" id="{5B612F1C-4762-5C73-262F-E24CDE156ED9}"/>
              </a:ext>
            </a:extLst>
          </p:cNvPr>
          <p:cNvGraphicFramePr>
            <a:graphicFrameLocks noGrp="1"/>
          </p:cNvGraphicFramePr>
          <p:nvPr>
            <p:extLst>
              <p:ext uri="{D42A27DB-BD31-4B8C-83A1-F6EECF244321}">
                <p14:modId xmlns:p14="http://schemas.microsoft.com/office/powerpoint/2010/main" val="4250755214"/>
              </p:ext>
            </p:extLst>
          </p:nvPr>
        </p:nvGraphicFramePr>
        <p:xfrm>
          <a:off x="1164349" y="924872"/>
          <a:ext cx="10449897" cy="5235586"/>
        </p:xfrm>
        <a:graphic>
          <a:graphicData uri="http://schemas.openxmlformats.org/drawingml/2006/table">
            <a:tbl>
              <a:tblPr/>
              <a:tblGrid>
                <a:gridCol w="2902684">
                  <a:extLst>
                    <a:ext uri="{9D8B030D-6E8A-4147-A177-3AD203B41FA5}">
                      <a16:colId xmlns:a16="http://schemas.microsoft.com/office/drawing/2014/main" val="2162204119"/>
                    </a:ext>
                  </a:extLst>
                </a:gridCol>
                <a:gridCol w="3821373">
                  <a:extLst>
                    <a:ext uri="{9D8B030D-6E8A-4147-A177-3AD203B41FA5}">
                      <a16:colId xmlns:a16="http://schemas.microsoft.com/office/drawing/2014/main" val="937778001"/>
                    </a:ext>
                  </a:extLst>
                </a:gridCol>
                <a:gridCol w="3725840">
                  <a:extLst>
                    <a:ext uri="{9D8B030D-6E8A-4147-A177-3AD203B41FA5}">
                      <a16:colId xmlns:a16="http://schemas.microsoft.com/office/drawing/2014/main" val="998225235"/>
                    </a:ext>
                  </a:extLst>
                </a:gridCol>
              </a:tblGrid>
              <a:tr h="429005">
                <a:tc>
                  <a:txBody>
                    <a:bodyPr/>
                    <a:lstStyle/>
                    <a:p>
                      <a:pPr fontAlgn="b"/>
                      <a:r>
                        <a:rPr lang="tr-TR" sz="1800" b="1" dirty="0">
                          <a:effectLst/>
                        </a:rPr>
                        <a:t>Özellik</a:t>
                      </a:r>
                    </a:p>
                  </a:txBody>
                  <a:tcPr marL="61286" marR="61286" marT="30643" marB="306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fontAlgn="b"/>
                      <a:r>
                        <a:rPr lang="tr-TR" sz="1800" b="1" dirty="0">
                          <a:effectLst/>
                        </a:rPr>
                        <a:t>User Level </a:t>
                      </a:r>
                      <a:r>
                        <a:rPr lang="tr-TR" sz="1800" b="1" dirty="0" err="1">
                          <a:effectLst/>
                        </a:rPr>
                        <a:t>Thread</a:t>
                      </a:r>
                      <a:endParaRPr lang="tr-TR" sz="1800" b="1" dirty="0">
                        <a:effectLst/>
                      </a:endParaRPr>
                    </a:p>
                  </a:txBody>
                  <a:tcPr marL="61286" marR="61286" marT="30643" marB="306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tc>
                  <a:txBody>
                    <a:bodyPr/>
                    <a:lstStyle/>
                    <a:p>
                      <a:pPr fontAlgn="b"/>
                      <a:r>
                        <a:rPr lang="tr-TR" sz="1800" b="1" dirty="0">
                          <a:effectLst/>
                        </a:rPr>
                        <a:t>Kernel Level </a:t>
                      </a:r>
                      <a:r>
                        <a:rPr lang="tr-TR" sz="1800" b="1" dirty="0" err="1">
                          <a:effectLst/>
                        </a:rPr>
                        <a:t>Thread</a:t>
                      </a:r>
                      <a:endParaRPr lang="tr-TR" sz="1800" b="1" dirty="0">
                        <a:effectLst/>
                      </a:endParaRPr>
                    </a:p>
                  </a:txBody>
                  <a:tcPr marL="61286" marR="61286" marT="30643" marB="306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10000"/>
                        <a:lumOff val="90000"/>
                      </a:schemeClr>
                    </a:solidFill>
                  </a:tcPr>
                </a:tc>
                <a:extLst>
                  <a:ext uri="{0D108BD9-81ED-4DB2-BD59-A6C34878D82A}">
                    <a16:rowId xmlns:a16="http://schemas.microsoft.com/office/drawing/2014/main" val="2038628447"/>
                  </a:ext>
                </a:extLst>
              </a:tr>
              <a:tr h="429005">
                <a:tc>
                  <a:txBody>
                    <a:bodyPr/>
                    <a:lstStyle/>
                    <a:p>
                      <a:pPr fontAlgn="base"/>
                      <a:r>
                        <a:rPr lang="tr-TR" sz="1800">
                          <a:effectLst/>
                        </a:rPr>
                        <a:t>Oluşturma</a:t>
                      </a:r>
                    </a:p>
                  </a:txBody>
                  <a:tcPr marL="61286" marR="61286" marT="30643" marB="306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base"/>
                      <a:r>
                        <a:rPr lang="tr-TR" sz="1800">
                          <a:effectLst/>
                        </a:rPr>
                        <a:t>Kullanıcı düzeyinde oluşturulur.</a:t>
                      </a:r>
                    </a:p>
                  </a:txBody>
                  <a:tcPr marL="61286" marR="61286" marT="30643" marB="306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base"/>
                      <a:r>
                        <a:rPr lang="tr-TR" sz="1800" dirty="0">
                          <a:effectLst/>
                        </a:rPr>
                        <a:t>Çekirdek düzeyinde oluşturulur.</a:t>
                      </a:r>
                    </a:p>
                  </a:txBody>
                  <a:tcPr marL="61286" marR="61286" marT="30643" marB="306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53930611"/>
                  </a:ext>
                </a:extLst>
              </a:tr>
              <a:tr h="612865">
                <a:tc>
                  <a:txBody>
                    <a:bodyPr/>
                    <a:lstStyle/>
                    <a:p>
                      <a:pPr fontAlgn="base"/>
                      <a:r>
                        <a:rPr lang="tr-TR" sz="1800">
                          <a:effectLst/>
                        </a:rPr>
                        <a:t>İşletim Sistemi Etkileşimi</a:t>
                      </a:r>
                    </a:p>
                  </a:txBody>
                  <a:tcPr marL="61286" marR="61286" marT="30643" marB="306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base"/>
                      <a:r>
                        <a:rPr lang="tr-TR" sz="1800" dirty="0">
                          <a:effectLst/>
                        </a:rPr>
                        <a:t>İşletim sistemi tarafından görünmez. Kullanıcı programı tarafından yönetilir.</a:t>
                      </a:r>
                    </a:p>
                  </a:txBody>
                  <a:tcPr marL="61286" marR="61286" marT="30643" marB="306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base"/>
                      <a:r>
                        <a:rPr lang="tr-TR" sz="1800" dirty="0">
                          <a:effectLst/>
                        </a:rPr>
                        <a:t>İşletim sistemi tarafından yönetilir.</a:t>
                      </a:r>
                    </a:p>
                  </a:txBody>
                  <a:tcPr marL="61286" marR="61286" marT="30643" marB="306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44241261"/>
                  </a:ext>
                </a:extLst>
              </a:tr>
              <a:tr h="612865">
                <a:tc>
                  <a:txBody>
                    <a:bodyPr/>
                    <a:lstStyle/>
                    <a:p>
                      <a:pPr fontAlgn="base"/>
                      <a:r>
                        <a:rPr lang="tr-TR" sz="1800">
                          <a:effectLst/>
                        </a:rPr>
                        <a:t>Çoklu Çekirdek Desteği</a:t>
                      </a:r>
                    </a:p>
                  </a:txBody>
                  <a:tcPr marL="61286" marR="61286" marT="30643" marB="306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base"/>
                      <a:r>
                        <a:rPr lang="tr-TR" sz="1800" dirty="0">
                          <a:effectLst/>
                        </a:rPr>
                        <a:t>Genellikle tek çekirdek üzerinde çalışır.</a:t>
                      </a:r>
                    </a:p>
                  </a:txBody>
                  <a:tcPr marL="61286" marR="61286" marT="30643" marB="306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base"/>
                      <a:r>
                        <a:rPr lang="tr-TR" sz="1800">
                          <a:effectLst/>
                        </a:rPr>
                        <a:t>Çoklu çekirdek desteği sunabilir.</a:t>
                      </a:r>
                    </a:p>
                  </a:txBody>
                  <a:tcPr marL="61286" marR="61286" marT="30643" marB="306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02027822"/>
                  </a:ext>
                </a:extLst>
              </a:tr>
              <a:tr h="429005">
                <a:tc>
                  <a:txBody>
                    <a:bodyPr/>
                    <a:lstStyle/>
                    <a:p>
                      <a:pPr fontAlgn="base"/>
                      <a:r>
                        <a:rPr lang="tr-TR" sz="1800">
                          <a:effectLst/>
                        </a:rPr>
                        <a:t>İşlemci Zamanlama</a:t>
                      </a:r>
                    </a:p>
                  </a:txBody>
                  <a:tcPr marL="61286" marR="61286" marT="30643" marB="306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base"/>
                      <a:r>
                        <a:rPr lang="tr-TR" sz="1800">
                          <a:effectLst/>
                        </a:rPr>
                        <a:t>Kullanıcı düzeyinde zamanlanır.</a:t>
                      </a:r>
                    </a:p>
                  </a:txBody>
                  <a:tcPr marL="61286" marR="61286" marT="30643" marB="306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base"/>
                      <a:r>
                        <a:rPr lang="tr-TR" sz="1800" dirty="0">
                          <a:effectLst/>
                        </a:rPr>
                        <a:t>Çekirdek düzeyinde zamanlanır.</a:t>
                      </a:r>
                    </a:p>
                  </a:txBody>
                  <a:tcPr marL="61286" marR="61286" marT="30643" marB="306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35392207"/>
                  </a:ext>
                </a:extLst>
              </a:tr>
              <a:tr h="612865">
                <a:tc>
                  <a:txBody>
                    <a:bodyPr/>
                    <a:lstStyle/>
                    <a:p>
                      <a:pPr fontAlgn="base"/>
                      <a:r>
                        <a:rPr lang="tr-TR" sz="1800">
                          <a:effectLst/>
                        </a:rPr>
                        <a:t>Giriş/Çıkış Engelleme</a:t>
                      </a:r>
                    </a:p>
                  </a:txBody>
                  <a:tcPr marL="61286" marR="61286" marT="30643" marB="306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base"/>
                      <a:r>
                        <a:rPr lang="tr-TR" sz="1800">
                          <a:effectLst/>
                        </a:rPr>
                        <a:t>Giriş/çıkış işlemlerini engelleyebilir.</a:t>
                      </a:r>
                    </a:p>
                  </a:txBody>
                  <a:tcPr marL="61286" marR="61286" marT="30643" marB="306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base"/>
                      <a:r>
                        <a:rPr lang="tr-TR" sz="1800" dirty="0">
                          <a:effectLst/>
                        </a:rPr>
                        <a:t>Giriş/çıkış işlemlerini engellemez.</a:t>
                      </a:r>
                    </a:p>
                  </a:txBody>
                  <a:tcPr marL="61286" marR="61286" marT="30643" marB="306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46146376"/>
                  </a:ext>
                </a:extLst>
              </a:tr>
              <a:tr h="612865">
                <a:tc>
                  <a:txBody>
                    <a:bodyPr/>
                    <a:lstStyle/>
                    <a:p>
                      <a:pPr fontAlgn="base"/>
                      <a:r>
                        <a:rPr lang="tr-TR" sz="1800">
                          <a:effectLst/>
                        </a:rPr>
                        <a:t>İşletim Sistemi Kaynağı</a:t>
                      </a:r>
                    </a:p>
                  </a:txBody>
                  <a:tcPr marL="61286" marR="61286" marT="30643" marB="306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base"/>
                      <a:r>
                        <a:rPr lang="tr-TR" sz="1800">
                          <a:effectLst/>
                        </a:rPr>
                        <a:t>Daha az işletim sistemi kaynağı kullanır.</a:t>
                      </a:r>
                    </a:p>
                  </a:txBody>
                  <a:tcPr marL="61286" marR="61286" marT="30643" marB="306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base"/>
                      <a:r>
                        <a:rPr lang="tr-TR" sz="1800" dirty="0">
                          <a:effectLst/>
                        </a:rPr>
                        <a:t>Daha fazla işletim sistemi kaynağı kullanır.</a:t>
                      </a:r>
                    </a:p>
                  </a:txBody>
                  <a:tcPr marL="61286" marR="61286" marT="30643" marB="306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93092379"/>
                  </a:ext>
                </a:extLst>
              </a:tr>
              <a:tr h="612865">
                <a:tc rowSpan="2">
                  <a:txBody>
                    <a:bodyPr/>
                    <a:lstStyle/>
                    <a:p>
                      <a:pPr fontAlgn="base"/>
                      <a:r>
                        <a:rPr lang="tr-TR" sz="1800" dirty="0">
                          <a:effectLst/>
                        </a:rPr>
                        <a:t>Yaratılması ve Yönetilmesi</a:t>
                      </a:r>
                    </a:p>
                  </a:txBody>
                  <a:tcPr marL="61286" marR="61286" marT="30643" marB="306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base"/>
                      <a:r>
                        <a:rPr lang="tr-TR" sz="1800" dirty="0">
                          <a:effectLst/>
                        </a:rPr>
                        <a:t>Daha hızlı ve esnek yaratılır ve yönetilir.</a:t>
                      </a:r>
                    </a:p>
                  </a:txBody>
                  <a:tcPr marL="61286" marR="61286" marT="30643" marB="306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base"/>
                      <a:r>
                        <a:rPr lang="tr-TR" sz="1800" dirty="0">
                          <a:effectLst/>
                        </a:rPr>
                        <a:t>Daha karmaşık ve yavaş yaratılır ve yönetilir.</a:t>
                      </a:r>
                    </a:p>
                  </a:txBody>
                  <a:tcPr marL="61286" marR="61286" marT="30643" marB="306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85068992"/>
                  </a:ext>
                </a:extLst>
              </a:tr>
              <a:tr h="612865">
                <a:tc vMerge="1">
                  <a:txBody>
                    <a:bodyPr/>
                    <a:lstStyle/>
                    <a:p>
                      <a:pPr fontAlgn="base"/>
                      <a:endParaRPr lang="tr-TR" sz="1800" dirty="0">
                        <a:effectLst/>
                      </a:endParaRPr>
                    </a:p>
                  </a:txBody>
                  <a:tcPr marL="61286" marR="61286" marT="30643" marB="306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base"/>
                      <a:r>
                        <a:rPr lang="tr-TR" sz="1800" dirty="0">
                          <a:effectLst/>
                        </a:rPr>
                        <a:t>Kütüphane çağrıları aracılığıyla gerçekleştirir.</a:t>
                      </a:r>
                    </a:p>
                  </a:txBody>
                  <a:tcPr marL="61286" marR="61286" marT="30643" marB="306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base"/>
                      <a:r>
                        <a:rPr lang="tr-TR" sz="1800" dirty="0">
                          <a:effectLst/>
                        </a:rPr>
                        <a:t>Özel sistem çağrıları kullanır.</a:t>
                      </a:r>
                    </a:p>
                  </a:txBody>
                  <a:tcPr marL="61286" marR="61286" marT="30643" marB="306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3312605"/>
                  </a:ext>
                </a:extLst>
              </a:tr>
            </a:tbl>
          </a:graphicData>
        </a:graphic>
      </p:graphicFrame>
    </p:spTree>
    <p:extLst>
      <p:ext uri="{BB962C8B-B14F-4D97-AF65-F5344CB8AC3E}">
        <p14:creationId xmlns:p14="http://schemas.microsoft.com/office/powerpoint/2010/main" val="60524025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5DD3BB-E710-0F39-85C4-4D6783930080}"/>
            </a:ext>
          </a:extLst>
        </p:cNvPr>
        <p:cNvGrpSpPr/>
        <p:nvPr/>
      </p:nvGrpSpPr>
      <p:grpSpPr>
        <a:xfrm>
          <a:off x="0" y="0"/>
          <a:ext cx="0" cy="0"/>
          <a:chOff x="0" y="0"/>
          <a:chExt cx="0" cy="0"/>
        </a:xfrm>
      </p:grpSpPr>
      <p:pic>
        <p:nvPicPr>
          <p:cNvPr id="4" name="Picture 2" descr="Parallel computing for high-performance simulations">
            <a:extLst>
              <a:ext uri="{FF2B5EF4-FFF2-40B4-BE49-F238E27FC236}">
                <a16:creationId xmlns:a16="http://schemas.microsoft.com/office/drawing/2014/main" id="{5C86BA1C-839B-7D34-1D8E-F5708F14062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51802" b="-1"/>
          <a:stretch/>
        </p:blipFill>
        <p:spPr bwMode="auto">
          <a:xfrm rot="5400000">
            <a:off x="-2989346" y="2971346"/>
            <a:ext cx="6876000" cy="914399"/>
          </a:xfrm>
          <a:prstGeom prst="rect">
            <a:avLst/>
          </a:prstGeom>
          <a:noFill/>
          <a:extLst>
            <a:ext uri="{909E8E84-426E-40DD-AFC4-6F175D3DCCD1}">
              <a14:hiddenFill xmlns:a14="http://schemas.microsoft.com/office/drawing/2010/main">
                <a:solidFill>
                  <a:srgbClr val="FFFFFF"/>
                </a:solidFill>
              </a14:hiddenFill>
            </a:ext>
          </a:extLst>
        </p:spPr>
      </p:pic>
      <p:sp>
        <p:nvSpPr>
          <p:cNvPr id="6" name="Metin kutusu 5">
            <a:extLst>
              <a:ext uri="{FF2B5EF4-FFF2-40B4-BE49-F238E27FC236}">
                <a16:creationId xmlns:a16="http://schemas.microsoft.com/office/drawing/2014/main" id="{6180F5CF-B767-212E-2B10-0FE67866817B}"/>
              </a:ext>
            </a:extLst>
          </p:cNvPr>
          <p:cNvSpPr txBox="1"/>
          <p:nvPr/>
        </p:nvSpPr>
        <p:spPr>
          <a:xfrm>
            <a:off x="1164349" y="184777"/>
            <a:ext cx="10688668" cy="553998"/>
          </a:xfrm>
          <a:prstGeom prst="rect">
            <a:avLst/>
          </a:prstGeom>
          <a:noFill/>
        </p:spPr>
        <p:txBody>
          <a:bodyPr wrap="square" rtlCol="0">
            <a:spAutoFit/>
          </a:bodyPr>
          <a:lstStyle/>
          <a:p>
            <a:r>
              <a:rPr lang="en-US" sz="3000" b="1" dirty="0">
                <a:latin typeface="Consolas" panose="020B0609020204030204" pitchFamily="49" charset="0"/>
              </a:rPr>
              <a:t>User Level Thread vs Kernel Level Thread</a:t>
            </a:r>
          </a:p>
        </p:txBody>
      </p:sp>
      <p:sp>
        <p:nvSpPr>
          <p:cNvPr id="7" name="Metin kutusu 6">
            <a:extLst>
              <a:ext uri="{FF2B5EF4-FFF2-40B4-BE49-F238E27FC236}">
                <a16:creationId xmlns:a16="http://schemas.microsoft.com/office/drawing/2014/main" id="{FA11607D-0EBA-F7C0-E82E-ED1C36FF04C7}"/>
              </a:ext>
            </a:extLst>
          </p:cNvPr>
          <p:cNvSpPr txBox="1"/>
          <p:nvPr/>
        </p:nvSpPr>
        <p:spPr>
          <a:xfrm>
            <a:off x="1164349" y="759758"/>
            <a:ext cx="10688668" cy="6001643"/>
          </a:xfrm>
          <a:prstGeom prst="rect">
            <a:avLst/>
          </a:prstGeom>
          <a:noFill/>
        </p:spPr>
        <p:txBody>
          <a:bodyPr wrap="square" rtlCol="0">
            <a:spAutoFit/>
          </a:bodyPr>
          <a:lstStyle/>
          <a:p>
            <a:r>
              <a:rPr lang="tr-TR" sz="2400" dirty="0">
                <a:latin typeface="Consolas" panose="020B0609020204030204" pitchFamily="49" charset="0"/>
              </a:rPr>
              <a:t>Örnek:</a:t>
            </a:r>
          </a:p>
          <a:p>
            <a:pPr marL="457200" indent="-457200">
              <a:buFont typeface="Wingdings" panose="05000000000000000000" pitchFamily="2" charset="2"/>
              <a:buChar char="§"/>
            </a:pPr>
            <a:r>
              <a:rPr lang="tr-TR" sz="2400" dirty="0">
                <a:latin typeface="Consolas" panose="020B0609020204030204" pitchFamily="49" charset="0"/>
              </a:rPr>
              <a:t>Bir kullanıcı programı, birden çok iş parçacığı kullanarak eşzamanlı bir işlem yapmak istediğinde, bu iş parçacıklarını yaratmak için kütüphane çağrılarını kullanabilir. Örneğin, bir C programı, </a:t>
            </a:r>
            <a:r>
              <a:rPr lang="tr-TR" sz="2400" i="1" dirty="0" err="1">
                <a:latin typeface="Consolas" panose="020B0609020204030204" pitchFamily="49" charset="0"/>
              </a:rPr>
              <a:t>pthread_create</a:t>
            </a:r>
            <a:r>
              <a:rPr lang="tr-TR" sz="2400" i="1" dirty="0">
                <a:latin typeface="Consolas" panose="020B0609020204030204" pitchFamily="49" charset="0"/>
              </a:rPr>
              <a:t>() </a:t>
            </a:r>
            <a:r>
              <a:rPr lang="tr-TR" sz="2400" dirty="0">
                <a:latin typeface="Consolas" panose="020B0609020204030204" pitchFamily="49" charset="0"/>
              </a:rPr>
              <a:t>fonksiyonunu kullanarak kullanıcı düzeyinde iş parçacıkları yaratabilir. Bu iş parçacıkları, işletim sistemi tarafından yönetilmez ve sadece kullanıcı programı içinde çalışır.</a:t>
            </a:r>
          </a:p>
          <a:p>
            <a:pPr marL="457200" indent="-457200">
              <a:buFont typeface="Wingdings" panose="05000000000000000000" pitchFamily="2" charset="2"/>
              <a:buChar char="§"/>
            </a:pPr>
            <a:endParaRPr lang="tr-TR" sz="2400" dirty="0">
              <a:latin typeface="Consolas" panose="020B0609020204030204" pitchFamily="49" charset="0"/>
            </a:endParaRPr>
          </a:p>
          <a:p>
            <a:pPr marL="457200" indent="-457200">
              <a:buFont typeface="Wingdings" panose="05000000000000000000" pitchFamily="2" charset="2"/>
              <a:buChar char="§"/>
            </a:pPr>
            <a:r>
              <a:rPr lang="tr-TR" sz="2400" dirty="0">
                <a:latin typeface="Consolas" panose="020B0609020204030204" pitchFamily="49" charset="0"/>
              </a:rPr>
              <a:t>Öte yandan, bir işletim sistemi çekirdeği, sistem çağrılarını kullanarak çekirdek düzeyi iş parçacıkları yaratabilir. Örneğin, bir işletim sistemi, çekirdek modunda çalışan bir özel sistem çağrısı aracılığıyla bir çekirdek düzeyi iş parçacığı yaratabilir. Bu iş parçacığı, işletim sistemi tarafından doğrudan yönetilir ve işletim sistemi kaynaklarına erişebilir.</a:t>
            </a:r>
          </a:p>
        </p:txBody>
      </p:sp>
    </p:spTree>
    <p:extLst>
      <p:ext uri="{BB962C8B-B14F-4D97-AF65-F5344CB8AC3E}">
        <p14:creationId xmlns:p14="http://schemas.microsoft.com/office/powerpoint/2010/main" val="275214611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6B34A2-98E7-8B3E-971A-79FF1BAF0AF3}"/>
            </a:ext>
          </a:extLst>
        </p:cNvPr>
        <p:cNvGrpSpPr/>
        <p:nvPr/>
      </p:nvGrpSpPr>
      <p:grpSpPr>
        <a:xfrm>
          <a:off x="0" y="0"/>
          <a:ext cx="0" cy="0"/>
          <a:chOff x="0" y="0"/>
          <a:chExt cx="0" cy="0"/>
        </a:xfrm>
      </p:grpSpPr>
      <p:pic>
        <p:nvPicPr>
          <p:cNvPr id="4" name="Picture 2" descr="Parallel computing for high-performance simulations">
            <a:extLst>
              <a:ext uri="{FF2B5EF4-FFF2-40B4-BE49-F238E27FC236}">
                <a16:creationId xmlns:a16="http://schemas.microsoft.com/office/drawing/2014/main" id="{BA2675C3-A8B2-D4E3-BC70-6B5D94766307}"/>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51802" b="-1"/>
          <a:stretch/>
        </p:blipFill>
        <p:spPr bwMode="auto">
          <a:xfrm rot="5400000">
            <a:off x="-2989346" y="2971346"/>
            <a:ext cx="6876000" cy="914399"/>
          </a:xfrm>
          <a:prstGeom prst="rect">
            <a:avLst/>
          </a:prstGeom>
          <a:noFill/>
          <a:extLst>
            <a:ext uri="{909E8E84-426E-40DD-AFC4-6F175D3DCCD1}">
              <a14:hiddenFill xmlns:a14="http://schemas.microsoft.com/office/drawing/2010/main">
                <a:solidFill>
                  <a:srgbClr val="FFFFFF"/>
                </a:solidFill>
              </a14:hiddenFill>
            </a:ext>
          </a:extLst>
        </p:spPr>
      </p:pic>
      <p:sp>
        <p:nvSpPr>
          <p:cNvPr id="6" name="Metin kutusu 5">
            <a:extLst>
              <a:ext uri="{FF2B5EF4-FFF2-40B4-BE49-F238E27FC236}">
                <a16:creationId xmlns:a16="http://schemas.microsoft.com/office/drawing/2014/main" id="{C0C17E8C-0D09-6256-C850-AB69D1F2C706}"/>
              </a:ext>
            </a:extLst>
          </p:cNvPr>
          <p:cNvSpPr txBox="1"/>
          <p:nvPr/>
        </p:nvSpPr>
        <p:spPr>
          <a:xfrm>
            <a:off x="1164349" y="184777"/>
            <a:ext cx="10688668" cy="553998"/>
          </a:xfrm>
          <a:prstGeom prst="rect">
            <a:avLst/>
          </a:prstGeom>
          <a:noFill/>
        </p:spPr>
        <p:txBody>
          <a:bodyPr wrap="square" rtlCol="0">
            <a:spAutoFit/>
          </a:bodyPr>
          <a:lstStyle/>
          <a:p>
            <a:r>
              <a:rPr lang="en-US" sz="3000" b="1" dirty="0">
                <a:latin typeface="Consolas" panose="020B0609020204030204" pitchFamily="49" charset="0"/>
              </a:rPr>
              <a:t>User Level Thread vs Kernel Level Thread</a:t>
            </a:r>
          </a:p>
        </p:txBody>
      </p:sp>
      <p:sp>
        <p:nvSpPr>
          <p:cNvPr id="3" name="Metin kutusu 2">
            <a:extLst>
              <a:ext uri="{FF2B5EF4-FFF2-40B4-BE49-F238E27FC236}">
                <a16:creationId xmlns:a16="http://schemas.microsoft.com/office/drawing/2014/main" id="{3A3AFEC8-4E88-2CDB-919C-AEA1CF1F945C}"/>
              </a:ext>
            </a:extLst>
          </p:cNvPr>
          <p:cNvSpPr txBox="1"/>
          <p:nvPr/>
        </p:nvSpPr>
        <p:spPr>
          <a:xfrm>
            <a:off x="1164349" y="905642"/>
            <a:ext cx="6100548" cy="6555641"/>
          </a:xfrm>
          <a:prstGeom prst="rect">
            <a:avLst/>
          </a:prstGeom>
          <a:noFill/>
        </p:spPr>
        <p:txBody>
          <a:bodyPr wrap="square">
            <a:spAutoFit/>
          </a:bodyPr>
          <a:lstStyle/>
          <a:p>
            <a:r>
              <a:rPr lang="tr-TR" sz="1400" dirty="0"/>
              <a:t>#include &lt;linux/</a:t>
            </a:r>
            <a:r>
              <a:rPr lang="tr-TR" sz="1400" dirty="0" err="1"/>
              <a:t>kernel.h</a:t>
            </a:r>
            <a:r>
              <a:rPr lang="tr-TR" sz="1400" dirty="0"/>
              <a:t>&gt;</a:t>
            </a:r>
          </a:p>
          <a:p>
            <a:r>
              <a:rPr lang="tr-TR" sz="1400" dirty="0"/>
              <a:t>#include &lt;linux/</a:t>
            </a:r>
            <a:r>
              <a:rPr lang="tr-TR" sz="1400" dirty="0" err="1"/>
              <a:t>module.h</a:t>
            </a:r>
            <a:r>
              <a:rPr lang="tr-TR" sz="1400" dirty="0"/>
              <a:t>&gt;</a:t>
            </a:r>
          </a:p>
          <a:p>
            <a:r>
              <a:rPr lang="tr-TR" sz="1400" dirty="0"/>
              <a:t>#include &lt;linux/</a:t>
            </a:r>
            <a:r>
              <a:rPr lang="tr-TR" sz="1400" dirty="0" err="1"/>
              <a:t>kthread.h</a:t>
            </a:r>
            <a:r>
              <a:rPr lang="tr-TR" sz="1400" dirty="0"/>
              <a:t>&gt; // </a:t>
            </a:r>
            <a:r>
              <a:rPr lang="tr-TR" sz="1400" dirty="0" err="1"/>
              <a:t>kernel</a:t>
            </a:r>
            <a:r>
              <a:rPr lang="tr-TR" sz="1400" dirty="0"/>
              <a:t> </a:t>
            </a:r>
            <a:r>
              <a:rPr lang="tr-TR" sz="1400" dirty="0" err="1"/>
              <a:t>thread</a:t>
            </a:r>
            <a:endParaRPr lang="tr-TR" sz="1400" dirty="0"/>
          </a:p>
          <a:p>
            <a:r>
              <a:rPr lang="tr-TR" sz="1400" dirty="0"/>
              <a:t>#include &lt;linux/</a:t>
            </a:r>
            <a:r>
              <a:rPr lang="tr-TR" sz="1400" dirty="0" err="1"/>
              <a:t>delay.h</a:t>
            </a:r>
            <a:r>
              <a:rPr lang="tr-TR" sz="1400" dirty="0"/>
              <a:t>&gt;   // </a:t>
            </a:r>
            <a:r>
              <a:rPr lang="tr-TR" sz="1400" dirty="0" err="1"/>
              <a:t>sleep</a:t>
            </a:r>
            <a:endParaRPr lang="tr-TR" sz="1400" dirty="0"/>
          </a:p>
          <a:p>
            <a:endParaRPr lang="tr-TR" sz="1400" dirty="0"/>
          </a:p>
          <a:p>
            <a:r>
              <a:rPr lang="tr-TR" sz="1400" dirty="0" err="1"/>
              <a:t>static</a:t>
            </a:r>
            <a:r>
              <a:rPr lang="tr-TR" sz="1400" dirty="0"/>
              <a:t> </a:t>
            </a:r>
            <a:r>
              <a:rPr lang="tr-TR" sz="1400" dirty="0" err="1"/>
              <a:t>struct</a:t>
            </a:r>
            <a:r>
              <a:rPr lang="tr-TR" sz="1400" dirty="0"/>
              <a:t> </a:t>
            </a:r>
            <a:r>
              <a:rPr lang="tr-TR" sz="1400" dirty="0" err="1"/>
              <a:t>task_struct</a:t>
            </a:r>
            <a:r>
              <a:rPr lang="tr-TR" sz="1400" dirty="0"/>
              <a:t> *</a:t>
            </a:r>
            <a:r>
              <a:rPr lang="tr-TR" sz="1400" dirty="0" err="1"/>
              <a:t>kthread</a:t>
            </a:r>
            <a:r>
              <a:rPr lang="tr-TR" sz="1400" dirty="0"/>
              <a:t>;</a:t>
            </a:r>
          </a:p>
          <a:p>
            <a:endParaRPr lang="tr-TR" sz="1400" dirty="0"/>
          </a:p>
          <a:p>
            <a:r>
              <a:rPr lang="tr-TR" sz="1400" dirty="0"/>
              <a:t>// Kernel </a:t>
            </a:r>
            <a:r>
              <a:rPr lang="tr-TR" sz="1400" dirty="0" err="1"/>
              <a:t>thread</a:t>
            </a:r>
            <a:r>
              <a:rPr lang="tr-TR" sz="1400" dirty="0"/>
              <a:t> işlevi</a:t>
            </a:r>
          </a:p>
          <a:p>
            <a:r>
              <a:rPr lang="tr-TR" sz="1400" dirty="0" err="1"/>
              <a:t>static</a:t>
            </a:r>
            <a:r>
              <a:rPr lang="tr-TR" sz="1400" dirty="0"/>
              <a:t> </a:t>
            </a:r>
            <a:r>
              <a:rPr lang="tr-TR" sz="1400" dirty="0" err="1"/>
              <a:t>int</a:t>
            </a:r>
            <a:r>
              <a:rPr lang="tr-TR" sz="1400" dirty="0"/>
              <a:t> </a:t>
            </a:r>
            <a:r>
              <a:rPr lang="tr-TR" sz="1400" dirty="0" err="1">
                <a:highlight>
                  <a:srgbClr val="FFFF00"/>
                </a:highlight>
              </a:rPr>
              <a:t>thread_func</a:t>
            </a:r>
            <a:r>
              <a:rPr lang="tr-TR" sz="1400" dirty="0"/>
              <a:t>(</a:t>
            </a:r>
            <a:r>
              <a:rPr lang="tr-TR" sz="1400" dirty="0" err="1"/>
              <a:t>void</a:t>
            </a:r>
            <a:r>
              <a:rPr lang="tr-TR" sz="1400" dirty="0"/>
              <a:t> *data) {</a:t>
            </a:r>
          </a:p>
          <a:p>
            <a:r>
              <a:rPr lang="tr-TR" sz="1400" dirty="0"/>
              <a:t>    </a:t>
            </a:r>
            <a:r>
              <a:rPr lang="tr-TR" sz="1400" dirty="0" err="1"/>
              <a:t>while</a:t>
            </a:r>
            <a:r>
              <a:rPr lang="tr-TR" sz="1400" dirty="0"/>
              <a:t> (!</a:t>
            </a:r>
            <a:r>
              <a:rPr lang="tr-TR" sz="1400" dirty="0" err="1"/>
              <a:t>kthread_should_stop</a:t>
            </a:r>
            <a:r>
              <a:rPr lang="tr-TR" sz="1400" dirty="0"/>
              <a:t>()) {</a:t>
            </a:r>
          </a:p>
          <a:p>
            <a:r>
              <a:rPr lang="tr-TR" sz="1400" dirty="0"/>
              <a:t>        </a:t>
            </a:r>
            <a:r>
              <a:rPr lang="tr-TR" sz="1400" dirty="0" err="1"/>
              <a:t>printk</a:t>
            </a:r>
            <a:r>
              <a:rPr lang="tr-TR" sz="1400" dirty="0"/>
              <a:t>(KERN_INFO "Kernel </a:t>
            </a:r>
            <a:r>
              <a:rPr lang="tr-TR" sz="1400" dirty="0" err="1"/>
              <a:t>thread</a:t>
            </a:r>
            <a:r>
              <a:rPr lang="tr-TR" sz="1400" dirty="0"/>
              <a:t> is </a:t>
            </a:r>
            <a:r>
              <a:rPr lang="tr-TR" sz="1400" dirty="0" err="1"/>
              <a:t>running</a:t>
            </a:r>
            <a:r>
              <a:rPr lang="tr-TR" sz="1400" dirty="0"/>
              <a:t>\n");</a:t>
            </a:r>
          </a:p>
          <a:p>
            <a:r>
              <a:rPr lang="tr-TR" sz="1400" dirty="0"/>
              <a:t>        </a:t>
            </a:r>
            <a:r>
              <a:rPr lang="tr-TR" sz="1400" dirty="0" err="1"/>
              <a:t>msleep</a:t>
            </a:r>
            <a:r>
              <a:rPr lang="tr-TR" sz="1400" dirty="0"/>
              <a:t>(1000); // 1 saniye uyku</a:t>
            </a:r>
          </a:p>
          <a:p>
            <a:r>
              <a:rPr lang="tr-TR" sz="1400" dirty="0"/>
              <a:t>    }</a:t>
            </a:r>
          </a:p>
          <a:p>
            <a:r>
              <a:rPr lang="tr-TR" sz="1400" dirty="0"/>
              <a:t>    </a:t>
            </a:r>
            <a:r>
              <a:rPr lang="tr-TR" sz="1400" dirty="0" err="1"/>
              <a:t>printk</a:t>
            </a:r>
            <a:r>
              <a:rPr lang="tr-TR" sz="1400" dirty="0"/>
              <a:t>(KERN_INFO "Kernel </a:t>
            </a:r>
            <a:r>
              <a:rPr lang="tr-TR" sz="1400" dirty="0" err="1"/>
              <a:t>thread</a:t>
            </a:r>
            <a:r>
              <a:rPr lang="tr-TR" sz="1400" dirty="0"/>
              <a:t> </a:t>
            </a:r>
            <a:r>
              <a:rPr lang="tr-TR" sz="1400" dirty="0" err="1"/>
              <a:t>stopped</a:t>
            </a:r>
            <a:r>
              <a:rPr lang="tr-TR" sz="1400" dirty="0"/>
              <a:t>\n");</a:t>
            </a:r>
          </a:p>
          <a:p>
            <a:r>
              <a:rPr lang="tr-TR" sz="1400" dirty="0"/>
              <a:t>    </a:t>
            </a:r>
            <a:r>
              <a:rPr lang="tr-TR" sz="1400" dirty="0" err="1"/>
              <a:t>return</a:t>
            </a:r>
            <a:r>
              <a:rPr lang="tr-TR" sz="1400" dirty="0"/>
              <a:t> 0;</a:t>
            </a:r>
          </a:p>
          <a:p>
            <a:r>
              <a:rPr lang="tr-TR" sz="1400" dirty="0"/>
              <a:t>}</a:t>
            </a:r>
          </a:p>
          <a:p>
            <a:endParaRPr lang="tr-TR" sz="1400" dirty="0"/>
          </a:p>
          <a:p>
            <a:r>
              <a:rPr lang="tr-TR" sz="1400" dirty="0"/>
              <a:t>// Modül yüklendiğinde çağrılan işlev</a:t>
            </a:r>
          </a:p>
          <a:p>
            <a:r>
              <a:rPr lang="tr-TR" sz="1400" dirty="0" err="1"/>
              <a:t>static</a:t>
            </a:r>
            <a:r>
              <a:rPr lang="tr-TR" sz="1400" dirty="0"/>
              <a:t> </a:t>
            </a:r>
            <a:r>
              <a:rPr lang="tr-TR" sz="1400" dirty="0" err="1"/>
              <a:t>int</a:t>
            </a:r>
            <a:r>
              <a:rPr lang="tr-TR" sz="1400" dirty="0"/>
              <a:t> __</a:t>
            </a:r>
            <a:r>
              <a:rPr lang="tr-TR" sz="1400" dirty="0" err="1"/>
              <a:t>init</a:t>
            </a:r>
            <a:r>
              <a:rPr lang="tr-TR" sz="1400" dirty="0"/>
              <a:t> </a:t>
            </a:r>
            <a:r>
              <a:rPr lang="tr-TR" sz="1400" dirty="0" err="1"/>
              <a:t>init_thread</a:t>
            </a:r>
            <a:r>
              <a:rPr lang="tr-TR" sz="1400" dirty="0"/>
              <a:t>(</a:t>
            </a:r>
            <a:r>
              <a:rPr lang="tr-TR" sz="1400" dirty="0" err="1"/>
              <a:t>void</a:t>
            </a:r>
            <a:r>
              <a:rPr lang="tr-TR" sz="1400" dirty="0"/>
              <a:t>) {</a:t>
            </a:r>
          </a:p>
          <a:p>
            <a:r>
              <a:rPr lang="tr-TR" sz="1400" dirty="0"/>
              <a:t>    </a:t>
            </a:r>
            <a:r>
              <a:rPr lang="tr-TR" sz="1400" dirty="0" err="1"/>
              <a:t>printk</a:t>
            </a:r>
            <a:r>
              <a:rPr lang="tr-TR" sz="1400" dirty="0"/>
              <a:t>(KERN_INFO "</a:t>
            </a:r>
            <a:r>
              <a:rPr lang="tr-TR" sz="1400" dirty="0" err="1"/>
              <a:t>Initializing</a:t>
            </a:r>
            <a:r>
              <a:rPr lang="tr-TR" sz="1400" dirty="0"/>
              <a:t> </a:t>
            </a:r>
            <a:r>
              <a:rPr lang="tr-TR" sz="1400" dirty="0" err="1"/>
              <a:t>kernel</a:t>
            </a:r>
            <a:r>
              <a:rPr lang="tr-TR" sz="1400" dirty="0"/>
              <a:t> </a:t>
            </a:r>
            <a:r>
              <a:rPr lang="tr-TR" sz="1400" dirty="0" err="1"/>
              <a:t>thread</a:t>
            </a:r>
            <a:r>
              <a:rPr lang="tr-TR" sz="1400" dirty="0"/>
              <a:t> </a:t>
            </a:r>
            <a:r>
              <a:rPr lang="tr-TR" sz="1400" dirty="0" err="1"/>
              <a:t>example</a:t>
            </a:r>
            <a:r>
              <a:rPr lang="tr-TR" sz="1400" dirty="0"/>
              <a:t>\n");</a:t>
            </a:r>
          </a:p>
          <a:p>
            <a:endParaRPr lang="tr-TR" sz="1400" dirty="0"/>
          </a:p>
          <a:p>
            <a:r>
              <a:rPr lang="tr-TR" sz="1400" dirty="0"/>
              <a:t>    // Kernel </a:t>
            </a:r>
            <a:r>
              <a:rPr lang="tr-TR" sz="1400" dirty="0" err="1"/>
              <a:t>thread</a:t>
            </a:r>
            <a:r>
              <a:rPr lang="tr-TR" sz="1400" dirty="0"/>
              <a:t> oluşturma</a:t>
            </a:r>
          </a:p>
          <a:p>
            <a:r>
              <a:rPr lang="tr-TR" sz="1400" dirty="0"/>
              <a:t>    </a:t>
            </a:r>
            <a:r>
              <a:rPr lang="tr-TR" sz="1400" dirty="0" err="1"/>
              <a:t>kthread</a:t>
            </a:r>
            <a:r>
              <a:rPr lang="tr-TR" sz="1400" dirty="0"/>
              <a:t> = </a:t>
            </a:r>
            <a:r>
              <a:rPr lang="tr-TR" sz="1400" dirty="0" err="1">
                <a:highlight>
                  <a:srgbClr val="FFFF00"/>
                </a:highlight>
              </a:rPr>
              <a:t>kthread_run</a:t>
            </a:r>
            <a:r>
              <a:rPr lang="tr-TR" sz="1400" dirty="0"/>
              <a:t>(</a:t>
            </a:r>
            <a:r>
              <a:rPr lang="tr-TR" sz="1400" dirty="0" err="1"/>
              <a:t>thread_func</a:t>
            </a:r>
            <a:r>
              <a:rPr lang="tr-TR" sz="1400" dirty="0"/>
              <a:t>, NULL, "</a:t>
            </a:r>
            <a:r>
              <a:rPr lang="tr-TR" sz="1400" dirty="0" err="1"/>
              <a:t>my_kernel_thread</a:t>
            </a:r>
            <a:r>
              <a:rPr lang="tr-TR" sz="1400" dirty="0"/>
              <a:t>");</a:t>
            </a:r>
          </a:p>
          <a:p>
            <a:r>
              <a:rPr lang="tr-TR" sz="1400" dirty="0"/>
              <a:t>    </a:t>
            </a:r>
            <a:r>
              <a:rPr lang="tr-TR" sz="1400" dirty="0" err="1"/>
              <a:t>if</a:t>
            </a:r>
            <a:r>
              <a:rPr lang="tr-TR" sz="1400" dirty="0"/>
              <a:t> (IS_ERR(</a:t>
            </a:r>
            <a:r>
              <a:rPr lang="tr-TR" sz="1400" dirty="0" err="1"/>
              <a:t>kthread</a:t>
            </a:r>
            <a:r>
              <a:rPr lang="tr-TR" sz="1400" dirty="0"/>
              <a:t>)) {</a:t>
            </a:r>
          </a:p>
          <a:p>
            <a:r>
              <a:rPr lang="tr-TR" sz="1400" dirty="0"/>
              <a:t>        </a:t>
            </a:r>
            <a:r>
              <a:rPr lang="tr-TR" sz="1400" dirty="0" err="1"/>
              <a:t>printk</a:t>
            </a:r>
            <a:r>
              <a:rPr lang="tr-TR" sz="1400" dirty="0"/>
              <a:t>(KERN_ERR "</a:t>
            </a:r>
            <a:r>
              <a:rPr lang="tr-TR" sz="1400" dirty="0" err="1"/>
              <a:t>Failed</a:t>
            </a:r>
            <a:r>
              <a:rPr lang="tr-TR" sz="1400" dirty="0"/>
              <a:t> </a:t>
            </a:r>
            <a:r>
              <a:rPr lang="tr-TR" sz="1400" dirty="0" err="1"/>
              <a:t>to</a:t>
            </a:r>
            <a:r>
              <a:rPr lang="tr-TR" sz="1400" dirty="0"/>
              <a:t> </a:t>
            </a:r>
            <a:r>
              <a:rPr lang="tr-TR" sz="1400" dirty="0" err="1"/>
              <a:t>create</a:t>
            </a:r>
            <a:r>
              <a:rPr lang="tr-TR" sz="1400" dirty="0"/>
              <a:t> </a:t>
            </a:r>
            <a:r>
              <a:rPr lang="tr-TR" sz="1400" dirty="0" err="1"/>
              <a:t>kernel</a:t>
            </a:r>
            <a:r>
              <a:rPr lang="tr-TR" sz="1400" dirty="0"/>
              <a:t> </a:t>
            </a:r>
            <a:r>
              <a:rPr lang="tr-TR" sz="1400" dirty="0" err="1"/>
              <a:t>thread</a:t>
            </a:r>
            <a:r>
              <a:rPr lang="tr-TR" sz="1400" dirty="0"/>
              <a:t>\n");</a:t>
            </a:r>
          </a:p>
          <a:p>
            <a:r>
              <a:rPr lang="tr-TR" sz="1400" dirty="0"/>
              <a:t>        </a:t>
            </a:r>
            <a:r>
              <a:rPr lang="tr-TR" sz="1400" dirty="0" err="1"/>
              <a:t>return</a:t>
            </a:r>
            <a:r>
              <a:rPr lang="tr-TR" sz="1400" dirty="0"/>
              <a:t> PTR_ERR(</a:t>
            </a:r>
            <a:r>
              <a:rPr lang="tr-TR" sz="1400" dirty="0" err="1"/>
              <a:t>kthread</a:t>
            </a:r>
            <a:r>
              <a:rPr lang="tr-TR" sz="1400" dirty="0"/>
              <a:t>);</a:t>
            </a:r>
          </a:p>
          <a:p>
            <a:r>
              <a:rPr lang="tr-TR" sz="1400" dirty="0"/>
              <a:t>    }</a:t>
            </a:r>
          </a:p>
          <a:p>
            <a:endParaRPr lang="tr-TR" sz="1400" dirty="0"/>
          </a:p>
          <a:p>
            <a:r>
              <a:rPr lang="tr-TR" sz="1400" dirty="0"/>
              <a:t>    </a:t>
            </a:r>
            <a:r>
              <a:rPr lang="tr-TR" sz="1400" dirty="0" err="1"/>
              <a:t>return</a:t>
            </a:r>
            <a:r>
              <a:rPr lang="tr-TR" sz="1400" dirty="0"/>
              <a:t> 0;</a:t>
            </a:r>
          </a:p>
          <a:p>
            <a:r>
              <a:rPr lang="tr-TR" sz="1400" dirty="0"/>
              <a:t>}</a:t>
            </a:r>
          </a:p>
        </p:txBody>
      </p:sp>
      <p:sp>
        <p:nvSpPr>
          <p:cNvPr id="8" name="Metin kutusu 7">
            <a:extLst>
              <a:ext uri="{FF2B5EF4-FFF2-40B4-BE49-F238E27FC236}">
                <a16:creationId xmlns:a16="http://schemas.microsoft.com/office/drawing/2014/main" id="{4717A4F0-7272-9C17-B696-7A41A353F1DD}"/>
              </a:ext>
            </a:extLst>
          </p:cNvPr>
          <p:cNvSpPr txBox="1"/>
          <p:nvPr/>
        </p:nvSpPr>
        <p:spPr>
          <a:xfrm>
            <a:off x="6508683" y="720975"/>
            <a:ext cx="6100548" cy="3539430"/>
          </a:xfrm>
          <a:prstGeom prst="rect">
            <a:avLst/>
          </a:prstGeom>
          <a:noFill/>
        </p:spPr>
        <p:txBody>
          <a:bodyPr wrap="square">
            <a:spAutoFit/>
          </a:bodyPr>
          <a:lstStyle/>
          <a:p>
            <a:r>
              <a:rPr lang="tr-TR" sz="1400" dirty="0"/>
              <a:t>// Modül kaldırıldığında çağrılan işlev</a:t>
            </a:r>
          </a:p>
          <a:p>
            <a:r>
              <a:rPr lang="tr-TR" sz="1400" dirty="0" err="1"/>
              <a:t>static</a:t>
            </a:r>
            <a:r>
              <a:rPr lang="tr-TR" sz="1400" dirty="0"/>
              <a:t> </a:t>
            </a:r>
            <a:r>
              <a:rPr lang="tr-TR" sz="1400" dirty="0" err="1"/>
              <a:t>void</a:t>
            </a:r>
            <a:r>
              <a:rPr lang="tr-TR" sz="1400" dirty="0"/>
              <a:t> __</a:t>
            </a:r>
            <a:r>
              <a:rPr lang="tr-TR" sz="1400" dirty="0" err="1"/>
              <a:t>exit</a:t>
            </a:r>
            <a:r>
              <a:rPr lang="tr-TR" sz="1400" dirty="0"/>
              <a:t> </a:t>
            </a:r>
            <a:r>
              <a:rPr lang="tr-TR" sz="1400" dirty="0" err="1"/>
              <a:t>cleanup_thread</a:t>
            </a:r>
            <a:r>
              <a:rPr lang="tr-TR" sz="1400" dirty="0"/>
              <a:t>(</a:t>
            </a:r>
            <a:r>
              <a:rPr lang="tr-TR" sz="1400" dirty="0" err="1"/>
              <a:t>void</a:t>
            </a:r>
            <a:r>
              <a:rPr lang="tr-TR" sz="1400" dirty="0"/>
              <a:t>) {</a:t>
            </a:r>
          </a:p>
          <a:p>
            <a:r>
              <a:rPr lang="tr-TR" sz="1400" dirty="0"/>
              <a:t>    </a:t>
            </a:r>
            <a:r>
              <a:rPr lang="tr-TR" sz="1400" dirty="0" err="1"/>
              <a:t>printk</a:t>
            </a:r>
            <a:r>
              <a:rPr lang="tr-TR" sz="1400" dirty="0"/>
              <a:t>(KERN_INFO "</a:t>
            </a:r>
            <a:r>
              <a:rPr lang="tr-TR" sz="1400" dirty="0" err="1"/>
              <a:t>Cleaning</a:t>
            </a:r>
            <a:r>
              <a:rPr lang="tr-TR" sz="1400" dirty="0"/>
              <a:t> </a:t>
            </a:r>
            <a:r>
              <a:rPr lang="tr-TR" sz="1400" dirty="0" err="1"/>
              <a:t>up</a:t>
            </a:r>
            <a:r>
              <a:rPr lang="tr-TR" sz="1400" dirty="0"/>
              <a:t> </a:t>
            </a:r>
            <a:r>
              <a:rPr lang="tr-TR" sz="1400" dirty="0" err="1"/>
              <a:t>kernel</a:t>
            </a:r>
            <a:r>
              <a:rPr lang="tr-TR" sz="1400" dirty="0"/>
              <a:t> </a:t>
            </a:r>
            <a:r>
              <a:rPr lang="tr-TR" sz="1400" dirty="0" err="1"/>
              <a:t>thread</a:t>
            </a:r>
            <a:r>
              <a:rPr lang="tr-TR" sz="1400" dirty="0"/>
              <a:t> </a:t>
            </a:r>
            <a:r>
              <a:rPr lang="tr-TR" sz="1400" dirty="0" err="1"/>
              <a:t>example</a:t>
            </a:r>
            <a:r>
              <a:rPr lang="tr-TR" sz="1400" dirty="0"/>
              <a:t>\n");</a:t>
            </a:r>
          </a:p>
          <a:p>
            <a:endParaRPr lang="tr-TR" sz="1400" dirty="0"/>
          </a:p>
          <a:p>
            <a:r>
              <a:rPr lang="tr-TR" sz="1400" dirty="0"/>
              <a:t>    // Kernel </a:t>
            </a:r>
            <a:r>
              <a:rPr lang="tr-TR" sz="1400" dirty="0" err="1"/>
              <a:t>thread'i</a:t>
            </a:r>
            <a:r>
              <a:rPr lang="tr-TR" sz="1400" dirty="0"/>
              <a:t> durdurma</a:t>
            </a:r>
          </a:p>
          <a:p>
            <a:r>
              <a:rPr lang="tr-TR" sz="1400" dirty="0"/>
              <a:t>    </a:t>
            </a:r>
            <a:r>
              <a:rPr lang="tr-TR" sz="1400" dirty="0" err="1"/>
              <a:t>if</a:t>
            </a:r>
            <a:r>
              <a:rPr lang="tr-TR" sz="1400" dirty="0"/>
              <a:t> (</a:t>
            </a:r>
            <a:r>
              <a:rPr lang="tr-TR" sz="1400" dirty="0" err="1"/>
              <a:t>kthread</a:t>
            </a:r>
            <a:r>
              <a:rPr lang="tr-TR" sz="1400" dirty="0"/>
              <a:t>) {</a:t>
            </a:r>
          </a:p>
          <a:p>
            <a:r>
              <a:rPr lang="tr-TR" sz="1400" dirty="0"/>
              <a:t>        </a:t>
            </a:r>
            <a:r>
              <a:rPr lang="tr-TR" sz="1400" dirty="0" err="1">
                <a:highlight>
                  <a:srgbClr val="FFFF00"/>
                </a:highlight>
              </a:rPr>
              <a:t>kthread_stop</a:t>
            </a:r>
            <a:r>
              <a:rPr lang="tr-TR" sz="1400" dirty="0">
                <a:highlight>
                  <a:srgbClr val="FFFF00"/>
                </a:highlight>
              </a:rPr>
              <a:t>(</a:t>
            </a:r>
            <a:r>
              <a:rPr lang="tr-TR" sz="1400" dirty="0" err="1">
                <a:highlight>
                  <a:srgbClr val="FFFF00"/>
                </a:highlight>
              </a:rPr>
              <a:t>kthread</a:t>
            </a:r>
            <a:r>
              <a:rPr lang="tr-TR" sz="1400" dirty="0">
                <a:highlight>
                  <a:srgbClr val="FFFF00"/>
                </a:highlight>
              </a:rPr>
              <a:t>);</a:t>
            </a:r>
          </a:p>
          <a:p>
            <a:r>
              <a:rPr lang="tr-TR" sz="1400" dirty="0"/>
              <a:t>    }</a:t>
            </a:r>
          </a:p>
          <a:p>
            <a:r>
              <a:rPr lang="tr-TR" sz="1400" dirty="0"/>
              <a:t>}</a:t>
            </a:r>
          </a:p>
          <a:p>
            <a:endParaRPr lang="tr-TR" sz="1400" dirty="0"/>
          </a:p>
          <a:p>
            <a:r>
              <a:rPr lang="tr-TR" sz="1400" dirty="0" err="1"/>
              <a:t>module_init</a:t>
            </a:r>
            <a:r>
              <a:rPr lang="tr-TR" sz="1400" dirty="0"/>
              <a:t>(</a:t>
            </a:r>
            <a:r>
              <a:rPr lang="tr-TR" sz="1400" dirty="0" err="1"/>
              <a:t>init_thread</a:t>
            </a:r>
            <a:r>
              <a:rPr lang="tr-TR" sz="1400" dirty="0"/>
              <a:t>);</a:t>
            </a:r>
          </a:p>
          <a:p>
            <a:r>
              <a:rPr lang="tr-TR" sz="1400" dirty="0" err="1"/>
              <a:t>module_exit</a:t>
            </a:r>
            <a:r>
              <a:rPr lang="tr-TR" sz="1400" dirty="0"/>
              <a:t>(</a:t>
            </a:r>
            <a:r>
              <a:rPr lang="tr-TR" sz="1400" dirty="0" err="1"/>
              <a:t>cleanup_thread</a:t>
            </a:r>
            <a:r>
              <a:rPr lang="tr-TR" sz="1400" dirty="0"/>
              <a:t>);</a:t>
            </a:r>
          </a:p>
          <a:p>
            <a:endParaRPr lang="tr-TR" sz="1400" dirty="0"/>
          </a:p>
          <a:p>
            <a:r>
              <a:rPr lang="tr-TR" sz="1400" dirty="0"/>
              <a:t>MODULE_LICENSE("GPL");</a:t>
            </a:r>
          </a:p>
          <a:p>
            <a:r>
              <a:rPr lang="tr-TR" sz="1400" dirty="0"/>
              <a:t>MODULE_AUTHOR("</a:t>
            </a:r>
            <a:r>
              <a:rPr lang="tr-TR" sz="1400" dirty="0" err="1"/>
              <a:t>Your</a:t>
            </a:r>
            <a:r>
              <a:rPr lang="tr-TR" sz="1400" dirty="0"/>
              <a:t> Name");</a:t>
            </a:r>
          </a:p>
          <a:p>
            <a:r>
              <a:rPr lang="tr-TR" sz="1400" dirty="0"/>
              <a:t>MODULE_DESCRIPTION("Kernel </a:t>
            </a:r>
            <a:r>
              <a:rPr lang="tr-TR" sz="1400" dirty="0" err="1"/>
              <a:t>thread</a:t>
            </a:r>
            <a:r>
              <a:rPr lang="tr-TR" sz="1400" dirty="0"/>
              <a:t> </a:t>
            </a:r>
            <a:r>
              <a:rPr lang="tr-TR" sz="1400" dirty="0" err="1"/>
              <a:t>example</a:t>
            </a:r>
            <a:r>
              <a:rPr lang="tr-TR" sz="1400" dirty="0"/>
              <a:t>");</a:t>
            </a:r>
          </a:p>
        </p:txBody>
      </p:sp>
      <p:sp>
        <p:nvSpPr>
          <p:cNvPr id="10" name="Metin kutusu 9">
            <a:extLst>
              <a:ext uri="{FF2B5EF4-FFF2-40B4-BE49-F238E27FC236}">
                <a16:creationId xmlns:a16="http://schemas.microsoft.com/office/drawing/2014/main" id="{B12DC918-CC27-1041-4BBA-128153B28709}"/>
              </a:ext>
            </a:extLst>
          </p:cNvPr>
          <p:cNvSpPr txBox="1"/>
          <p:nvPr/>
        </p:nvSpPr>
        <p:spPr>
          <a:xfrm>
            <a:off x="6508682" y="4419863"/>
            <a:ext cx="5501347" cy="2308324"/>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tr-TR" dirty="0"/>
              <a:t>Linux </a:t>
            </a:r>
            <a:r>
              <a:rPr lang="tr-TR" dirty="0" err="1"/>
              <a:t>kernel</a:t>
            </a:r>
            <a:r>
              <a:rPr lang="tr-TR" dirty="0"/>
              <a:t> modülü olarak bir </a:t>
            </a:r>
            <a:r>
              <a:rPr lang="tr-TR" dirty="0" err="1"/>
              <a:t>kernel</a:t>
            </a:r>
            <a:r>
              <a:rPr lang="tr-TR" dirty="0"/>
              <a:t> seviyesinde </a:t>
            </a:r>
            <a:r>
              <a:rPr lang="tr-TR" dirty="0" err="1"/>
              <a:t>thread</a:t>
            </a:r>
            <a:r>
              <a:rPr lang="tr-TR" dirty="0"/>
              <a:t> oluşturulmuştur. </a:t>
            </a:r>
            <a:r>
              <a:rPr lang="tr-TR" dirty="0" err="1"/>
              <a:t>kthread_run</a:t>
            </a:r>
            <a:r>
              <a:rPr lang="tr-TR" dirty="0"/>
              <a:t>() fonksiyonu, </a:t>
            </a:r>
            <a:r>
              <a:rPr lang="tr-TR" dirty="0" err="1"/>
              <a:t>kernel</a:t>
            </a:r>
            <a:r>
              <a:rPr lang="tr-TR" dirty="0"/>
              <a:t> </a:t>
            </a:r>
            <a:r>
              <a:rPr lang="tr-TR" dirty="0" err="1"/>
              <a:t>thread'i</a:t>
            </a:r>
            <a:r>
              <a:rPr lang="tr-TR" dirty="0"/>
              <a:t> oluşturur ve verilen işlevi (</a:t>
            </a:r>
            <a:r>
              <a:rPr lang="tr-TR" dirty="0" err="1"/>
              <a:t>thread_func</a:t>
            </a:r>
            <a:r>
              <a:rPr lang="tr-TR" dirty="0"/>
              <a:t>) çalıştırır. Bu işlev, </a:t>
            </a:r>
            <a:r>
              <a:rPr lang="tr-TR" dirty="0" err="1"/>
              <a:t>kernel</a:t>
            </a:r>
            <a:r>
              <a:rPr lang="tr-TR" dirty="0"/>
              <a:t> </a:t>
            </a:r>
            <a:r>
              <a:rPr lang="tr-TR" dirty="0" err="1"/>
              <a:t>thread'inin</a:t>
            </a:r>
            <a:r>
              <a:rPr lang="tr-TR" dirty="0"/>
              <a:t> ana çalışma mantığını içerir. Kernel </a:t>
            </a:r>
            <a:r>
              <a:rPr lang="tr-TR" dirty="0" err="1"/>
              <a:t>thread</a:t>
            </a:r>
            <a:r>
              <a:rPr lang="tr-TR" dirty="0"/>
              <a:t>, </a:t>
            </a:r>
            <a:r>
              <a:rPr lang="tr-TR" dirty="0" err="1"/>
              <a:t>kthread_should_stop</a:t>
            </a:r>
            <a:r>
              <a:rPr lang="tr-TR" dirty="0"/>
              <a:t>() fonksiyonu ile durdurulana kadar döngü içinde çalışır. </a:t>
            </a:r>
            <a:r>
              <a:rPr lang="tr-TR" dirty="0" err="1"/>
              <a:t>kthread_stop</a:t>
            </a:r>
            <a:r>
              <a:rPr lang="tr-TR" dirty="0"/>
              <a:t>() fonksiyonu, </a:t>
            </a:r>
            <a:r>
              <a:rPr lang="tr-TR" dirty="0" err="1"/>
              <a:t>kernel</a:t>
            </a:r>
            <a:r>
              <a:rPr lang="tr-TR" dirty="0"/>
              <a:t> </a:t>
            </a:r>
            <a:r>
              <a:rPr lang="tr-TR" dirty="0" err="1"/>
              <a:t>thread'ini</a:t>
            </a:r>
            <a:r>
              <a:rPr lang="tr-TR" dirty="0"/>
              <a:t> durdurmak için kullanılır.</a:t>
            </a:r>
          </a:p>
        </p:txBody>
      </p:sp>
    </p:spTree>
    <p:extLst>
      <p:ext uri="{BB962C8B-B14F-4D97-AF65-F5344CB8AC3E}">
        <p14:creationId xmlns:p14="http://schemas.microsoft.com/office/powerpoint/2010/main" val="210492473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5B6D1A-599D-DEB8-5816-229A45053DC7}"/>
            </a:ext>
          </a:extLst>
        </p:cNvPr>
        <p:cNvGrpSpPr/>
        <p:nvPr/>
      </p:nvGrpSpPr>
      <p:grpSpPr>
        <a:xfrm>
          <a:off x="0" y="0"/>
          <a:ext cx="0" cy="0"/>
          <a:chOff x="0" y="0"/>
          <a:chExt cx="0" cy="0"/>
        </a:xfrm>
      </p:grpSpPr>
      <p:pic>
        <p:nvPicPr>
          <p:cNvPr id="4" name="Picture 2" descr="Parallel computing for high-performance simulations">
            <a:extLst>
              <a:ext uri="{FF2B5EF4-FFF2-40B4-BE49-F238E27FC236}">
                <a16:creationId xmlns:a16="http://schemas.microsoft.com/office/drawing/2014/main" id="{9D9059E1-E62D-B1C9-CDC3-3C8E5ECEC6E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51802" b="-1"/>
          <a:stretch/>
        </p:blipFill>
        <p:spPr bwMode="auto">
          <a:xfrm rot="5400000">
            <a:off x="-2989346" y="2971346"/>
            <a:ext cx="6876000" cy="914399"/>
          </a:xfrm>
          <a:prstGeom prst="rect">
            <a:avLst/>
          </a:prstGeom>
          <a:noFill/>
          <a:extLst>
            <a:ext uri="{909E8E84-426E-40DD-AFC4-6F175D3DCCD1}">
              <a14:hiddenFill xmlns:a14="http://schemas.microsoft.com/office/drawing/2010/main">
                <a:solidFill>
                  <a:srgbClr val="FFFFFF"/>
                </a:solidFill>
              </a14:hiddenFill>
            </a:ext>
          </a:extLst>
        </p:spPr>
      </p:pic>
      <p:sp>
        <p:nvSpPr>
          <p:cNvPr id="6" name="Metin kutusu 5">
            <a:extLst>
              <a:ext uri="{FF2B5EF4-FFF2-40B4-BE49-F238E27FC236}">
                <a16:creationId xmlns:a16="http://schemas.microsoft.com/office/drawing/2014/main" id="{6C76FA10-D52E-3961-6B6D-FF6554D0681F}"/>
              </a:ext>
            </a:extLst>
          </p:cNvPr>
          <p:cNvSpPr txBox="1"/>
          <p:nvPr/>
        </p:nvSpPr>
        <p:spPr>
          <a:xfrm>
            <a:off x="3948492" y="2874547"/>
            <a:ext cx="10688668" cy="553998"/>
          </a:xfrm>
          <a:prstGeom prst="rect">
            <a:avLst/>
          </a:prstGeom>
          <a:noFill/>
        </p:spPr>
        <p:txBody>
          <a:bodyPr wrap="square" rtlCol="0">
            <a:spAutoFit/>
          </a:bodyPr>
          <a:lstStyle/>
          <a:p>
            <a:r>
              <a:rPr lang="tr-TR" sz="3000" b="1" dirty="0" err="1">
                <a:latin typeface="Consolas" panose="020B0609020204030204" pitchFamily="49" charset="0"/>
              </a:rPr>
              <a:t>Cache</a:t>
            </a:r>
            <a:r>
              <a:rPr lang="tr-TR" sz="3000" b="1" dirty="0">
                <a:latin typeface="Consolas" panose="020B0609020204030204" pitchFamily="49" charset="0"/>
              </a:rPr>
              <a:t> Memory (Önbellek)</a:t>
            </a:r>
          </a:p>
        </p:txBody>
      </p:sp>
    </p:spTree>
    <p:extLst>
      <p:ext uri="{BB962C8B-B14F-4D97-AF65-F5344CB8AC3E}">
        <p14:creationId xmlns:p14="http://schemas.microsoft.com/office/powerpoint/2010/main" val="32527635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D2BA3A-01DF-1DFC-6F0D-1BB9C3114420}"/>
            </a:ext>
          </a:extLst>
        </p:cNvPr>
        <p:cNvGrpSpPr/>
        <p:nvPr/>
      </p:nvGrpSpPr>
      <p:grpSpPr>
        <a:xfrm>
          <a:off x="0" y="0"/>
          <a:ext cx="0" cy="0"/>
          <a:chOff x="0" y="0"/>
          <a:chExt cx="0" cy="0"/>
        </a:xfrm>
      </p:grpSpPr>
      <p:pic>
        <p:nvPicPr>
          <p:cNvPr id="4" name="Picture 2" descr="Parallel computing for high-performance simulations">
            <a:extLst>
              <a:ext uri="{FF2B5EF4-FFF2-40B4-BE49-F238E27FC236}">
                <a16:creationId xmlns:a16="http://schemas.microsoft.com/office/drawing/2014/main" id="{95270B45-11C9-B2AC-8A6B-664C24A23FE7}"/>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51802" b="-1"/>
          <a:stretch/>
        </p:blipFill>
        <p:spPr bwMode="auto">
          <a:xfrm rot="5400000">
            <a:off x="-2989346" y="2971346"/>
            <a:ext cx="6876000" cy="914399"/>
          </a:xfrm>
          <a:prstGeom prst="rect">
            <a:avLst/>
          </a:prstGeom>
          <a:noFill/>
          <a:extLst>
            <a:ext uri="{909E8E84-426E-40DD-AFC4-6F175D3DCCD1}">
              <a14:hiddenFill xmlns:a14="http://schemas.microsoft.com/office/drawing/2010/main">
                <a:solidFill>
                  <a:srgbClr val="FFFFFF"/>
                </a:solidFill>
              </a14:hiddenFill>
            </a:ext>
          </a:extLst>
        </p:spPr>
      </p:pic>
      <p:sp>
        <p:nvSpPr>
          <p:cNvPr id="6" name="Metin kutusu 5">
            <a:extLst>
              <a:ext uri="{FF2B5EF4-FFF2-40B4-BE49-F238E27FC236}">
                <a16:creationId xmlns:a16="http://schemas.microsoft.com/office/drawing/2014/main" id="{B8390F26-3FA5-AEA2-9642-7AB3089BC06A}"/>
              </a:ext>
            </a:extLst>
          </p:cNvPr>
          <p:cNvSpPr txBox="1"/>
          <p:nvPr/>
        </p:nvSpPr>
        <p:spPr>
          <a:xfrm>
            <a:off x="1164349" y="184777"/>
            <a:ext cx="10688668" cy="553998"/>
          </a:xfrm>
          <a:prstGeom prst="rect">
            <a:avLst/>
          </a:prstGeom>
          <a:noFill/>
        </p:spPr>
        <p:txBody>
          <a:bodyPr wrap="square" rtlCol="0">
            <a:spAutoFit/>
          </a:bodyPr>
          <a:lstStyle/>
          <a:p>
            <a:r>
              <a:rPr lang="tr-TR" sz="3000" b="1" dirty="0" err="1">
                <a:latin typeface="Consolas" panose="020B0609020204030204" pitchFamily="49" charset="0"/>
              </a:rPr>
              <a:t>Cache</a:t>
            </a:r>
            <a:r>
              <a:rPr lang="tr-TR" sz="3000" b="1" dirty="0">
                <a:latin typeface="Consolas" panose="020B0609020204030204" pitchFamily="49" charset="0"/>
              </a:rPr>
              <a:t> Memory (Önbellek)</a:t>
            </a:r>
          </a:p>
        </p:txBody>
      </p:sp>
      <p:sp>
        <p:nvSpPr>
          <p:cNvPr id="7" name="Metin kutusu 6">
            <a:extLst>
              <a:ext uri="{FF2B5EF4-FFF2-40B4-BE49-F238E27FC236}">
                <a16:creationId xmlns:a16="http://schemas.microsoft.com/office/drawing/2014/main" id="{40FD7093-7CE6-6B6E-AED1-B2BD8046F783}"/>
              </a:ext>
            </a:extLst>
          </p:cNvPr>
          <p:cNvSpPr txBox="1"/>
          <p:nvPr/>
        </p:nvSpPr>
        <p:spPr>
          <a:xfrm>
            <a:off x="1164349" y="759758"/>
            <a:ext cx="10688668" cy="2677656"/>
          </a:xfrm>
          <a:prstGeom prst="rect">
            <a:avLst/>
          </a:prstGeom>
          <a:noFill/>
        </p:spPr>
        <p:txBody>
          <a:bodyPr wrap="square" rtlCol="0">
            <a:spAutoFit/>
          </a:bodyPr>
          <a:lstStyle/>
          <a:p>
            <a:pPr marL="457200" indent="-457200">
              <a:buFont typeface="Wingdings" panose="05000000000000000000" pitchFamily="2" charset="2"/>
              <a:buChar char="§"/>
            </a:pPr>
            <a:r>
              <a:rPr lang="tr-TR" sz="2400" dirty="0" err="1">
                <a:latin typeface="Consolas" panose="020B0609020204030204" pitchFamily="49" charset="0"/>
              </a:rPr>
              <a:t>Von</a:t>
            </a:r>
            <a:r>
              <a:rPr lang="tr-TR" sz="2400" dirty="0">
                <a:latin typeface="Consolas" panose="020B0609020204030204" pitchFamily="49" charset="0"/>
              </a:rPr>
              <a:t>-Neumann </a:t>
            </a:r>
            <a:r>
              <a:rPr lang="tr-TR" sz="2400" dirty="0" err="1">
                <a:latin typeface="Consolas" panose="020B0609020204030204" pitchFamily="49" charset="0"/>
              </a:rPr>
              <a:t>bottleneck</a:t>
            </a:r>
            <a:r>
              <a:rPr lang="tr-TR" sz="2400" dirty="0">
                <a:latin typeface="Consolas" panose="020B0609020204030204" pitchFamily="49" charset="0"/>
              </a:rPr>
              <a:t> probleminin çözümü için en yaygın kullanılan yöntemlerden birisidir. </a:t>
            </a:r>
          </a:p>
          <a:p>
            <a:pPr marL="457200" indent="-457200">
              <a:buFont typeface="Wingdings" panose="05000000000000000000" pitchFamily="2" charset="2"/>
              <a:buChar char="§"/>
            </a:pPr>
            <a:r>
              <a:rPr lang="tr-TR" sz="2400" dirty="0" err="1">
                <a:latin typeface="Consolas" panose="020B0609020204030204" pitchFamily="49" charset="0"/>
              </a:rPr>
              <a:t>Cache</a:t>
            </a:r>
            <a:r>
              <a:rPr lang="tr-TR" sz="2400" dirty="0">
                <a:latin typeface="Consolas" panose="020B0609020204030204" pitchFamily="49" charset="0"/>
              </a:rPr>
              <a:t> Memory (Önbellek): CPU içerisinde bulunan yüksek hızlı hafıza yapılarına verilen isimdir.</a:t>
            </a:r>
          </a:p>
          <a:p>
            <a:pPr marL="457200" indent="-457200">
              <a:buFont typeface="Wingdings" panose="05000000000000000000" pitchFamily="2" charset="2"/>
              <a:buChar char="§"/>
            </a:pPr>
            <a:r>
              <a:rPr lang="tr-TR" sz="2400" dirty="0">
                <a:latin typeface="Consolas" panose="020B0609020204030204" pitchFamily="49" charset="0"/>
              </a:rPr>
              <a:t>Sistem belleğinden gelen veriler çoğunlukla CPU’nun hızına yetişemez. Bu nedenle, işlem hızını arttırmak için kullanılır.</a:t>
            </a:r>
          </a:p>
        </p:txBody>
      </p:sp>
      <p:pic>
        <p:nvPicPr>
          <p:cNvPr id="8" name="Resim 7">
            <a:extLst>
              <a:ext uri="{FF2B5EF4-FFF2-40B4-BE49-F238E27FC236}">
                <a16:creationId xmlns:a16="http://schemas.microsoft.com/office/drawing/2014/main" id="{85A95641-108B-3BC7-9402-216CB52AECFD}"/>
              </a:ext>
            </a:extLst>
          </p:cNvPr>
          <p:cNvPicPr>
            <a:picLocks noChangeAspect="1"/>
          </p:cNvPicPr>
          <p:nvPr/>
        </p:nvPicPr>
        <p:blipFill>
          <a:blip r:embed="rId3"/>
          <a:stretch>
            <a:fillRect/>
          </a:stretch>
        </p:blipFill>
        <p:spPr>
          <a:xfrm>
            <a:off x="4294495" y="3600730"/>
            <a:ext cx="4842516" cy="3072493"/>
          </a:xfrm>
          <a:prstGeom prst="rect">
            <a:avLst/>
          </a:prstGeom>
        </p:spPr>
      </p:pic>
    </p:spTree>
    <p:extLst>
      <p:ext uri="{BB962C8B-B14F-4D97-AF65-F5344CB8AC3E}">
        <p14:creationId xmlns:p14="http://schemas.microsoft.com/office/powerpoint/2010/main" val="378012269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DD5A47-5080-3098-C458-CE10079ECB26}"/>
            </a:ext>
          </a:extLst>
        </p:cNvPr>
        <p:cNvGrpSpPr/>
        <p:nvPr/>
      </p:nvGrpSpPr>
      <p:grpSpPr>
        <a:xfrm>
          <a:off x="0" y="0"/>
          <a:ext cx="0" cy="0"/>
          <a:chOff x="0" y="0"/>
          <a:chExt cx="0" cy="0"/>
        </a:xfrm>
      </p:grpSpPr>
      <p:pic>
        <p:nvPicPr>
          <p:cNvPr id="4" name="Picture 2" descr="Parallel computing for high-performance simulations">
            <a:extLst>
              <a:ext uri="{FF2B5EF4-FFF2-40B4-BE49-F238E27FC236}">
                <a16:creationId xmlns:a16="http://schemas.microsoft.com/office/drawing/2014/main" id="{3379B704-27A8-1EBB-7EEF-3FE6DC04A6E7}"/>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51802" b="-1"/>
          <a:stretch/>
        </p:blipFill>
        <p:spPr bwMode="auto">
          <a:xfrm rot="5400000">
            <a:off x="-2989346" y="2971346"/>
            <a:ext cx="6876000" cy="914399"/>
          </a:xfrm>
          <a:prstGeom prst="rect">
            <a:avLst/>
          </a:prstGeom>
          <a:noFill/>
          <a:extLst>
            <a:ext uri="{909E8E84-426E-40DD-AFC4-6F175D3DCCD1}">
              <a14:hiddenFill xmlns:a14="http://schemas.microsoft.com/office/drawing/2010/main">
                <a:solidFill>
                  <a:srgbClr val="FFFFFF"/>
                </a:solidFill>
              </a14:hiddenFill>
            </a:ext>
          </a:extLst>
        </p:spPr>
      </p:pic>
      <p:sp>
        <p:nvSpPr>
          <p:cNvPr id="6" name="Metin kutusu 5">
            <a:extLst>
              <a:ext uri="{FF2B5EF4-FFF2-40B4-BE49-F238E27FC236}">
                <a16:creationId xmlns:a16="http://schemas.microsoft.com/office/drawing/2014/main" id="{E6C59A3B-7525-53C4-27F5-696E9FF9C90E}"/>
              </a:ext>
            </a:extLst>
          </p:cNvPr>
          <p:cNvSpPr txBox="1"/>
          <p:nvPr/>
        </p:nvSpPr>
        <p:spPr>
          <a:xfrm>
            <a:off x="1164349" y="184777"/>
            <a:ext cx="10688668" cy="553998"/>
          </a:xfrm>
          <a:prstGeom prst="rect">
            <a:avLst/>
          </a:prstGeom>
          <a:noFill/>
        </p:spPr>
        <p:txBody>
          <a:bodyPr wrap="square" rtlCol="0">
            <a:spAutoFit/>
          </a:bodyPr>
          <a:lstStyle/>
          <a:p>
            <a:r>
              <a:rPr lang="tr-TR" sz="3000" b="1" dirty="0" err="1">
                <a:latin typeface="Consolas" panose="020B0609020204030204" pitchFamily="49" charset="0"/>
              </a:rPr>
              <a:t>Cache</a:t>
            </a:r>
            <a:r>
              <a:rPr lang="tr-TR" sz="3000" b="1" dirty="0">
                <a:latin typeface="Consolas" panose="020B0609020204030204" pitchFamily="49" charset="0"/>
              </a:rPr>
              <a:t> </a:t>
            </a:r>
            <a:r>
              <a:rPr lang="tr-TR" sz="3000" b="1" dirty="0" err="1">
                <a:latin typeface="Consolas" panose="020B0609020204030204" pitchFamily="49" charset="0"/>
              </a:rPr>
              <a:t>Memory’nin</a:t>
            </a:r>
            <a:r>
              <a:rPr lang="tr-TR" sz="3000" b="1" dirty="0">
                <a:latin typeface="Consolas" panose="020B0609020204030204" pitchFamily="49" charset="0"/>
              </a:rPr>
              <a:t> </a:t>
            </a:r>
            <a:r>
              <a:rPr lang="tr-TR" sz="3000" b="1" dirty="0" err="1">
                <a:latin typeface="Consolas" panose="020B0609020204030204" pitchFamily="49" charset="0"/>
              </a:rPr>
              <a:t>Multitasking’teki</a:t>
            </a:r>
            <a:r>
              <a:rPr lang="tr-TR" sz="3000" b="1" dirty="0">
                <a:latin typeface="Consolas" panose="020B0609020204030204" pitchFamily="49" charset="0"/>
              </a:rPr>
              <a:t> Önemi</a:t>
            </a:r>
          </a:p>
        </p:txBody>
      </p:sp>
      <p:sp>
        <p:nvSpPr>
          <p:cNvPr id="7" name="Metin kutusu 6">
            <a:extLst>
              <a:ext uri="{FF2B5EF4-FFF2-40B4-BE49-F238E27FC236}">
                <a16:creationId xmlns:a16="http://schemas.microsoft.com/office/drawing/2014/main" id="{E90D6FDC-C875-436A-2814-4498617E7FA0}"/>
              </a:ext>
            </a:extLst>
          </p:cNvPr>
          <p:cNvSpPr txBox="1"/>
          <p:nvPr/>
        </p:nvSpPr>
        <p:spPr>
          <a:xfrm>
            <a:off x="1164349" y="759758"/>
            <a:ext cx="10688668" cy="5632311"/>
          </a:xfrm>
          <a:prstGeom prst="rect">
            <a:avLst/>
          </a:prstGeom>
          <a:noFill/>
        </p:spPr>
        <p:txBody>
          <a:bodyPr wrap="square" rtlCol="0">
            <a:spAutoFit/>
          </a:bodyPr>
          <a:lstStyle/>
          <a:p>
            <a:pPr marL="457200" indent="-457200">
              <a:buFont typeface="Wingdings" panose="05000000000000000000" pitchFamily="2" charset="2"/>
              <a:buChar char="§"/>
            </a:pPr>
            <a:r>
              <a:rPr lang="tr-TR" b="1" i="1" dirty="0">
                <a:latin typeface="Consolas" panose="020B0609020204030204" pitchFamily="49" charset="0"/>
              </a:rPr>
              <a:t>Hızlı Erişim: </a:t>
            </a:r>
            <a:r>
              <a:rPr lang="tr-TR" dirty="0" err="1">
                <a:latin typeface="Consolas" panose="020B0609020204030204" pitchFamily="49" charset="0"/>
              </a:rPr>
              <a:t>Cache</a:t>
            </a:r>
            <a:r>
              <a:rPr lang="tr-TR" dirty="0">
                <a:latin typeface="Consolas" panose="020B0609020204030204" pitchFamily="49" charset="0"/>
              </a:rPr>
              <a:t> belleği, işlemcinin (CPU'nun) sıkça kullanılan verilere hızlı bir şekilde erişmesini sağlar. Çoklu görev durumunda, birden fazla işlem aynı anda gerçekleştiği için, işlemci sürekli olarak farklı verilere ihtiyaç duyar. </a:t>
            </a:r>
            <a:r>
              <a:rPr lang="tr-TR" dirty="0" err="1">
                <a:latin typeface="Consolas" panose="020B0609020204030204" pitchFamily="49" charset="0"/>
              </a:rPr>
              <a:t>Cache</a:t>
            </a:r>
            <a:r>
              <a:rPr lang="tr-TR" dirty="0">
                <a:latin typeface="Consolas" panose="020B0609020204030204" pitchFamily="49" charset="0"/>
              </a:rPr>
              <a:t> belleği, bu farklı verilere hızlı bir şekilde erişerek işlemcinin performansını artırır.</a:t>
            </a:r>
          </a:p>
          <a:p>
            <a:pPr marL="457200" indent="-457200">
              <a:buFont typeface="Wingdings" panose="05000000000000000000" pitchFamily="2" charset="2"/>
              <a:buChar char="§"/>
            </a:pPr>
            <a:endParaRPr lang="tr-TR" b="1" i="1" dirty="0">
              <a:latin typeface="Consolas" panose="020B0609020204030204" pitchFamily="49" charset="0"/>
            </a:endParaRPr>
          </a:p>
          <a:p>
            <a:pPr marL="457200" indent="-457200">
              <a:buFont typeface="Wingdings" panose="05000000000000000000" pitchFamily="2" charset="2"/>
              <a:buChar char="§"/>
            </a:pPr>
            <a:r>
              <a:rPr lang="tr-TR" b="1" i="1" dirty="0">
                <a:latin typeface="Consolas" panose="020B0609020204030204" pitchFamily="49" charset="0"/>
              </a:rPr>
              <a:t>Veri Tutma Kapasitesi: </a:t>
            </a:r>
            <a:r>
              <a:rPr lang="tr-TR" dirty="0">
                <a:latin typeface="Consolas" panose="020B0609020204030204" pitchFamily="49" charset="0"/>
              </a:rPr>
              <a:t>Multitasking durumunda, işlemci birçok farklı işlemle aynı anda uğraşır. </a:t>
            </a:r>
            <a:r>
              <a:rPr lang="tr-TR" dirty="0" err="1">
                <a:latin typeface="Consolas" panose="020B0609020204030204" pitchFamily="49" charset="0"/>
              </a:rPr>
              <a:t>Cache</a:t>
            </a:r>
            <a:r>
              <a:rPr lang="tr-TR" dirty="0">
                <a:latin typeface="Consolas" panose="020B0609020204030204" pitchFamily="49" charset="0"/>
              </a:rPr>
              <a:t> belleği, sıkça kullanılan verilerin bir kısmını saklayarak, işlemciye sürekli olarak aynı verilere erişme avantajı sağlar. Bu da işlemcinin daha az zaman harcayarak daha fazla iş yapmasını sağlar.</a:t>
            </a:r>
          </a:p>
          <a:p>
            <a:pPr marL="457200" indent="-457200">
              <a:buFont typeface="Wingdings" panose="05000000000000000000" pitchFamily="2" charset="2"/>
              <a:buChar char="§"/>
            </a:pPr>
            <a:endParaRPr lang="tr-TR" dirty="0">
              <a:latin typeface="Consolas" panose="020B0609020204030204" pitchFamily="49" charset="0"/>
            </a:endParaRPr>
          </a:p>
          <a:p>
            <a:pPr marL="457200" indent="-457200">
              <a:buFont typeface="Wingdings" panose="05000000000000000000" pitchFamily="2" charset="2"/>
              <a:buChar char="§"/>
            </a:pPr>
            <a:r>
              <a:rPr lang="tr-TR" b="1" i="1" dirty="0">
                <a:latin typeface="Consolas" panose="020B0609020204030204" pitchFamily="49" charset="0"/>
              </a:rPr>
              <a:t>Veri Kullanımı Optimizasyonu: </a:t>
            </a:r>
            <a:r>
              <a:rPr lang="tr-TR" dirty="0" err="1">
                <a:latin typeface="Consolas" panose="020B0609020204030204" pitchFamily="49" charset="0"/>
              </a:rPr>
              <a:t>Cache</a:t>
            </a:r>
            <a:r>
              <a:rPr lang="tr-TR" dirty="0">
                <a:latin typeface="Consolas" panose="020B0609020204030204" pitchFamily="49" charset="0"/>
              </a:rPr>
              <a:t> belleği, verileri fiziksel olarak daha yakın bir konumda saklar. Bu, işlemcinin verilere daha hızlı erişmesini sağlar ve veri alışverişinin daha verimli olmasını sağlar. Çoklu görev durumunda, bu optimizasyon, işlemcinin farklı görevler arasında hızlı bir şekilde geçiş yapmasını sağlar.</a:t>
            </a:r>
          </a:p>
          <a:p>
            <a:pPr marL="457200" indent="-457200">
              <a:buFont typeface="Wingdings" panose="05000000000000000000" pitchFamily="2" charset="2"/>
              <a:buChar char="§"/>
            </a:pPr>
            <a:endParaRPr lang="tr-TR" dirty="0">
              <a:latin typeface="Consolas" panose="020B0609020204030204" pitchFamily="49" charset="0"/>
            </a:endParaRPr>
          </a:p>
          <a:p>
            <a:pPr marL="457200" indent="-457200">
              <a:buFont typeface="Wingdings" panose="05000000000000000000" pitchFamily="2" charset="2"/>
              <a:buChar char="§"/>
            </a:pPr>
            <a:r>
              <a:rPr lang="tr-TR" b="1" i="1" dirty="0">
                <a:latin typeface="Consolas" panose="020B0609020204030204" pitchFamily="49" charset="0"/>
              </a:rPr>
              <a:t>CPU'nun Zamanını Boşa Harcamamak: </a:t>
            </a:r>
            <a:r>
              <a:rPr lang="tr-TR" dirty="0" err="1">
                <a:latin typeface="Consolas" panose="020B0609020204030204" pitchFamily="49" charset="0"/>
              </a:rPr>
              <a:t>Cache</a:t>
            </a:r>
            <a:r>
              <a:rPr lang="tr-TR" dirty="0">
                <a:latin typeface="Consolas" panose="020B0609020204030204" pitchFamily="49" charset="0"/>
              </a:rPr>
              <a:t> belleği, işlemcinin diğer işlemleri beklemek yerine sürekli olarak veriye erişmesini sağlar. Bu, işlemcinin zamanını boşa harcamasını önler ve performansını artırır.</a:t>
            </a:r>
          </a:p>
        </p:txBody>
      </p:sp>
    </p:spTree>
    <p:extLst>
      <p:ext uri="{BB962C8B-B14F-4D97-AF65-F5344CB8AC3E}">
        <p14:creationId xmlns:p14="http://schemas.microsoft.com/office/powerpoint/2010/main" val="44573475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D3EDD0-C3E7-60E5-343F-EF8203C32AE9}"/>
            </a:ext>
          </a:extLst>
        </p:cNvPr>
        <p:cNvGrpSpPr/>
        <p:nvPr/>
      </p:nvGrpSpPr>
      <p:grpSpPr>
        <a:xfrm>
          <a:off x="0" y="0"/>
          <a:ext cx="0" cy="0"/>
          <a:chOff x="0" y="0"/>
          <a:chExt cx="0" cy="0"/>
        </a:xfrm>
      </p:grpSpPr>
      <p:pic>
        <p:nvPicPr>
          <p:cNvPr id="4" name="Picture 2" descr="Parallel computing for high-performance simulations">
            <a:extLst>
              <a:ext uri="{FF2B5EF4-FFF2-40B4-BE49-F238E27FC236}">
                <a16:creationId xmlns:a16="http://schemas.microsoft.com/office/drawing/2014/main" id="{D5E7E2D7-3AC5-E79B-0A5E-E1691875DA0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51802" b="-1"/>
          <a:stretch/>
        </p:blipFill>
        <p:spPr bwMode="auto">
          <a:xfrm rot="5400000">
            <a:off x="-2989346" y="2971346"/>
            <a:ext cx="6876000" cy="914399"/>
          </a:xfrm>
          <a:prstGeom prst="rect">
            <a:avLst/>
          </a:prstGeom>
          <a:noFill/>
          <a:extLst>
            <a:ext uri="{909E8E84-426E-40DD-AFC4-6F175D3DCCD1}">
              <a14:hiddenFill xmlns:a14="http://schemas.microsoft.com/office/drawing/2010/main">
                <a:solidFill>
                  <a:srgbClr val="FFFFFF"/>
                </a:solidFill>
              </a14:hiddenFill>
            </a:ext>
          </a:extLst>
        </p:spPr>
      </p:pic>
      <p:sp>
        <p:nvSpPr>
          <p:cNvPr id="6" name="Metin kutusu 5">
            <a:extLst>
              <a:ext uri="{FF2B5EF4-FFF2-40B4-BE49-F238E27FC236}">
                <a16:creationId xmlns:a16="http://schemas.microsoft.com/office/drawing/2014/main" id="{B15BDDA0-99F3-31A7-712F-F83486CF24F7}"/>
              </a:ext>
            </a:extLst>
          </p:cNvPr>
          <p:cNvSpPr txBox="1"/>
          <p:nvPr/>
        </p:nvSpPr>
        <p:spPr>
          <a:xfrm>
            <a:off x="1164349" y="184777"/>
            <a:ext cx="10688668" cy="553998"/>
          </a:xfrm>
          <a:prstGeom prst="rect">
            <a:avLst/>
          </a:prstGeom>
          <a:noFill/>
        </p:spPr>
        <p:txBody>
          <a:bodyPr wrap="square" rtlCol="0">
            <a:spAutoFit/>
          </a:bodyPr>
          <a:lstStyle/>
          <a:p>
            <a:r>
              <a:rPr lang="tr-TR" sz="3000" b="1" dirty="0" err="1">
                <a:latin typeface="Consolas" panose="020B0609020204030204" pitchFamily="49" charset="0"/>
              </a:rPr>
              <a:t>Caching</a:t>
            </a:r>
            <a:r>
              <a:rPr lang="tr-TR" sz="3000" b="1" dirty="0">
                <a:latin typeface="Consolas" panose="020B0609020204030204" pitchFamily="49" charset="0"/>
              </a:rPr>
              <a:t> Yöntemleri</a:t>
            </a:r>
          </a:p>
        </p:txBody>
      </p:sp>
      <p:sp>
        <p:nvSpPr>
          <p:cNvPr id="7" name="Metin kutusu 6">
            <a:extLst>
              <a:ext uri="{FF2B5EF4-FFF2-40B4-BE49-F238E27FC236}">
                <a16:creationId xmlns:a16="http://schemas.microsoft.com/office/drawing/2014/main" id="{26EDB053-4E3F-D8E7-247F-92C1D460672C}"/>
              </a:ext>
            </a:extLst>
          </p:cNvPr>
          <p:cNvSpPr txBox="1"/>
          <p:nvPr/>
        </p:nvSpPr>
        <p:spPr>
          <a:xfrm>
            <a:off x="1164349" y="759758"/>
            <a:ext cx="10688668" cy="1938992"/>
          </a:xfrm>
          <a:prstGeom prst="rect">
            <a:avLst/>
          </a:prstGeom>
          <a:noFill/>
        </p:spPr>
        <p:txBody>
          <a:bodyPr wrap="square" rtlCol="0">
            <a:spAutoFit/>
          </a:bodyPr>
          <a:lstStyle/>
          <a:p>
            <a:pPr marL="457200" indent="-457200">
              <a:buFont typeface="Wingdings" panose="05000000000000000000" pitchFamily="2" charset="2"/>
              <a:buChar char="§"/>
            </a:pPr>
            <a:r>
              <a:rPr lang="tr-TR" sz="2400" dirty="0">
                <a:latin typeface="Consolas" panose="020B0609020204030204" pitchFamily="49" charset="0"/>
              </a:rPr>
              <a:t>İlişkilendirmeye göre önbellek çeşitleri genellikle üçe ayrılır:</a:t>
            </a:r>
          </a:p>
          <a:p>
            <a:pPr marL="914400" lvl="1" indent="-457200">
              <a:buFont typeface="Wingdings" panose="05000000000000000000" pitchFamily="2" charset="2"/>
              <a:buChar char="§"/>
            </a:pPr>
            <a:r>
              <a:rPr lang="tr-TR" sz="2400" dirty="0">
                <a:latin typeface="Consolas" panose="020B0609020204030204" pitchFamily="49" charset="0"/>
              </a:rPr>
              <a:t>Doğrudan ilişkili önbellek (Direct </a:t>
            </a:r>
            <a:r>
              <a:rPr lang="tr-TR" sz="2400" dirty="0" err="1">
                <a:latin typeface="Consolas" panose="020B0609020204030204" pitchFamily="49" charset="0"/>
              </a:rPr>
              <a:t>mapped</a:t>
            </a:r>
            <a:r>
              <a:rPr lang="tr-TR" sz="2400" dirty="0">
                <a:latin typeface="Consolas" panose="020B0609020204030204" pitchFamily="49" charset="0"/>
              </a:rPr>
              <a:t> </a:t>
            </a:r>
            <a:r>
              <a:rPr lang="tr-TR" sz="2400" dirty="0" err="1">
                <a:latin typeface="Consolas" panose="020B0609020204030204" pitchFamily="49" charset="0"/>
              </a:rPr>
              <a:t>cache</a:t>
            </a:r>
            <a:r>
              <a:rPr lang="tr-TR" sz="2400" dirty="0">
                <a:latin typeface="Consolas" panose="020B0609020204030204" pitchFamily="49" charset="0"/>
              </a:rPr>
              <a:t>)</a:t>
            </a:r>
          </a:p>
          <a:p>
            <a:pPr marL="914400" lvl="1" indent="-457200">
              <a:buFont typeface="Wingdings" panose="05000000000000000000" pitchFamily="2" charset="2"/>
              <a:buChar char="§"/>
            </a:pPr>
            <a:r>
              <a:rPr lang="tr-TR" sz="2400" dirty="0">
                <a:latin typeface="Consolas" panose="020B0609020204030204" pitchFamily="49" charset="0"/>
              </a:rPr>
              <a:t>Tam ilişkili önbellek (</a:t>
            </a:r>
            <a:r>
              <a:rPr lang="tr-TR" sz="2400" dirty="0" err="1">
                <a:latin typeface="Consolas" panose="020B0609020204030204" pitchFamily="49" charset="0"/>
              </a:rPr>
              <a:t>Fully</a:t>
            </a:r>
            <a:r>
              <a:rPr lang="tr-TR" sz="2400" dirty="0">
                <a:latin typeface="Consolas" panose="020B0609020204030204" pitchFamily="49" charset="0"/>
              </a:rPr>
              <a:t> </a:t>
            </a:r>
            <a:r>
              <a:rPr lang="tr-TR" sz="2400" dirty="0" err="1">
                <a:latin typeface="Consolas" panose="020B0609020204030204" pitchFamily="49" charset="0"/>
              </a:rPr>
              <a:t>associative</a:t>
            </a:r>
            <a:r>
              <a:rPr lang="tr-TR" sz="2400" dirty="0">
                <a:latin typeface="Consolas" panose="020B0609020204030204" pitchFamily="49" charset="0"/>
              </a:rPr>
              <a:t> </a:t>
            </a:r>
            <a:r>
              <a:rPr lang="tr-TR" sz="2400" dirty="0" err="1">
                <a:latin typeface="Consolas" panose="020B0609020204030204" pitchFamily="49" charset="0"/>
              </a:rPr>
              <a:t>cache</a:t>
            </a:r>
            <a:r>
              <a:rPr lang="tr-TR" sz="2400" dirty="0">
                <a:latin typeface="Consolas" panose="020B0609020204030204" pitchFamily="49" charset="0"/>
              </a:rPr>
              <a:t>)</a:t>
            </a:r>
          </a:p>
          <a:p>
            <a:pPr marL="914400" lvl="1" indent="-457200">
              <a:buFont typeface="Wingdings" panose="05000000000000000000" pitchFamily="2" charset="2"/>
              <a:buChar char="§"/>
            </a:pPr>
            <a:r>
              <a:rPr lang="tr-TR" sz="2400" dirty="0">
                <a:latin typeface="Consolas" panose="020B0609020204030204" pitchFamily="49" charset="0"/>
              </a:rPr>
              <a:t>Kümeli ilişkili önbellek (Set </a:t>
            </a:r>
            <a:r>
              <a:rPr lang="tr-TR" sz="2400" dirty="0" err="1">
                <a:latin typeface="Consolas" panose="020B0609020204030204" pitchFamily="49" charset="0"/>
              </a:rPr>
              <a:t>associative</a:t>
            </a:r>
            <a:r>
              <a:rPr lang="tr-TR" sz="2400" dirty="0">
                <a:latin typeface="Consolas" panose="020B0609020204030204" pitchFamily="49" charset="0"/>
              </a:rPr>
              <a:t> </a:t>
            </a:r>
            <a:r>
              <a:rPr lang="tr-TR" sz="2400" dirty="0" err="1">
                <a:latin typeface="Consolas" panose="020B0609020204030204" pitchFamily="49" charset="0"/>
              </a:rPr>
              <a:t>cache</a:t>
            </a:r>
            <a:r>
              <a:rPr lang="tr-TR" sz="2400" dirty="0">
                <a:latin typeface="Consolas" panose="020B0609020204030204" pitchFamily="49" charset="0"/>
              </a:rPr>
              <a:t>)</a:t>
            </a:r>
          </a:p>
        </p:txBody>
      </p:sp>
    </p:spTree>
    <p:extLst>
      <p:ext uri="{BB962C8B-B14F-4D97-AF65-F5344CB8AC3E}">
        <p14:creationId xmlns:p14="http://schemas.microsoft.com/office/powerpoint/2010/main" val="225201532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D4A48D-15B7-1138-4285-79D5A5A7CEA7}"/>
            </a:ext>
          </a:extLst>
        </p:cNvPr>
        <p:cNvGrpSpPr/>
        <p:nvPr/>
      </p:nvGrpSpPr>
      <p:grpSpPr>
        <a:xfrm>
          <a:off x="0" y="0"/>
          <a:ext cx="0" cy="0"/>
          <a:chOff x="0" y="0"/>
          <a:chExt cx="0" cy="0"/>
        </a:xfrm>
      </p:grpSpPr>
      <p:pic>
        <p:nvPicPr>
          <p:cNvPr id="4" name="Picture 2" descr="Parallel computing for high-performance simulations">
            <a:extLst>
              <a:ext uri="{FF2B5EF4-FFF2-40B4-BE49-F238E27FC236}">
                <a16:creationId xmlns:a16="http://schemas.microsoft.com/office/drawing/2014/main" id="{59C3C190-493A-0361-2832-916B24A32B4D}"/>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51802" b="-1"/>
          <a:stretch/>
        </p:blipFill>
        <p:spPr bwMode="auto">
          <a:xfrm rot="5400000">
            <a:off x="-2989346" y="2971346"/>
            <a:ext cx="6876000" cy="914399"/>
          </a:xfrm>
          <a:prstGeom prst="rect">
            <a:avLst/>
          </a:prstGeom>
          <a:noFill/>
          <a:extLst>
            <a:ext uri="{909E8E84-426E-40DD-AFC4-6F175D3DCCD1}">
              <a14:hiddenFill xmlns:a14="http://schemas.microsoft.com/office/drawing/2010/main">
                <a:solidFill>
                  <a:srgbClr val="FFFFFF"/>
                </a:solidFill>
              </a14:hiddenFill>
            </a:ext>
          </a:extLst>
        </p:spPr>
      </p:pic>
      <p:sp>
        <p:nvSpPr>
          <p:cNvPr id="6" name="Metin kutusu 5">
            <a:extLst>
              <a:ext uri="{FF2B5EF4-FFF2-40B4-BE49-F238E27FC236}">
                <a16:creationId xmlns:a16="http://schemas.microsoft.com/office/drawing/2014/main" id="{45B976EA-70BA-DDED-1B59-C8CBB7C8DCBC}"/>
              </a:ext>
            </a:extLst>
          </p:cNvPr>
          <p:cNvSpPr txBox="1"/>
          <p:nvPr/>
        </p:nvSpPr>
        <p:spPr>
          <a:xfrm>
            <a:off x="1164349" y="184777"/>
            <a:ext cx="10688668" cy="1015663"/>
          </a:xfrm>
          <a:prstGeom prst="rect">
            <a:avLst/>
          </a:prstGeom>
          <a:noFill/>
        </p:spPr>
        <p:txBody>
          <a:bodyPr wrap="square" rtlCol="0">
            <a:spAutoFit/>
          </a:bodyPr>
          <a:lstStyle/>
          <a:p>
            <a:r>
              <a:rPr lang="tr-TR" sz="3000" b="1" dirty="0">
                <a:latin typeface="Consolas" panose="020B0609020204030204" pitchFamily="49" charset="0"/>
              </a:rPr>
              <a:t>Direct </a:t>
            </a:r>
            <a:r>
              <a:rPr lang="tr-TR" sz="3000" b="1" dirty="0" err="1">
                <a:latin typeface="Consolas" panose="020B0609020204030204" pitchFamily="49" charset="0"/>
              </a:rPr>
              <a:t>mapped</a:t>
            </a:r>
            <a:r>
              <a:rPr lang="tr-TR" sz="3000" b="1" dirty="0">
                <a:latin typeface="Consolas" panose="020B0609020204030204" pitchFamily="49" charset="0"/>
              </a:rPr>
              <a:t> </a:t>
            </a:r>
            <a:r>
              <a:rPr lang="tr-TR" sz="3000" b="1" dirty="0" err="1">
                <a:latin typeface="Consolas" panose="020B0609020204030204" pitchFamily="49" charset="0"/>
              </a:rPr>
              <a:t>cache</a:t>
            </a:r>
            <a:endParaRPr lang="tr-TR" sz="3000" b="1" dirty="0">
              <a:latin typeface="Consolas" panose="020B0609020204030204" pitchFamily="49" charset="0"/>
            </a:endParaRPr>
          </a:p>
          <a:p>
            <a:endParaRPr lang="tr-TR" sz="3000" b="1" dirty="0">
              <a:latin typeface="Consolas" panose="020B0609020204030204" pitchFamily="49" charset="0"/>
            </a:endParaRPr>
          </a:p>
        </p:txBody>
      </p:sp>
      <p:pic>
        <p:nvPicPr>
          <p:cNvPr id="9218" name="Picture 2" descr="Direct-Mapped Cache and its architecture">
            <a:extLst>
              <a:ext uri="{FF2B5EF4-FFF2-40B4-BE49-F238E27FC236}">
                <a16:creationId xmlns:a16="http://schemas.microsoft.com/office/drawing/2014/main" id="{22AE3B11-2A39-86A1-4D68-F698B3A9F9F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96813" y="673248"/>
            <a:ext cx="6464887" cy="4959834"/>
          </a:xfrm>
          <a:prstGeom prst="rect">
            <a:avLst/>
          </a:prstGeom>
          <a:noFill/>
          <a:extLst>
            <a:ext uri="{909E8E84-426E-40DD-AFC4-6F175D3DCCD1}">
              <a14:hiddenFill xmlns:a14="http://schemas.microsoft.com/office/drawing/2010/main">
                <a:solidFill>
                  <a:srgbClr val="FFFFFF"/>
                </a:solidFill>
              </a14:hiddenFill>
            </a:ext>
          </a:extLst>
        </p:spPr>
      </p:pic>
      <p:sp>
        <p:nvSpPr>
          <p:cNvPr id="3" name="Metin kutusu 2">
            <a:extLst>
              <a:ext uri="{FF2B5EF4-FFF2-40B4-BE49-F238E27FC236}">
                <a16:creationId xmlns:a16="http://schemas.microsoft.com/office/drawing/2014/main" id="{CF43C7B1-BF4E-D65F-741B-13BD8FAB7730}"/>
              </a:ext>
            </a:extLst>
          </p:cNvPr>
          <p:cNvSpPr txBox="1"/>
          <p:nvPr/>
        </p:nvSpPr>
        <p:spPr>
          <a:xfrm>
            <a:off x="1164349" y="906396"/>
            <a:ext cx="4073969" cy="5632311"/>
          </a:xfrm>
          <a:prstGeom prst="rect">
            <a:avLst/>
          </a:prstGeom>
          <a:noFill/>
        </p:spPr>
        <p:txBody>
          <a:bodyPr wrap="square">
            <a:spAutoFit/>
          </a:bodyPr>
          <a:lstStyle/>
          <a:p>
            <a:r>
              <a:rPr lang="tr-TR" sz="2000" dirty="0"/>
              <a:t>Doğrudan ilişkili önbellekler, basit bir adresleme yapısına sahiptir ve genellikle işlemci hızını artırmak için kullanılırlar. </a:t>
            </a:r>
          </a:p>
          <a:p>
            <a:endParaRPr lang="tr-TR" sz="2000" dirty="0"/>
          </a:p>
          <a:p>
            <a:r>
              <a:rPr lang="tr-TR" sz="2000" dirty="0"/>
              <a:t>Doğrudan ilişkili önbellek, her veri bloğunu önceden belirlenmiş bir konuma bağlar ve bu konuma göre verilere erişim sağlar. </a:t>
            </a:r>
          </a:p>
          <a:p>
            <a:endParaRPr lang="tr-TR" sz="2000" dirty="0"/>
          </a:p>
          <a:p>
            <a:r>
              <a:rPr lang="tr-TR" sz="2000" dirty="0"/>
              <a:t>Bu önbellek türünde, her veri bloğu, önbellekte belirli bir satır veya konumda saklanır.</a:t>
            </a:r>
          </a:p>
          <a:p>
            <a:endParaRPr lang="tr-TR" sz="2000" dirty="0"/>
          </a:p>
          <a:p>
            <a:r>
              <a:rPr lang="tr-TR" sz="2000" dirty="0"/>
              <a:t>Ancak, çakışma sorunlarına ve veri bloklarının aynı konuma atanması nedeniyle bazı dezavantajlara sahiptirler.</a:t>
            </a:r>
          </a:p>
        </p:txBody>
      </p:sp>
    </p:spTree>
    <p:extLst>
      <p:ext uri="{BB962C8B-B14F-4D97-AF65-F5344CB8AC3E}">
        <p14:creationId xmlns:p14="http://schemas.microsoft.com/office/powerpoint/2010/main" val="303729099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2F6154-58B9-1FEB-DC73-14031707DA08}"/>
            </a:ext>
          </a:extLst>
        </p:cNvPr>
        <p:cNvGrpSpPr/>
        <p:nvPr/>
      </p:nvGrpSpPr>
      <p:grpSpPr>
        <a:xfrm>
          <a:off x="0" y="0"/>
          <a:ext cx="0" cy="0"/>
          <a:chOff x="0" y="0"/>
          <a:chExt cx="0" cy="0"/>
        </a:xfrm>
      </p:grpSpPr>
      <p:pic>
        <p:nvPicPr>
          <p:cNvPr id="4" name="Picture 2" descr="Parallel computing for high-performance simulations">
            <a:extLst>
              <a:ext uri="{FF2B5EF4-FFF2-40B4-BE49-F238E27FC236}">
                <a16:creationId xmlns:a16="http://schemas.microsoft.com/office/drawing/2014/main" id="{4488AC23-FAA6-8730-3996-7D0ED6618D0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51802" b="-1"/>
          <a:stretch/>
        </p:blipFill>
        <p:spPr bwMode="auto">
          <a:xfrm rot="5400000">
            <a:off x="-2989346" y="2971346"/>
            <a:ext cx="6876000" cy="914399"/>
          </a:xfrm>
          <a:prstGeom prst="rect">
            <a:avLst/>
          </a:prstGeom>
          <a:noFill/>
          <a:extLst>
            <a:ext uri="{909E8E84-426E-40DD-AFC4-6F175D3DCCD1}">
              <a14:hiddenFill xmlns:a14="http://schemas.microsoft.com/office/drawing/2010/main">
                <a:solidFill>
                  <a:srgbClr val="FFFFFF"/>
                </a:solidFill>
              </a14:hiddenFill>
            </a:ext>
          </a:extLst>
        </p:spPr>
      </p:pic>
      <p:sp>
        <p:nvSpPr>
          <p:cNvPr id="6" name="Metin kutusu 5">
            <a:extLst>
              <a:ext uri="{FF2B5EF4-FFF2-40B4-BE49-F238E27FC236}">
                <a16:creationId xmlns:a16="http://schemas.microsoft.com/office/drawing/2014/main" id="{17ACFAC8-EFAD-844C-C4B9-53C5C00BD71F}"/>
              </a:ext>
            </a:extLst>
          </p:cNvPr>
          <p:cNvSpPr txBox="1"/>
          <p:nvPr/>
        </p:nvSpPr>
        <p:spPr>
          <a:xfrm>
            <a:off x="1164349" y="184777"/>
            <a:ext cx="10688668" cy="1015663"/>
          </a:xfrm>
          <a:prstGeom prst="rect">
            <a:avLst/>
          </a:prstGeom>
          <a:noFill/>
        </p:spPr>
        <p:txBody>
          <a:bodyPr wrap="square" rtlCol="0">
            <a:spAutoFit/>
          </a:bodyPr>
          <a:lstStyle/>
          <a:p>
            <a:r>
              <a:rPr lang="tr-TR" sz="3000" b="1" dirty="0" err="1">
                <a:latin typeface="Consolas" panose="020B0609020204030204" pitchFamily="49" charset="0"/>
              </a:rPr>
              <a:t>Fully</a:t>
            </a:r>
            <a:r>
              <a:rPr lang="tr-TR" sz="3000" b="1" dirty="0">
                <a:latin typeface="Consolas" panose="020B0609020204030204" pitchFamily="49" charset="0"/>
              </a:rPr>
              <a:t> </a:t>
            </a:r>
            <a:r>
              <a:rPr lang="tr-TR" sz="3000" b="1" dirty="0" err="1">
                <a:latin typeface="Consolas" panose="020B0609020204030204" pitchFamily="49" charset="0"/>
              </a:rPr>
              <a:t>associative</a:t>
            </a:r>
            <a:r>
              <a:rPr lang="tr-TR" sz="3000" b="1" dirty="0">
                <a:latin typeface="Consolas" panose="020B0609020204030204" pitchFamily="49" charset="0"/>
              </a:rPr>
              <a:t> </a:t>
            </a:r>
            <a:r>
              <a:rPr lang="tr-TR" sz="3000" b="1" dirty="0" err="1">
                <a:latin typeface="Consolas" panose="020B0609020204030204" pitchFamily="49" charset="0"/>
              </a:rPr>
              <a:t>cache</a:t>
            </a:r>
            <a:endParaRPr lang="tr-TR" sz="3000" b="1" dirty="0">
              <a:latin typeface="Consolas" panose="020B0609020204030204" pitchFamily="49" charset="0"/>
            </a:endParaRPr>
          </a:p>
          <a:p>
            <a:endParaRPr lang="tr-TR" sz="3000" b="1" dirty="0">
              <a:latin typeface="Consolas" panose="020B0609020204030204" pitchFamily="49" charset="0"/>
            </a:endParaRPr>
          </a:p>
        </p:txBody>
      </p:sp>
      <p:sp>
        <p:nvSpPr>
          <p:cNvPr id="3" name="Metin kutusu 2">
            <a:extLst>
              <a:ext uri="{FF2B5EF4-FFF2-40B4-BE49-F238E27FC236}">
                <a16:creationId xmlns:a16="http://schemas.microsoft.com/office/drawing/2014/main" id="{F5B136A3-A4D4-F5EC-1AA9-B00EE64DB059}"/>
              </a:ext>
            </a:extLst>
          </p:cNvPr>
          <p:cNvSpPr txBox="1"/>
          <p:nvPr/>
        </p:nvSpPr>
        <p:spPr>
          <a:xfrm>
            <a:off x="1164349" y="906396"/>
            <a:ext cx="4073969" cy="5632311"/>
          </a:xfrm>
          <a:prstGeom prst="rect">
            <a:avLst/>
          </a:prstGeom>
          <a:noFill/>
        </p:spPr>
        <p:txBody>
          <a:bodyPr wrap="square">
            <a:spAutoFit/>
          </a:bodyPr>
          <a:lstStyle/>
          <a:p>
            <a:r>
              <a:rPr lang="tr-TR" dirty="0"/>
              <a:t>Bu tür önbelleklerde, herhangi bir veri bloğu herhangi bir önbellek hücresine yerleştirilebilir, yani veri blokları önbellekte herhangi bir konumda saklanabilir. </a:t>
            </a:r>
          </a:p>
          <a:p>
            <a:endParaRPr lang="tr-TR" dirty="0"/>
          </a:p>
          <a:p>
            <a:r>
              <a:rPr lang="tr-TR" dirty="0"/>
              <a:t>Bu nedenle, veri blokları arasında herhangi bir kısıtlama olmaksızın yer değiştirme yapılabilir.</a:t>
            </a:r>
          </a:p>
          <a:p>
            <a:endParaRPr lang="tr-TR" dirty="0"/>
          </a:p>
          <a:p>
            <a:r>
              <a:rPr lang="tr-TR" dirty="0" err="1"/>
              <a:t>Fully</a:t>
            </a:r>
            <a:r>
              <a:rPr lang="tr-TR" dirty="0"/>
              <a:t> </a:t>
            </a:r>
            <a:r>
              <a:rPr lang="tr-TR" dirty="0" err="1"/>
              <a:t>associative</a:t>
            </a:r>
            <a:r>
              <a:rPr lang="tr-TR" dirty="0"/>
              <a:t> </a:t>
            </a:r>
            <a:r>
              <a:rPr lang="tr-TR" dirty="0" err="1"/>
              <a:t>cache</a:t>
            </a:r>
            <a:r>
              <a:rPr lang="tr-TR" dirty="0"/>
              <a:t>, veriye erişimde esneklik sağlar ve çakışma sorununu ortadan kaldırır. Ancak, bu esneklik ve özgürlük daha karmaşık bir adresleme yapısını gerektirir ve bu da maliyeti artırabilir. </a:t>
            </a:r>
          </a:p>
          <a:p>
            <a:endParaRPr lang="tr-TR" dirty="0"/>
          </a:p>
          <a:p>
            <a:r>
              <a:rPr lang="tr-TR" dirty="0"/>
              <a:t>Bu nedenle, </a:t>
            </a:r>
            <a:r>
              <a:rPr lang="tr-TR" dirty="0" err="1"/>
              <a:t>fully</a:t>
            </a:r>
            <a:r>
              <a:rPr lang="tr-TR" dirty="0"/>
              <a:t> </a:t>
            </a:r>
            <a:r>
              <a:rPr lang="tr-TR" dirty="0" err="1"/>
              <a:t>associative</a:t>
            </a:r>
            <a:r>
              <a:rPr lang="tr-TR" dirty="0"/>
              <a:t> </a:t>
            </a:r>
            <a:r>
              <a:rPr lang="tr-TR" dirty="0" err="1"/>
              <a:t>cache</a:t>
            </a:r>
            <a:r>
              <a:rPr lang="tr-TR" dirty="0"/>
              <a:t> genellikle daha pahalı ve karmaşık sistemlerde kullanılır.</a:t>
            </a:r>
          </a:p>
        </p:txBody>
      </p:sp>
      <p:pic>
        <p:nvPicPr>
          <p:cNvPr id="10242" name="Picture 2" descr="Fully-associative Cache">
            <a:extLst>
              <a:ext uri="{FF2B5EF4-FFF2-40B4-BE49-F238E27FC236}">
                <a16:creationId xmlns:a16="http://schemas.microsoft.com/office/drawing/2014/main" id="{7408C3BF-9BAD-585C-B011-55D5913D3D9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96813" y="1019888"/>
            <a:ext cx="6424297" cy="48182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0267179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04BFA9-DD41-0420-ECE6-41FF9C9B6115}"/>
            </a:ext>
          </a:extLst>
        </p:cNvPr>
        <p:cNvGrpSpPr/>
        <p:nvPr/>
      </p:nvGrpSpPr>
      <p:grpSpPr>
        <a:xfrm>
          <a:off x="0" y="0"/>
          <a:ext cx="0" cy="0"/>
          <a:chOff x="0" y="0"/>
          <a:chExt cx="0" cy="0"/>
        </a:xfrm>
      </p:grpSpPr>
      <p:pic>
        <p:nvPicPr>
          <p:cNvPr id="4" name="Picture 2" descr="Parallel computing for high-performance simulations">
            <a:extLst>
              <a:ext uri="{FF2B5EF4-FFF2-40B4-BE49-F238E27FC236}">
                <a16:creationId xmlns:a16="http://schemas.microsoft.com/office/drawing/2014/main" id="{E707354C-D534-6455-ABF5-974173DA7BA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51802" b="-1"/>
          <a:stretch/>
        </p:blipFill>
        <p:spPr bwMode="auto">
          <a:xfrm rot="5400000">
            <a:off x="-2989346" y="2971346"/>
            <a:ext cx="6876000" cy="914399"/>
          </a:xfrm>
          <a:prstGeom prst="rect">
            <a:avLst/>
          </a:prstGeom>
          <a:noFill/>
          <a:extLst>
            <a:ext uri="{909E8E84-426E-40DD-AFC4-6F175D3DCCD1}">
              <a14:hiddenFill xmlns:a14="http://schemas.microsoft.com/office/drawing/2010/main">
                <a:solidFill>
                  <a:srgbClr val="FFFFFF"/>
                </a:solidFill>
              </a14:hiddenFill>
            </a:ext>
          </a:extLst>
        </p:spPr>
      </p:pic>
      <p:sp>
        <p:nvSpPr>
          <p:cNvPr id="6" name="Metin kutusu 5">
            <a:extLst>
              <a:ext uri="{FF2B5EF4-FFF2-40B4-BE49-F238E27FC236}">
                <a16:creationId xmlns:a16="http://schemas.microsoft.com/office/drawing/2014/main" id="{F0BABC76-53C4-6EAF-DE59-87056FAE0133}"/>
              </a:ext>
            </a:extLst>
          </p:cNvPr>
          <p:cNvSpPr txBox="1"/>
          <p:nvPr/>
        </p:nvSpPr>
        <p:spPr>
          <a:xfrm>
            <a:off x="1164349" y="184777"/>
            <a:ext cx="10688668" cy="1015663"/>
          </a:xfrm>
          <a:prstGeom prst="rect">
            <a:avLst/>
          </a:prstGeom>
          <a:noFill/>
        </p:spPr>
        <p:txBody>
          <a:bodyPr wrap="square" rtlCol="0">
            <a:spAutoFit/>
          </a:bodyPr>
          <a:lstStyle/>
          <a:p>
            <a:r>
              <a:rPr lang="tr-TR" sz="3000" b="1" dirty="0">
                <a:latin typeface="Consolas" panose="020B0609020204030204" pitchFamily="49" charset="0"/>
              </a:rPr>
              <a:t>Set </a:t>
            </a:r>
            <a:r>
              <a:rPr lang="tr-TR" sz="3000" b="1" dirty="0" err="1">
                <a:latin typeface="Consolas" panose="020B0609020204030204" pitchFamily="49" charset="0"/>
              </a:rPr>
              <a:t>associative</a:t>
            </a:r>
            <a:r>
              <a:rPr lang="tr-TR" sz="3000" b="1" dirty="0">
                <a:latin typeface="Consolas" panose="020B0609020204030204" pitchFamily="49" charset="0"/>
              </a:rPr>
              <a:t> </a:t>
            </a:r>
            <a:r>
              <a:rPr lang="tr-TR" sz="3000" b="1" dirty="0" err="1">
                <a:latin typeface="Consolas" panose="020B0609020204030204" pitchFamily="49" charset="0"/>
              </a:rPr>
              <a:t>cache</a:t>
            </a:r>
            <a:endParaRPr lang="tr-TR" sz="3000" b="1" dirty="0">
              <a:latin typeface="Consolas" panose="020B0609020204030204" pitchFamily="49" charset="0"/>
            </a:endParaRPr>
          </a:p>
          <a:p>
            <a:endParaRPr lang="tr-TR" sz="3000" b="1" dirty="0">
              <a:latin typeface="Consolas" panose="020B0609020204030204" pitchFamily="49" charset="0"/>
            </a:endParaRPr>
          </a:p>
        </p:txBody>
      </p:sp>
      <p:sp>
        <p:nvSpPr>
          <p:cNvPr id="3" name="Metin kutusu 2">
            <a:extLst>
              <a:ext uri="{FF2B5EF4-FFF2-40B4-BE49-F238E27FC236}">
                <a16:creationId xmlns:a16="http://schemas.microsoft.com/office/drawing/2014/main" id="{2A978ED9-DE3E-2ACA-02BE-06615EF0AAFA}"/>
              </a:ext>
            </a:extLst>
          </p:cNvPr>
          <p:cNvSpPr txBox="1"/>
          <p:nvPr/>
        </p:nvSpPr>
        <p:spPr>
          <a:xfrm>
            <a:off x="1164350" y="906396"/>
            <a:ext cx="4827930" cy="5562643"/>
          </a:xfrm>
          <a:prstGeom prst="rect">
            <a:avLst/>
          </a:prstGeom>
          <a:noFill/>
        </p:spPr>
        <p:txBody>
          <a:bodyPr wrap="square">
            <a:spAutoFit/>
          </a:bodyPr>
          <a:lstStyle/>
          <a:p>
            <a:r>
              <a:rPr lang="tr-TR" dirty="0"/>
              <a:t>Bu tür önbellekler, tamamen ilişkilendirilmiş (</a:t>
            </a:r>
            <a:r>
              <a:rPr lang="tr-TR" dirty="0" err="1"/>
              <a:t>fully</a:t>
            </a:r>
            <a:r>
              <a:rPr lang="tr-TR" dirty="0"/>
              <a:t> </a:t>
            </a:r>
            <a:r>
              <a:rPr lang="tr-TR" dirty="0" err="1"/>
              <a:t>associative</a:t>
            </a:r>
            <a:r>
              <a:rPr lang="tr-TR" dirty="0"/>
              <a:t>) ve direkt ilişkilendirilmiş (</a:t>
            </a:r>
            <a:r>
              <a:rPr lang="tr-TR" dirty="0" err="1"/>
              <a:t>direct</a:t>
            </a:r>
            <a:r>
              <a:rPr lang="tr-TR" dirty="0"/>
              <a:t> </a:t>
            </a:r>
            <a:r>
              <a:rPr lang="tr-TR" dirty="0" err="1"/>
              <a:t>mapped</a:t>
            </a:r>
            <a:r>
              <a:rPr lang="tr-TR" dirty="0"/>
              <a:t>) önbelleklerin bir kombinasyonunu kullanır. </a:t>
            </a:r>
          </a:p>
          <a:p>
            <a:endParaRPr lang="tr-TR" dirty="0"/>
          </a:p>
          <a:p>
            <a:r>
              <a:rPr lang="tr-TR" dirty="0"/>
              <a:t>Set </a:t>
            </a:r>
            <a:r>
              <a:rPr lang="tr-TR" dirty="0" err="1"/>
              <a:t>associative</a:t>
            </a:r>
            <a:r>
              <a:rPr lang="tr-TR" dirty="0"/>
              <a:t> </a:t>
            </a:r>
            <a:r>
              <a:rPr lang="tr-TR" dirty="0" err="1"/>
              <a:t>cache'te</a:t>
            </a:r>
            <a:r>
              <a:rPr lang="tr-TR" dirty="0"/>
              <a:t>, önbellek bir dizi "</a:t>
            </a:r>
            <a:r>
              <a:rPr lang="tr-TR" dirty="0" err="1"/>
              <a:t>set"e</a:t>
            </a:r>
            <a:r>
              <a:rPr lang="tr-TR" dirty="0"/>
              <a:t> bölünür ve her set birden fazla önbellek hücresinden oluşur. Her set, belirli bir sayıda önbellek hücresine sahiptir.</a:t>
            </a:r>
          </a:p>
          <a:p>
            <a:endParaRPr lang="tr-TR" dirty="0"/>
          </a:p>
          <a:p>
            <a:r>
              <a:rPr lang="tr-TR" dirty="0"/>
              <a:t>Set </a:t>
            </a:r>
            <a:r>
              <a:rPr lang="tr-TR" dirty="0" err="1"/>
              <a:t>associative</a:t>
            </a:r>
            <a:r>
              <a:rPr lang="tr-TR" dirty="0"/>
              <a:t> </a:t>
            </a:r>
            <a:r>
              <a:rPr lang="tr-TR" dirty="0" err="1"/>
              <a:t>cache</a:t>
            </a:r>
            <a:r>
              <a:rPr lang="tr-TR" dirty="0"/>
              <a:t>, tamamen ilişkilendirilmiş önbelleklerdeki esneklikle direkt ilişkilendirilmiş önbelleklerdeki basit adresleme yapısının bir kombinasyonunu sağlar.</a:t>
            </a:r>
          </a:p>
          <a:p>
            <a:endParaRPr lang="tr-TR" dirty="0"/>
          </a:p>
          <a:p>
            <a:r>
              <a:rPr lang="tr-TR" dirty="0"/>
              <a:t>Bu sayede, önbellek çakışmalarının ve maliyetin azaltılmasına yardımcı olurken, hızlı erişim ve performans avantajları sağlar.</a:t>
            </a:r>
          </a:p>
        </p:txBody>
      </p:sp>
      <p:pic>
        <p:nvPicPr>
          <p:cNvPr id="11266" name="Picture 2" descr="Set Associative Cache Vs Direct Mapped">
            <a:extLst>
              <a:ext uri="{FF2B5EF4-FFF2-40B4-BE49-F238E27FC236}">
                <a16:creationId xmlns:a16="http://schemas.microsoft.com/office/drawing/2014/main" id="{2A81C918-8908-B731-4FCA-34325185B60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92279" y="1062819"/>
            <a:ext cx="6309815" cy="47323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1427561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117CA6-9BBC-8221-B106-7BE50CDDBA6E}"/>
            </a:ext>
          </a:extLst>
        </p:cNvPr>
        <p:cNvGrpSpPr/>
        <p:nvPr/>
      </p:nvGrpSpPr>
      <p:grpSpPr>
        <a:xfrm>
          <a:off x="0" y="0"/>
          <a:ext cx="0" cy="0"/>
          <a:chOff x="0" y="0"/>
          <a:chExt cx="0" cy="0"/>
        </a:xfrm>
      </p:grpSpPr>
      <p:pic>
        <p:nvPicPr>
          <p:cNvPr id="4" name="Picture 2" descr="Parallel computing for high-performance simulations">
            <a:extLst>
              <a:ext uri="{FF2B5EF4-FFF2-40B4-BE49-F238E27FC236}">
                <a16:creationId xmlns:a16="http://schemas.microsoft.com/office/drawing/2014/main" id="{A748E547-B5CF-E215-5322-28E2C9F41B3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51802" b="-1"/>
          <a:stretch/>
        </p:blipFill>
        <p:spPr bwMode="auto">
          <a:xfrm rot="5400000">
            <a:off x="-2989346" y="2971346"/>
            <a:ext cx="6876000" cy="914399"/>
          </a:xfrm>
          <a:prstGeom prst="rect">
            <a:avLst/>
          </a:prstGeom>
          <a:noFill/>
          <a:extLst>
            <a:ext uri="{909E8E84-426E-40DD-AFC4-6F175D3DCCD1}">
              <a14:hiddenFill xmlns:a14="http://schemas.microsoft.com/office/drawing/2010/main">
                <a:solidFill>
                  <a:srgbClr val="FFFFFF"/>
                </a:solidFill>
              </a14:hiddenFill>
            </a:ext>
          </a:extLst>
        </p:spPr>
      </p:pic>
      <p:sp>
        <p:nvSpPr>
          <p:cNvPr id="6" name="Metin kutusu 5">
            <a:extLst>
              <a:ext uri="{FF2B5EF4-FFF2-40B4-BE49-F238E27FC236}">
                <a16:creationId xmlns:a16="http://schemas.microsoft.com/office/drawing/2014/main" id="{960E4A40-DE64-7A61-DAC8-5925785CBCE2}"/>
              </a:ext>
            </a:extLst>
          </p:cNvPr>
          <p:cNvSpPr txBox="1"/>
          <p:nvPr/>
        </p:nvSpPr>
        <p:spPr>
          <a:xfrm>
            <a:off x="1164349" y="184777"/>
            <a:ext cx="10688668" cy="553998"/>
          </a:xfrm>
          <a:prstGeom prst="rect">
            <a:avLst/>
          </a:prstGeom>
          <a:noFill/>
        </p:spPr>
        <p:txBody>
          <a:bodyPr wrap="square" rtlCol="0">
            <a:spAutoFit/>
          </a:bodyPr>
          <a:lstStyle/>
          <a:p>
            <a:r>
              <a:rPr lang="tr-TR" sz="3000" b="1" dirty="0">
                <a:latin typeface="Consolas" panose="020B0609020204030204" pitchFamily="49" charset="0"/>
              </a:rPr>
              <a:t>Hit </a:t>
            </a:r>
            <a:r>
              <a:rPr lang="tr-TR" sz="3000" b="1" dirty="0" err="1">
                <a:latin typeface="Consolas" panose="020B0609020204030204" pitchFamily="49" charset="0"/>
              </a:rPr>
              <a:t>and</a:t>
            </a:r>
            <a:r>
              <a:rPr lang="tr-TR" sz="3000" b="1" dirty="0">
                <a:latin typeface="Consolas" panose="020B0609020204030204" pitchFamily="49" charset="0"/>
              </a:rPr>
              <a:t> </a:t>
            </a:r>
            <a:r>
              <a:rPr lang="tr-TR" sz="3000" b="1" dirty="0" err="1">
                <a:latin typeface="Consolas" panose="020B0609020204030204" pitchFamily="49" charset="0"/>
              </a:rPr>
              <a:t>Miss</a:t>
            </a:r>
            <a:r>
              <a:rPr lang="tr-TR" sz="3000" b="1" dirty="0">
                <a:latin typeface="Consolas" panose="020B0609020204030204" pitchFamily="49" charset="0"/>
              </a:rPr>
              <a:t> rate?</a:t>
            </a:r>
          </a:p>
        </p:txBody>
      </p:sp>
      <p:sp>
        <p:nvSpPr>
          <p:cNvPr id="7" name="Metin kutusu 6">
            <a:extLst>
              <a:ext uri="{FF2B5EF4-FFF2-40B4-BE49-F238E27FC236}">
                <a16:creationId xmlns:a16="http://schemas.microsoft.com/office/drawing/2014/main" id="{527F9AD8-A81F-1027-9A86-712A2BDF0171}"/>
              </a:ext>
            </a:extLst>
          </p:cNvPr>
          <p:cNvSpPr txBox="1"/>
          <p:nvPr/>
        </p:nvSpPr>
        <p:spPr>
          <a:xfrm>
            <a:off x="1164349" y="759758"/>
            <a:ext cx="10688668" cy="5016758"/>
          </a:xfrm>
          <a:prstGeom prst="rect">
            <a:avLst/>
          </a:prstGeom>
          <a:noFill/>
        </p:spPr>
        <p:txBody>
          <a:bodyPr wrap="square" rtlCol="0">
            <a:spAutoFit/>
          </a:bodyPr>
          <a:lstStyle/>
          <a:p>
            <a:pPr marL="457200" indent="-457200">
              <a:buFont typeface="Wingdings" panose="05000000000000000000" pitchFamily="2" charset="2"/>
              <a:buChar char="§"/>
            </a:pPr>
            <a:r>
              <a:rPr lang="tr-TR" sz="2000" dirty="0">
                <a:solidFill>
                  <a:schemeClr val="tx1">
                    <a:lumMod val="95000"/>
                    <a:lumOff val="5000"/>
                  </a:schemeClr>
                </a:solidFill>
                <a:latin typeface="Consolas" panose="020B0609020204030204" pitchFamily="49" charset="0"/>
              </a:rPr>
              <a:t>Hit rate ve </a:t>
            </a:r>
            <a:r>
              <a:rPr lang="tr-TR" sz="2000" dirty="0" err="1">
                <a:solidFill>
                  <a:schemeClr val="tx1">
                    <a:lumMod val="95000"/>
                    <a:lumOff val="5000"/>
                  </a:schemeClr>
                </a:solidFill>
                <a:latin typeface="Consolas" panose="020B0609020204030204" pitchFamily="49" charset="0"/>
              </a:rPr>
              <a:t>miss</a:t>
            </a:r>
            <a:r>
              <a:rPr lang="tr-TR" sz="2000" dirty="0">
                <a:solidFill>
                  <a:schemeClr val="tx1">
                    <a:lumMod val="95000"/>
                    <a:lumOff val="5000"/>
                  </a:schemeClr>
                </a:solidFill>
                <a:latin typeface="Consolas" panose="020B0609020204030204" pitchFamily="49" charset="0"/>
              </a:rPr>
              <a:t> rate, önbellek performansını değerlendirmek için kullanılan ölçümlerdir. Yüksek hit rate ve düşük </a:t>
            </a:r>
            <a:r>
              <a:rPr lang="tr-TR" sz="2000" dirty="0" err="1">
                <a:solidFill>
                  <a:schemeClr val="tx1">
                    <a:lumMod val="95000"/>
                    <a:lumOff val="5000"/>
                  </a:schemeClr>
                </a:solidFill>
                <a:latin typeface="Consolas" panose="020B0609020204030204" pitchFamily="49" charset="0"/>
              </a:rPr>
              <a:t>miss</a:t>
            </a:r>
            <a:r>
              <a:rPr lang="tr-TR" sz="2000" dirty="0">
                <a:solidFill>
                  <a:schemeClr val="tx1">
                    <a:lumMod val="95000"/>
                    <a:lumOff val="5000"/>
                  </a:schemeClr>
                </a:solidFill>
                <a:latin typeface="Consolas" panose="020B0609020204030204" pitchFamily="49" charset="0"/>
              </a:rPr>
              <a:t> rate, daha etkili bir önbellek performansını gösterir.</a:t>
            </a:r>
          </a:p>
          <a:p>
            <a:pPr marL="457200" indent="-457200">
              <a:buFont typeface="Wingdings" panose="05000000000000000000" pitchFamily="2" charset="2"/>
              <a:buChar char="§"/>
            </a:pPr>
            <a:r>
              <a:rPr lang="tr-TR" sz="2000" dirty="0">
                <a:solidFill>
                  <a:schemeClr val="tx1">
                    <a:lumMod val="95000"/>
                    <a:lumOff val="5000"/>
                  </a:schemeClr>
                </a:solidFill>
                <a:latin typeface="Consolas" panose="020B0609020204030204" pitchFamily="49" charset="0"/>
              </a:rPr>
              <a:t>Hit Rate (Vurma Oranı): Hit rate, önbelleğin istenilen veriye erişimlerde başarılı olma oranını ifade eder. Bir veriye erişildiğinde önbellekte bulunuyorsa, bu bir "hit" olarak kabul edilir. Hit rate, önbellekteki verilere erişildiğinde kaç kez başarılı bir erişim gerçekleştiğini belirtir ve aşağıdaki formülle hesaplanır:</a:t>
            </a:r>
          </a:p>
          <a:p>
            <a:pPr marL="457200" indent="-457200">
              <a:buFont typeface="Wingdings" panose="05000000000000000000" pitchFamily="2" charset="2"/>
              <a:buChar char="§"/>
            </a:pPr>
            <a:endParaRPr lang="tr-TR" sz="2000" dirty="0">
              <a:solidFill>
                <a:schemeClr val="tx1">
                  <a:lumMod val="95000"/>
                  <a:lumOff val="5000"/>
                </a:schemeClr>
              </a:solidFill>
              <a:latin typeface="Consolas" panose="020B0609020204030204" pitchFamily="49" charset="0"/>
            </a:endParaRPr>
          </a:p>
          <a:p>
            <a:endParaRPr lang="tr-TR" sz="2000" dirty="0">
              <a:solidFill>
                <a:schemeClr val="tx1">
                  <a:lumMod val="95000"/>
                  <a:lumOff val="5000"/>
                </a:schemeClr>
              </a:solidFill>
              <a:latin typeface="Consolas" panose="020B0609020204030204" pitchFamily="49" charset="0"/>
            </a:endParaRPr>
          </a:p>
          <a:p>
            <a:endParaRPr lang="tr-TR" sz="2000" dirty="0">
              <a:solidFill>
                <a:schemeClr val="tx1">
                  <a:lumMod val="95000"/>
                  <a:lumOff val="5000"/>
                </a:schemeClr>
              </a:solidFill>
              <a:latin typeface="Consolas" panose="020B0609020204030204" pitchFamily="49" charset="0"/>
            </a:endParaRPr>
          </a:p>
          <a:p>
            <a:pPr marL="457200" indent="-457200">
              <a:buFont typeface="Wingdings" panose="05000000000000000000" pitchFamily="2" charset="2"/>
              <a:buChar char="§"/>
            </a:pPr>
            <a:r>
              <a:rPr lang="tr-TR" sz="2000" dirty="0" err="1">
                <a:solidFill>
                  <a:schemeClr val="tx1">
                    <a:lumMod val="95000"/>
                    <a:lumOff val="5000"/>
                  </a:schemeClr>
                </a:solidFill>
                <a:latin typeface="Consolas" panose="020B0609020204030204" pitchFamily="49" charset="0"/>
              </a:rPr>
              <a:t>Miss</a:t>
            </a:r>
            <a:r>
              <a:rPr lang="tr-TR" sz="2000" dirty="0">
                <a:solidFill>
                  <a:schemeClr val="tx1">
                    <a:lumMod val="95000"/>
                    <a:lumOff val="5000"/>
                  </a:schemeClr>
                </a:solidFill>
                <a:latin typeface="Consolas" panose="020B0609020204030204" pitchFamily="49" charset="0"/>
              </a:rPr>
              <a:t> Rate (Kaçırma Oranı): </a:t>
            </a:r>
            <a:r>
              <a:rPr lang="tr-TR" sz="2000" dirty="0" err="1">
                <a:solidFill>
                  <a:schemeClr val="tx1">
                    <a:lumMod val="95000"/>
                    <a:lumOff val="5000"/>
                  </a:schemeClr>
                </a:solidFill>
                <a:latin typeface="Consolas" panose="020B0609020204030204" pitchFamily="49" charset="0"/>
              </a:rPr>
              <a:t>Miss</a:t>
            </a:r>
            <a:r>
              <a:rPr lang="tr-TR" sz="2000" dirty="0">
                <a:solidFill>
                  <a:schemeClr val="tx1">
                    <a:lumMod val="95000"/>
                    <a:lumOff val="5000"/>
                  </a:schemeClr>
                </a:solidFill>
                <a:latin typeface="Consolas" panose="020B0609020204030204" pitchFamily="49" charset="0"/>
              </a:rPr>
              <a:t> rate, önbelleğin istenilen veriye erişimlerde başarısız olma oranını ifade eder. Bir veriye erişildiğinde önbellekte bulunmuyorsa, bu bir "</a:t>
            </a:r>
            <a:r>
              <a:rPr lang="tr-TR" sz="2000" dirty="0" err="1">
                <a:solidFill>
                  <a:schemeClr val="tx1">
                    <a:lumMod val="95000"/>
                    <a:lumOff val="5000"/>
                  </a:schemeClr>
                </a:solidFill>
                <a:latin typeface="Consolas" panose="020B0609020204030204" pitchFamily="49" charset="0"/>
              </a:rPr>
              <a:t>miss</a:t>
            </a:r>
            <a:r>
              <a:rPr lang="tr-TR" sz="2000" dirty="0">
                <a:solidFill>
                  <a:schemeClr val="tx1">
                    <a:lumMod val="95000"/>
                    <a:lumOff val="5000"/>
                  </a:schemeClr>
                </a:solidFill>
                <a:latin typeface="Consolas" panose="020B0609020204030204" pitchFamily="49" charset="0"/>
              </a:rPr>
              <a:t>" olarak kabul edilir. </a:t>
            </a:r>
            <a:r>
              <a:rPr lang="tr-TR" sz="2000" dirty="0" err="1">
                <a:solidFill>
                  <a:schemeClr val="tx1">
                    <a:lumMod val="95000"/>
                    <a:lumOff val="5000"/>
                  </a:schemeClr>
                </a:solidFill>
                <a:latin typeface="Consolas" panose="020B0609020204030204" pitchFamily="49" charset="0"/>
              </a:rPr>
              <a:t>Miss</a:t>
            </a:r>
            <a:r>
              <a:rPr lang="tr-TR" sz="2000" dirty="0">
                <a:solidFill>
                  <a:schemeClr val="tx1">
                    <a:lumMod val="95000"/>
                    <a:lumOff val="5000"/>
                  </a:schemeClr>
                </a:solidFill>
                <a:latin typeface="Consolas" panose="020B0609020204030204" pitchFamily="49" charset="0"/>
              </a:rPr>
              <a:t> rate, önbelleğin verilere erişimlerde kaç kez başarısız olduğunu belirtir ve aşağıdaki formülle hesaplanır:</a:t>
            </a:r>
          </a:p>
        </p:txBody>
      </p:sp>
      <p:pic>
        <p:nvPicPr>
          <p:cNvPr id="2" name="Resim 1">
            <a:extLst>
              <a:ext uri="{FF2B5EF4-FFF2-40B4-BE49-F238E27FC236}">
                <a16:creationId xmlns:a16="http://schemas.microsoft.com/office/drawing/2014/main" id="{26E3D2EA-E23E-775A-E07C-54C1A52C029A}"/>
              </a:ext>
            </a:extLst>
          </p:cNvPr>
          <p:cNvPicPr>
            <a:picLocks noChangeAspect="1"/>
          </p:cNvPicPr>
          <p:nvPr/>
        </p:nvPicPr>
        <p:blipFill rotWithShape="1">
          <a:blip r:embed="rId3">
            <a:alphaModFix/>
          </a:blip>
          <a:srcRect t="10647"/>
          <a:stretch/>
        </p:blipFill>
        <p:spPr>
          <a:xfrm>
            <a:off x="1699457" y="3428545"/>
            <a:ext cx="6773220" cy="689478"/>
          </a:xfrm>
          <a:prstGeom prst="rect">
            <a:avLst/>
          </a:prstGeom>
        </p:spPr>
      </p:pic>
      <p:pic>
        <p:nvPicPr>
          <p:cNvPr id="3" name="Resim 2">
            <a:extLst>
              <a:ext uri="{FF2B5EF4-FFF2-40B4-BE49-F238E27FC236}">
                <a16:creationId xmlns:a16="http://schemas.microsoft.com/office/drawing/2014/main" id="{B7A5426C-AFEB-AB69-09FC-ADB8AAEF6258}"/>
              </a:ext>
            </a:extLst>
          </p:cNvPr>
          <p:cNvPicPr>
            <a:picLocks noChangeAspect="1"/>
          </p:cNvPicPr>
          <p:nvPr/>
        </p:nvPicPr>
        <p:blipFill>
          <a:blip r:embed="rId4"/>
          <a:stretch>
            <a:fillRect/>
          </a:stretch>
        </p:blipFill>
        <p:spPr>
          <a:xfrm>
            <a:off x="1699457" y="5800456"/>
            <a:ext cx="6811326" cy="609685"/>
          </a:xfrm>
          <a:prstGeom prst="rect">
            <a:avLst/>
          </a:prstGeom>
        </p:spPr>
      </p:pic>
    </p:spTree>
    <p:extLst>
      <p:ext uri="{BB962C8B-B14F-4D97-AF65-F5344CB8AC3E}">
        <p14:creationId xmlns:p14="http://schemas.microsoft.com/office/powerpoint/2010/main" val="165729244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6AE2A9-AA9E-DC9B-4A6F-0AF039383607}"/>
            </a:ext>
          </a:extLst>
        </p:cNvPr>
        <p:cNvGrpSpPr/>
        <p:nvPr/>
      </p:nvGrpSpPr>
      <p:grpSpPr>
        <a:xfrm>
          <a:off x="0" y="0"/>
          <a:ext cx="0" cy="0"/>
          <a:chOff x="0" y="0"/>
          <a:chExt cx="0" cy="0"/>
        </a:xfrm>
      </p:grpSpPr>
      <p:pic>
        <p:nvPicPr>
          <p:cNvPr id="4" name="Picture 2" descr="Parallel computing for high-performance simulations">
            <a:extLst>
              <a:ext uri="{FF2B5EF4-FFF2-40B4-BE49-F238E27FC236}">
                <a16:creationId xmlns:a16="http://schemas.microsoft.com/office/drawing/2014/main" id="{804A5057-165A-137A-C50A-C8A36AE70E5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51802" b="-1"/>
          <a:stretch/>
        </p:blipFill>
        <p:spPr bwMode="auto">
          <a:xfrm rot="5400000">
            <a:off x="-2989346" y="2971346"/>
            <a:ext cx="6876000" cy="914399"/>
          </a:xfrm>
          <a:prstGeom prst="rect">
            <a:avLst/>
          </a:prstGeom>
          <a:noFill/>
          <a:extLst>
            <a:ext uri="{909E8E84-426E-40DD-AFC4-6F175D3DCCD1}">
              <a14:hiddenFill xmlns:a14="http://schemas.microsoft.com/office/drawing/2010/main">
                <a:solidFill>
                  <a:srgbClr val="FFFFFF"/>
                </a:solidFill>
              </a14:hiddenFill>
            </a:ext>
          </a:extLst>
        </p:spPr>
      </p:pic>
      <p:sp>
        <p:nvSpPr>
          <p:cNvPr id="6" name="Metin kutusu 5">
            <a:extLst>
              <a:ext uri="{FF2B5EF4-FFF2-40B4-BE49-F238E27FC236}">
                <a16:creationId xmlns:a16="http://schemas.microsoft.com/office/drawing/2014/main" id="{0FCA2016-077A-9303-4B56-48577EE5FF13}"/>
              </a:ext>
            </a:extLst>
          </p:cNvPr>
          <p:cNvSpPr txBox="1"/>
          <p:nvPr/>
        </p:nvSpPr>
        <p:spPr>
          <a:xfrm>
            <a:off x="1164349" y="184777"/>
            <a:ext cx="10688668" cy="553998"/>
          </a:xfrm>
          <a:prstGeom prst="rect">
            <a:avLst/>
          </a:prstGeom>
          <a:noFill/>
        </p:spPr>
        <p:txBody>
          <a:bodyPr wrap="square" rtlCol="0">
            <a:spAutoFit/>
          </a:bodyPr>
          <a:lstStyle/>
          <a:p>
            <a:r>
              <a:rPr lang="tr-TR" sz="3000" b="1" dirty="0" err="1">
                <a:latin typeface="Consolas" panose="020B0609020204030204" pitchFamily="49" charset="0"/>
              </a:rPr>
              <a:t>Seek</a:t>
            </a:r>
            <a:r>
              <a:rPr lang="tr-TR" sz="3000" b="1" dirty="0">
                <a:latin typeface="Consolas" panose="020B0609020204030204" pitchFamily="49" charset="0"/>
              </a:rPr>
              <a:t> time?</a:t>
            </a:r>
          </a:p>
        </p:txBody>
      </p:sp>
      <p:sp>
        <p:nvSpPr>
          <p:cNvPr id="7" name="Metin kutusu 6">
            <a:extLst>
              <a:ext uri="{FF2B5EF4-FFF2-40B4-BE49-F238E27FC236}">
                <a16:creationId xmlns:a16="http://schemas.microsoft.com/office/drawing/2014/main" id="{30C39328-F244-A714-2BAE-BBF8E0BA865A}"/>
              </a:ext>
            </a:extLst>
          </p:cNvPr>
          <p:cNvSpPr txBox="1"/>
          <p:nvPr/>
        </p:nvSpPr>
        <p:spPr>
          <a:xfrm>
            <a:off x="1164349" y="759758"/>
            <a:ext cx="10688668" cy="4401205"/>
          </a:xfrm>
          <a:prstGeom prst="rect">
            <a:avLst/>
          </a:prstGeom>
          <a:noFill/>
        </p:spPr>
        <p:txBody>
          <a:bodyPr wrap="square" rtlCol="0">
            <a:spAutoFit/>
          </a:bodyPr>
          <a:lstStyle/>
          <a:p>
            <a:pPr marL="457200" indent="-457200">
              <a:buFont typeface="Wingdings" panose="05000000000000000000" pitchFamily="2" charset="2"/>
              <a:buChar char="§"/>
            </a:pPr>
            <a:r>
              <a:rPr lang="tr-TR" sz="2000" dirty="0" err="1">
                <a:solidFill>
                  <a:schemeClr val="tx1">
                    <a:lumMod val="95000"/>
                    <a:lumOff val="5000"/>
                  </a:schemeClr>
                </a:solidFill>
                <a:latin typeface="Consolas" panose="020B0609020204030204" pitchFamily="49" charset="0"/>
              </a:rPr>
              <a:t>Seek</a:t>
            </a:r>
            <a:r>
              <a:rPr lang="tr-TR" sz="2000" dirty="0">
                <a:solidFill>
                  <a:schemeClr val="tx1">
                    <a:lumMod val="95000"/>
                    <a:lumOff val="5000"/>
                  </a:schemeClr>
                </a:solidFill>
                <a:latin typeface="Consolas" panose="020B0609020204030204" pitchFamily="49" charset="0"/>
              </a:rPr>
              <a:t> time, bir disk sürücüsünün başlığının belirli bir konumdan diğerine hareket etme süresidir. Disk sürücüsü, okuma veya yazma işlemi için başlığını farklı konumlara hareket ettirmesi gerektiğinde, bu hareketin gerçekleşme süresi </a:t>
            </a:r>
            <a:r>
              <a:rPr lang="tr-TR" sz="2000" dirty="0" err="1">
                <a:solidFill>
                  <a:schemeClr val="tx1">
                    <a:lumMod val="95000"/>
                    <a:lumOff val="5000"/>
                  </a:schemeClr>
                </a:solidFill>
                <a:latin typeface="Consolas" panose="020B0609020204030204" pitchFamily="49" charset="0"/>
              </a:rPr>
              <a:t>seek</a:t>
            </a:r>
            <a:r>
              <a:rPr lang="tr-TR" sz="2000" dirty="0">
                <a:solidFill>
                  <a:schemeClr val="tx1">
                    <a:lumMod val="95000"/>
                    <a:lumOff val="5000"/>
                  </a:schemeClr>
                </a:solidFill>
                <a:latin typeface="Consolas" panose="020B0609020204030204" pitchFamily="49" charset="0"/>
              </a:rPr>
              <a:t> time olarak adlandırılır.</a:t>
            </a:r>
          </a:p>
          <a:p>
            <a:pPr marL="457200" indent="-457200">
              <a:buFont typeface="Wingdings" panose="05000000000000000000" pitchFamily="2" charset="2"/>
              <a:buChar char="§"/>
            </a:pPr>
            <a:endParaRPr lang="tr-TR" sz="2000" dirty="0">
              <a:solidFill>
                <a:schemeClr val="tx1">
                  <a:lumMod val="95000"/>
                  <a:lumOff val="5000"/>
                </a:schemeClr>
              </a:solidFill>
              <a:latin typeface="Consolas" panose="020B0609020204030204" pitchFamily="49" charset="0"/>
            </a:endParaRPr>
          </a:p>
          <a:p>
            <a:pPr marL="457200" indent="-457200">
              <a:buFont typeface="Wingdings" panose="05000000000000000000" pitchFamily="2" charset="2"/>
              <a:buChar char="§"/>
            </a:pPr>
            <a:r>
              <a:rPr lang="tr-TR" sz="2000" dirty="0" err="1">
                <a:solidFill>
                  <a:schemeClr val="tx1">
                    <a:lumMod val="95000"/>
                    <a:lumOff val="5000"/>
                  </a:schemeClr>
                </a:solidFill>
                <a:latin typeface="Consolas" panose="020B0609020204030204" pitchFamily="49" charset="0"/>
              </a:rPr>
              <a:t>Seek</a:t>
            </a:r>
            <a:r>
              <a:rPr lang="tr-TR" sz="2000" dirty="0">
                <a:solidFill>
                  <a:schemeClr val="tx1">
                    <a:lumMod val="95000"/>
                    <a:lumOff val="5000"/>
                  </a:schemeClr>
                </a:solidFill>
                <a:latin typeface="Consolas" panose="020B0609020204030204" pitchFamily="49" charset="0"/>
              </a:rPr>
              <a:t> time, disk erişim sürecinin bir parçasıdır ve disk erişim hızının önemli bir bileşenidir. </a:t>
            </a:r>
          </a:p>
          <a:p>
            <a:pPr marL="457200" indent="-457200">
              <a:buFont typeface="Wingdings" panose="05000000000000000000" pitchFamily="2" charset="2"/>
              <a:buChar char="§"/>
            </a:pPr>
            <a:endParaRPr lang="tr-TR" sz="2000" dirty="0">
              <a:solidFill>
                <a:schemeClr val="tx1">
                  <a:lumMod val="95000"/>
                  <a:lumOff val="5000"/>
                </a:schemeClr>
              </a:solidFill>
              <a:latin typeface="Consolas" panose="020B0609020204030204" pitchFamily="49" charset="0"/>
            </a:endParaRPr>
          </a:p>
          <a:p>
            <a:pPr marL="457200" indent="-457200">
              <a:buFont typeface="Wingdings" panose="05000000000000000000" pitchFamily="2" charset="2"/>
              <a:buChar char="§"/>
            </a:pPr>
            <a:r>
              <a:rPr lang="tr-TR" sz="2000" dirty="0">
                <a:solidFill>
                  <a:schemeClr val="tx1">
                    <a:lumMod val="95000"/>
                    <a:lumOff val="5000"/>
                  </a:schemeClr>
                </a:solidFill>
                <a:latin typeface="Consolas" panose="020B0609020204030204" pitchFamily="49" charset="0"/>
              </a:rPr>
              <a:t>Daha kısa </a:t>
            </a:r>
            <a:r>
              <a:rPr lang="tr-TR" sz="2000" dirty="0" err="1">
                <a:solidFill>
                  <a:schemeClr val="tx1">
                    <a:lumMod val="95000"/>
                    <a:lumOff val="5000"/>
                  </a:schemeClr>
                </a:solidFill>
                <a:latin typeface="Consolas" panose="020B0609020204030204" pitchFamily="49" charset="0"/>
              </a:rPr>
              <a:t>seek</a:t>
            </a:r>
            <a:r>
              <a:rPr lang="tr-TR" sz="2000" dirty="0">
                <a:solidFill>
                  <a:schemeClr val="tx1">
                    <a:lumMod val="95000"/>
                    <a:lumOff val="5000"/>
                  </a:schemeClr>
                </a:solidFill>
                <a:latin typeface="Consolas" panose="020B0609020204030204" pitchFamily="49" charset="0"/>
              </a:rPr>
              <a:t> time, disk erişim süresinin daha düşük olmasını sağlar ve dolayısıyla daha hızlı disk erişimi sağlar. </a:t>
            </a:r>
          </a:p>
          <a:p>
            <a:pPr marL="457200" indent="-457200">
              <a:buFont typeface="Wingdings" panose="05000000000000000000" pitchFamily="2" charset="2"/>
              <a:buChar char="§"/>
            </a:pPr>
            <a:endParaRPr lang="tr-TR" sz="2000" dirty="0">
              <a:solidFill>
                <a:schemeClr val="tx1">
                  <a:lumMod val="95000"/>
                  <a:lumOff val="5000"/>
                </a:schemeClr>
              </a:solidFill>
              <a:latin typeface="Consolas" panose="020B0609020204030204" pitchFamily="49" charset="0"/>
            </a:endParaRPr>
          </a:p>
          <a:p>
            <a:pPr marL="457200" indent="-457200">
              <a:buFont typeface="Wingdings" panose="05000000000000000000" pitchFamily="2" charset="2"/>
              <a:buChar char="§"/>
            </a:pPr>
            <a:r>
              <a:rPr lang="tr-TR" sz="2000" dirty="0">
                <a:solidFill>
                  <a:schemeClr val="tx1">
                    <a:lumMod val="95000"/>
                    <a:lumOff val="5000"/>
                  </a:schemeClr>
                </a:solidFill>
                <a:latin typeface="Consolas" panose="020B0609020204030204" pitchFamily="49" charset="0"/>
              </a:rPr>
              <a:t>Disk sürücülerinin performansını değerlendirirken </a:t>
            </a:r>
            <a:r>
              <a:rPr lang="tr-TR" sz="2000" dirty="0" err="1">
                <a:solidFill>
                  <a:schemeClr val="tx1">
                    <a:lumMod val="95000"/>
                    <a:lumOff val="5000"/>
                  </a:schemeClr>
                </a:solidFill>
                <a:latin typeface="Consolas" panose="020B0609020204030204" pitchFamily="49" charset="0"/>
              </a:rPr>
              <a:t>seek</a:t>
            </a:r>
            <a:r>
              <a:rPr lang="tr-TR" sz="2000" dirty="0">
                <a:solidFill>
                  <a:schemeClr val="tx1">
                    <a:lumMod val="95000"/>
                    <a:lumOff val="5000"/>
                  </a:schemeClr>
                </a:solidFill>
                <a:latin typeface="Consolas" panose="020B0609020204030204" pitchFamily="49" charset="0"/>
              </a:rPr>
              <a:t> time, önemli bir faktördür ve daha düşük </a:t>
            </a:r>
            <a:r>
              <a:rPr lang="tr-TR" sz="2000" dirty="0" err="1">
                <a:solidFill>
                  <a:schemeClr val="tx1">
                    <a:lumMod val="95000"/>
                    <a:lumOff val="5000"/>
                  </a:schemeClr>
                </a:solidFill>
                <a:latin typeface="Consolas" panose="020B0609020204030204" pitchFamily="49" charset="0"/>
              </a:rPr>
              <a:t>seek</a:t>
            </a:r>
            <a:r>
              <a:rPr lang="tr-TR" sz="2000" dirty="0">
                <a:solidFill>
                  <a:schemeClr val="tx1">
                    <a:lumMod val="95000"/>
                    <a:lumOff val="5000"/>
                  </a:schemeClr>
                </a:solidFill>
                <a:latin typeface="Consolas" panose="020B0609020204030204" pitchFamily="49" charset="0"/>
              </a:rPr>
              <a:t> </a:t>
            </a:r>
            <a:r>
              <a:rPr lang="tr-TR" sz="2000" dirty="0" err="1">
                <a:solidFill>
                  <a:schemeClr val="tx1">
                    <a:lumMod val="95000"/>
                    <a:lumOff val="5000"/>
                  </a:schemeClr>
                </a:solidFill>
                <a:latin typeface="Consolas" panose="020B0609020204030204" pitchFamily="49" charset="0"/>
              </a:rPr>
              <a:t>time'a</a:t>
            </a:r>
            <a:r>
              <a:rPr lang="tr-TR" sz="2000" dirty="0">
                <a:solidFill>
                  <a:schemeClr val="tx1">
                    <a:lumMod val="95000"/>
                    <a:lumOff val="5000"/>
                  </a:schemeClr>
                </a:solidFill>
                <a:latin typeface="Consolas" panose="020B0609020204030204" pitchFamily="49" charset="0"/>
              </a:rPr>
              <a:t> sahip disk sürücüleri genellikle daha hızlı ve daha etkili olarak kabul edilir.</a:t>
            </a:r>
          </a:p>
        </p:txBody>
      </p:sp>
    </p:spTree>
    <p:extLst>
      <p:ext uri="{BB962C8B-B14F-4D97-AF65-F5344CB8AC3E}">
        <p14:creationId xmlns:p14="http://schemas.microsoft.com/office/powerpoint/2010/main" val="184666298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86BEDF-DB19-451C-5990-0EBCBB791641}"/>
            </a:ext>
          </a:extLst>
        </p:cNvPr>
        <p:cNvGrpSpPr/>
        <p:nvPr/>
      </p:nvGrpSpPr>
      <p:grpSpPr>
        <a:xfrm>
          <a:off x="0" y="0"/>
          <a:ext cx="0" cy="0"/>
          <a:chOff x="0" y="0"/>
          <a:chExt cx="0" cy="0"/>
        </a:xfrm>
      </p:grpSpPr>
      <p:pic>
        <p:nvPicPr>
          <p:cNvPr id="4" name="Picture 2" descr="Parallel computing for high-performance simulations">
            <a:extLst>
              <a:ext uri="{FF2B5EF4-FFF2-40B4-BE49-F238E27FC236}">
                <a16:creationId xmlns:a16="http://schemas.microsoft.com/office/drawing/2014/main" id="{115C28CF-D5B7-5328-567A-14919FC440CC}"/>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51802" b="-1"/>
          <a:stretch/>
        </p:blipFill>
        <p:spPr bwMode="auto">
          <a:xfrm rot="5400000">
            <a:off x="-2989346" y="2971346"/>
            <a:ext cx="6876000" cy="914399"/>
          </a:xfrm>
          <a:prstGeom prst="rect">
            <a:avLst/>
          </a:prstGeom>
          <a:noFill/>
          <a:extLst>
            <a:ext uri="{909E8E84-426E-40DD-AFC4-6F175D3DCCD1}">
              <a14:hiddenFill xmlns:a14="http://schemas.microsoft.com/office/drawing/2010/main">
                <a:solidFill>
                  <a:srgbClr val="FFFFFF"/>
                </a:solidFill>
              </a14:hiddenFill>
            </a:ext>
          </a:extLst>
        </p:spPr>
      </p:pic>
      <p:sp>
        <p:nvSpPr>
          <p:cNvPr id="6" name="Metin kutusu 5">
            <a:extLst>
              <a:ext uri="{FF2B5EF4-FFF2-40B4-BE49-F238E27FC236}">
                <a16:creationId xmlns:a16="http://schemas.microsoft.com/office/drawing/2014/main" id="{057C2CF5-54FD-33CE-3AE6-77305633E643}"/>
              </a:ext>
            </a:extLst>
          </p:cNvPr>
          <p:cNvSpPr txBox="1"/>
          <p:nvPr/>
        </p:nvSpPr>
        <p:spPr>
          <a:xfrm>
            <a:off x="1164349" y="184777"/>
            <a:ext cx="10688668" cy="553998"/>
          </a:xfrm>
          <a:prstGeom prst="rect">
            <a:avLst/>
          </a:prstGeom>
          <a:noFill/>
        </p:spPr>
        <p:txBody>
          <a:bodyPr wrap="square" rtlCol="0">
            <a:spAutoFit/>
          </a:bodyPr>
          <a:lstStyle/>
          <a:p>
            <a:r>
              <a:rPr lang="tr-TR" sz="3000" b="1" dirty="0" err="1">
                <a:latin typeface="Consolas" panose="020B0609020204030204" pitchFamily="49" charset="0"/>
              </a:rPr>
              <a:t>Seek</a:t>
            </a:r>
            <a:r>
              <a:rPr lang="tr-TR" sz="3000" b="1" dirty="0">
                <a:latin typeface="Consolas" panose="020B0609020204030204" pitchFamily="49" charset="0"/>
              </a:rPr>
              <a:t> time </a:t>
            </a:r>
            <a:r>
              <a:rPr lang="tr-TR" sz="3000" b="1" dirty="0" err="1">
                <a:latin typeface="Consolas" panose="020B0609020204030204" pitchFamily="49" charset="0"/>
              </a:rPr>
              <a:t>caching</a:t>
            </a:r>
            <a:r>
              <a:rPr lang="tr-TR" sz="3000" b="1" dirty="0">
                <a:latin typeface="Consolas" panose="020B0609020204030204" pitchFamily="49" charset="0"/>
              </a:rPr>
              <a:t>?</a:t>
            </a:r>
          </a:p>
        </p:txBody>
      </p:sp>
      <p:sp>
        <p:nvSpPr>
          <p:cNvPr id="7" name="Metin kutusu 6">
            <a:extLst>
              <a:ext uri="{FF2B5EF4-FFF2-40B4-BE49-F238E27FC236}">
                <a16:creationId xmlns:a16="http://schemas.microsoft.com/office/drawing/2014/main" id="{783CFC3B-3578-7C22-FC4A-EEBD59075B1B}"/>
              </a:ext>
            </a:extLst>
          </p:cNvPr>
          <p:cNvSpPr txBox="1"/>
          <p:nvPr/>
        </p:nvSpPr>
        <p:spPr>
          <a:xfrm>
            <a:off x="1164349" y="759758"/>
            <a:ext cx="10688668" cy="5324535"/>
          </a:xfrm>
          <a:prstGeom prst="rect">
            <a:avLst/>
          </a:prstGeom>
          <a:noFill/>
        </p:spPr>
        <p:txBody>
          <a:bodyPr wrap="square" rtlCol="0">
            <a:spAutoFit/>
          </a:bodyPr>
          <a:lstStyle/>
          <a:p>
            <a:pPr marL="457200" indent="-457200">
              <a:buFont typeface="Wingdings" panose="05000000000000000000" pitchFamily="2" charset="2"/>
              <a:buChar char="§"/>
            </a:pPr>
            <a:r>
              <a:rPr lang="tr-TR" sz="2000" dirty="0" err="1">
                <a:solidFill>
                  <a:schemeClr val="tx1">
                    <a:lumMod val="95000"/>
                    <a:lumOff val="5000"/>
                  </a:schemeClr>
                </a:solidFill>
                <a:latin typeface="Consolas" panose="020B0609020204030204" pitchFamily="49" charset="0"/>
              </a:rPr>
              <a:t>Seek</a:t>
            </a:r>
            <a:r>
              <a:rPr lang="tr-TR" sz="2000" dirty="0">
                <a:solidFill>
                  <a:schemeClr val="tx1">
                    <a:lumMod val="95000"/>
                    <a:lumOff val="5000"/>
                  </a:schemeClr>
                </a:solidFill>
                <a:latin typeface="Consolas" panose="020B0609020204030204" pitchFamily="49" charset="0"/>
              </a:rPr>
              <a:t> time </a:t>
            </a:r>
            <a:r>
              <a:rPr lang="tr-TR" sz="2000" dirty="0" err="1">
                <a:solidFill>
                  <a:schemeClr val="tx1">
                    <a:lumMod val="95000"/>
                    <a:lumOff val="5000"/>
                  </a:schemeClr>
                </a:solidFill>
                <a:latin typeface="Consolas" panose="020B0609020204030204" pitchFamily="49" charset="0"/>
              </a:rPr>
              <a:t>caching</a:t>
            </a:r>
            <a:r>
              <a:rPr lang="tr-TR" sz="2000" dirty="0">
                <a:solidFill>
                  <a:schemeClr val="tx1">
                    <a:lumMod val="95000"/>
                    <a:lumOff val="5000"/>
                  </a:schemeClr>
                </a:solidFill>
                <a:latin typeface="Consolas" panose="020B0609020204030204" pitchFamily="49" charset="0"/>
              </a:rPr>
              <a:t>, disk erişim performansını artırmak için </a:t>
            </a:r>
            <a:r>
              <a:rPr lang="tr-TR" sz="2000" dirty="0" err="1">
                <a:solidFill>
                  <a:schemeClr val="tx1">
                    <a:lumMod val="95000"/>
                    <a:lumOff val="5000"/>
                  </a:schemeClr>
                </a:solidFill>
                <a:latin typeface="Consolas" panose="020B0609020204030204" pitchFamily="49" charset="0"/>
              </a:rPr>
              <a:t>seek</a:t>
            </a:r>
            <a:r>
              <a:rPr lang="tr-TR" sz="2000" dirty="0">
                <a:solidFill>
                  <a:schemeClr val="tx1">
                    <a:lumMod val="95000"/>
                    <a:lumOff val="5000"/>
                  </a:schemeClr>
                </a:solidFill>
                <a:latin typeface="Consolas" panose="020B0609020204030204" pitchFamily="49" charset="0"/>
              </a:rPr>
              <a:t> </a:t>
            </a:r>
            <a:r>
              <a:rPr lang="tr-TR" sz="2000" dirty="0" err="1">
                <a:solidFill>
                  <a:schemeClr val="tx1">
                    <a:lumMod val="95000"/>
                    <a:lumOff val="5000"/>
                  </a:schemeClr>
                </a:solidFill>
                <a:latin typeface="Consolas" panose="020B0609020204030204" pitchFamily="49" charset="0"/>
              </a:rPr>
              <a:t>time'i</a:t>
            </a:r>
            <a:r>
              <a:rPr lang="tr-TR" sz="2000" dirty="0">
                <a:solidFill>
                  <a:schemeClr val="tx1">
                    <a:lumMod val="95000"/>
                    <a:lumOff val="5000"/>
                  </a:schemeClr>
                </a:solidFill>
                <a:latin typeface="Consolas" panose="020B0609020204030204" pitchFamily="49" charset="0"/>
              </a:rPr>
              <a:t> azaltmayı amaçlayan bir bellek yönetim stratejisidir. Bu strateji, sıkça erişilen verilere daha hızlı erişim sağlamak için disk sürücüsünün </a:t>
            </a:r>
            <a:r>
              <a:rPr lang="tr-TR" sz="2000" dirty="0" err="1">
                <a:solidFill>
                  <a:schemeClr val="tx1">
                    <a:lumMod val="95000"/>
                    <a:lumOff val="5000"/>
                  </a:schemeClr>
                </a:solidFill>
                <a:latin typeface="Consolas" panose="020B0609020204030204" pitchFamily="49" charset="0"/>
              </a:rPr>
              <a:t>seek</a:t>
            </a:r>
            <a:r>
              <a:rPr lang="tr-TR" sz="2000" dirty="0">
                <a:solidFill>
                  <a:schemeClr val="tx1">
                    <a:lumMod val="95000"/>
                    <a:lumOff val="5000"/>
                  </a:schemeClr>
                </a:solidFill>
                <a:latin typeface="Consolas" panose="020B0609020204030204" pitchFamily="49" charset="0"/>
              </a:rPr>
              <a:t> </a:t>
            </a:r>
            <a:r>
              <a:rPr lang="tr-TR" sz="2000" dirty="0" err="1">
                <a:solidFill>
                  <a:schemeClr val="tx1">
                    <a:lumMod val="95000"/>
                    <a:lumOff val="5000"/>
                  </a:schemeClr>
                </a:solidFill>
                <a:latin typeface="Consolas" panose="020B0609020204030204" pitchFamily="49" charset="0"/>
              </a:rPr>
              <a:t>time'ını</a:t>
            </a:r>
            <a:r>
              <a:rPr lang="tr-TR" sz="2000" dirty="0">
                <a:solidFill>
                  <a:schemeClr val="tx1">
                    <a:lumMod val="95000"/>
                    <a:lumOff val="5000"/>
                  </a:schemeClr>
                </a:solidFill>
                <a:latin typeface="Consolas" panose="020B0609020204030204" pitchFamily="49" charset="0"/>
              </a:rPr>
              <a:t> en aza indirir.</a:t>
            </a:r>
          </a:p>
          <a:p>
            <a:pPr marL="457200" indent="-457200">
              <a:buFont typeface="Wingdings" panose="05000000000000000000" pitchFamily="2" charset="2"/>
              <a:buChar char="§"/>
            </a:pPr>
            <a:endParaRPr lang="tr-TR" sz="2000" dirty="0">
              <a:solidFill>
                <a:schemeClr val="tx1">
                  <a:lumMod val="95000"/>
                  <a:lumOff val="5000"/>
                </a:schemeClr>
              </a:solidFill>
              <a:latin typeface="Consolas" panose="020B0609020204030204" pitchFamily="49" charset="0"/>
            </a:endParaRPr>
          </a:p>
          <a:p>
            <a:pPr marL="457200" indent="-457200">
              <a:buFont typeface="Wingdings" panose="05000000000000000000" pitchFamily="2" charset="2"/>
              <a:buChar char="§"/>
            </a:pPr>
            <a:r>
              <a:rPr lang="tr-TR" sz="2000" dirty="0">
                <a:solidFill>
                  <a:schemeClr val="tx1">
                    <a:lumMod val="95000"/>
                    <a:lumOff val="5000"/>
                  </a:schemeClr>
                </a:solidFill>
                <a:latin typeface="Consolas" panose="020B0609020204030204" pitchFamily="49" charset="0"/>
              </a:rPr>
              <a:t>Bu strateji genellikle disk erişiminde sık kullanılan verilerin önbelleğe alınmasıyla gerçekleştirilir. Sıkça erişilen veriler önbelleğe kopyalanır ve bu verilere erişim, disk erişiminden daha hızlı olur çünkü veriler diskte aranmak yerine önbellekte bulunur. Bu, sık kullanılan verilere erişimde </a:t>
            </a:r>
            <a:r>
              <a:rPr lang="tr-TR" sz="2000" dirty="0" err="1">
                <a:solidFill>
                  <a:schemeClr val="tx1">
                    <a:lumMod val="95000"/>
                    <a:lumOff val="5000"/>
                  </a:schemeClr>
                </a:solidFill>
                <a:latin typeface="Consolas" panose="020B0609020204030204" pitchFamily="49" charset="0"/>
              </a:rPr>
              <a:t>seek</a:t>
            </a:r>
            <a:r>
              <a:rPr lang="tr-TR" sz="2000" dirty="0">
                <a:solidFill>
                  <a:schemeClr val="tx1">
                    <a:lumMod val="95000"/>
                    <a:lumOff val="5000"/>
                  </a:schemeClr>
                </a:solidFill>
                <a:latin typeface="Consolas" panose="020B0609020204030204" pitchFamily="49" charset="0"/>
              </a:rPr>
              <a:t> </a:t>
            </a:r>
            <a:r>
              <a:rPr lang="tr-TR" sz="2000" dirty="0" err="1">
                <a:solidFill>
                  <a:schemeClr val="tx1">
                    <a:lumMod val="95000"/>
                    <a:lumOff val="5000"/>
                  </a:schemeClr>
                </a:solidFill>
                <a:latin typeface="Consolas" panose="020B0609020204030204" pitchFamily="49" charset="0"/>
              </a:rPr>
              <a:t>time'i</a:t>
            </a:r>
            <a:r>
              <a:rPr lang="tr-TR" sz="2000" dirty="0">
                <a:solidFill>
                  <a:schemeClr val="tx1">
                    <a:lumMod val="95000"/>
                    <a:lumOff val="5000"/>
                  </a:schemeClr>
                </a:solidFill>
                <a:latin typeface="Consolas" panose="020B0609020204030204" pitchFamily="49" charset="0"/>
              </a:rPr>
              <a:t> azaltır ve disk erişim performansını artırır.</a:t>
            </a:r>
          </a:p>
          <a:p>
            <a:pPr marL="457200" indent="-457200">
              <a:buFont typeface="Wingdings" panose="05000000000000000000" pitchFamily="2" charset="2"/>
              <a:buChar char="§"/>
            </a:pPr>
            <a:endParaRPr lang="tr-TR" sz="2000" dirty="0">
              <a:solidFill>
                <a:schemeClr val="tx1">
                  <a:lumMod val="95000"/>
                  <a:lumOff val="5000"/>
                </a:schemeClr>
              </a:solidFill>
              <a:latin typeface="Consolas" panose="020B0609020204030204" pitchFamily="49" charset="0"/>
            </a:endParaRPr>
          </a:p>
          <a:p>
            <a:pPr marL="457200" indent="-457200">
              <a:buFont typeface="Wingdings" panose="05000000000000000000" pitchFamily="2" charset="2"/>
              <a:buChar char="§"/>
            </a:pPr>
            <a:r>
              <a:rPr lang="tr-TR" sz="2000" dirty="0" err="1">
                <a:solidFill>
                  <a:schemeClr val="tx1">
                    <a:lumMod val="95000"/>
                    <a:lumOff val="5000"/>
                  </a:schemeClr>
                </a:solidFill>
                <a:latin typeface="Consolas" panose="020B0609020204030204" pitchFamily="49" charset="0"/>
              </a:rPr>
              <a:t>Seek</a:t>
            </a:r>
            <a:r>
              <a:rPr lang="tr-TR" sz="2000" dirty="0">
                <a:solidFill>
                  <a:schemeClr val="tx1">
                    <a:lumMod val="95000"/>
                    <a:lumOff val="5000"/>
                  </a:schemeClr>
                </a:solidFill>
                <a:latin typeface="Consolas" panose="020B0609020204030204" pitchFamily="49" charset="0"/>
              </a:rPr>
              <a:t> time </a:t>
            </a:r>
            <a:r>
              <a:rPr lang="tr-TR" sz="2000" dirty="0" err="1">
                <a:solidFill>
                  <a:schemeClr val="tx1">
                    <a:lumMod val="95000"/>
                    <a:lumOff val="5000"/>
                  </a:schemeClr>
                </a:solidFill>
                <a:latin typeface="Consolas" panose="020B0609020204030204" pitchFamily="49" charset="0"/>
              </a:rPr>
              <a:t>caching</a:t>
            </a:r>
            <a:r>
              <a:rPr lang="tr-TR" sz="2000" dirty="0">
                <a:solidFill>
                  <a:schemeClr val="tx1">
                    <a:lumMod val="95000"/>
                    <a:lumOff val="5000"/>
                  </a:schemeClr>
                </a:solidFill>
                <a:latin typeface="Consolas" panose="020B0609020204030204" pitchFamily="49" charset="0"/>
              </a:rPr>
              <a:t>, önbelleğin etkin bir şekilde kullanılmasıyla gerçekleştirilir ve önbelleğin boyutu, algoritması ve veri yönetimi stratejisi gibi faktörlere bağlı olarak farklı yöntemlerle uygulanabilir. Bu strateji, özellikle sık disk erişimi gerektiren uygulamalarda performansı artırmak için yaygın olarak kullanılır.</a:t>
            </a:r>
          </a:p>
        </p:txBody>
      </p:sp>
    </p:spTree>
    <p:extLst>
      <p:ext uri="{BB962C8B-B14F-4D97-AF65-F5344CB8AC3E}">
        <p14:creationId xmlns:p14="http://schemas.microsoft.com/office/powerpoint/2010/main" val="415047273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214EBD-0713-B0F0-96AB-55F9305FE5B9}"/>
            </a:ext>
          </a:extLst>
        </p:cNvPr>
        <p:cNvGrpSpPr/>
        <p:nvPr/>
      </p:nvGrpSpPr>
      <p:grpSpPr>
        <a:xfrm>
          <a:off x="0" y="0"/>
          <a:ext cx="0" cy="0"/>
          <a:chOff x="0" y="0"/>
          <a:chExt cx="0" cy="0"/>
        </a:xfrm>
      </p:grpSpPr>
      <p:pic>
        <p:nvPicPr>
          <p:cNvPr id="4" name="Picture 2" descr="Parallel computing for high-performance simulations">
            <a:extLst>
              <a:ext uri="{FF2B5EF4-FFF2-40B4-BE49-F238E27FC236}">
                <a16:creationId xmlns:a16="http://schemas.microsoft.com/office/drawing/2014/main" id="{EAC5E460-8AC6-123A-D214-FBED0BD260E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51802" b="-1"/>
          <a:stretch/>
        </p:blipFill>
        <p:spPr bwMode="auto">
          <a:xfrm rot="5400000">
            <a:off x="-2989346" y="2971346"/>
            <a:ext cx="6876000" cy="914399"/>
          </a:xfrm>
          <a:prstGeom prst="rect">
            <a:avLst/>
          </a:prstGeom>
          <a:noFill/>
          <a:extLst>
            <a:ext uri="{909E8E84-426E-40DD-AFC4-6F175D3DCCD1}">
              <a14:hiddenFill xmlns:a14="http://schemas.microsoft.com/office/drawing/2010/main">
                <a:solidFill>
                  <a:srgbClr val="FFFFFF"/>
                </a:solidFill>
              </a14:hiddenFill>
            </a:ext>
          </a:extLst>
        </p:spPr>
      </p:pic>
      <p:sp>
        <p:nvSpPr>
          <p:cNvPr id="6" name="Metin kutusu 5">
            <a:extLst>
              <a:ext uri="{FF2B5EF4-FFF2-40B4-BE49-F238E27FC236}">
                <a16:creationId xmlns:a16="http://schemas.microsoft.com/office/drawing/2014/main" id="{5A69C9A3-BAEB-615D-17F7-4C0CACAD1043}"/>
              </a:ext>
            </a:extLst>
          </p:cNvPr>
          <p:cNvSpPr txBox="1"/>
          <p:nvPr/>
        </p:nvSpPr>
        <p:spPr>
          <a:xfrm>
            <a:off x="3307047" y="3274376"/>
            <a:ext cx="6314624" cy="553998"/>
          </a:xfrm>
          <a:prstGeom prst="rect">
            <a:avLst/>
          </a:prstGeom>
          <a:noFill/>
        </p:spPr>
        <p:txBody>
          <a:bodyPr wrap="square" rtlCol="0">
            <a:spAutoFit/>
          </a:bodyPr>
          <a:lstStyle/>
          <a:p>
            <a:r>
              <a:rPr lang="tr-TR" sz="3000" b="1" dirty="0">
                <a:latin typeface="Consolas" panose="020B0609020204030204" pitchFamily="49" charset="0"/>
              </a:rPr>
              <a:t>Virtual Memory (Sanal Bellek)</a:t>
            </a:r>
          </a:p>
        </p:txBody>
      </p:sp>
    </p:spTree>
    <p:extLst>
      <p:ext uri="{BB962C8B-B14F-4D97-AF65-F5344CB8AC3E}">
        <p14:creationId xmlns:p14="http://schemas.microsoft.com/office/powerpoint/2010/main" val="186515733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229304-9667-5F09-9939-628A4ECCD93A}"/>
            </a:ext>
          </a:extLst>
        </p:cNvPr>
        <p:cNvGrpSpPr/>
        <p:nvPr/>
      </p:nvGrpSpPr>
      <p:grpSpPr>
        <a:xfrm>
          <a:off x="0" y="0"/>
          <a:ext cx="0" cy="0"/>
          <a:chOff x="0" y="0"/>
          <a:chExt cx="0" cy="0"/>
        </a:xfrm>
      </p:grpSpPr>
      <p:pic>
        <p:nvPicPr>
          <p:cNvPr id="4" name="Picture 2" descr="Parallel computing for high-performance simulations">
            <a:extLst>
              <a:ext uri="{FF2B5EF4-FFF2-40B4-BE49-F238E27FC236}">
                <a16:creationId xmlns:a16="http://schemas.microsoft.com/office/drawing/2014/main" id="{2045F5B8-B08B-719A-22C1-00F8A5ED5270}"/>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51802" b="-1"/>
          <a:stretch/>
        </p:blipFill>
        <p:spPr bwMode="auto">
          <a:xfrm rot="5400000">
            <a:off x="-2989346" y="2971346"/>
            <a:ext cx="6876000" cy="914399"/>
          </a:xfrm>
          <a:prstGeom prst="rect">
            <a:avLst/>
          </a:prstGeom>
          <a:noFill/>
          <a:extLst>
            <a:ext uri="{909E8E84-426E-40DD-AFC4-6F175D3DCCD1}">
              <a14:hiddenFill xmlns:a14="http://schemas.microsoft.com/office/drawing/2010/main">
                <a:solidFill>
                  <a:srgbClr val="FFFFFF"/>
                </a:solidFill>
              </a14:hiddenFill>
            </a:ext>
          </a:extLst>
        </p:spPr>
      </p:pic>
      <p:sp>
        <p:nvSpPr>
          <p:cNvPr id="6" name="Metin kutusu 5">
            <a:extLst>
              <a:ext uri="{FF2B5EF4-FFF2-40B4-BE49-F238E27FC236}">
                <a16:creationId xmlns:a16="http://schemas.microsoft.com/office/drawing/2014/main" id="{25D043EF-ADD2-95E4-AF9E-194E54DB5D97}"/>
              </a:ext>
            </a:extLst>
          </p:cNvPr>
          <p:cNvSpPr txBox="1"/>
          <p:nvPr/>
        </p:nvSpPr>
        <p:spPr>
          <a:xfrm>
            <a:off x="1164349" y="184777"/>
            <a:ext cx="10688668" cy="553998"/>
          </a:xfrm>
          <a:prstGeom prst="rect">
            <a:avLst/>
          </a:prstGeom>
          <a:noFill/>
        </p:spPr>
        <p:txBody>
          <a:bodyPr wrap="square" rtlCol="0">
            <a:spAutoFit/>
          </a:bodyPr>
          <a:lstStyle/>
          <a:p>
            <a:r>
              <a:rPr lang="tr-TR" sz="3000" b="1" dirty="0">
                <a:latin typeface="Consolas" panose="020B0609020204030204" pitchFamily="49" charset="0"/>
              </a:rPr>
              <a:t>Virtual Memory (Sanal Bellek)</a:t>
            </a:r>
          </a:p>
        </p:txBody>
      </p:sp>
      <p:sp>
        <p:nvSpPr>
          <p:cNvPr id="7" name="Metin kutusu 6">
            <a:extLst>
              <a:ext uri="{FF2B5EF4-FFF2-40B4-BE49-F238E27FC236}">
                <a16:creationId xmlns:a16="http://schemas.microsoft.com/office/drawing/2014/main" id="{90FA2C6A-C94C-D3EE-7BE1-5CB51DEDB1D0}"/>
              </a:ext>
            </a:extLst>
          </p:cNvPr>
          <p:cNvSpPr txBox="1"/>
          <p:nvPr/>
        </p:nvSpPr>
        <p:spPr>
          <a:xfrm>
            <a:off x="1164349" y="759758"/>
            <a:ext cx="10688668" cy="3416320"/>
          </a:xfrm>
          <a:prstGeom prst="rect">
            <a:avLst/>
          </a:prstGeom>
          <a:noFill/>
        </p:spPr>
        <p:txBody>
          <a:bodyPr wrap="square" rtlCol="0">
            <a:spAutoFit/>
          </a:bodyPr>
          <a:lstStyle/>
          <a:p>
            <a:pPr marL="457200" indent="-457200">
              <a:buFont typeface="Wingdings" panose="05000000000000000000" pitchFamily="2" charset="2"/>
              <a:buChar char="§"/>
            </a:pPr>
            <a:r>
              <a:rPr lang="tr-TR" sz="2400" dirty="0">
                <a:solidFill>
                  <a:srgbClr val="0070C0"/>
                </a:solidFill>
                <a:latin typeface="Consolas" panose="020B0609020204030204" pitchFamily="49" charset="0"/>
              </a:rPr>
              <a:t>Önbellekler</a:t>
            </a:r>
            <a:r>
              <a:rPr lang="tr-TR" sz="2400" dirty="0">
                <a:latin typeface="Consolas" panose="020B0609020204030204" pitchFamily="49" charset="0"/>
              </a:rPr>
              <a:t> işlemci ve hafıza arasında bir geçiş sağlamakta ve bilgisayarların daha hızlı işlem yapmasına olanak sağlamaktadır.</a:t>
            </a:r>
          </a:p>
          <a:p>
            <a:pPr marL="457200" indent="-457200">
              <a:buFont typeface="Wingdings" panose="05000000000000000000" pitchFamily="2" charset="2"/>
              <a:buChar char="§"/>
            </a:pPr>
            <a:r>
              <a:rPr lang="tr-TR" sz="2400" dirty="0">
                <a:latin typeface="Consolas" panose="020B0609020204030204" pitchFamily="49" charset="0"/>
              </a:rPr>
              <a:t>Fakat bilgisayarların ana belleğine (RAM) sığmayacak kadar büyük ölçekli bir program nasıl çalıştırılabilir?</a:t>
            </a:r>
          </a:p>
          <a:p>
            <a:pPr marL="457200" indent="-457200">
              <a:buFont typeface="Wingdings" panose="05000000000000000000" pitchFamily="2" charset="2"/>
              <a:buChar char="§"/>
            </a:pPr>
            <a:r>
              <a:rPr lang="tr-TR" sz="2400" dirty="0">
                <a:solidFill>
                  <a:srgbClr val="0070C0"/>
                </a:solidFill>
                <a:latin typeface="Consolas" panose="020B0609020204030204" pitchFamily="49" charset="0"/>
              </a:rPr>
              <a:t>Virtual Memory (Sanal Bellek): </a:t>
            </a:r>
            <a:r>
              <a:rPr lang="tr-TR" sz="2400" dirty="0">
                <a:latin typeface="Consolas" panose="020B0609020204030204" pitchFamily="49" charset="0"/>
              </a:rPr>
              <a:t>Fiziksel belleğin yetersiz kaldığı durumlarda uygulamaların ihtiyaç duyduğu bellek ihtiyacını sabit diski kullanarak karşılayan bilgisayar tekniğidir.</a:t>
            </a:r>
          </a:p>
        </p:txBody>
      </p:sp>
    </p:spTree>
    <p:extLst>
      <p:ext uri="{BB962C8B-B14F-4D97-AF65-F5344CB8AC3E}">
        <p14:creationId xmlns:p14="http://schemas.microsoft.com/office/powerpoint/2010/main" val="222278322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323A55-6BC3-73A8-6287-68937CDBCE3B}"/>
            </a:ext>
          </a:extLst>
        </p:cNvPr>
        <p:cNvGrpSpPr/>
        <p:nvPr/>
      </p:nvGrpSpPr>
      <p:grpSpPr>
        <a:xfrm>
          <a:off x="0" y="0"/>
          <a:ext cx="0" cy="0"/>
          <a:chOff x="0" y="0"/>
          <a:chExt cx="0" cy="0"/>
        </a:xfrm>
      </p:grpSpPr>
      <p:pic>
        <p:nvPicPr>
          <p:cNvPr id="4" name="Picture 2" descr="Parallel computing for high-performance simulations">
            <a:extLst>
              <a:ext uri="{FF2B5EF4-FFF2-40B4-BE49-F238E27FC236}">
                <a16:creationId xmlns:a16="http://schemas.microsoft.com/office/drawing/2014/main" id="{5FD4FD9F-0039-CE37-7AC4-01E5C8E905BC}"/>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51802" b="-1"/>
          <a:stretch/>
        </p:blipFill>
        <p:spPr bwMode="auto">
          <a:xfrm rot="5400000">
            <a:off x="-2989346" y="2971346"/>
            <a:ext cx="6876000" cy="914399"/>
          </a:xfrm>
          <a:prstGeom prst="rect">
            <a:avLst/>
          </a:prstGeom>
          <a:noFill/>
          <a:extLst>
            <a:ext uri="{909E8E84-426E-40DD-AFC4-6F175D3DCCD1}">
              <a14:hiddenFill xmlns:a14="http://schemas.microsoft.com/office/drawing/2010/main">
                <a:solidFill>
                  <a:srgbClr val="FFFFFF"/>
                </a:solidFill>
              </a14:hiddenFill>
            </a:ext>
          </a:extLst>
        </p:spPr>
      </p:pic>
      <p:sp>
        <p:nvSpPr>
          <p:cNvPr id="6" name="Metin kutusu 5">
            <a:extLst>
              <a:ext uri="{FF2B5EF4-FFF2-40B4-BE49-F238E27FC236}">
                <a16:creationId xmlns:a16="http://schemas.microsoft.com/office/drawing/2014/main" id="{056E212A-EA9C-BB2A-0141-D453B3C246F1}"/>
              </a:ext>
            </a:extLst>
          </p:cNvPr>
          <p:cNvSpPr txBox="1"/>
          <p:nvPr/>
        </p:nvSpPr>
        <p:spPr>
          <a:xfrm>
            <a:off x="1164349" y="184777"/>
            <a:ext cx="10688668" cy="553998"/>
          </a:xfrm>
          <a:prstGeom prst="rect">
            <a:avLst/>
          </a:prstGeom>
          <a:noFill/>
        </p:spPr>
        <p:txBody>
          <a:bodyPr wrap="square" rtlCol="0">
            <a:spAutoFit/>
          </a:bodyPr>
          <a:lstStyle/>
          <a:p>
            <a:r>
              <a:rPr lang="tr-TR" sz="3000" b="1" dirty="0">
                <a:latin typeface="Consolas" panose="020B0609020204030204" pitchFamily="49" charset="0"/>
              </a:rPr>
              <a:t>Virtual Memory (Sanal Bellek)</a:t>
            </a:r>
          </a:p>
        </p:txBody>
      </p:sp>
      <p:sp>
        <p:nvSpPr>
          <p:cNvPr id="7" name="Metin kutusu 6">
            <a:extLst>
              <a:ext uri="{FF2B5EF4-FFF2-40B4-BE49-F238E27FC236}">
                <a16:creationId xmlns:a16="http://schemas.microsoft.com/office/drawing/2014/main" id="{726DEB80-7953-210E-DFF3-12CD4E45B356}"/>
              </a:ext>
            </a:extLst>
          </p:cNvPr>
          <p:cNvSpPr txBox="1"/>
          <p:nvPr/>
        </p:nvSpPr>
        <p:spPr>
          <a:xfrm>
            <a:off x="1164349" y="759758"/>
            <a:ext cx="10688668" cy="2677656"/>
          </a:xfrm>
          <a:prstGeom prst="rect">
            <a:avLst/>
          </a:prstGeom>
          <a:noFill/>
        </p:spPr>
        <p:txBody>
          <a:bodyPr wrap="square" rtlCol="0">
            <a:spAutoFit/>
          </a:bodyPr>
          <a:lstStyle/>
          <a:p>
            <a:pPr marL="457200" indent="-457200">
              <a:buFont typeface="Wingdings" panose="05000000000000000000" pitchFamily="2" charset="2"/>
              <a:buChar char="§"/>
            </a:pPr>
            <a:r>
              <a:rPr lang="tr-TR" sz="2800" dirty="0">
                <a:solidFill>
                  <a:schemeClr val="tx1">
                    <a:lumMod val="95000"/>
                    <a:lumOff val="5000"/>
                  </a:schemeClr>
                </a:solidFill>
                <a:latin typeface="Consolas" panose="020B0609020204030204" pitchFamily="49" charset="0"/>
              </a:rPr>
              <a:t>Sanal bellek için disk üzerinde ayrılan bu disk alanına </a:t>
            </a:r>
            <a:r>
              <a:rPr lang="tr-TR" sz="2800" dirty="0">
                <a:solidFill>
                  <a:srgbClr val="0070C0"/>
                </a:solidFill>
                <a:latin typeface="Consolas" panose="020B0609020204030204" pitchFamily="49" charset="0"/>
              </a:rPr>
              <a:t>swap </a:t>
            </a:r>
            <a:r>
              <a:rPr lang="tr-TR" sz="2800" dirty="0" err="1">
                <a:solidFill>
                  <a:srgbClr val="0070C0"/>
                </a:solidFill>
                <a:latin typeface="Consolas" panose="020B0609020204030204" pitchFamily="49" charset="0"/>
              </a:rPr>
              <a:t>space</a:t>
            </a:r>
            <a:r>
              <a:rPr lang="tr-TR" sz="2800" dirty="0">
                <a:solidFill>
                  <a:srgbClr val="0070C0"/>
                </a:solidFill>
                <a:latin typeface="Consolas" panose="020B0609020204030204" pitchFamily="49" charset="0"/>
              </a:rPr>
              <a:t> (takas alanı) </a:t>
            </a:r>
            <a:r>
              <a:rPr lang="tr-TR" sz="2800" dirty="0">
                <a:solidFill>
                  <a:schemeClr val="tx1">
                    <a:lumMod val="95000"/>
                    <a:lumOff val="5000"/>
                  </a:schemeClr>
                </a:solidFill>
                <a:latin typeface="Consolas" panose="020B0609020204030204" pitchFamily="49" charset="0"/>
              </a:rPr>
              <a:t>da denilmektedir.</a:t>
            </a:r>
          </a:p>
          <a:p>
            <a:pPr marL="457200" indent="-457200">
              <a:buFont typeface="Wingdings" panose="05000000000000000000" pitchFamily="2" charset="2"/>
              <a:buChar char="§"/>
            </a:pPr>
            <a:r>
              <a:rPr lang="tr-TR" sz="2800" dirty="0">
                <a:solidFill>
                  <a:schemeClr val="tx1">
                    <a:lumMod val="95000"/>
                    <a:lumOff val="5000"/>
                  </a:schemeClr>
                </a:solidFill>
                <a:latin typeface="Consolas" panose="020B0609020204030204" pitchFamily="49" charset="0"/>
              </a:rPr>
              <a:t>Sanal bellek, </a:t>
            </a:r>
            <a:r>
              <a:rPr lang="tr-TR" sz="2800" dirty="0" err="1">
                <a:solidFill>
                  <a:schemeClr val="tx1">
                    <a:lumMod val="95000"/>
                    <a:lumOff val="5000"/>
                  </a:schemeClr>
                </a:solidFill>
                <a:latin typeface="Consolas" panose="020B0609020204030204" pitchFamily="49" charset="0"/>
              </a:rPr>
              <a:t>cache</a:t>
            </a:r>
            <a:r>
              <a:rPr lang="tr-TR" sz="2800" dirty="0">
                <a:solidFill>
                  <a:schemeClr val="tx1">
                    <a:lumMod val="95000"/>
                    <a:lumOff val="5000"/>
                  </a:schemeClr>
                </a:solidFill>
                <a:latin typeface="Consolas" panose="020B0609020204030204" pitchFamily="49" charset="0"/>
              </a:rPr>
              <a:t> bellekler gibi veri ya da program bloklarını yönetmek için kullanılır.</a:t>
            </a:r>
          </a:p>
          <a:p>
            <a:pPr marL="457200" indent="-457200">
              <a:buFont typeface="Wingdings" panose="05000000000000000000" pitchFamily="2" charset="2"/>
              <a:buChar char="§"/>
            </a:pPr>
            <a:r>
              <a:rPr lang="tr-TR" sz="2800" dirty="0">
                <a:solidFill>
                  <a:schemeClr val="tx1">
                    <a:lumMod val="95000"/>
                    <a:lumOff val="5000"/>
                  </a:schemeClr>
                </a:solidFill>
                <a:latin typeface="Consolas" panose="020B0609020204030204" pitchFamily="49" charset="0"/>
              </a:rPr>
              <a:t>Genellikle bu bloklara </a:t>
            </a:r>
            <a:r>
              <a:rPr lang="tr-TR" sz="2800" dirty="0" err="1">
                <a:solidFill>
                  <a:srgbClr val="0070C0"/>
                </a:solidFill>
                <a:latin typeface="Consolas" panose="020B0609020204030204" pitchFamily="49" charset="0"/>
              </a:rPr>
              <a:t>page</a:t>
            </a:r>
            <a:r>
              <a:rPr lang="tr-TR" sz="2800" dirty="0">
                <a:solidFill>
                  <a:srgbClr val="0070C0"/>
                </a:solidFill>
                <a:latin typeface="Consolas" panose="020B0609020204030204" pitchFamily="49" charset="0"/>
              </a:rPr>
              <a:t> (sayfa) </a:t>
            </a:r>
            <a:r>
              <a:rPr lang="tr-TR" sz="2800" dirty="0">
                <a:solidFill>
                  <a:schemeClr val="tx1">
                    <a:lumMod val="95000"/>
                    <a:lumOff val="5000"/>
                  </a:schemeClr>
                </a:solidFill>
                <a:latin typeface="Consolas" panose="020B0609020204030204" pitchFamily="49" charset="0"/>
              </a:rPr>
              <a:t>adı verilmektedir.</a:t>
            </a:r>
          </a:p>
        </p:txBody>
      </p:sp>
    </p:spTree>
    <p:extLst>
      <p:ext uri="{BB962C8B-B14F-4D97-AF65-F5344CB8AC3E}">
        <p14:creationId xmlns:p14="http://schemas.microsoft.com/office/powerpoint/2010/main" val="253735073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00BC63-8B7B-19C2-8262-28A8CFFA016B}"/>
            </a:ext>
          </a:extLst>
        </p:cNvPr>
        <p:cNvGrpSpPr/>
        <p:nvPr/>
      </p:nvGrpSpPr>
      <p:grpSpPr>
        <a:xfrm>
          <a:off x="0" y="0"/>
          <a:ext cx="0" cy="0"/>
          <a:chOff x="0" y="0"/>
          <a:chExt cx="0" cy="0"/>
        </a:xfrm>
      </p:grpSpPr>
      <p:pic>
        <p:nvPicPr>
          <p:cNvPr id="4" name="Picture 2" descr="Parallel computing for high-performance simulations">
            <a:extLst>
              <a:ext uri="{FF2B5EF4-FFF2-40B4-BE49-F238E27FC236}">
                <a16:creationId xmlns:a16="http://schemas.microsoft.com/office/drawing/2014/main" id="{2E6AB26B-76CF-9BB0-FAC9-5F531B8C28A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51802" b="-1"/>
          <a:stretch/>
        </p:blipFill>
        <p:spPr bwMode="auto">
          <a:xfrm rot="5400000">
            <a:off x="-2989346" y="2971346"/>
            <a:ext cx="6876000" cy="914399"/>
          </a:xfrm>
          <a:prstGeom prst="rect">
            <a:avLst/>
          </a:prstGeom>
          <a:noFill/>
          <a:extLst>
            <a:ext uri="{909E8E84-426E-40DD-AFC4-6F175D3DCCD1}">
              <a14:hiddenFill xmlns:a14="http://schemas.microsoft.com/office/drawing/2010/main">
                <a:solidFill>
                  <a:srgbClr val="FFFFFF"/>
                </a:solidFill>
              </a14:hiddenFill>
            </a:ext>
          </a:extLst>
        </p:spPr>
      </p:pic>
      <p:sp>
        <p:nvSpPr>
          <p:cNvPr id="6" name="Metin kutusu 5">
            <a:extLst>
              <a:ext uri="{FF2B5EF4-FFF2-40B4-BE49-F238E27FC236}">
                <a16:creationId xmlns:a16="http://schemas.microsoft.com/office/drawing/2014/main" id="{94D0CBFD-11CB-902A-D58E-A56651A3F0B2}"/>
              </a:ext>
            </a:extLst>
          </p:cNvPr>
          <p:cNvSpPr txBox="1"/>
          <p:nvPr/>
        </p:nvSpPr>
        <p:spPr>
          <a:xfrm>
            <a:off x="1164349" y="184777"/>
            <a:ext cx="10688668" cy="553998"/>
          </a:xfrm>
          <a:prstGeom prst="rect">
            <a:avLst/>
          </a:prstGeom>
          <a:noFill/>
        </p:spPr>
        <p:txBody>
          <a:bodyPr wrap="square" rtlCol="0">
            <a:spAutoFit/>
          </a:bodyPr>
          <a:lstStyle/>
          <a:p>
            <a:r>
              <a:rPr lang="tr-TR" sz="3000" b="1" dirty="0">
                <a:latin typeface="Consolas" panose="020B0609020204030204" pitchFamily="49" charset="0"/>
              </a:rPr>
              <a:t>Sanal Bellek Örneği</a:t>
            </a:r>
          </a:p>
        </p:txBody>
      </p:sp>
      <p:sp>
        <p:nvSpPr>
          <p:cNvPr id="7" name="Metin kutusu 6">
            <a:extLst>
              <a:ext uri="{FF2B5EF4-FFF2-40B4-BE49-F238E27FC236}">
                <a16:creationId xmlns:a16="http://schemas.microsoft.com/office/drawing/2014/main" id="{2ABB3FE0-94FE-4D03-21BD-95929ED53AF5}"/>
              </a:ext>
            </a:extLst>
          </p:cNvPr>
          <p:cNvSpPr txBox="1"/>
          <p:nvPr/>
        </p:nvSpPr>
        <p:spPr>
          <a:xfrm>
            <a:off x="1164349" y="759758"/>
            <a:ext cx="10688668" cy="5693866"/>
          </a:xfrm>
          <a:prstGeom prst="rect">
            <a:avLst/>
          </a:prstGeom>
          <a:noFill/>
        </p:spPr>
        <p:txBody>
          <a:bodyPr wrap="square" rtlCol="0">
            <a:spAutoFit/>
          </a:bodyPr>
          <a:lstStyle/>
          <a:p>
            <a:pPr marL="457200" indent="-457200">
              <a:buFont typeface="Wingdings" panose="05000000000000000000" pitchFamily="2" charset="2"/>
              <a:buChar char="§"/>
            </a:pPr>
            <a:r>
              <a:rPr lang="tr-TR" sz="2800" dirty="0">
                <a:solidFill>
                  <a:schemeClr val="tx1">
                    <a:lumMod val="95000"/>
                    <a:lumOff val="5000"/>
                  </a:schemeClr>
                </a:solidFill>
                <a:latin typeface="Consolas" panose="020B0609020204030204" pitchFamily="49" charset="0"/>
              </a:rPr>
              <a:t>Örneğin, ana belleği 32 MB olan bir bilgisayarda, 300 </a:t>
            </a:r>
            <a:r>
              <a:rPr lang="tr-TR" sz="2800" dirty="0" err="1">
                <a:solidFill>
                  <a:schemeClr val="tx1">
                    <a:lumMod val="95000"/>
                    <a:lumOff val="5000"/>
                  </a:schemeClr>
                </a:solidFill>
                <a:latin typeface="Consolas" panose="020B0609020204030204" pitchFamily="49" charset="0"/>
              </a:rPr>
              <a:t>MB’lik</a:t>
            </a:r>
            <a:r>
              <a:rPr lang="tr-TR" sz="2800" dirty="0">
                <a:solidFill>
                  <a:schemeClr val="tx1">
                    <a:lumMod val="95000"/>
                    <a:lumOff val="5000"/>
                  </a:schemeClr>
                </a:solidFill>
                <a:latin typeface="Consolas" panose="020B0609020204030204" pitchFamily="49" charset="0"/>
              </a:rPr>
              <a:t> bir program çalıştırılmak istenirse, bu programın tümünün </a:t>
            </a:r>
            <a:r>
              <a:rPr lang="tr-TR" sz="2800" dirty="0" err="1">
                <a:solidFill>
                  <a:schemeClr val="tx1">
                    <a:lumMod val="95000"/>
                    <a:lumOff val="5000"/>
                  </a:schemeClr>
                </a:solidFill>
                <a:latin typeface="Consolas" panose="020B0609020204030204" pitchFamily="49" charset="0"/>
              </a:rPr>
              <a:t>RAM’e</a:t>
            </a:r>
            <a:r>
              <a:rPr lang="tr-TR" sz="2800" dirty="0">
                <a:solidFill>
                  <a:schemeClr val="tx1">
                    <a:lumMod val="95000"/>
                    <a:lumOff val="5000"/>
                  </a:schemeClr>
                </a:solidFill>
                <a:latin typeface="Consolas" panose="020B0609020204030204" pitchFamily="49" charset="0"/>
              </a:rPr>
              <a:t> yerleşmesi mümkün değildir.</a:t>
            </a:r>
          </a:p>
          <a:p>
            <a:pPr marL="457200" indent="-457200">
              <a:buFont typeface="Wingdings" panose="05000000000000000000" pitchFamily="2" charset="2"/>
              <a:buChar char="§"/>
            </a:pPr>
            <a:r>
              <a:rPr lang="tr-TR" sz="2800" dirty="0">
                <a:solidFill>
                  <a:schemeClr val="tx1">
                    <a:lumMod val="95000"/>
                    <a:lumOff val="5000"/>
                  </a:schemeClr>
                </a:solidFill>
                <a:latin typeface="Consolas" panose="020B0609020204030204" pitchFamily="49" charset="0"/>
              </a:rPr>
              <a:t>Bu durumda sanal (</a:t>
            </a:r>
            <a:r>
              <a:rPr lang="tr-TR" sz="2800" dirty="0" err="1">
                <a:solidFill>
                  <a:schemeClr val="tx1">
                    <a:lumMod val="95000"/>
                    <a:lumOff val="5000"/>
                  </a:schemeClr>
                </a:solidFill>
                <a:latin typeface="Consolas" panose="020B0609020204030204" pitchFamily="49" charset="0"/>
              </a:rPr>
              <a:t>istemsel</a:t>
            </a:r>
            <a:r>
              <a:rPr lang="tr-TR" sz="2800" dirty="0">
                <a:solidFill>
                  <a:schemeClr val="tx1">
                    <a:lumMod val="95000"/>
                    <a:lumOff val="5000"/>
                  </a:schemeClr>
                </a:solidFill>
                <a:latin typeface="Consolas" panose="020B0609020204030204" pitchFamily="49" charset="0"/>
              </a:rPr>
              <a:t>) sayfalama yöntemi kullanılarak, örneğin ana bellek 4 </a:t>
            </a:r>
            <a:r>
              <a:rPr lang="tr-TR" sz="2800" dirty="0" err="1">
                <a:solidFill>
                  <a:schemeClr val="tx1">
                    <a:lumMod val="95000"/>
                    <a:lumOff val="5000"/>
                  </a:schemeClr>
                </a:solidFill>
                <a:latin typeface="Consolas" panose="020B0609020204030204" pitchFamily="49" charset="0"/>
              </a:rPr>
              <a:t>KB’lik</a:t>
            </a:r>
            <a:r>
              <a:rPr lang="tr-TR" sz="2800" dirty="0">
                <a:solidFill>
                  <a:schemeClr val="tx1">
                    <a:lumMod val="95000"/>
                    <a:lumOff val="5000"/>
                  </a:schemeClr>
                </a:solidFill>
                <a:latin typeface="Consolas" panose="020B0609020204030204" pitchFamily="49" charset="0"/>
              </a:rPr>
              <a:t> sayfalara bölünerek, çalıştırılmak istenen programın sadece gerekli işlemlerine ait sayfalar ana belleğe yüklenir.</a:t>
            </a:r>
          </a:p>
          <a:p>
            <a:pPr marL="457200" indent="-457200">
              <a:buFont typeface="Wingdings" panose="05000000000000000000" pitchFamily="2" charset="2"/>
              <a:buChar char="§"/>
            </a:pPr>
            <a:r>
              <a:rPr lang="tr-TR" sz="2800" dirty="0">
                <a:solidFill>
                  <a:schemeClr val="tx1">
                    <a:lumMod val="95000"/>
                    <a:lumOff val="5000"/>
                  </a:schemeClr>
                </a:solidFill>
                <a:latin typeface="Consolas" panose="020B0609020204030204" pitchFamily="49" charset="0"/>
              </a:rPr>
              <a:t>Geri kalanı ise sanal bellekte bekler ve gerekli olduğunda </a:t>
            </a:r>
            <a:r>
              <a:rPr lang="tr-TR" sz="2800" dirty="0" err="1">
                <a:solidFill>
                  <a:schemeClr val="tx1">
                    <a:lumMod val="95000"/>
                    <a:lumOff val="5000"/>
                  </a:schemeClr>
                </a:solidFill>
                <a:latin typeface="Consolas" panose="020B0609020204030204" pitchFamily="49" charset="0"/>
              </a:rPr>
              <a:t>RAM’e</a:t>
            </a:r>
            <a:r>
              <a:rPr lang="tr-TR" sz="2800" dirty="0">
                <a:solidFill>
                  <a:schemeClr val="tx1">
                    <a:lumMod val="95000"/>
                    <a:lumOff val="5000"/>
                  </a:schemeClr>
                </a:solidFill>
                <a:latin typeface="Consolas" panose="020B0609020204030204" pitchFamily="49" charset="0"/>
              </a:rPr>
              <a:t> getirilir.</a:t>
            </a:r>
          </a:p>
          <a:p>
            <a:pPr marL="457200" indent="-457200">
              <a:buFont typeface="Wingdings" panose="05000000000000000000" pitchFamily="2" charset="2"/>
              <a:buChar char="§"/>
            </a:pPr>
            <a:r>
              <a:rPr lang="tr-TR" sz="2800" dirty="0">
                <a:solidFill>
                  <a:schemeClr val="tx1">
                    <a:lumMod val="95000"/>
                    <a:lumOff val="5000"/>
                  </a:schemeClr>
                </a:solidFill>
                <a:latin typeface="Consolas" panose="020B0609020204030204" pitchFamily="49" charset="0"/>
              </a:rPr>
              <a:t>İşletim sistemi ve bilgisayar donanımının </a:t>
            </a:r>
            <a:r>
              <a:rPr lang="tr-TR" sz="2800" dirty="0">
                <a:solidFill>
                  <a:srgbClr val="0070C0"/>
                </a:solidFill>
                <a:latin typeface="Consolas" panose="020B0609020204030204" pitchFamily="49" charset="0"/>
              </a:rPr>
              <a:t>sayfalama</a:t>
            </a:r>
            <a:r>
              <a:rPr lang="tr-TR" sz="2800" dirty="0">
                <a:solidFill>
                  <a:schemeClr val="tx1">
                    <a:lumMod val="95000"/>
                    <a:lumOff val="5000"/>
                  </a:schemeClr>
                </a:solidFill>
                <a:latin typeface="Consolas" panose="020B0609020204030204" pitchFamily="49" charset="0"/>
              </a:rPr>
              <a:t> ve </a:t>
            </a:r>
            <a:r>
              <a:rPr lang="tr-TR" sz="2800" dirty="0" err="1">
                <a:solidFill>
                  <a:srgbClr val="0070C0"/>
                </a:solidFill>
                <a:latin typeface="Consolas" panose="020B0609020204030204" pitchFamily="49" charset="0"/>
              </a:rPr>
              <a:t>kesimleme</a:t>
            </a:r>
            <a:r>
              <a:rPr lang="tr-TR" sz="2800" dirty="0">
                <a:solidFill>
                  <a:schemeClr val="tx1">
                    <a:lumMod val="95000"/>
                    <a:lumOff val="5000"/>
                  </a:schemeClr>
                </a:solidFill>
                <a:latin typeface="Consolas" panose="020B0609020204030204" pitchFamily="49" charset="0"/>
              </a:rPr>
              <a:t> yöntemlerini desteklemesi gerekmektedir. </a:t>
            </a:r>
          </a:p>
        </p:txBody>
      </p:sp>
    </p:spTree>
    <p:extLst>
      <p:ext uri="{BB962C8B-B14F-4D97-AF65-F5344CB8AC3E}">
        <p14:creationId xmlns:p14="http://schemas.microsoft.com/office/powerpoint/2010/main" val="67392868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17B2A7-FF0B-3E55-E909-4DADE293F4B0}"/>
            </a:ext>
          </a:extLst>
        </p:cNvPr>
        <p:cNvGrpSpPr/>
        <p:nvPr/>
      </p:nvGrpSpPr>
      <p:grpSpPr>
        <a:xfrm>
          <a:off x="0" y="0"/>
          <a:ext cx="0" cy="0"/>
          <a:chOff x="0" y="0"/>
          <a:chExt cx="0" cy="0"/>
        </a:xfrm>
      </p:grpSpPr>
      <p:sp>
        <p:nvSpPr>
          <p:cNvPr id="6" name="Metin kutusu 5">
            <a:extLst>
              <a:ext uri="{FF2B5EF4-FFF2-40B4-BE49-F238E27FC236}">
                <a16:creationId xmlns:a16="http://schemas.microsoft.com/office/drawing/2014/main" id="{730EA16E-D578-0CA2-BE9B-677E3D075DCF}"/>
              </a:ext>
            </a:extLst>
          </p:cNvPr>
          <p:cNvSpPr txBox="1"/>
          <p:nvPr/>
        </p:nvSpPr>
        <p:spPr>
          <a:xfrm>
            <a:off x="1164349" y="184777"/>
            <a:ext cx="10688668" cy="553998"/>
          </a:xfrm>
          <a:prstGeom prst="rect">
            <a:avLst/>
          </a:prstGeom>
          <a:noFill/>
        </p:spPr>
        <p:txBody>
          <a:bodyPr wrap="square" rtlCol="0">
            <a:spAutoFit/>
          </a:bodyPr>
          <a:lstStyle/>
          <a:p>
            <a:r>
              <a:rPr lang="tr-TR" sz="3000" b="1" dirty="0">
                <a:latin typeface="Consolas" panose="020B0609020204030204" pitchFamily="49" charset="0"/>
              </a:rPr>
              <a:t>Sanal Bellek Örneği</a:t>
            </a:r>
          </a:p>
        </p:txBody>
      </p:sp>
      <p:pic>
        <p:nvPicPr>
          <p:cNvPr id="2" name="İçerik Yer Tutucusu 4">
            <a:extLst>
              <a:ext uri="{FF2B5EF4-FFF2-40B4-BE49-F238E27FC236}">
                <a16:creationId xmlns:a16="http://schemas.microsoft.com/office/drawing/2014/main" id="{66DFF2FD-9A76-247E-91D5-7DDEBB957939}"/>
              </a:ext>
            </a:extLst>
          </p:cNvPr>
          <p:cNvPicPr>
            <a:picLocks noGrp="1" noChangeAspect="1"/>
          </p:cNvPicPr>
          <p:nvPr>
            <p:ph idx="1"/>
          </p:nvPr>
        </p:nvPicPr>
        <p:blipFill>
          <a:blip r:embed="rId2"/>
          <a:stretch>
            <a:fillRect/>
          </a:stretch>
        </p:blipFill>
        <p:spPr>
          <a:xfrm>
            <a:off x="85322" y="1073604"/>
            <a:ext cx="12021356" cy="4710791"/>
          </a:xfrm>
        </p:spPr>
      </p:pic>
    </p:spTree>
    <p:extLst>
      <p:ext uri="{BB962C8B-B14F-4D97-AF65-F5344CB8AC3E}">
        <p14:creationId xmlns:p14="http://schemas.microsoft.com/office/powerpoint/2010/main" val="332715265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7DAEAD-465E-5D44-BD7F-FA0FFEC96AB5}"/>
            </a:ext>
          </a:extLst>
        </p:cNvPr>
        <p:cNvGrpSpPr/>
        <p:nvPr/>
      </p:nvGrpSpPr>
      <p:grpSpPr>
        <a:xfrm>
          <a:off x="0" y="0"/>
          <a:ext cx="0" cy="0"/>
          <a:chOff x="0" y="0"/>
          <a:chExt cx="0" cy="0"/>
        </a:xfrm>
      </p:grpSpPr>
      <p:pic>
        <p:nvPicPr>
          <p:cNvPr id="4" name="Picture 2" descr="Parallel computing for high-performance simulations">
            <a:extLst>
              <a:ext uri="{FF2B5EF4-FFF2-40B4-BE49-F238E27FC236}">
                <a16:creationId xmlns:a16="http://schemas.microsoft.com/office/drawing/2014/main" id="{04C62123-3002-552E-8E53-2083B975C06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51802" b="-1"/>
          <a:stretch/>
        </p:blipFill>
        <p:spPr bwMode="auto">
          <a:xfrm rot="5400000">
            <a:off x="-2989346" y="2971346"/>
            <a:ext cx="6876000" cy="914399"/>
          </a:xfrm>
          <a:prstGeom prst="rect">
            <a:avLst/>
          </a:prstGeom>
          <a:noFill/>
          <a:extLst>
            <a:ext uri="{909E8E84-426E-40DD-AFC4-6F175D3DCCD1}">
              <a14:hiddenFill xmlns:a14="http://schemas.microsoft.com/office/drawing/2010/main">
                <a:solidFill>
                  <a:srgbClr val="FFFFFF"/>
                </a:solidFill>
              </a14:hiddenFill>
            </a:ext>
          </a:extLst>
        </p:spPr>
      </p:pic>
      <p:sp>
        <p:nvSpPr>
          <p:cNvPr id="6" name="Metin kutusu 5">
            <a:extLst>
              <a:ext uri="{FF2B5EF4-FFF2-40B4-BE49-F238E27FC236}">
                <a16:creationId xmlns:a16="http://schemas.microsoft.com/office/drawing/2014/main" id="{C59E174C-F7DD-6BE1-59C4-A18B11048672}"/>
              </a:ext>
            </a:extLst>
          </p:cNvPr>
          <p:cNvSpPr txBox="1"/>
          <p:nvPr/>
        </p:nvSpPr>
        <p:spPr>
          <a:xfrm>
            <a:off x="2924910" y="3151546"/>
            <a:ext cx="6846887" cy="553998"/>
          </a:xfrm>
          <a:prstGeom prst="rect">
            <a:avLst/>
          </a:prstGeom>
          <a:noFill/>
        </p:spPr>
        <p:txBody>
          <a:bodyPr wrap="square" rtlCol="0">
            <a:spAutoFit/>
          </a:bodyPr>
          <a:lstStyle/>
          <a:p>
            <a:r>
              <a:rPr lang="tr-TR" sz="3000" b="1" dirty="0" err="1">
                <a:latin typeface="Consolas" panose="020B0609020204030204" pitchFamily="49" charset="0"/>
              </a:rPr>
              <a:t>Pipelines</a:t>
            </a:r>
            <a:r>
              <a:rPr lang="tr-TR" sz="3000" b="1" dirty="0">
                <a:latin typeface="Consolas" panose="020B0609020204030204" pitchFamily="49" charset="0"/>
              </a:rPr>
              <a:t> (Boru Hattı Mimarisi)</a:t>
            </a:r>
          </a:p>
        </p:txBody>
      </p:sp>
    </p:spTree>
    <p:extLst>
      <p:ext uri="{BB962C8B-B14F-4D97-AF65-F5344CB8AC3E}">
        <p14:creationId xmlns:p14="http://schemas.microsoft.com/office/powerpoint/2010/main" val="427453378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AB48BA-27FB-C8CC-9161-F07CE2B4560F}"/>
            </a:ext>
          </a:extLst>
        </p:cNvPr>
        <p:cNvGrpSpPr/>
        <p:nvPr/>
      </p:nvGrpSpPr>
      <p:grpSpPr>
        <a:xfrm>
          <a:off x="0" y="0"/>
          <a:ext cx="0" cy="0"/>
          <a:chOff x="0" y="0"/>
          <a:chExt cx="0" cy="0"/>
        </a:xfrm>
      </p:grpSpPr>
      <p:pic>
        <p:nvPicPr>
          <p:cNvPr id="4" name="Picture 2" descr="Parallel computing for high-performance simulations">
            <a:extLst>
              <a:ext uri="{FF2B5EF4-FFF2-40B4-BE49-F238E27FC236}">
                <a16:creationId xmlns:a16="http://schemas.microsoft.com/office/drawing/2014/main" id="{82F0D880-E2AE-1C9C-212E-852614AF6EC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51802" b="-1"/>
          <a:stretch/>
        </p:blipFill>
        <p:spPr bwMode="auto">
          <a:xfrm rot="5400000">
            <a:off x="-2989346" y="2971346"/>
            <a:ext cx="6876000" cy="914399"/>
          </a:xfrm>
          <a:prstGeom prst="rect">
            <a:avLst/>
          </a:prstGeom>
          <a:noFill/>
          <a:extLst>
            <a:ext uri="{909E8E84-426E-40DD-AFC4-6F175D3DCCD1}">
              <a14:hiddenFill xmlns:a14="http://schemas.microsoft.com/office/drawing/2010/main">
                <a:solidFill>
                  <a:srgbClr val="FFFFFF"/>
                </a:solidFill>
              </a14:hiddenFill>
            </a:ext>
          </a:extLst>
        </p:spPr>
      </p:pic>
      <p:sp>
        <p:nvSpPr>
          <p:cNvPr id="6" name="Metin kutusu 5">
            <a:extLst>
              <a:ext uri="{FF2B5EF4-FFF2-40B4-BE49-F238E27FC236}">
                <a16:creationId xmlns:a16="http://schemas.microsoft.com/office/drawing/2014/main" id="{C558CFC8-D85B-3CC6-6FAB-910A1779ABA3}"/>
              </a:ext>
            </a:extLst>
          </p:cNvPr>
          <p:cNvSpPr txBox="1"/>
          <p:nvPr/>
        </p:nvSpPr>
        <p:spPr>
          <a:xfrm>
            <a:off x="1164349" y="184777"/>
            <a:ext cx="10688668" cy="553998"/>
          </a:xfrm>
          <a:prstGeom prst="rect">
            <a:avLst/>
          </a:prstGeom>
          <a:noFill/>
        </p:spPr>
        <p:txBody>
          <a:bodyPr wrap="square" rtlCol="0">
            <a:spAutoFit/>
          </a:bodyPr>
          <a:lstStyle/>
          <a:p>
            <a:r>
              <a:rPr lang="tr-TR" sz="3000" b="1" dirty="0" err="1">
                <a:latin typeface="Consolas" panose="020B0609020204030204" pitchFamily="49" charset="0"/>
              </a:rPr>
              <a:t>Pipelines</a:t>
            </a:r>
            <a:r>
              <a:rPr lang="tr-TR" sz="3000" b="1" dirty="0">
                <a:latin typeface="Consolas" panose="020B0609020204030204" pitchFamily="49" charset="0"/>
              </a:rPr>
              <a:t> (Boru Hattı Mimarisi)</a:t>
            </a:r>
          </a:p>
        </p:txBody>
      </p:sp>
      <p:sp>
        <p:nvSpPr>
          <p:cNvPr id="7" name="Metin kutusu 6">
            <a:extLst>
              <a:ext uri="{FF2B5EF4-FFF2-40B4-BE49-F238E27FC236}">
                <a16:creationId xmlns:a16="http://schemas.microsoft.com/office/drawing/2014/main" id="{C2FD1FF8-6FF5-3FFB-4D82-CF3FACFF5C36}"/>
              </a:ext>
            </a:extLst>
          </p:cNvPr>
          <p:cNvSpPr txBox="1"/>
          <p:nvPr/>
        </p:nvSpPr>
        <p:spPr>
          <a:xfrm>
            <a:off x="1164349" y="759758"/>
            <a:ext cx="10688668" cy="2308324"/>
          </a:xfrm>
          <a:prstGeom prst="rect">
            <a:avLst/>
          </a:prstGeom>
          <a:noFill/>
        </p:spPr>
        <p:txBody>
          <a:bodyPr wrap="square" rtlCol="0">
            <a:spAutoFit/>
          </a:bodyPr>
          <a:lstStyle/>
          <a:p>
            <a:pPr marL="457200" indent="-457200">
              <a:buFont typeface="Wingdings" panose="05000000000000000000" pitchFamily="2" charset="2"/>
              <a:buChar char="§"/>
            </a:pPr>
            <a:r>
              <a:rPr lang="tr-TR" sz="2400" dirty="0">
                <a:solidFill>
                  <a:schemeClr val="tx1">
                    <a:lumMod val="95000"/>
                    <a:lumOff val="5000"/>
                  </a:schemeClr>
                </a:solidFill>
                <a:latin typeface="Consolas" panose="020B0609020204030204" pitchFamily="49" charset="0"/>
              </a:rPr>
              <a:t>İşlemci üzerinde komutların paralel (eş zamanlı olarak) çalışması prensibine dayanmaktadır. (</a:t>
            </a:r>
            <a:r>
              <a:rPr lang="tr-TR" sz="2400" dirty="0" err="1">
                <a:solidFill>
                  <a:schemeClr val="tx1">
                    <a:lumMod val="95000"/>
                    <a:lumOff val="5000"/>
                  </a:schemeClr>
                </a:solidFill>
                <a:latin typeface="Consolas" panose="020B0609020204030204" pitchFamily="49" charset="0"/>
              </a:rPr>
              <a:t>Instruction</a:t>
            </a:r>
            <a:r>
              <a:rPr lang="tr-TR" sz="2400" dirty="0">
                <a:solidFill>
                  <a:schemeClr val="tx1">
                    <a:lumMod val="95000"/>
                    <a:lumOff val="5000"/>
                  </a:schemeClr>
                </a:solidFill>
                <a:latin typeface="Consolas" panose="020B0609020204030204" pitchFamily="49" charset="0"/>
              </a:rPr>
              <a:t> Level </a:t>
            </a:r>
            <a:r>
              <a:rPr lang="tr-TR" sz="2400" dirty="0" err="1">
                <a:solidFill>
                  <a:schemeClr val="tx1">
                    <a:lumMod val="95000"/>
                    <a:lumOff val="5000"/>
                  </a:schemeClr>
                </a:solidFill>
                <a:latin typeface="Consolas" panose="020B0609020204030204" pitchFamily="49" charset="0"/>
              </a:rPr>
              <a:t>Parallelism</a:t>
            </a:r>
            <a:r>
              <a:rPr lang="tr-TR" sz="2400" dirty="0">
                <a:solidFill>
                  <a:schemeClr val="tx1">
                    <a:lumMod val="95000"/>
                    <a:lumOff val="5000"/>
                  </a:schemeClr>
                </a:solidFill>
                <a:latin typeface="Consolas" panose="020B0609020204030204" pitchFamily="49" charset="0"/>
              </a:rPr>
              <a:t>)</a:t>
            </a:r>
          </a:p>
          <a:p>
            <a:pPr marL="457200" indent="-457200">
              <a:buFont typeface="Wingdings" panose="05000000000000000000" pitchFamily="2" charset="2"/>
              <a:buChar char="§"/>
            </a:pPr>
            <a:r>
              <a:rPr lang="tr-TR" sz="2400" dirty="0">
                <a:solidFill>
                  <a:schemeClr val="tx1">
                    <a:lumMod val="95000"/>
                    <a:lumOff val="5000"/>
                  </a:schemeClr>
                </a:solidFill>
                <a:latin typeface="Consolas" panose="020B0609020204030204" pitchFamily="49" charset="0"/>
              </a:rPr>
              <a:t>Zamanı kısaltarak toplam işi arttıran, toplu komutların daha hızlı çalışmasını sağlayan günümüzde daha hızlı işlemci tasarımında kullanılan önemli bir yöntemdir.</a:t>
            </a:r>
          </a:p>
        </p:txBody>
      </p:sp>
      <p:pic>
        <p:nvPicPr>
          <p:cNvPr id="13314" name="Picture 2" descr="Teach-ICT AS Computer Science OCR H046 CPU pipelining">
            <a:extLst>
              <a:ext uri="{FF2B5EF4-FFF2-40B4-BE49-F238E27FC236}">
                <a16:creationId xmlns:a16="http://schemas.microsoft.com/office/drawing/2014/main" id="{0E28CE14-2170-45C1-750E-327F996A350B}"/>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7148"/>
          <a:stretch/>
        </p:blipFill>
        <p:spPr bwMode="auto">
          <a:xfrm>
            <a:off x="6972300" y="3885453"/>
            <a:ext cx="5219700" cy="2308325"/>
          </a:xfrm>
          <a:prstGeom prst="rect">
            <a:avLst/>
          </a:prstGeom>
          <a:noFill/>
          <a:extLst>
            <a:ext uri="{909E8E84-426E-40DD-AFC4-6F175D3DCCD1}">
              <a14:hiddenFill xmlns:a14="http://schemas.microsoft.com/office/drawing/2010/main">
                <a:solidFill>
                  <a:srgbClr val="FFFFFF"/>
                </a:solidFill>
              </a14:hiddenFill>
            </a:ext>
          </a:extLst>
        </p:spPr>
      </p:pic>
      <p:sp>
        <p:nvSpPr>
          <p:cNvPr id="3" name="Metin kutusu 2">
            <a:extLst>
              <a:ext uri="{FF2B5EF4-FFF2-40B4-BE49-F238E27FC236}">
                <a16:creationId xmlns:a16="http://schemas.microsoft.com/office/drawing/2014/main" id="{41CEF6C1-4146-A626-A08E-13D783D40EE3}"/>
              </a:ext>
            </a:extLst>
          </p:cNvPr>
          <p:cNvSpPr txBox="1"/>
          <p:nvPr/>
        </p:nvSpPr>
        <p:spPr>
          <a:xfrm>
            <a:off x="1164349" y="3195348"/>
            <a:ext cx="6505693" cy="3477875"/>
          </a:xfrm>
          <a:prstGeom prst="rect">
            <a:avLst/>
          </a:prstGeom>
          <a:noFill/>
        </p:spPr>
        <p:txBody>
          <a:bodyPr wrap="square">
            <a:spAutoFit/>
          </a:bodyPr>
          <a:lstStyle/>
          <a:p>
            <a:pPr marL="457200" indent="-457200">
              <a:buFont typeface="Wingdings" panose="05000000000000000000" pitchFamily="2" charset="2"/>
              <a:buChar char="§"/>
            </a:pPr>
            <a:r>
              <a:rPr lang="tr-TR" sz="2000" dirty="0">
                <a:solidFill>
                  <a:schemeClr val="tx1">
                    <a:lumMod val="95000"/>
                    <a:lumOff val="5000"/>
                  </a:schemeClr>
                </a:solidFill>
                <a:latin typeface="Consolas" panose="020B0609020204030204" pitchFamily="49" charset="0"/>
              </a:rPr>
              <a:t>Bir komut 4 temel bileşenden oluşmaktadır:</a:t>
            </a:r>
          </a:p>
          <a:p>
            <a:pPr marL="914400" lvl="1" indent="-457200">
              <a:buFont typeface="Wingdings" panose="05000000000000000000" pitchFamily="2" charset="2"/>
              <a:buChar char="ü"/>
            </a:pPr>
            <a:r>
              <a:rPr lang="tr-TR" sz="2000" dirty="0">
                <a:solidFill>
                  <a:schemeClr val="tx1">
                    <a:lumMod val="95000"/>
                    <a:lumOff val="5000"/>
                  </a:schemeClr>
                </a:solidFill>
                <a:latin typeface="Consolas" panose="020B0609020204030204" pitchFamily="49" charset="0"/>
              </a:rPr>
              <a:t>FI: </a:t>
            </a:r>
            <a:r>
              <a:rPr lang="tr-TR" sz="2000" dirty="0" err="1">
                <a:solidFill>
                  <a:schemeClr val="tx1">
                    <a:lumMod val="95000"/>
                    <a:lumOff val="5000"/>
                  </a:schemeClr>
                </a:solidFill>
                <a:latin typeface="Consolas" panose="020B0609020204030204" pitchFamily="49" charset="0"/>
              </a:rPr>
              <a:t>Fetch</a:t>
            </a:r>
            <a:r>
              <a:rPr lang="tr-TR" sz="2000" dirty="0">
                <a:solidFill>
                  <a:schemeClr val="tx1">
                    <a:lumMod val="95000"/>
                    <a:lumOff val="5000"/>
                  </a:schemeClr>
                </a:solidFill>
                <a:latin typeface="Consolas" panose="020B0609020204030204" pitchFamily="49" charset="0"/>
              </a:rPr>
              <a:t> </a:t>
            </a:r>
            <a:r>
              <a:rPr lang="tr-TR" sz="2000" dirty="0" err="1">
                <a:solidFill>
                  <a:schemeClr val="tx1">
                    <a:lumMod val="95000"/>
                    <a:lumOff val="5000"/>
                  </a:schemeClr>
                </a:solidFill>
                <a:latin typeface="Consolas" panose="020B0609020204030204" pitchFamily="49" charset="0"/>
              </a:rPr>
              <a:t>Instruction</a:t>
            </a:r>
            <a:r>
              <a:rPr lang="tr-TR" sz="2000" dirty="0">
                <a:solidFill>
                  <a:schemeClr val="tx1">
                    <a:lumMod val="95000"/>
                    <a:lumOff val="5000"/>
                  </a:schemeClr>
                </a:solidFill>
                <a:latin typeface="Consolas" panose="020B0609020204030204" pitchFamily="49" charset="0"/>
              </a:rPr>
              <a:t> (Git Getir)</a:t>
            </a:r>
          </a:p>
          <a:p>
            <a:pPr marL="914400" lvl="1" indent="-457200">
              <a:buFont typeface="Wingdings" panose="05000000000000000000" pitchFamily="2" charset="2"/>
              <a:buChar char="ü"/>
            </a:pPr>
            <a:r>
              <a:rPr lang="tr-TR" sz="2000" dirty="0">
                <a:solidFill>
                  <a:schemeClr val="tx1">
                    <a:lumMod val="95000"/>
                    <a:lumOff val="5000"/>
                  </a:schemeClr>
                </a:solidFill>
                <a:latin typeface="Consolas" panose="020B0609020204030204" pitchFamily="49" charset="0"/>
              </a:rPr>
              <a:t>DA: </a:t>
            </a:r>
            <a:r>
              <a:rPr lang="tr-TR" sz="2000" dirty="0" err="1">
                <a:solidFill>
                  <a:schemeClr val="tx1">
                    <a:lumMod val="95000"/>
                    <a:lumOff val="5000"/>
                  </a:schemeClr>
                </a:solidFill>
                <a:latin typeface="Consolas" panose="020B0609020204030204" pitchFamily="49" charset="0"/>
              </a:rPr>
              <a:t>Decode</a:t>
            </a:r>
            <a:r>
              <a:rPr lang="tr-TR" sz="2000" dirty="0">
                <a:solidFill>
                  <a:schemeClr val="tx1">
                    <a:lumMod val="95000"/>
                    <a:lumOff val="5000"/>
                  </a:schemeClr>
                </a:solidFill>
                <a:latin typeface="Consolas" panose="020B0609020204030204" pitchFamily="49" charset="0"/>
              </a:rPr>
              <a:t> </a:t>
            </a:r>
            <a:r>
              <a:rPr lang="tr-TR" sz="2000" dirty="0" err="1">
                <a:solidFill>
                  <a:schemeClr val="tx1">
                    <a:lumMod val="95000"/>
                    <a:lumOff val="5000"/>
                  </a:schemeClr>
                </a:solidFill>
                <a:latin typeface="Consolas" panose="020B0609020204030204" pitchFamily="49" charset="0"/>
              </a:rPr>
              <a:t>and</a:t>
            </a:r>
            <a:r>
              <a:rPr lang="tr-TR" sz="2000" dirty="0">
                <a:solidFill>
                  <a:schemeClr val="tx1">
                    <a:lumMod val="95000"/>
                    <a:lumOff val="5000"/>
                  </a:schemeClr>
                </a:solidFill>
                <a:latin typeface="Consolas" panose="020B0609020204030204" pitchFamily="49" charset="0"/>
              </a:rPr>
              <a:t> </a:t>
            </a:r>
            <a:r>
              <a:rPr lang="tr-TR" sz="2000" dirty="0" err="1">
                <a:solidFill>
                  <a:schemeClr val="tx1">
                    <a:lumMod val="95000"/>
                    <a:lumOff val="5000"/>
                  </a:schemeClr>
                </a:solidFill>
                <a:latin typeface="Consolas" panose="020B0609020204030204" pitchFamily="49" charset="0"/>
              </a:rPr>
              <a:t>Calculate</a:t>
            </a:r>
            <a:r>
              <a:rPr lang="tr-TR" sz="2000" dirty="0">
                <a:solidFill>
                  <a:schemeClr val="tx1">
                    <a:lumMod val="95000"/>
                    <a:lumOff val="5000"/>
                  </a:schemeClr>
                </a:solidFill>
                <a:latin typeface="Consolas" panose="020B0609020204030204" pitchFamily="49" charset="0"/>
              </a:rPr>
              <a:t> </a:t>
            </a:r>
            <a:r>
              <a:rPr lang="tr-TR" sz="2000" dirty="0" err="1">
                <a:solidFill>
                  <a:schemeClr val="tx1">
                    <a:lumMod val="95000"/>
                    <a:lumOff val="5000"/>
                  </a:schemeClr>
                </a:solidFill>
                <a:latin typeface="Consolas" panose="020B0609020204030204" pitchFamily="49" charset="0"/>
              </a:rPr>
              <a:t>Effective</a:t>
            </a:r>
            <a:r>
              <a:rPr lang="tr-TR" sz="2000" dirty="0">
                <a:solidFill>
                  <a:schemeClr val="tx1">
                    <a:lumMod val="95000"/>
                    <a:lumOff val="5000"/>
                  </a:schemeClr>
                </a:solidFill>
                <a:latin typeface="Consolas" panose="020B0609020204030204" pitchFamily="49" charset="0"/>
              </a:rPr>
              <a:t> </a:t>
            </a:r>
            <a:r>
              <a:rPr lang="tr-TR" sz="2000" dirty="0" err="1">
                <a:solidFill>
                  <a:schemeClr val="tx1">
                    <a:lumMod val="95000"/>
                    <a:lumOff val="5000"/>
                  </a:schemeClr>
                </a:solidFill>
                <a:latin typeface="Consolas" panose="020B0609020204030204" pitchFamily="49" charset="0"/>
              </a:rPr>
              <a:t>Address</a:t>
            </a:r>
            <a:r>
              <a:rPr lang="tr-TR" sz="2000" dirty="0">
                <a:solidFill>
                  <a:schemeClr val="tx1">
                    <a:lumMod val="95000"/>
                    <a:lumOff val="5000"/>
                  </a:schemeClr>
                </a:solidFill>
                <a:latin typeface="Consolas" panose="020B0609020204030204" pitchFamily="49" charset="0"/>
              </a:rPr>
              <a:t> (Çözümleme)</a:t>
            </a:r>
          </a:p>
          <a:p>
            <a:pPr marL="914400" lvl="1" indent="-457200">
              <a:buFont typeface="Wingdings" panose="05000000000000000000" pitchFamily="2" charset="2"/>
              <a:buChar char="ü"/>
            </a:pPr>
            <a:r>
              <a:rPr lang="tr-TR" sz="2000" dirty="0">
                <a:solidFill>
                  <a:schemeClr val="tx1">
                    <a:lumMod val="95000"/>
                    <a:lumOff val="5000"/>
                  </a:schemeClr>
                </a:solidFill>
                <a:latin typeface="Consolas" panose="020B0609020204030204" pitchFamily="49" charset="0"/>
              </a:rPr>
              <a:t>FO: </a:t>
            </a:r>
            <a:r>
              <a:rPr lang="tr-TR" sz="2000" dirty="0" err="1">
                <a:solidFill>
                  <a:schemeClr val="tx1">
                    <a:lumMod val="95000"/>
                    <a:lumOff val="5000"/>
                  </a:schemeClr>
                </a:solidFill>
                <a:latin typeface="Consolas" panose="020B0609020204030204" pitchFamily="49" charset="0"/>
              </a:rPr>
              <a:t>Fetch</a:t>
            </a:r>
            <a:r>
              <a:rPr lang="tr-TR" sz="2000" dirty="0">
                <a:solidFill>
                  <a:schemeClr val="tx1">
                    <a:lumMod val="95000"/>
                    <a:lumOff val="5000"/>
                  </a:schemeClr>
                </a:solidFill>
                <a:latin typeface="Consolas" panose="020B0609020204030204" pitchFamily="49" charset="0"/>
              </a:rPr>
              <a:t> </a:t>
            </a:r>
            <a:r>
              <a:rPr lang="tr-TR" sz="2000" dirty="0" err="1">
                <a:solidFill>
                  <a:schemeClr val="tx1">
                    <a:lumMod val="95000"/>
                    <a:lumOff val="5000"/>
                  </a:schemeClr>
                </a:solidFill>
                <a:latin typeface="Consolas" panose="020B0609020204030204" pitchFamily="49" charset="0"/>
              </a:rPr>
              <a:t>Operand</a:t>
            </a:r>
            <a:r>
              <a:rPr lang="tr-TR" sz="2000" dirty="0">
                <a:solidFill>
                  <a:schemeClr val="tx1">
                    <a:lumMod val="95000"/>
                    <a:lumOff val="5000"/>
                  </a:schemeClr>
                </a:solidFill>
                <a:latin typeface="Consolas" panose="020B0609020204030204" pitchFamily="49" charset="0"/>
              </a:rPr>
              <a:t> (Bellekten Veri Okuma)</a:t>
            </a:r>
          </a:p>
          <a:p>
            <a:pPr marL="914400" lvl="1" indent="-457200">
              <a:buFont typeface="Wingdings" panose="05000000000000000000" pitchFamily="2" charset="2"/>
              <a:buChar char="ü"/>
            </a:pPr>
            <a:r>
              <a:rPr lang="tr-TR" sz="2000" dirty="0">
                <a:solidFill>
                  <a:schemeClr val="tx1">
                    <a:lumMod val="95000"/>
                    <a:lumOff val="5000"/>
                  </a:schemeClr>
                </a:solidFill>
                <a:latin typeface="Consolas" panose="020B0609020204030204" pitchFamily="49" charset="0"/>
              </a:rPr>
              <a:t>EX: </a:t>
            </a:r>
            <a:r>
              <a:rPr lang="tr-TR" sz="2000" dirty="0" err="1">
                <a:solidFill>
                  <a:schemeClr val="tx1">
                    <a:lumMod val="95000"/>
                    <a:lumOff val="5000"/>
                  </a:schemeClr>
                </a:solidFill>
                <a:latin typeface="Consolas" panose="020B0609020204030204" pitchFamily="49" charset="0"/>
              </a:rPr>
              <a:t>Execute</a:t>
            </a:r>
            <a:r>
              <a:rPr lang="tr-TR" sz="2000" dirty="0">
                <a:solidFill>
                  <a:schemeClr val="tx1">
                    <a:lumMod val="95000"/>
                    <a:lumOff val="5000"/>
                  </a:schemeClr>
                </a:solidFill>
                <a:latin typeface="Consolas" panose="020B0609020204030204" pitchFamily="49" charset="0"/>
              </a:rPr>
              <a:t> (İşlemi Gerçekleştir - Yaz)</a:t>
            </a:r>
          </a:p>
          <a:p>
            <a:pPr marL="457200" indent="-457200">
              <a:buFont typeface="Wingdings" panose="05000000000000000000" pitchFamily="2" charset="2"/>
              <a:buChar char="§"/>
            </a:pPr>
            <a:r>
              <a:rPr lang="tr-TR" sz="2000" dirty="0">
                <a:solidFill>
                  <a:schemeClr val="tx1">
                    <a:lumMod val="95000"/>
                    <a:lumOff val="5000"/>
                  </a:schemeClr>
                </a:solidFill>
                <a:latin typeface="Consolas" panose="020B0609020204030204" pitchFamily="49" charset="0"/>
              </a:rPr>
              <a:t>Her zaman aralığında bir bileşen gerçekleştirilir</a:t>
            </a:r>
            <a:endParaRPr lang="tr-TR" sz="2000" dirty="0"/>
          </a:p>
        </p:txBody>
      </p:sp>
    </p:spTree>
    <p:extLst>
      <p:ext uri="{BB962C8B-B14F-4D97-AF65-F5344CB8AC3E}">
        <p14:creationId xmlns:p14="http://schemas.microsoft.com/office/powerpoint/2010/main" val="276169128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C22801-F2F6-811B-1E3F-5DB750703069}"/>
            </a:ext>
          </a:extLst>
        </p:cNvPr>
        <p:cNvGrpSpPr/>
        <p:nvPr/>
      </p:nvGrpSpPr>
      <p:grpSpPr>
        <a:xfrm>
          <a:off x="0" y="0"/>
          <a:ext cx="0" cy="0"/>
          <a:chOff x="0" y="0"/>
          <a:chExt cx="0" cy="0"/>
        </a:xfrm>
      </p:grpSpPr>
      <p:pic>
        <p:nvPicPr>
          <p:cNvPr id="4" name="Picture 2" descr="Parallel computing for high-performance simulations">
            <a:extLst>
              <a:ext uri="{FF2B5EF4-FFF2-40B4-BE49-F238E27FC236}">
                <a16:creationId xmlns:a16="http://schemas.microsoft.com/office/drawing/2014/main" id="{AA8E1521-0708-16C0-EE0F-466B2BE3744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51802" b="-1"/>
          <a:stretch/>
        </p:blipFill>
        <p:spPr bwMode="auto">
          <a:xfrm rot="5400000">
            <a:off x="-2989346" y="2971346"/>
            <a:ext cx="6876000" cy="914399"/>
          </a:xfrm>
          <a:prstGeom prst="rect">
            <a:avLst/>
          </a:prstGeom>
          <a:noFill/>
          <a:extLst>
            <a:ext uri="{909E8E84-426E-40DD-AFC4-6F175D3DCCD1}">
              <a14:hiddenFill xmlns:a14="http://schemas.microsoft.com/office/drawing/2010/main">
                <a:solidFill>
                  <a:srgbClr val="FFFFFF"/>
                </a:solidFill>
              </a14:hiddenFill>
            </a:ext>
          </a:extLst>
        </p:spPr>
      </p:pic>
      <p:sp>
        <p:nvSpPr>
          <p:cNvPr id="6" name="Metin kutusu 5">
            <a:extLst>
              <a:ext uri="{FF2B5EF4-FFF2-40B4-BE49-F238E27FC236}">
                <a16:creationId xmlns:a16="http://schemas.microsoft.com/office/drawing/2014/main" id="{AD6A91E8-9498-EE6A-C9CE-17CDB11C261D}"/>
              </a:ext>
            </a:extLst>
          </p:cNvPr>
          <p:cNvSpPr txBox="1"/>
          <p:nvPr/>
        </p:nvSpPr>
        <p:spPr>
          <a:xfrm>
            <a:off x="1164349" y="184777"/>
            <a:ext cx="10688668" cy="553998"/>
          </a:xfrm>
          <a:prstGeom prst="rect">
            <a:avLst/>
          </a:prstGeom>
          <a:noFill/>
        </p:spPr>
        <p:txBody>
          <a:bodyPr wrap="square" rtlCol="0">
            <a:spAutoFit/>
          </a:bodyPr>
          <a:lstStyle/>
          <a:p>
            <a:r>
              <a:rPr lang="tr-TR" sz="3000" b="1" dirty="0" err="1">
                <a:latin typeface="Consolas" panose="020B0609020204030204" pitchFamily="49" charset="0"/>
              </a:rPr>
              <a:t>Pipelines</a:t>
            </a:r>
            <a:r>
              <a:rPr lang="tr-TR" sz="3000" b="1" dirty="0">
                <a:latin typeface="Consolas" panose="020B0609020204030204" pitchFamily="49" charset="0"/>
              </a:rPr>
              <a:t> (Boru Hattı Mimarisi)</a:t>
            </a:r>
          </a:p>
        </p:txBody>
      </p:sp>
      <p:sp>
        <p:nvSpPr>
          <p:cNvPr id="7" name="Metin kutusu 6">
            <a:extLst>
              <a:ext uri="{FF2B5EF4-FFF2-40B4-BE49-F238E27FC236}">
                <a16:creationId xmlns:a16="http://schemas.microsoft.com/office/drawing/2014/main" id="{B0D5E3F5-1E01-6EE8-50F2-7D3486790428}"/>
              </a:ext>
            </a:extLst>
          </p:cNvPr>
          <p:cNvSpPr txBox="1"/>
          <p:nvPr/>
        </p:nvSpPr>
        <p:spPr>
          <a:xfrm>
            <a:off x="1164349" y="759758"/>
            <a:ext cx="10688668" cy="830997"/>
          </a:xfrm>
          <a:prstGeom prst="rect">
            <a:avLst/>
          </a:prstGeom>
          <a:noFill/>
        </p:spPr>
        <p:txBody>
          <a:bodyPr wrap="square" rtlCol="0">
            <a:spAutoFit/>
          </a:bodyPr>
          <a:lstStyle/>
          <a:p>
            <a:r>
              <a:rPr lang="tr-TR" sz="2400" dirty="0">
                <a:solidFill>
                  <a:schemeClr val="tx1">
                    <a:lumMod val="95000"/>
                    <a:lumOff val="5000"/>
                  </a:schemeClr>
                </a:solidFill>
                <a:latin typeface="Consolas" panose="020B0609020204030204" pitchFamily="49" charset="0"/>
              </a:rPr>
              <a:t>4 kademeli Boru Hattında üç komutun uygulanması:</a:t>
            </a:r>
          </a:p>
          <a:p>
            <a:r>
              <a:rPr lang="tr-TR" sz="2400" dirty="0">
                <a:solidFill>
                  <a:srgbClr val="0070C0"/>
                </a:solidFill>
                <a:latin typeface="Consolas" panose="020B0609020204030204" pitchFamily="49" charset="0"/>
              </a:rPr>
              <a:t>Klasik Yöntem</a:t>
            </a:r>
          </a:p>
        </p:txBody>
      </p:sp>
      <p:pic>
        <p:nvPicPr>
          <p:cNvPr id="2" name="Resim 1">
            <a:extLst>
              <a:ext uri="{FF2B5EF4-FFF2-40B4-BE49-F238E27FC236}">
                <a16:creationId xmlns:a16="http://schemas.microsoft.com/office/drawing/2014/main" id="{E6F990A5-D930-A527-9ED4-B1B3682CFAF3}"/>
              </a:ext>
            </a:extLst>
          </p:cNvPr>
          <p:cNvPicPr>
            <a:picLocks noChangeAspect="1"/>
          </p:cNvPicPr>
          <p:nvPr/>
        </p:nvPicPr>
        <p:blipFill>
          <a:blip r:embed="rId3"/>
          <a:stretch>
            <a:fillRect/>
          </a:stretch>
        </p:blipFill>
        <p:spPr>
          <a:xfrm>
            <a:off x="1164349" y="2044193"/>
            <a:ext cx="6505601" cy="1662929"/>
          </a:xfrm>
          <a:prstGeom prst="rect">
            <a:avLst/>
          </a:prstGeom>
        </p:spPr>
      </p:pic>
      <p:pic>
        <p:nvPicPr>
          <p:cNvPr id="3" name="Resim 2">
            <a:extLst>
              <a:ext uri="{FF2B5EF4-FFF2-40B4-BE49-F238E27FC236}">
                <a16:creationId xmlns:a16="http://schemas.microsoft.com/office/drawing/2014/main" id="{1EF6A876-F5F2-EE77-A255-BA12E644CEBE}"/>
              </a:ext>
            </a:extLst>
          </p:cNvPr>
          <p:cNvPicPr>
            <a:picLocks noChangeAspect="1"/>
          </p:cNvPicPr>
          <p:nvPr/>
        </p:nvPicPr>
        <p:blipFill>
          <a:blip r:embed="rId4"/>
          <a:stretch>
            <a:fillRect/>
          </a:stretch>
        </p:blipFill>
        <p:spPr>
          <a:xfrm>
            <a:off x="7821116" y="4362633"/>
            <a:ext cx="3668868" cy="1735609"/>
          </a:xfrm>
          <a:prstGeom prst="rect">
            <a:avLst/>
          </a:prstGeom>
        </p:spPr>
      </p:pic>
      <p:sp>
        <p:nvSpPr>
          <p:cNvPr id="8" name="Metin kutusu 7">
            <a:extLst>
              <a:ext uri="{FF2B5EF4-FFF2-40B4-BE49-F238E27FC236}">
                <a16:creationId xmlns:a16="http://schemas.microsoft.com/office/drawing/2014/main" id="{A7B9D387-E73F-C3E3-4B71-9D4CAEA1DC6E}"/>
              </a:ext>
            </a:extLst>
          </p:cNvPr>
          <p:cNvSpPr txBox="1"/>
          <p:nvPr/>
        </p:nvSpPr>
        <p:spPr>
          <a:xfrm>
            <a:off x="7669950" y="3900968"/>
            <a:ext cx="3820034" cy="461665"/>
          </a:xfrm>
          <a:prstGeom prst="rect">
            <a:avLst/>
          </a:prstGeom>
          <a:noFill/>
        </p:spPr>
        <p:txBody>
          <a:bodyPr wrap="square">
            <a:spAutoFit/>
          </a:bodyPr>
          <a:lstStyle/>
          <a:p>
            <a:r>
              <a:rPr lang="tr-TR" sz="2400" dirty="0">
                <a:solidFill>
                  <a:srgbClr val="0070C0"/>
                </a:solidFill>
                <a:latin typeface="Consolas" panose="020B0609020204030204" pitchFamily="49" charset="0"/>
              </a:rPr>
              <a:t>Boru Hattı ile</a:t>
            </a:r>
          </a:p>
        </p:txBody>
      </p:sp>
    </p:spTree>
    <p:extLst>
      <p:ext uri="{BB962C8B-B14F-4D97-AF65-F5344CB8AC3E}">
        <p14:creationId xmlns:p14="http://schemas.microsoft.com/office/powerpoint/2010/main" val="304357020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78939E-F339-D011-7B85-1D9A3D8BA3C1}"/>
            </a:ext>
          </a:extLst>
        </p:cNvPr>
        <p:cNvGrpSpPr/>
        <p:nvPr/>
      </p:nvGrpSpPr>
      <p:grpSpPr>
        <a:xfrm>
          <a:off x="0" y="0"/>
          <a:ext cx="0" cy="0"/>
          <a:chOff x="0" y="0"/>
          <a:chExt cx="0" cy="0"/>
        </a:xfrm>
      </p:grpSpPr>
      <p:pic>
        <p:nvPicPr>
          <p:cNvPr id="4" name="Picture 2" descr="Parallel computing for high-performance simulations">
            <a:extLst>
              <a:ext uri="{FF2B5EF4-FFF2-40B4-BE49-F238E27FC236}">
                <a16:creationId xmlns:a16="http://schemas.microsoft.com/office/drawing/2014/main" id="{79B52703-5F33-2DC3-D0FF-40262EE8AD43}"/>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51802" b="-1"/>
          <a:stretch/>
        </p:blipFill>
        <p:spPr bwMode="auto">
          <a:xfrm rot="5400000">
            <a:off x="-2989346" y="2971346"/>
            <a:ext cx="6876000" cy="914399"/>
          </a:xfrm>
          <a:prstGeom prst="rect">
            <a:avLst/>
          </a:prstGeom>
          <a:noFill/>
          <a:extLst>
            <a:ext uri="{909E8E84-426E-40DD-AFC4-6F175D3DCCD1}">
              <a14:hiddenFill xmlns:a14="http://schemas.microsoft.com/office/drawing/2010/main">
                <a:solidFill>
                  <a:srgbClr val="FFFFFF"/>
                </a:solidFill>
              </a14:hiddenFill>
            </a:ext>
          </a:extLst>
        </p:spPr>
      </p:pic>
      <p:sp>
        <p:nvSpPr>
          <p:cNvPr id="6" name="Metin kutusu 5">
            <a:extLst>
              <a:ext uri="{FF2B5EF4-FFF2-40B4-BE49-F238E27FC236}">
                <a16:creationId xmlns:a16="http://schemas.microsoft.com/office/drawing/2014/main" id="{2197574D-94FF-9637-7BF5-A1B5C29386E5}"/>
              </a:ext>
            </a:extLst>
          </p:cNvPr>
          <p:cNvSpPr txBox="1"/>
          <p:nvPr/>
        </p:nvSpPr>
        <p:spPr>
          <a:xfrm>
            <a:off x="1164349" y="184777"/>
            <a:ext cx="10688668" cy="553998"/>
          </a:xfrm>
          <a:prstGeom prst="rect">
            <a:avLst/>
          </a:prstGeom>
          <a:noFill/>
        </p:spPr>
        <p:txBody>
          <a:bodyPr wrap="square" rtlCol="0">
            <a:spAutoFit/>
          </a:bodyPr>
          <a:lstStyle/>
          <a:p>
            <a:r>
              <a:rPr lang="tr-TR" sz="3000" b="1" dirty="0">
                <a:latin typeface="Consolas" panose="020B0609020204030204" pitchFamily="49" charset="0"/>
              </a:rPr>
              <a:t>Kaynaklar</a:t>
            </a:r>
          </a:p>
        </p:txBody>
      </p:sp>
      <p:sp>
        <p:nvSpPr>
          <p:cNvPr id="7" name="Metin kutusu 6">
            <a:extLst>
              <a:ext uri="{FF2B5EF4-FFF2-40B4-BE49-F238E27FC236}">
                <a16:creationId xmlns:a16="http://schemas.microsoft.com/office/drawing/2014/main" id="{8F93D063-FF23-2E20-15B1-308D8304F671}"/>
              </a:ext>
            </a:extLst>
          </p:cNvPr>
          <p:cNvSpPr txBox="1"/>
          <p:nvPr/>
        </p:nvSpPr>
        <p:spPr>
          <a:xfrm>
            <a:off x="1164349" y="883739"/>
            <a:ext cx="10688668" cy="3693319"/>
          </a:xfrm>
          <a:prstGeom prst="rect">
            <a:avLst/>
          </a:prstGeom>
          <a:noFill/>
        </p:spPr>
        <p:txBody>
          <a:bodyPr wrap="square">
            <a:spAutoFit/>
          </a:bodyPr>
          <a:lstStyle/>
          <a:p>
            <a:pPr marL="0" indent="0">
              <a:buNone/>
            </a:pPr>
            <a:r>
              <a:rPr lang="tr-TR" i="1" dirty="0">
                <a:solidFill>
                  <a:schemeClr val="tx1">
                    <a:lumMod val="95000"/>
                    <a:lumOff val="5000"/>
                  </a:schemeClr>
                </a:solidFill>
                <a:latin typeface="Consolas" panose="020B0609020204030204" pitchFamily="49" charset="0"/>
              </a:rPr>
              <a:t>An </a:t>
            </a:r>
            <a:r>
              <a:rPr lang="tr-TR" i="1" dirty="0" err="1">
                <a:solidFill>
                  <a:schemeClr val="tx1">
                    <a:lumMod val="95000"/>
                    <a:lumOff val="5000"/>
                  </a:schemeClr>
                </a:solidFill>
                <a:latin typeface="Consolas" panose="020B0609020204030204" pitchFamily="49" charset="0"/>
              </a:rPr>
              <a:t>Introduction</a:t>
            </a:r>
            <a:r>
              <a:rPr lang="tr-TR" i="1" dirty="0">
                <a:solidFill>
                  <a:schemeClr val="tx1">
                    <a:lumMod val="95000"/>
                    <a:lumOff val="5000"/>
                  </a:schemeClr>
                </a:solidFill>
                <a:latin typeface="Consolas" panose="020B0609020204030204" pitchFamily="49" charset="0"/>
              </a:rPr>
              <a:t> </a:t>
            </a:r>
            <a:r>
              <a:rPr lang="tr-TR" i="1" dirty="0" err="1">
                <a:solidFill>
                  <a:schemeClr val="tx1">
                    <a:lumMod val="95000"/>
                    <a:lumOff val="5000"/>
                  </a:schemeClr>
                </a:solidFill>
                <a:latin typeface="Consolas" panose="020B0609020204030204" pitchFamily="49" charset="0"/>
              </a:rPr>
              <a:t>to</a:t>
            </a:r>
            <a:r>
              <a:rPr lang="tr-TR" i="1" dirty="0">
                <a:solidFill>
                  <a:schemeClr val="tx1">
                    <a:lumMod val="95000"/>
                    <a:lumOff val="5000"/>
                  </a:schemeClr>
                </a:solidFill>
                <a:latin typeface="Consolas" panose="020B0609020204030204" pitchFamily="49" charset="0"/>
              </a:rPr>
              <a:t> </a:t>
            </a:r>
            <a:r>
              <a:rPr lang="tr-TR" i="1" dirty="0" err="1">
                <a:solidFill>
                  <a:schemeClr val="tx1">
                    <a:lumMod val="95000"/>
                    <a:lumOff val="5000"/>
                  </a:schemeClr>
                </a:solidFill>
                <a:latin typeface="Consolas" panose="020B0609020204030204" pitchFamily="49" charset="0"/>
              </a:rPr>
              <a:t>Parallel</a:t>
            </a:r>
            <a:r>
              <a:rPr lang="tr-TR" i="1" dirty="0">
                <a:solidFill>
                  <a:schemeClr val="tx1">
                    <a:lumMod val="95000"/>
                    <a:lumOff val="5000"/>
                  </a:schemeClr>
                </a:solidFill>
                <a:latin typeface="Consolas" panose="020B0609020204030204" pitchFamily="49" charset="0"/>
              </a:rPr>
              <a:t> Programming, Peter </a:t>
            </a:r>
            <a:r>
              <a:rPr lang="tr-TR" i="1" dirty="0" err="1">
                <a:solidFill>
                  <a:schemeClr val="tx1">
                    <a:lumMod val="95000"/>
                    <a:lumOff val="5000"/>
                  </a:schemeClr>
                </a:solidFill>
                <a:latin typeface="Consolas" panose="020B0609020204030204" pitchFamily="49" charset="0"/>
              </a:rPr>
              <a:t>Pacheco</a:t>
            </a:r>
            <a:endParaRPr lang="tr-TR" i="1" dirty="0">
              <a:solidFill>
                <a:schemeClr val="tx1">
                  <a:lumMod val="95000"/>
                  <a:lumOff val="5000"/>
                </a:schemeClr>
              </a:solidFill>
              <a:latin typeface="Consolas" panose="020B0609020204030204" pitchFamily="49" charset="0"/>
            </a:endParaRPr>
          </a:p>
          <a:p>
            <a:pPr algn="l"/>
            <a:endParaRPr lang="tr-TR" b="0" i="1" dirty="0">
              <a:solidFill>
                <a:schemeClr val="tx1">
                  <a:lumMod val="95000"/>
                  <a:lumOff val="5000"/>
                </a:schemeClr>
              </a:solidFill>
              <a:effectLst/>
              <a:latin typeface="Consolas" panose="020B0609020204030204" pitchFamily="49" charset="0"/>
            </a:endParaRPr>
          </a:p>
          <a:p>
            <a:pPr algn="l"/>
            <a:endParaRPr lang="tr-TR" i="1" dirty="0">
              <a:solidFill>
                <a:schemeClr val="tx1">
                  <a:lumMod val="95000"/>
                  <a:lumOff val="5000"/>
                </a:schemeClr>
              </a:solidFill>
              <a:latin typeface="Consolas" panose="020B0609020204030204" pitchFamily="49" charset="0"/>
            </a:endParaRPr>
          </a:p>
          <a:p>
            <a:pPr algn="l"/>
            <a:endParaRPr lang="tr-TR" b="0" i="1" dirty="0">
              <a:solidFill>
                <a:schemeClr val="tx1">
                  <a:lumMod val="95000"/>
                  <a:lumOff val="5000"/>
                </a:schemeClr>
              </a:solidFill>
              <a:effectLst/>
              <a:latin typeface="Consolas" panose="020B0609020204030204" pitchFamily="49" charset="0"/>
            </a:endParaRPr>
          </a:p>
          <a:p>
            <a:pPr algn="l"/>
            <a:endParaRPr lang="tr-TR" i="1" dirty="0">
              <a:solidFill>
                <a:schemeClr val="tx1">
                  <a:lumMod val="95000"/>
                  <a:lumOff val="5000"/>
                </a:schemeClr>
              </a:solidFill>
              <a:latin typeface="Consolas" panose="020B0609020204030204" pitchFamily="49" charset="0"/>
            </a:endParaRPr>
          </a:p>
          <a:p>
            <a:pPr algn="l"/>
            <a:endParaRPr lang="tr-TR" b="0" i="1" dirty="0">
              <a:solidFill>
                <a:schemeClr val="tx1">
                  <a:lumMod val="95000"/>
                  <a:lumOff val="5000"/>
                </a:schemeClr>
              </a:solidFill>
              <a:effectLst/>
              <a:latin typeface="Consolas" panose="020B0609020204030204" pitchFamily="49" charset="0"/>
            </a:endParaRPr>
          </a:p>
          <a:p>
            <a:pPr algn="l"/>
            <a:endParaRPr lang="tr-TR" i="1" dirty="0">
              <a:solidFill>
                <a:schemeClr val="tx1">
                  <a:lumMod val="95000"/>
                  <a:lumOff val="5000"/>
                </a:schemeClr>
              </a:solidFill>
              <a:latin typeface="Consolas" panose="020B0609020204030204" pitchFamily="49" charset="0"/>
            </a:endParaRPr>
          </a:p>
          <a:p>
            <a:pPr algn="l"/>
            <a:endParaRPr lang="tr-TR" b="0" i="1" dirty="0">
              <a:solidFill>
                <a:schemeClr val="tx1">
                  <a:lumMod val="95000"/>
                  <a:lumOff val="5000"/>
                </a:schemeClr>
              </a:solidFill>
              <a:effectLst/>
              <a:latin typeface="Consolas" panose="020B0609020204030204" pitchFamily="49" charset="0"/>
            </a:endParaRPr>
          </a:p>
          <a:p>
            <a:pPr algn="l"/>
            <a:endParaRPr lang="tr-TR" i="1" dirty="0">
              <a:solidFill>
                <a:schemeClr val="tx1">
                  <a:lumMod val="95000"/>
                  <a:lumOff val="5000"/>
                </a:schemeClr>
              </a:solidFill>
              <a:latin typeface="Consolas" panose="020B0609020204030204" pitchFamily="49" charset="0"/>
            </a:endParaRPr>
          </a:p>
          <a:p>
            <a:pPr algn="l"/>
            <a:endParaRPr lang="tr-TR" b="0" i="1" dirty="0">
              <a:solidFill>
                <a:schemeClr val="tx1">
                  <a:lumMod val="95000"/>
                  <a:lumOff val="5000"/>
                </a:schemeClr>
              </a:solidFill>
              <a:effectLst/>
              <a:latin typeface="Consolas" panose="020B0609020204030204" pitchFamily="49" charset="0"/>
            </a:endParaRPr>
          </a:p>
          <a:p>
            <a:pPr algn="l"/>
            <a:r>
              <a:rPr lang="tr-TR" b="0" i="1" dirty="0">
                <a:solidFill>
                  <a:schemeClr val="tx1">
                    <a:lumMod val="95000"/>
                    <a:lumOff val="5000"/>
                  </a:schemeClr>
                </a:solidFill>
                <a:effectLst/>
                <a:latin typeface="Consolas" panose="020B0609020204030204" pitchFamily="49" charset="0"/>
              </a:rPr>
              <a:t>Paralel Programlama, </a:t>
            </a:r>
            <a:r>
              <a:rPr lang="tr-TR" b="0" i="1" dirty="0" err="1">
                <a:solidFill>
                  <a:schemeClr val="tx1">
                    <a:lumMod val="95000"/>
                    <a:lumOff val="5000"/>
                  </a:schemeClr>
                </a:solidFill>
                <a:effectLst/>
                <a:latin typeface="Consolas" panose="020B0609020204030204" pitchFamily="49" charset="0"/>
              </a:rPr>
              <a:t>Basher</a:t>
            </a:r>
            <a:r>
              <a:rPr lang="tr-TR" b="0" i="1" dirty="0">
                <a:solidFill>
                  <a:schemeClr val="tx1">
                    <a:lumMod val="95000"/>
                    <a:lumOff val="5000"/>
                  </a:schemeClr>
                </a:solidFill>
                <a:effectLst/>
                <a:latin typeface="Consolas" panose="020B0609020204030204" pitchFamily="49" charset="0"/>
              </a:rPr>
              <a:t> </a:t>
            </a:r>
            <a:r>
              <a:rPr lang="tr-TR" b="0" i="1" dirty="0" err="1">
                <a:solidFill>
                  <a:schemeClr val="tx1">
                    <a:lumMod val="95000"/>
                    <a:lumOff val="5000"/>
                  </a:schemeClr>
                </a:solidFill>
                <a:effectLst/>
                <a:latin typeface="Consolas" panose="020B0609020204030204" pitchFamily="49" charset="0"/>
              </a:rPr>
              <a:t>Alhaj</a:t>
            </a:r>
            <a:r>
              <a:rPr lang="tr-TR" b="0" i="1" dirty="0">
                <a:solidFill>
                  <a:schemeClr val="tx1">
                    <a:lumMod val="95000"/>
                    <a:lumOff val="5000"/>
                  </a:schemeClr>
                </a:solidFill>
                <a:effectLst/>
                <a:latin typeface="Consolas" panose="020B0609020204030204" pitchFamily="49" charset="0"/>
              </a:rPr>
              <a:t> </a:t>
            </a:r>
            <a:r>
              <a:rPr lang="tr-TR" b="0" i="1" dirty="0" err="1">
                <a:solidFill>
                  <a:schemeClr val="tx1">
                    <a:lumMod val="95000"/>
                    <a:lumOff val="5000"/>
                  </a:schemeClr>
                </a:solidFill>
                <a:effectLst/>
                <a:latin typeface="Consolas" panose="020B0609020204030204" pitchFamily="49" charset="0"/>
              </a:rPr>
              <a:t>Ahmad</a:t>
            </a:r>
            <a:endParaRPr lang="tr-TR" b="0" i="1" dirty="0">
              <a:solidFill>
                <a:schemeClr val="tx1">
                  <a:lumMod val="95000"/>
                  <a:lumOff val="5000"/>
                </a:schemeClr>
              </a:solidFill>
              <a:effectLst/>
              <a:latin typeface="Consolas" panose="020B0609020204030204" pitchFamily="49" charset="0"/>
            </a:endParaRPr>
          </a:p>
          <a:p>
            <a:pPr marL="0" indent="0">
              <a:buNone/>
            </a:pPr>
            <a:endParaRPr lang="tr-TR" i="1" dirty="0">
              <a:solidFill>
                <a:schemeClr val="tx1">
                  <a:lumMod val="95000"/>
                  <a:lumOff val="5000"/>
                </a:schemeClr>
              </a:solidFill>
              <a:latin typeface="Consolas" panose="020B0609020204030204" pitchFamily="49" charset="0"/>
            </a:endParaRPr>
          </a:p>
          <a:p>
            <a:pPr marL="0" indent="0">
              <a:buNone/>
            </a:pPr>
            <a:endParaRPr lang="tr-TR" i="1" dirty="0">
              <a:solidFill>
                <a:schemeClr val="tx1">
                  <a:lumMod val="95000"/>
                  <a:lumOff val="5000"/>
                </a:schemeClr>
              </a:solidFill>
              <a:latin typeface="Consolas" panose="020B0609020204030204" pitchFamily="49" charset="0"/>
            </a:endParaRPr>
          </a:p>
        </p:txBody>
      </p:sp>
      <p:pic>
        <p:nvPicPr>
          <p:cNvPr id="2050" name="Picture 2" descr="An Introduction to Parallel Programming : Pacheco, Peter: Amazon.com.tr:  Kitap">
            <a:extLst>
              <a:ext uri="{FF2B5EF4-FFF2-40B4-BE49-F238E27FC236}">
                <a16:creationId xmlns:a16="http://schemas.microsoft.com/office/drawing/2014/main" id="{3BBEAF06-E47E-A286-796C-B47F5415F6D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49045" y="1442265"/>
            <a:ext cx="1457917" cy="1800000"/>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Paralel Programlama (Basher Alhaj Ahmad) Fiyatı, Yorumları, Satın Al -  Kitapyurdu.com">
            <a:extLst>
              <a:ext uri="{FF2B5EF4-FFF2-40B4-BE49-F238E27FC236}">
                <a16:creationId xmlns:a16="http://schemas.microsoft.com/office/drawing/2014/main" id="{53A24B0C-F05E-F851-F5A6-CF9217580FD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66962" y="4217735"/>
            <a:ext cx="1440000" cy="20534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39787917"/>
      </p:ext>
    </p:extLst>
  </p:cSld>
  <p:clrMapOvr>
    <a:masterClrMapping/>
  </p:clrMapOvr>
</p:sld>
</file>

<file path=ppt/theme/theme1.xml><?xml version="1.0" encoding="utf-8"?>
<a:theme xmlns:a="http://schemas.openxmlformats.org/drawingml/2006/main" name="Office Teması">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D481CB4D0A077842BDED2766925F818C" ma:contentTypeVersion="4" ma:contentTypeDescription="Create a new document." ma:contentTypeScope="" ma:versionID="7ca4d40561e50098215b272a582dbe93">
  <xsd:schema xmlns:xsd="http://www.w3.org/2001/XMLSchema" xmlns:xs="http://www.w3.org/2001/XMLSchema" xmlns:p="http://schemas.microsoft.com/office/2006/metadata/properties" xmlns:ns3="5bc41a94-bbf5-40ca-b5ce-8a510d22409b" targetNamespace="http://schemas.microsoft.com/office/2006/metadata/properties" ma:root="true" ma:fieldsID="5674e0e6df6ae38d59263ca524813a9f" ns3:_="">
    <xsd:import namespace="5bc41a94-bbf5-40ca-b5ce-8a510d22409b"/>
    <xsd:element name="properties">
      <xsd:complexType>
        <xsd:sequence>
          <xsd:element name="documentManagement">
            <xsd:complexType>
              <xsd:all>
                <xsd:element ref="ns3:MediaServiceMetadata" minOccurs="0"/>
                <xsd:element ref="ns3:MediaServiceFastMetadata" minOccurs="0"/>
                <xsd:element ref="ns3:MediaServiceAutoKeyPoints" minOccurs="0"/>
                <xsd:element ref="ns3: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bc41a94-bbf5-40ca-b5ce-8a510d22409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8C365A7B-4A65-4DFE-8B06-484DB27340DF}">
  <ds:schemaRefs>
    <ds:schemaRef ds:uri="http://schemas.microsoft.com/sharepoint/v3/contenttype/forms"/>
  </ds:schemaRefs>
</ds:datastoreItem>
</file>

<file path=customXml/itemProps2.xml><?xml version="1.0" encoding="utf-8"?>
<ds:datastoreItem xmlns:ds="http://schemas.openxmlformats.org/officeDocument/2006/customXml" ds:itemID="{E304DF61-7D71-4B90-8ACC-B33C63B0244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bc41a94-bbf5-40ca-b5ce-8a510d22409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46203C7A-D26A-4DAA-A04B-F28D85DA9E46}">
  <ds:schemaRefs>
    <ds:schemaRef ds:uri="http://purl.org/dc/dcmitype/"/>
    <ds:schemaRef ds:uri="http://schemas.microsoft.com/office/2006/documentManagement/types"/>
    <ds:schemaRef ds:uri="http://purl.org/dc/terms/"/>
    <ds:schemaRef ds:uri="http://purl.org/dc/elements/1.1/"/>
    <ds:schemaRef ds:uri="http://www.w3.org/XML/1998/namespace"/>
    <ds:schemaRef ds:uri="5bc41a94-bbf5-40ca-b5ce-8a510d22409b"/>
    <ds:schemaRef ds:uri="http://schemas.microsoft.com/office/infopath/2007/PartnerControls"/>
    <ds:schemaRef ds:uri="http://schemas.openxmlformats.org/package/2006/metadata/core-properties"/>
    <ds:schemaRef ds:uri="http://schemas.microsoft.com/office/2006/metadata/properties"/>
  </ds:schemaRefs>
</ds:datastoreItem>
</file>

<file path=docProps/app.xml><?xml version="1.0" encoding="utf-8"?>
<Properties xmlns="http://schemas.openxmlformats.org/officeDocument/2006/extended-properties" xmlns:vt="http://schemas.openxmlformats.org/officeDocument/2006/docPropsVTypes">
  <TotalTime>2473</TotalTime>
  <Words>3206</Words>
  <Application>Microsoft Office PowerPoint</Application>
  <PresentationFormat>Geniş ekran</PresentationFormat>
  <Paragraphs>304</Paragraphs>
  <Slides>39</Slides>
  <Notes>0</Notes>
  <HiddenSlides>0</HiddenSlides>
  <MMClips>0</MMClips>
  <ScaleCrop>false</ScaleCrop>
  <HeadingPairs>
    <vt:vector size="6" baseType="variant">
      <vt:variant>
        <vt:lpstr>Kullanılan Yazı Tipleri</vt:lpstr>
      </vt:variant>
      <vt:variant>
        <vt:i4>6</vt:i4>
      </vt:variant>
      <vt:variant>
        <vt:lpstr>Tema</vt:lpstr>
      </vt:variant>
      <vt:variant>
        <vt:i4>1</vt:i4>
      </vt:variant>
      <vt:variant>
        <vt:lpstr>Slayt Başlıkları</vt:lpstr>
      </vt:variant>
      <vt:variant>
        <vt:i4>39</vt:i4>
      </vt:variant>
    </vt:vector>
  </HeadingPairs>
  <TitlesOfParts>
    <vt:vector size="46" baseType="lpstr">
      <vt:lpstr>Aptos</vt:lpstr>
      <vt:lpstr>Aptos Display</vt:lpstr>
      <vt:lpstr>Arial</vt:lpstr>
      <vt:lpstr>Consolas</vt:lpstr>
      <vt:lpstr>Söhne</vt:lpstr>
      <vt:lpstr>Wingdings</vt:lpstr>
      <vt:lpstr>Office Teması</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Sunusu</dc:title>
  <dc:creator>FUNDA KUTLU ONAY</dc:creator>
  <cp:lastModifiedBy>FUNDA KUTLU ONAY</cp:lastModifiedBy>
  <cp:revision>4</cp:revision>
  <dcterms:created xsi:type="dcterms:W3CDTF">2024-02-17T09:49:24Z</dcterms:created>
  <dcterms:modified xsi:type="dcterms:W3CDTF">2024-02-26T07:40:13Z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0x010100D481CB4D0A077842BDED2766925F818C</vt:lpwstr>
  </property>
</Properties>
</file>