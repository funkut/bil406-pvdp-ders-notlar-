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60" r:id="rId7"/>
    <p:sldId id="361" r:id="rId8"/>
    <p:sldId id="362" r:id="rId9"/>
    <p:sldId id="399" r:id="rId10"/>
    <p:sldId id="363" r:id="rId11"/>
    <p:sldId id="365" r:id="rId12"/>
    <p:sldId id="401" r:id="rId13"/>
    <p:sldId id="402" r:id="rId14"/>
    <p:sldId id="403" r:id="rId15"/>
    <p:sldId id="404" r:id="rId16"/>
    <p:sldId id="405" r:id="rId17"/>
    <p:sldId id="406" r:id="rId18"/>
    <p:sldId id="407" r:id="rId19"/>
    <p:sldId id="408" r:id="rId20"/>
    <p:sldId id="409" r:id="rId21"/>
    <p:sldId id="410" r:id="rId22"/>
    <p:sldId id="411" r:id="rId23"/>
    <p:sldId id="412" r:id="rId24"/>
    <p:sldId id="413" r:id="rId25"/>
    <p:sldId id="414" r:id="rId26"/>
    <p:sldId id="415" r:id="rId27"/>
    <p:sldId id="284" r:id="rId2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47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Orta Stil 4 - Vurgu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Açık Stil 3 - Vurgu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5EF0D81-3932-DCDE-3681-0DCD02CED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A50714F6-0FC8-FE26-1F38-A1001C0AA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C856B84-33E5-0D67-64AA-5CA109570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6B30-8727-437F-A876-6C8AB807B940}" type="datetimeFigureOut">
              <a:rPr lang="tr-TR" smtClean="0"/>
              <a:t>24.03.2024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83833DC-CCF0-E2E2-86C1-57A82AC01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EF8EC0D-3FC7-3901-1F54-99B509590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F137-9694-42F5-AD3F-DF7F4286E5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24740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E863CD1-C2BB-ED91-E749-91D1579F3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6666C8A-1BE3-8D0D-2EF7-462B11627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F5CAE76-712A-3318-137F-BE35BDFAD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6B30-8727-437F-A876-6C8AB807B940}" type="datetimeFigureOut">
              <a:rPr lang="tr-TR" smtClean="0"/>
              <a:t>24.03.2024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D9385D2-730A-47EC-3552-E71929ED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03F5ADA-E82E-5640-E825-5BBCDB5E2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F137-9694-42F5-AD3F-DF7F4286E5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2296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A07A9A-6FAF-0BD4-3BB3-70AA992D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C73B45F-6D24-6786-F21B-AF115C328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462822D-087A-9615-FF83-5F3BDCE25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6B30-8727-437F-A876-6C8AB807B940}" type="datetimeFigureOut">
              <a:rPr lang="tr-TR" smtClean="0"/>
              <a:t>24.03.2024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89D94BB-B9F9-D019-5B63-F45BA7C2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ABBA78D-7277-305C-26C1-4CEC586A9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F137-9694-42F5-AD3F-DF7F4286E5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256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FC852FC-6427-11AD-604C-448C68789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D842765-2155-EABE-0FB6-E0AD9A5E6B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FD02439-DEE2-8AA4-EA98-409F8EC78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806990F-5A41-8E33-C6BA-B48C63E03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6B30-8727-437F-A876-6C8AB807B940}" type="datetimeFigureOut">
              <a:rPr lang="tr-TR" smtClean="0"/>
              <a:t>24.03.2024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A9C92D2-D572-FCEE-D415-9FD4C0504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5DDB6E0-CD6F-C19E-E89C-8B7FA80C8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F137-9694-42F5-AD3F-DF7F4286E5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7417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E288B38-FCD6-87DA-B3D9-766CFC30D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AA9E39C-3932-55A0-45E4-C10703054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E7DE807-83F1-0D1F-82F1-375328743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7A85DFB2-150B-D60D-8D65-C515CF1AF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EC6C8B2-4607-A2EA-984D-C2E6A6A3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72FF06FA-8A92-9850-3737-64AD20310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6B30-8727-437F-A876-6C8AB807B940}" type="datetimeFigureOut">
              <a:rPr lang="tr-TR" smtClean="0"/>
              <a:t>24.03.2024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C4A6BFF9-BBD5-003D-E293-505E6C376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D5FA21B8-0F90-33C6-7190-AB037A63C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F137-9694-42F5-AD3F-DF7F4286E5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25566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B3F0719-FC0C-D6D1-E42A-2FD1D6063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4C183F86-5CC9-5E3A-11AA-DAD664C31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6B30-8727-437F-A876-6C8AB807B940}" type="datetimeFigureOut">
              <a:rPr lang="tr-TR" smtClean="0"/>
              <a:t>24.03.2024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E89181EF-E4C4-F06C-8BEF-13FA036CA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FFE7357-B69A-38E2-D339-06D71B269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F137-9694-42F5-AD3F-DF7F4286E5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4118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2C4F81A7-AA21-7C24-4231-4D9246CEC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6B30-8727-437F-A876-6C8AB807B940}" type="datetimeFigureOut">
              <a:rPr lang="tr-TR" smtClean="0"/>
              <a:t>24.03.2024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6A98BFB3-66C4-0A48-0221-EC3264E1D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310985A-11A3-CBCF-5747-094F6DAD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F137-9694-42F5-AD3F-DF7F4286E5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82166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801851D-7601-8C51-EF08-5A1C2FED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919BF2B-291C-E932-8110-C19EC3A6F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C0C7A1A-77A8-E1CD-DA08-DA6654D9E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808725A-0340-DD6A-8491-FF09B5A83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6B30-8727-437F-A876-6C8AB807B940}" type="datetimeFigureOut">
              <a:rPr lang="tr-TR" smtClean="0"/>
              <a:t>24.03.2024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5B90777-FC63-0FCE-90C0-670B76F55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E5308AF-A173-43D7-D4C8-2271F8924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F137-9694-42F5-AD3F-DF7F4286E5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0359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5AEF9FF-05CD-0D94-6EC7-BDC910E6C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CFF338BE-1459-5A7C-1A5B-E27A345400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A9F9B6CD-6A7D-ACAF-B773-CC03F2EE1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036AB66-03E0-FDDD-112B-2A32CC1BD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6B30-8727-437F-A876-6C8AB807B940}" type="datetimeFigureOut">
              <a:rPr lang="tr-TR" smtClean="0"/>
              <a:t>24.03.2024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A2DB094-74D0-EE08-62B4-1F9DF59E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455BD35-C824-39CE-860D-3CE706677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F137-9694-42F5-AD3F-DF7F4286E5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2111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72DF397-4B28-4A1F-51BD-24DB07AF6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4C5C5818-0718-6620-FBF0-E50222C0B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B427477-E5D0-0E1E-EEA7-EAA0C2F8F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6B30-8727-437F-A876-6C8AB807B940}" type="datetimeFigureOut">
              <a:rPr lang="tr-TR" smtClean="0"/>
              <a:t>24.03.2024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ED89ADD-8CC5-88F7-1C85-82304A178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FF1A69C-75A6-E9D5-E51B-C1E194F68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F137-9694-42F5-AD3F-DF7F4286E5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003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0EA7C6AC-FD6E-498B-0BD6-9DBE90E690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6B462EA-B07C-CC2A-6FF0-B36C410A3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0F3DEFA-FC6B-25A5-4173-6DD9510BD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6B30-8727-437F-A876-6C8AB807B940}" type="datetimeFigureOut">
              <a:rPr lang="tr-TR" smtClean="0"/>
              <a:t>24.03.2024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BD35489-162B-2864-371E-29BC4E01A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DCE761D-29C3-FC43-EB62-3315D81E0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CF137-9694-42F5-AD3F-DF7F4286E5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7801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561F7801-657F-C7E1-4202-6C695B23D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31DA2CF-B126-A67C-F5B7-C7F9EB651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D5A231E-05DD-09BD-82F4-18A17983A8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346B30-8727-437F-A876-6C8AB807B940}" type="datetimeFigureOut">
              <a:rPr lang="tr-TR" smtClean="0"/>
              <a:t>24.03.2024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48165A3-0DFD-374F-8119-69F2A8DA3E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93FDF04-CAD1-00D3-5052-66FC7A9DB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7CF137-9694-42F5-AD3F-DF7F4286E5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424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download/details.aspx?id=57467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rallel computing for high-performance simulations">
            <a:extLst>
              <a:ext uri="{FF2B5EF4-FFF2-40B4-BE49-F238E27FC236}">
                <a16:creationId xmlns:a16="http://schemas.microsoft.com/office/drawing/2014/main" id="{B8705AA7-AC07-A96C-0DF3-11A2601E41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472"/>
          <a:stretch/>
        </p:blipFill>
        <p:spPr bwMode="auto">
          <a:xfrm flipV="1">
            <a:off x="-8546" y="5596983"/>
            <a:ext cx="12200546" cy="1296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8958C0E2-3DE4-1E74-4308-2BA87AD5B0A7}"/>
              </a:ext>
            </a:extLst>
          </p:cNvPr>
          <p:cNvSpPr txBox="1"/>
          <p:nvPr/>
        </p:nvSpPr>
        <p:spPr>
          <a:xfrm>
            <a:off x="1877537" y="3019872"/>
            <a:ext cx="843692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000" b="1" dirty="0">
                <a:latin typeface="Consolas" panose="020B0609020204030204" pitchFamily="49" charset="0"/>
              </a:rPr>
              <a:t>BIL406 – Paralel ve Dağıtık Programlama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5626C697-7B6F-A2FF-C2FF-2E4BF6DFB94C}"/>
              </a:ext>
            </a:extLst>
          </p:cNvPr>
          <p:cNvSpPr txBox="1"/>
          <p:nvPr/>
        </p:nvSpPr>
        <p:spPr>
          <a:xfrm>
            <a:off x="1665941" y="1497296"/>
            <a:ext cx="8860118" cy="1015663"/>
          </a:xfrm>
          <a:prstGeom prst="rect">
            <a:avLst/>
          </a:prstGeom>
          <a:noFill/>
          <a:ln>
            <a:solidFill>
              <a:srgbClr val="1B83A7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tr-TR" sz="3000" dirty="0">
                <a:solidFill>
                  <a:srgbClr val="0B203C"/>
                </a:solidFill>
                <a:latin typeface="Consolas" panose="020B0609020204030204" pitchFamily="49" charset="0"/>
              </a:rPr>
              <a:t>Amasya Üniversitesi Mühendislik Fakültesi</a:t>
            </a:r>
          </a:p>
          <a:p>
            <a:pPr algn="ctr"/>
            <a:r>
              <a:rPr lang="tr-TR" sz="3000" dirty="0">
                <a:solidFill>
                  <a:srgbClr val="0B203C"/>
                </a:solidFill>
                <a:latin typeface="Consolas" panose="020B0609020204030204" pitchFamily="49" charset="0"/>
              </a:rPr>
              <a:t>Bilgisayar Mühendisliği Bölümü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290D712B-E0F2-7A71-1456-3AE90D5EC770}"/>
              </a:ext>
            </a:extLst>
          </p:cNvPr>
          <p:cNvSpPr txBox="1"/>
          <p:nvPr/>
        </p:nvSpPr>
        <p:spPr>
          <a:xfrm>
            <a:off x="4812209" y="3816742"/>
            <a:ext cx="208903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500" dirty="0">
                <a:latin typeface="Consolas" panose="020B0609020204030204" pitchFamily="49" charset="0"/>
              </a:rPr>
              <a:t>Hafta 5</a:t>
            </a:r>
          </a:p>
          <a:p>
            <a:pPr algn="ctr"/>
            <a:r>
              <a:rPr lang="tr-TR" sz="3000" b="1" dirty="0">
                <a:latin typeface="Consolas" panose="020B0609020204030204" pitchFamily="49" charset="0"/>
              </a:rPr>
              <a:t>MPI GİRİŞ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F487D820-CAE8-0A3E-CE73-D9224B8B5DCE}"/>
              </a:ext>
            </a:extLst>
          </p:cNvPr>
          <p:cNvSpPr txBox="1"/>
          <p:nvPr/>
        </p:nvSpPr>
        <p:spPr>
          <a:xfrm>
            <a:off x="4319563" y="4874993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>
                <a:latin typeface="Consolas" panose="020B0609020204030204" pitchFamily="49" charset="0"/>
              </a:rPr>
              <a:t>Dr. Funda KUTLU ONAY</a:t>
            </a:r>
          </a:p>
        </p:txBody>
      </p:sp>
    </p:spTree>
    <p:extLst>
      <p:ext uri="{BB962C8B-B14F-4D97-AF65-F5344CB8AC3E}">
        <p14:creationId xmlns:p14="http://schemas.microsoft.com/office/powerpoint/2010/main" val="2325019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allel computing for high-performance simulations">
            <a:extLst>
              <a:ext uri="{FF2B5EF4-FFF2-40B4-BE49-F238E27FC236}">
                <a16:creationId xmlns:a16="http://schemas.microsoft.com/office/drawing/2014/main" id="{2DF2FAFB-8FBC-D1F6-10FB-B22FC22E7B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2" b="-1"/>
          <a:stretch/>
        </p:blipFill>
        <p:spPr bwMode="auto">
          <a:xfrm rot="5400000">
            <a:off x="-2989346" y="2971346"/>
            <a:ext cx="68760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7E4D4629-93BD-9B46-AD20-4084588D814A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>
                <a:latin typeface="Consolas" panose="020B0609020204030204" pitchFamily="49" charset="0"/>
              </a:rPr>
              <a:t>Ders İçeriği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AA89D77E-8335-0B08-2D4B-4270DDA5B0E0}"/>
              </a:ext>
            </a:extLst>
          </p:cNvPr>
          <p:cNvSpPr txBox="1"/>
          <p:nvPr/>
        </p:nvSpPr>
        <p:spPr>
          <a:xfrm>
            <a:off x="1164349" y="759758"/>
            <a:ext cx="1068866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3000" dirty="0">
                <a:latin typeface="Consolas" panose="020B0609020204030204" pitchFamily="49" charset="0"/>
              </a:rPr>
              <a:t>MPI ile Dağıtık Bellek Programlama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3000" dirty="0">
                <a:latin typeface="Consolas" panose="020B0609020204030204" pitchFamily="49" charset="0"/>
              </a:rPr>
              <a:t>MPI ile </a:t>
            </a:r>
            <a:r>
              <a:rPr lang="tr-TR" sz="3000" dirty="0" err="1">
                <a:latin typeface="Consolas" panose="020B0609020204030204" pitchFamily="49" charset="0"/>
              </a:rPr>
              <a:t>Hello</a:t>
            </a:r>
            <a:r>
              <a:rPr lang="tr-TR" sz="3000" dirty="0">
                <a:latin typeface="Consolas" panose="020B0609020204030204" pitchFamily="49" charset="0"/>
              </a:rPr>
              <a:t> World Uygulaması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3000" dirty="0">
                <a:latin typeface="Consolas" panose="020B0609020204030204" pitchFamily="49" charset="0"/>
              </a:rPr>
              <a:t>MPI Programını Derlemek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3000" dirty="0">
                <a:latin typeface="Consolas" panose="020B0609020204030204" pitchFamily="49" charset="0"/>
              </a:rPr>
              <a:t>MPI Programını Çalıştırmak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3000" dirty="0">
                <a:latin typeface="Consolas" panose="020B0609020204030204" pitchFamily="49" charset="0"/>
              </a:rPr>
              <a:t>MPI Fonksiyon ve Argümanları</a:t>
            </a:r>
          </a:p>
        </p:txBody>
      </p:sp>
    </p:spTree>
    <p:extLst>
      <p:ext uri="{BB962C8B-B14F-4D97-AF65-F5344CB8AC3E}">
        <p14:creationId xmlns:p14="http://schemas.microsoft.com/office/powerpoint/2010/main" val="1445309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3771-9CBA-4CED-16D1-EEDF8318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allel computing for high-performance simulations">
            <a:extLst>
              <a:ext uri="{FF2B5EF4-FFF2-40B4-BE49-F238E27FC236}">
                <a16:creationId xmlns:a16="http://schemas.microsoft.com/office/drawing/2014/main" id="{DB13D94C-A8D2-C303-592D-A1242C10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2" b="-1"/>
          <a:stretch/>
        </p:blipFill>
        <p:spPr bwMode="auto">
          <a:xfrm rot="5400000">
            <a:off x="-2989346" y="2971346"/>
            <a:ext cx="68760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8DBF6EA-4C4D-C4F2-AB9A-2CE64C2AE959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>
                <a:latin typeface="Consolas" panose="020B0609020204030204" pitchFamily="49" charset="0"/>
              </a:rPr>
              <a:t>MPI ile Dağıtık Bellek Programlama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A10FF1FF-D648-9D8B-2317-B6ADEE656A7D}"/>
              </a:ext>
            </a:extLst>
          </p:cNvPr>
          <p:cNvSpPr txBox="1"/>
          <p:nvPr/>
        </p:nvSpPr>
        <p:spPr>
          <a:xfrm>
            <a:off x="1164348" y="759758"/>
            <a:ext cx="1068866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tr-TR" sz="2400" dirty="0">
                <a:latin typeface="Consolas" panose="020B0609020204030204" pitchFamily="49" charset="0"/>
              </a:rPr>
              <a:t>Paralel yazılımlar iki alt başlıkta incelenir:</a:t>
            </a:r>
          </a:p>
          <a:p>
            <a:pPr marL="914400" lvl="1" indent="-457200" algn="just">
              <a:buFont typeface="Wingdings" panose="05000000000000000000" pitchFamily="2" charset="2"/>
              <a:buChar char="v"/>
            </a:pPr>
            <a:r>
              <a:rPr lang="tr-TR" sz="2400" dirty="0">
                <a:latin typeface="Consolas" panose="020B0609020204030204" pitchFamily="49" charset="0"/>
              </a:rPr>
              <a:t>Hafıza paylaşımlı sistemler</a:t>
            </a:r>
          </a:p>
          <a:p>
            <a:pPr marL="914400" lvl="1" indent="-457200" algn="just">
              <a:buFont typeface="Wingdings" panose="05000000000000000000" pitchFamily="2" charset="2"/>
              <a:buChar char="v"/>
            </a:pPr>
            <a:r>
              <a:rPr lang="tr-TR" sz="2400" dirty="0">
                <a:latin typeface="Consolas" panose="020B0609020204030204" pitchFamily="49" charset="0"/>
              </a:rPr>
              <a:t>Dağıtık hafızalı (bellekli) sistemler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tr-TR" sz="2400" dirty="0">
                <a:latin typeface="Consolas" panose="020B0609020204030204" pitchFamily="49" charset="0"/>
              </a:rPr>
              <a:t>Bir programcı gözünden bakıldığında dağıtık bellekli sistemler çekirdek ve hafıza bütününden oluşan parçaların bir iletişim ağı ile haberleşerek bir bütünü oluşturmaktadır.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tr-TR" sz="2400" dirty="0">
                <a:latin typeface="Consolas" panose="020B0609020204030204" pitchFamily="49" charset="0"/>
              </a:rPr>
              <a:t>Bu bölümde dağıtık bellekli sistemlerde mesaj-geçişi (</a:t>
            </a:r>
            <a:r>
              <a:rPr lang="tr-TR" sz="2400" dirty="0" err="1">
                <a:latin typeface="Consolas" panose="020B0609020204030204" pitchFamily="49" charset="0"/>
              </a:rPr>
              <a:t>message-passing</a:t>
            </a:r>
            <a:r>
              <a:rPr lang="tr-TR" sz="2400" dirty="0">
                <a:latin typeface="Consolas" panose="020B0609020204030204" pitchFamily="49" charset="0"/>
              </a:rPr>
              <a:t>) yöntemi ile nasıl paralel programlar geliştirildiğini incelenecektir.</a:t>
            </a:r>
          </a:p>
        </p:txBody>
      </p:sp>
    </p:spTree>
    <p:extLst>
      <p:ext uri="{BB962C8B-B14F-4D97-AF65-F5344CB8AC3E}">
        <p14:creationId xmlns:p14="http://schemas.microsoft.com/office/powerpoint/2010/main" val="1725661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3771-9CBA-4CED-16D1-EEDF8318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allel computing for high-performance simulations">
            <a:extLst>
              <a:ext uri="{FF2B5EF4-FFF2-40B4-BE49-F238E27FC236}">
                <a16:creationId xmlns:a16="http://schemas.microsoft.com/office/drawing/2014/main" id="{DB13D94C-A8D2-C303-592D-A1242C10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2" b="-1"/>
          <a:stretch/>
        </p:blipFill>
        <p:spPr bwMode="auto">
          <a:xfrm rot="5400000">
            <a:off x="-2989346" y="2971346"/>
            <a:ext cx="68760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8DBF6EA-4C4D-C4F2-AB9A-2CE64C2AE959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>
                <a:latin typeface="Consolas" panose="020B0609020204030204" pitchFamily="49" charset="0"/>
              </a:rPr>
              <a:t>Dağıtık Bellek Sistemi</a:t>
            </a:r>
          </a:p>
        </p:txBody>
      </p:sp>
      <p:pic>
        <p:nvPicPr>
          <p:cNvPr id="2" name="İçerik Yer Tutucusu 4">
            <a:extLst>
              <a:ext uri="{FF2B5EF4-FFF2-40B4-BE49-F238E27FC236}">
                <a16:creationId xmlns:a16="http://schemas.microsoft.com/office/drawing/2014/main" id="{2CF63DE9-9B3A-B39F-0381-C3BA9ED13C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16040" y="1200978"/>
            <a:ext cx="10585285" cy="4455133"/>
          </a:xfrm>
        </p:spPr>
      </p:pic>
    </p:spTree>
    <p:extLst>
      <p:ext uri="{BB962C8B-B14F-4D97-AF65-F5344CB8AC3E}">
        <p14:creationId xmlns:p14="http://schemas.microsoft.com/office/powerpoint/2010/main" val="827117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3771-9CBA-4CED-16D1-EEDF8318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allel computing for high-performance simulations">
            <a:extLst>
              <a:ext uri="{FF2B5EF4-FFF2-40B4-BE49-F238E27FC236}">
                <a16:creationId xmlns:a16="http://schemas.microsoft.com/office/drawing/2014/main" id="{DB13D94C-A8D2-C303-592D-A1242C10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2" b="-1"/>
          <a:stretch/>
        </p:blipFill>
        <p:spPr bwMode="auto">
          <a:xfrm rot="5400000">
            <a:off x="-2989346" y="2971346"/>
            <a:ext cx="68760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8DBF6EA-4C4D-C4F2-AB9A-2CE64C2AE959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>
                <a:latin typeface="Consolas" panose="020B0609020204030204" pitchFamily="49" charset="0"/>
              </a:rPr>
              <a:t>Mesaj Aktarma İşlemleri (</a:t>
            </a:r>
            <a:r>
              <a:rPr lang="tr-TR" sz="3000" b="1" dirty="0" err="1">
                <a:latin typeface="Consolas" panose="020B0609020204030204" pitchFamily="49" charset="0"/>
              </a:rPr>
              <a:t>Non-Buffered</a:t>
            </a:r>
            <a:r>
              <a:rPr lang="tr-TR" sz="3000" b="1" dirty="0">
                <a:latin typeface="Consolas" panose="020B0609020204030204" pitchFamily="49" charset="0"/>
              </a:rPr>
              <a:t> </a:t>
            </a:r>
            <a:r>
              <a:rPr lang="tr-TR" sz="3000" b="1" dirty="0" err="1">
                <a:latin typeface="Consolas" panose="020B0609020204030204" pitchFamily="49" charset="0"/>
              </a:rPr>
              <a:t>Blocking</a:t>
            </a:r>
            <a:r>
              <a:rPr lang="tr-TR" sz="3000" b="1" dirty="0"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C9BA6E59-E065-88B9-1159-786AD88F7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011" y="1137210"/>
            <a:ext cx="9149343" cy="500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38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3771-9CBA-4CED-16D1-EEDF8318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allel computing for high-performance simulations">
            <a:extLst>
              <a:ext uri="{FF2B5EF4-FFF2-40B4-BE49-F238E27FC236}">
                <a16:creationId xmlns:a16="http://schemas.microsoft.com/office/drawing/2014/main" id="{DB13D94C-A8D2-C303-592D-A1242C10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2" b="-1"/>
          <a:stretch/>
        </p:blipFill>
        <p:spPr bwMode="auto">
          <a:xfrm rot="5400000">
            <a:off x="-2989346" y="2971346"/>
            <a:ext cx="68760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8DBF6EA-4C4D-C4F2-AB9A-2CE64C2AE959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>
                <a:latin typeface="Consolas" panose="020B0609020204030204" pitchFamily="49" charset="0"/>
              </a:rPr>
              <a:t>Mesaj Aktarma İşlemleri (</a:t>
            </a:r>
            <a:r>
              <a:rPr lang="tr-TR" sz="3000" b="1" dirty="0" err="1">
                <a:latin typeface="Consolas" panose="020B0609020204030204" pitchFamily="49" charset="0"/>
              </a:rPr>
              <a:t>Buffered</a:t>
            </a:r>
            <a:r>
              <a:rPr lang="tr-TR" sz="3000" b="1" dirty="0">
                <a:latin typeface="Consolas" panose="020B0609020204030204" pitchFamily="49" charset="0"/>
              </a:rPr>
              <a:t> </a:t>
            </a:r>
            <a:r>
              <a:rPr lang="tr-TR" sz="3000" b="1" dirty="0" err="1">
                <a:latin typeface="Consolas" panose="020B0609020204030204" pitchFamily="49" charset="0"/>
              </a:rPr>
              <a:t>Blocking</a:t>
            </a:r>
            <a:r>
              <a:rPr lang="tr-TR" sz="3000" b="1" dirty="0"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B01ACA85-E3C3-8DF7-EBC5-66EFC5D55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166" y="1078501"/>
            <a:ext cx="8685668" cy="511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898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3771-9CBA-4CED-16D1-EEDF8318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allel computing for high-performance simulations">
            <a:extLst>
              <a:ext uri="{FF2B5EF4-FFF2-40B4-BE49-F238E27FC236}">
                <a16:creationId xmlns:a16="http://schemas.microsoft.com/office/drawing/2014/main" id="{DB13D94C-A8D2-C303-592D-A1242C10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2" b="-1"/>
          <a:stretch/>
        </p:blipFill>
        <p:spPr bwMode="auto">
          <a:xfrm rot="5400000">
            <a:off x="-2989346" y="2971346"/>
            <a:ext cx="68760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8DBF6EA-4C4D-C4F2-AB9A-2CE64C2AE959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>
                <a:latin typeface="Consolas" panose="020B0609020204030204" pitchFamily="49" charset="0"/>
              </a:rPr>
              <a:t>MPI (Message-</a:t>
            </a:r>
            <a:r>
              <a:rPr lang="tr-TR" sz="3000" b="1" dirty="0" err="1">
                <a:latin typeface="Consolas" panose="020B0609020204030204" pitchFamily="49" charset="0"/>
              </a:rPr>
              <a:t>Passing</a:t>
            </a:r>
            <a:r>
              <a:rPr lang="tr-TR" sz="3000" b="1" dirty="0">
                <a:latin typeface="Consolas" panose="020B0609020204030204" pitchFamily="49" charset="0"/>
              </a:rPr>
              <a:t> </a:t>
            </a:r>
            <a:r>
              <a:rPr lang="tr-TR" sz="3000" b="1" dirty="0" err="1">
                <a:latin typeface="Consolas" panose="020B0609020204030204" pitchFamily="49" charset="0"/>
              </a:rPr>
              <a:t>Interface</a:t>
            </a:r>
            <a:r>
              <a:rPr lang="tr-TR" sz="3000" b="1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A10FF1FF-D648-9D8B-2317-B6ADEE656A7D}"/>
              </a:ext>
            </a:extLst>
          </p:cNvPr>
          <p:cNvSpPr txBox="1"/>
          <p:nvPr/>
        </p:nvSpPr>
        <p:spPr>
          <a:xfrm>
            <a:off x="1164348" y="759758"/>
            <a:ext cx="1068866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tr-TR" sz="2400" dirty="0">
                <a:latin typeface="Consolas" panose="020B0609020204030204" pitchFamily="49" charset="0"/>
              </a:rPr>
              <a:t>Mesaj-geçişi programlarında (</a:t>
            </a:r>
            <a:r>
              <a:rPr lang="tr-TR" sz="2400" dirty="0" err="1">
                <a:latin typeface="Consolas" panose="020B0609020204030204" pitchFamily="49" charset="0"/>
              </a:rPr>
              <a:t>message-passing</a:t>
            </a:r>
            <a:r>
              <a:rPr lang="tr-TR" sz="2400" dirty="0">
                <a:latin typeface="Consolas" panose="020B0609020204030204" pitchFamily="49" charset="0"/>
              </a:rPr>
              <a:t>) sistem çekirdek-bellek bütününü tek bir işlem (</a:t>
            </a:r>
            <a:r>
              <a:rPr lang="tr-TR" sz="2400" dirty="0" err="1">
                <a:latin typeface="Consolas" panose="020B0609020204030204" pitchFamily="49" charset="0"/>
              </a:rPr>
              <a:t>process</a:t>
            </a:r>
            <a:r>
              <a:rPr lang="tr-TR" sz="2400" dirty="0">
                <a:latin typeface="Consolas" panose="020B0609020204030204" pitchFamily="49" charset="0"/>
              </a:rPr>
              <a:t>) gibi algılar.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tr-TR" sz="2400" dirty="0">
                <a:latin typeface="Consolas" panose="020B0609020204030204" pitchFamily="49" charset="0"/>
              </a:rPr>
              <a:t>MPI sistemlerinde en az iki </a:t>
            </a:r>
            <a:r>
              <a:rPr lang="tr-TR" sz="2400" dirty="0" err="1">
                <a:latin typeface="Consolas" panose="020B0609020204030204" pitchFamily="49" charset="0"/>
              </a:rPr>
              <a:t>process</a:t>
            </a:r>
            <a:r>
              <a:rPr lang="tr-TR" sz="2400" dirty="0">
                <a:latin typeface="Consolas" panose="020B0609020204030204" pitchFamily="49" charset="0"/>
              </a:rPr>
              <a:t> arasında </a:t>
            </a:r>
            <a:r>
              <a:rPr lang="tr-TR" sz="2400" dirty="0" err="1">
                <a:latin typeface="Consolas" panose="020B0609020204030204" pitchFamily="49" charset="0"/>
              </a:rPr>
              <a:t>send</a:t>
            </a:r>
            <a:r>
              <a:rPr lang="tr-TR" sz="2400" dirty="0">
                <a:latin typeface="Consolas" panose="020B0609020204030204" pitchFamily="49" charset="0"/>
              </a:rPr>
              <a:t> ve </a:t>
            </a:r>
            <a:r>
              <a:rPr lang="tr-TR" sz="2400" dirty="0" err="1">
                <a:latin typeface="Consolas" panose="020B0609020204030204" pitchFamily="49" charset="0"/>
              </a:rPr>
              <a:t>receive</a:t>
            </a:r>
            <a:r>
              <a:rPr lang="tr-TR" sz="2400" dirty="0">
                <a:latin typeface="Consolas" panose="020B0609020204030204" pitchFamily="49" charset="0"/>
              </a:rPr>
              <a:t> fonksiyonları çalıştırılarak iletişim sağlanır.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tr-TR" sz="2400" dirty="0">
                <a:latin typeface="Consolas" panose="020B0609020204030204" pitchFamily="49" charset="0"/>
              </a:rPr>
              <a:t>MPI yeni bir programlama dili değildir.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tr-TR" sz="2400" dirty="0">
                <a:latin typeface="Consolas" panose="020B0609020204030204" pitchFamily="49" charset="0"/>
              </a:rPr>
              <a:t>MPI C/C++, Fortran veya Python dilleri tarafından kullanılabilen bir dağıtık bellek yönetimi kütüphanesidir.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tr-TR" sz="2400" dirty="0">
                <a:latin typeface="Consolas" panose="020B0609020204030204" pitchFamily="49" charset="0"/>
              </a:rPr>
              <a:t>Bu kısımda MPI kütüphanesini ve fonksiyonlarını incelenecektir.</a:t>
            </a:r>
          </a:p>
        </p:txBody>
      </p:sp>
    </p:spTree>
    <p:extLst>
      <p:ext uri="{BB962C8B-B14F-4D97-AF65-F5344CB8AC3E}">
        <p14:creationId xmlns:p14="http://schemas.microsoft.com/office/powerpoint/2010/main" val="3961888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3771-9CBA-4CED-16D1-EEDF8318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allel computing for high-performance simulations">
            <a:extLst>
              <a:ext uri="{FF2B5EF4-FFF2-40B4-BE49-F238E27FC236}">
                <a16:creationId xmlns:a16="http://schemas.microsoft.com/office/drawing/2014/main" id="{DB13D94C-A8D2-C303-592D-A1242C10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2" b="-1"/>
          <a:stretch/>
        </p:blipFill>
        <p:spPr bwMode="auto">
          <a:xfrm rot="5400000">
            <a:off x="-2989346" y="2971346"/>
            <a:ext cx="68760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8DBF6EA-4C4D-C4F2-AB9A-2CE64C2AE959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dirty="0">
                <a:latin typeface="Consolas" panose="020B0609020204030204" pitchFamily="49" charset="0"/>
              </a:rPr>
              <a:t>MPI Programını Visual Studio ile Derlemek</a:t>
            </a:r>
            <a:endParaRPr lang="tr-TR" sz="3000" b="1" dirty="0">
              <a:latin typeface="Consolas" panose="020B0609020204030204" pitchFamily="49" charset="0"/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A10FF1FF-D648-9D8B-2317-B6ADEE656A7D}"/>
              </a:ext>
            </a:extLst>
          </p:cNvPr>
          <p:cNvSpPr txBox="1"/>
          <p:nvPr/>
        </p:nvSpPr>
        <p:spPr>
          <a:xfrm>
            <a:off x="1164348" y="759758"/>
            <a:ext cx="1068866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tr-TR" sz="2000" dirty="0">
                <a:latin typeface="Consolas" panose="020B0609020204030204" pitchFamily="49" charset="0"/>
              </a:rPr>
              <a:t>1) MPI </a:t>
            </a:r>
            <a:r>
              <a:rPr lang="tr-TR" sz="2000" dirty="0" err="1">
                <a:latin typeface="Consolas" panose="020B0609020204030204" pitchFamily="49" charset="0"/>
              </a:rPr>
              <a:t>SDK’larının</a:t>
            </a:r>
            <a:r>
              <a:rPr lang="tr-TR" sz="2000" dirty="0">
                <a:latin typeface="Consolas" panose="020B0609020204030204" pitchFamily="49" charset="0"/>
              </a:rPr>
              <a:t> yüklenmesi: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tr-TR" sz="2000" dirty="0">
              <a:latin typeface="Consolas" panose="020B0609020204030204" pitchFamily="49" charset="0"/>
            </a:endParaRPr>
          </a:p>
          <a:p>
            <a:pPr algn="just"/>
            <a:r>
              <a:rPr lang="tr-TR" sz="2000" dirty="0">
                <a:latin typeface="Consolas" panose="020B0609020204030204" pitchFamily="49" charset="0"/>
              </a:rPr>
              <a:t>	</a:t>
            </a:r>
            <a:r>
              <a:rPr lang="tr-TR" sz="2000" dirty="0">
                <a:latin typeface="Consolas" panose="020B0609020204030204" pitchFamily="49" charset="0"/>
                <a:hlinkClick r:id="rId3"/>
              </a:rPr>
              <a:t>https://www.microsoft.com/en-us/download/details.aspx?id=57467</a:t>
            </a:r>
            <a:endParaRPr lang="tr-TR" sz="2000" dirty="0">
              <a:latin typeface="Consolas" panose="020B0609020204030204" pitchFamily="49" charset="0"/>
            </a:endParaRPr>
          </a:p>
          <a:p>
            <a:pPr algn="just"/>
            <a:r>
              <a:rPr lang="tr-TR" sz="2000" dirty="0">
                <a:latin typeface="Consolas" panose="020B0609020204030204" pitchFamily="49" charset="0"/>
              </a:rPr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tr-TR" sz="2000" dirty="0">
                <a:latin typeface="Consolas" panose="020B0609020204030204" pitchFamily="49" charset="0"/>
              </a:rPr>
              <a:t>2) Visual </a:t>
            </a:r>
            <a:r>
              <a:rPr lang="tr-TR" sz="2000" dirty="0" err="1">
                <a:latin typeface="Consolas" panose="020B0609020204030204" pitchFamily="49" charset="0"/>
              </a:rPr>
              <a:t>Studio</a:t>
            </a:r>
            <a:r>
              <a:rPr lang="tr-TR" sz="2000" dirty="0">
                <a:latin typeface="Consolas" panose="020B0609020204030204" pitchFamily="49" charset="0"/>
              </a:rPr>
              <a:t> C/C++ araçları ile kurulumu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tr-TR" sz="2000" dirty="0">
              <a:latin typeface="Consolas" panose="020B0609020204030204" pitchFamily="49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tr-TR" sz="2000" dirty="0">
                <a:latin typeface="Consolas" panose="020B0609020204030204" pitchFamily="49" charset="0"/>
              </a:rPr>
              <a:t>3) Açılan Projede yapılması gereken ayarlamalar: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tr-TR" sz="2000" dirty="0">
              <a:latin typeface="Consolas" panose="020B0609020204030204" pitchFamily="49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tr-TR" sz="2000" dirty="0">
                <a:latin typeface="Consolas" panose="020B0609020204030204" pitchFamily="49" charset="0"/>
              </a:rPr>
              <a:t>Proje/Özellikler/C/C++/Ek İçeren Dizinler</a:t>
            </a:r>
          </a:p>
          <a:p>
            <a:pPr marL="1371600" lvl="2" indent="-457200" algn="just">
              <a:buFont typeface="Wingdings" panose="05000000000000000000" pitchFamily="2" charset="2"/>
              <a:buChar char="ü"/>
            </a:pPr>
            <a:r>
              <a:rPr lang="tr-TR" sz="2000" dirty="0">
                <a:latin typeface="Consolas" panose="020B0609020204030204" pitchFamily="49" charset="0"/>
              </a:rPr>
              <a:t>Yeni bir dizin ekleme: \Microsoft </a:t>
            </a:r>
            <a:r>
              <a:rPr lang="tr-TR" sz="2000" dirty="0" err="1">
                <a:latin typeface="Consolas" panose="020B0609020204030204" pitchFamily="49" charset="0"/>
              </a:rPr>
              <a:t>SDKs</a:t>
            </a:r>
            <a:r>
              <a:rPr lang="tr-TR" sz="2000" dirty="0">
                <a:latin typeface="Consolas" panose="020B0609020204030204" pitchFamily="49" charset="0"/>
              </a:rPr>
              <a:t>\MPI\</a:t>
            </a:r>
            <a:r>
              <a:rPr lang="tr-TR" sz="2000" dirty="0" err="1">
                <a:latin typeface="Consolas" panose="020B0609020204030204" pitchFamily="49" charset="0"/>
              </a:rPr>
              <a:t>Include</a:t>
            </a:r>
            <a:endParaRPr lang="tr-TR" sz="2000" dirty="0">
              <a:latin typeface="Consolas" panose="020B0609020204030204" pitchFamily="49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endParaRPr lang="tr-TR" sz="2000" dirty="0">
              <a:latin typeface="Consolas" panose="020B0609020204030204" pitchFamily="49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tr-TR" sz="2000" dirty="0">
                <a:latin typeface="Consolas" panose="020B0609020204030204" pitchFamily="49" charset="0"/>
              </a:rPr>
              <a:t>Proje/Özellikler/Bağlayıcı/Ek Kitaplık Dizinleri </a:t>
            </a:r>
          </a:p>
          <a:p>
            <a:pPr marL="1371600" lvl="2" indent="-457200" algn="just">
              <a:buFont typeface="Wingdings" panose="05000000000000000000" pitchFamily="2" charset="2"/>
              <a:buChar char="ü"/>
            </a:pPr>
            <a:r>
              <a:rPr lang="tr-TR" sz="2000" dirty="0">
                <a:latin typeface="Consolas" panose="020B0609020204030204" pitchFamily="49" charset="0"/>
              </a:rPr>
              <a:t>Yeni bir dizin ekleme: Microsoft </a:t>
            </a:r>
            <a:r>
              <a:rPr lang="tr-TR" sz="2000" dirty="0" err="1">
                <a:latin typeface="Consolas" panose="020B0609020204030204" pitchFamily="49" charset="0"/>
              </a:rPr>
              <a:t>SDKs</a:t>
            </a:r>
            <a:r>
              <a:rPr lang="tr-TR" sz="2000" dirty="0">
                <a:latin typeface="Consolas" panose="020B0609020204030204" pitchFamily="49" charset="0"/>
              </a:rPr>
              <a:t>\MPI\</a:t>
            </a:r>
            <a:r>
              <a:rPr lang="tr-TR" sz="2000" dirty="0" err="1">
                <a:latin typeface="Consolas" panose="020B0609020204030204" pitchFamily="49" charset="0"/>
              </a:rPr>
              <a:t>Lib</a:t>
            </a:r>
            <a:r>
              <a:rPr lang="tr-TR" sz="2000" dirty="0">
                <a:latin typeface="Consolas" panose="020B0609020204030204" pitchFamily="49" charset="0"/>
              </a:rPr>
              <a:t>\x86-x64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endParaRPr lang="tr-TR" sz="2000" dirty="0">
              <a:latin typeface="Consolas" panose="020B0609020204030204" pitchFamily="49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tr-TR" sz="2000" dirty="0">
                <a:latin typeface="Consolas" panose="020B0609020204030204" pitchFamily="49" charset="0"/>
              </a:rPr>
              <a:t>Proje/Özellikler/Bağlayıcı/Giriş/Ek Bağımlılıklar</a:t>
            </a:r>
          </a:p>
          <a:p>
            <a:pPr marL="1371600" lvl="2" indent="-457200" algn="just">
              <a:buFont typeface="Wingdings" panose="05000000000000000000" pitchFamily="2" charset="2"/>
              <a:buChar char="ü"/>
            </a:pPr>
            <a:r>
              <a:rPr lang="tr-TR" sz="2000" dirty="0">
                <a:latin typeface="Consolas" panose="020B0609020204030204" pitchFamily="49" charset="0"/>
              </a:rPr>
              <a:t>Yeni bir bağımlılık ekleme: msmpi.lib</a:t>
            </a:r>
          </a:p>
        </p:txBody>
      </p:sp>
    </p:spTree>
    <p:extLst>
      <p:ext uri="{BB962C8B-B14F-4D97-AF65-F5344CB8AC3E}">
        <p14:creationId xmlns:p14="http://schemas.microsoft.com/office/powerpoint/2010/main" val="1917236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3771-9CBA-4CED-16D1-EEDF8318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allel computing for high-performance simulations">
            <a:extLst>
              <a:ext uri="{FF2B5EF4-FFF2-40B4-BE49-F238E27FC236}">
                <a16:creationId xmlns:a16="http://schemas.microsoft.com/office/drawing/2014/main" id="{DB13D94C-A8D2-C303-592D-A1242C10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2" b="-1"/>
          <a:stretch/>
        </p:blipFill>
        <p:spPr bwMode="auto">
          <a:xfrm rot="5400000">
            <a:off x="-2989346" y="2971346"/>
            <a:ext cx="68760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8DBF6EA-4C4D-C4F2-AB9A-2CE64C2AE959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dirty="0">
                <a:latin typeface="Consolas" panose="020B0609020204030204" pitchFamily="49" charset="0"/>
              </a:rPr>
              <a:t>Seri «Hello World» Uygulaması</a:t>
            </a:r>
            <a:endParaRPr lang="tr-TR" sz="3000" b="1" dirty="0">
              <a:latin typeface="Consolas" panose="020B0609020204030204" pitchFamily="49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6D6CC65-93AB-F331-D2CD-C40C75ED2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4349" y="4177254"/>
            <a:ext cx="11682819" cy="1445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dirty="0">
                <a:latin typeface="Consolas" panose="020B0609020204030204" pitchFamily="49" charset="0"/>
              </a:rPr>
              <a:t>Şimdi bu programı MPI kullanarak biraz daha değiştirelim.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EC94E19-BB4A-22F4-C906-A2DFABD31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349" y="834445"/>
            <a:ext cx="7060565" cy="291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704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3771-9CBA-4CED-16D1-EEDF8318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allel computing for high-performance simulations">
            <a:extLst>
              <a:ext uri="{FF2B5EF4-FFF2-40B4-BE49-F238E27FC236}">
                <a16:creationId xmlns:a16="http://schemas.microsoft.com/office/drawing/2014/main" id="{DB13D94C-A8D2-C303-592D-A1242C10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2" b="-1"/>
          <a:stretch/>
        </p:blipFill>
        <p:spPr bwMode="auto">
          <a:xfrm rot="5400000">
            <a:off x="-2989346" y="2971346"/>
            <a:ext cx="68760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8DBF6EA-4C4D-C4F2-AB9A-2CE64C2AE959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dirty="0">
                <a:latin typeface="Consolas" panose="020B0609020204030204" pitchFamily="49" charset="0"/>
              </a:rPr>
              <a:t>MPI ile «Hello World» Uygulaması</a:t>
            </a:r>
            <a:endParaRPr lang="tr-TR" sz="3000" b="1" dirty="0">
              <a:latin typeface="Consolas" panose="020B0609020204030204" pitchFamily="49" charset="0"/>
            </a:endParaRP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5C4FFA80-9D74-A2F6-9ACD-E7F8B18C54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106" b="27122"/>
          <a:stretch/>
        </p:blipFill>
        <p:spPr>
          <a:xfrm>
            <a:off x="1164349" y="708585"/>
            <a:ext cx="10172979" cy="543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813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3771-9CBA-4CED-16D1-EEDF8318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allel computing for high-performance simulations">
            <a:extLst>
              <a:ext uri="{FF2B5EF4-FFF2-40B4-BE49-F238E27FC236}">
                <a16:creationId xmlns:a16="http://schemas.microsoft.com/office/drawing/2014/main" id="{DB13D94C-A8D2-C303-592D-A1242C10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2" b="-1"/>
          <a:stretch/>
        </p:blipFill>
        <p:spPr bwMode="auto">
          <a:xfrm rot="5400000">
            <a:off x="-2989346" y="2971346"/>
            <a:ext cx="68760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8DBF6EA-4C4D-C4F2-AB9A-2CE64C2AE959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dirty="0">
                <a:latin typeface="Consolas" panose="020B0609020204030204" pitchFamily="49" charset="0"/>
              </a:rPr>
              <a:t>MPI ile «Hello World» Uygulaması</a:t>
            </a:r>
            <a:r>
              <a:rPr lang="tr-TR" sz="3000" b="1" dirty="0">
                <a:latin typeface="Consolas" panose="020B0609020204030204" pitchFamily="49" charset="0"/>
              </a:rPr>
              <a:t> 2</a:t>
            </a: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E012B596-61C3-3FE2-E977-2F98B6521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883" y="738775"/>
            <a:ext cx="8794098" cy="593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54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3771-9CBA-4CED-16D1-EEDF8318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allel computing for high-performance simulations">
            <a:extLst>
              <a:ext uri="{FF2B5EF4-FFF2-40B4-BE49-F238E27FC236}">
                <a16:creationId xmlns:a16="http://schemas.microsoft.com/office/drawing/2014/main" id="{DB13D94C-A8D2-C303-592D-A1242C10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2" b="-1"/>
          <a:stretch/>
        </p:blipFill>
        <p:spPr bwMode="auto">
          <a:xfrm rot="5400000">
            <a:off x="-2989346" y="2971346"/>
            <a:ext cx="68760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8DBF6EA-4C4D-C4F2-AB9A-2CE64C2AE959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dirty="0">
                <a:latin typeface="Consolas" panose="020B0609020204030204" pitchFamily="49" charset="0"/>
              </a:rPr>
              <a:t>MPI Programını Çalıştırmak</a:t>
            </a:r>
            <a:endParaRPr lang="tr-TR" sz="3000" b="1" dirty="0">
              <a:latin typeface="Consolas" panose="020B0609020204030204" pitchFamily="49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CD306626-0A70-8106-AF8F-BD96C91DDBB9}"/>
              </a:ext>
            </a:extLst>
          </p:cNvPr>
          <p:cNvSpPr txBox="1"/>
          <p:nvPr/>
        </p:nvSpPr>
        <p:spPr>
          <a:xfrm>
            <a:off x="1164349" y="947593"/>
            <a:ext cx="1046354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400" dirty="0">
                <a:latin typeface="Consolas" panose="020B0609020204030204" pitchFamily="49" charset="0"/>
              </a:rPr>
              <a:t>Başarılı bir şekilde derlenen programı çalıştırmak için komut istemi üzerinden </a:t>
            </a: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Dosyaİsmi.exe’</a:t>
            </a:r>
            <a:r>
              <a:rPr lang="tr-TR" sz="2400" dirty="0" err="1">
                <a:latin typeface="Consolas" panose="020B0609020204030204" pitchFamily="49" charset="0"/>
              </a:rPr>
              <a:t>nin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>
                <a:latin typeface="Consolas" panose="020B0609020204030204" pitchFamily="49" charset="0"/>
              </a:rPr>
              <a:t>olduğu klasöre giderek yine </a:t>
            </a:r>
            <a:r>
              <a:rPr lang="tr-TR" sz="2400" dirty="0" err="1">
                <a:latin typeface="Consolas" panose="020B0609020204030204" pitchFamily="49" charset="0"/>
              </a:rPr>
              <a:t>cmd</a:t>
            </a:r>
            <a:r>
              <a:rPr lang="tr-TR" sz="2400" dirty="0">
                <a:latin typeface="Consolas" panose="020B0609020204030204" pitchFamily="49" charset="0"/>
              </a:rPr>
              <a:t> üzerinden:</a:t>
            </a:r>
          </a:p>
          <a:p>
            <a:pPr algn="just"/>
            <a:endParaRPr lang="tr-TR" sz="2400" dirty="0"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mpiexec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 –n 4 Dosyaİsmi.exe (ya da –n yerine -</a:t>
            </a: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np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 algn="just">
              <a:buNone/>
            </a:pPr>
            <a:r>
              <a:rPr lang="tr-TR" sz="2400" dirty="0">
                <a:latin typeface="Consolas" panose="020B0609020204030204" pitchFamily="49" charset="0"/>
              </a:rPr>
              <a:t>komutu çalıştırılmalıdır.</a:t>
            </a:r>
          </a:p>
          <a:p>
            <a:pPr marL="0" indent="0" algn="just">
              <a:buNone/>
            </a:pPr>
            <a:endParaRPr lang="tr-TR" sz="2400" dirty="0">
              <a:latin typeface="Consolas" panose="020B0609020204030204" pitchFamily="49" charset="0"/>
            </a:endParaRPr>
          </a:p>
          <a:p>
            <a:pPr algn="just"/>
            <a:r>
              <a:rPr lang="tr-TR" sz="2400" dirty="0">
                <a:latin typeface="Consolas" panose="020B0609020204030204" pitchFamily="49" charset="0"/>
              </a:rPr>
              <a:t>Burada 4 değeri paralel olarak çalıştırılacak olan </a:t>
            </a:r>
            <a:r>
              <a:rPr lang="tr-TR" sz="2400" dirty="0" err="1">
                <a:latin typeface="Consolas" panose="020B0609020204030204" pitchFamily="49" charset="0"/>
              </a:rPr>
              <a:t>process</a:t>
            </a:r>
            <a:r>
              <a:rPr lang="tr-TR" sz="2400" dirty="0">
                <a:latin typeface="Consolas" panose="020B0609020204030204" pitchFamily="49" charset="0"/>
              </a:rPr>
              <a:t> sayısını ifade etmektedir. Program çıktısı:</a:t>
            </a:r>
          </a:p>
          <a:p>
            <a:pPr algn="just"/>
            <a:endParaRPr lang="tr-TR" sz="2400" dirty="0">
              <a:latin typeface="Consolas" panose="020B0609020204030204" pitchFamily="49" charset="0"/>
            </a:endParaRP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7742991F-D90C-E0D2-1BDA-159BA77F7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349" y="4733245"/>
            <a:ext cx="5453395" cy="112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250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3771-9CBA-4CED-16D1-EEDF8318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allel computing for high-performance simulations">
            <a:extLst>
              <a:ext uri="{FF2B5EF4-FFF2-40B4-BE49-F238E27FC236}">
                <a16:creationId xmlns:a16="http://schemas.microsoft.com/office/drawing/2014/main" id="{DB13D94C-A8D2-C303-592D-A1242C10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2" b="-1"/>
          <a:stretch/>
        </p:blipFill>
        <p:spPr bwMode="auto">
          <a:xfrm rot="5400000">
            <a:off x="-2989346" y="2971346"/>
            <a:ext cx="68760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8DBF6EA-4C4D-C4F2-AB9A-2CE64C2AE959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dirty="0">
                <a:latin typeface="Consolas" panose="020B0609020204030204" pitchFamily="49" charset="0"/>
              </a:rPr>
              <a:t>MPI Programını Çalıştırmak</a:t>
            </a:r>
            <a:endParaRPr lang="tr-TR" sz="3000" b="1" dirty="0">
              <a:latin typeface="Consolas" panose="020B0609020204030204" pitchFamily="49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CD306626-0A70-8106-AF8F-BD96C91DDBB9}"/>
              </a:ext>
            </a:extLst>
          </p:cNvPr>
          <p:cNvSpPr txBox="1"/>
          <p:nvPr/>
        </p:nvSpPr>
        <p:spPr>
          <a:xfrm>
            <a:off x="1164349" y="947593"/>
            <a:ext cx="1046354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include</a:t>
            </a:r>
            <a:r>
              <a:rPr lang="tr-TR" sz="2400" dirty="0">
                <a:solidFill>
                  <a:srgbClr val="FF0000"/>
                </a:solidFill>
                <a:latin typeface="Consolas" panose="020B0609020204030204" pitchFamily="49" charset="0"/>
              </a:rPr>
              <a:t> &lt;</a:t>
            </a:r>
            <a:r>
              <a:rPr lang="tr-TR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mpi.h</a:t>
            </a:r>
            <a:r>
              <a:rPr lang="tr-TR" sz="2400" dirty="0">
                <a:solidFill>
                  <a:srgbClr val="FF0000"/>
                </a:solidFill>
                <a:latin typeface="Consolas" panose="020B0609020204030204" pitchFamily="49" charset="0"/>
              </a:rPr>
              <a:t>&gt; </a:t>
            </a:r>
            <a:r>
              <a:rPr lang="tr-TR" sz="2400" dirty="0">
                <a:latin typeface="Consolas" panose="020B0609020204030204" pitchFamily="49" charset="0"/>
              </a:rPr>
              <a:t>ile programımıza MPI kütüphanesi </a:t>
            </a:r>
            <a:r>
              <a:rPr lang="tr-TR" sz="2400" dirty="0" err="1">
                <a:latin typeface="Consolas" panose="020B0609020204030204" pitchFamily="49" charset="0"/>
              </a:rPr>
              <a:t>import</a:t>
            </a:r>
            <a:r>
              <a:rPr lang="tr-TR" sz="2400" dirty="0">
                <a:latin typeface="Consolas" panose="020B0609020204030204" pitchFamily="49" charset="0"/>
              </a:rPr>
              <a:t> edilir. MPI programlarının tamamında bu </a:t>
            </a:r>
            <a:r>
              <a:rPr lang="tr-TR" sz="2400" dirty="0" err="1">
                <a:latin typeface="Consolas" panose="020B0609020204030204" pitchFamily="49" charset="0"/>
              </a:rPr>
              <a:t>Header</a:t>
            </a:r>
            <a:r>
              <a:rPr lang="tr-TR" sz="2400" dirty="0">
                <a:latin typeface="Consolas" panose="020B0609020204030204" pitchFamily="49" charset="0"/>
              </a:rPr>
              <a:t> dosyası mutlaka eklenmelidir.</a:t>
            </a:r>
          </a:p>
          <a:p>
            <a:pPr algn="just"/>
            <a:endParaRPr lang="tr-TR" sz="2400" dirty="0">
              <a:latin typeface="Consolas" panose="020B0609020204030204" pitchFamily="49" charset="0"/>
            </a:endParaRPr>
          </a:p>
          <a:p>
            <a:pPr algn="just"/>
            <a:r>
              <a:rPr lang="tr-TR" sz="2400" dirty="0">
                <a:latin typeface="Consolas" panose="020B0609020204030204" pitchFamily="49" charset="0"/>
              </a:rPr>
              <a:t>Bu kütüphane içerisinde MPI kütüphanesine ait fonksiyonların, global değişkenlerin, makroların tanımlamaları saklanmaktadır.</a:t>
            </a:r>
          </a:p>
          <a:p>
            <a:pPr algn="just"/>
            <a:endParaRPr lang="tr-TR" sz="2400" dirty="0">
              <a:latin typeface="Consolas" panose="020B0609020204030204" pitchFamily="49" charset="0"/>
            </a:endParaRPr>
          </a:p>
          <a:p>
            <a:pPr algn="just"/>
            <a:r>
              <a:rPr lang="tr-TR" sz="2400" dirty="0">
                <a:latin typeface="Consolas" panose="020B0609020204030204" pitchFamily="49" charset="0"/>
              </a:rPr>
              <a:t>MPI kütüphanesine ait tüm fonksiyon ve değişkenler MPI_ dizgesi ile başlamaktadır. Bu yapılara </a:t>
            </a:r>
            <a:r>
              <a:rPr lang="tr-TR" sz="2400" dirty="0">
                <a:solidFill>
                  <a:srgbClr val="FF0000"/>
                </a:solidFill>
                <a:latin typeface="Consolas" panose="020B0609020204030204" pitchFamily="49" charset="0"/>
              </a:rPr>
              <a:t>MPI_ </a:t>
            </a:r>
            <a:r>
              <a:rPr lang="tr-TR" sz="2400" dirty="0">
                <a:latin typeface="Consolas" panose="020B0609020204030204" pitchFamily="49" charset="0"/>
              </a:rPr>
              <a:t>tanımlı türler (MPI-</a:t>
            </a:r>
            <a:r>
              <a:rPr lang="tr-TR" sz="2400" dirty="0" err="1">
                <a:latin typeface="Consolas" panose="020B0609020204030204" pitchFamily="49" charset="0"/>
              </a:rPr>
              <a:t>defined</a:t>
            </a:r>
            <a:r>
              <a:rPr lang="tr-TR" sz="2400" dirty="0">
                <a:latin typeface="Consolas" panose="020B0609020204030204" pitchFamily="49" charset="0"/>
              </a:rPr>
              <a:t> </a:t>
            </a:r>
            <a:r>
              <a:rPr lang="tr-TR" sz="2400" dirty="0" err="1">
                <a:latin typeface="Consolas" panose="020B0609020204030204" pitchFamily="49" charset="0"/>
              </a:rPr>
              <a:t>types</a:t>
            </a:r>
            <a:r>
              <a:rPr lang="tr-TR" sz="2400" dirty="0">
                <a:latin typeface="Consolas" panose="020B0609020204030204" pitchFamily="49" charset="0"/>
              </a:rPr>
              <a:t>) denmektedir. </a:t>
            </a:r>
          </a:p>
        </p:txBody>
      </p:sp>
    </p:spTree>
    <p:extLst>
      <p:ext uri="{BB962C8B-B14F-4D97-AF65-F5344CB8AC3E}">
        <p14:creationId xmlns:p14="http://schemas.microsoft.com/office/powerpoint/2010/main" val="3752150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3771-9CBA-4CED-16D1-EEDF8318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allel computing for high-performance simulations">
            <a:extLst>
              <a:ext uri="{FF2B5EF4-FFF2-40B4-BE49-F238E27FC236}">
                <a16:creationId xmlns:a16="http://schemas.microsoft.com/office/drawing/2014/main" id="{DB13D94C-A8D2-C303-592D-A1242C10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2" b="-1"/>
          <a:stretch/>
        </p:blipFill>
        <p:spPr bwMode="auto">
          <a:xfrm rot="5400000">
            <a:off x="-2989346" y="2971346"/>
            <a:ext cx="68760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8DBF6EA-4C4D-C4F2-AB9A-2CE64C2AE959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dirty="0">
                <a:latin typeface="Consolas" panose="020B0609020204030204" pitchFamily="49" charset="0"/>
              </a:rPr>
              <a:t>MPI_Init ve MPI_Finalize</a:t>
            </a:r>
            <a:endParaRPr lang="tr-TR" sz="3000" b="1" dirty="0">
              <a:latin typeface="Consolas" panose="020B0609020204030204" pitchFamily="49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CD306626-0A70-8106-AF8F-BD96C91DDBB9}"/>
              </a:ext>
            </a:extLst>
          </p:cNvPr>
          <p:cNvSpPr txBox="1"/>
          <p:nvPr/>
        </p:nvSpPr>
        <p:spPr>
          <a:xfrm>
            <a:off x="1164349" y="947593"/>
            <a:ext cx="1046354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MPI_Init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>
                <a:latin typeface="Consolas" panose="020B0609020204030204" pitchFamily="49" charset="0"/>
              </a:rPr>
              <a:t>sisteme MPI ile ilgili bütün kurulumları hazırlamasını söyler.</a:t>
            </a:r>
          </a:p>
          <a:p>
            <a:endParaRPr lang="tr-TR" sz="2400" dirty="0">
              <a:latin typeface="Consolas" panose="020B0609020204030204" pitchFamily="49" charset="0"/>
            </a:endParaRPr>
          </a:p>
          <a:p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MPI_Init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>
                <a:latin typeface="Consolas" panose="020B0609020204030204" pitchFamily="49" charset="0"/>
              </a:rPr>
              <a:t>‘den önce hiçbir MPI fonksiyonu çağırılamaz ve kullanılamaz.</a:t>
            </a:r>
          </a:p>
          <a:p>
            <a:endParaRPr lang="tr-TR" sz="2400" dirty="0">
              <a:latin typeface="Consolas" panose="020B0609020204030204" pitchFamily="49" charset="0"/>
            </a:endParaRPr>
          </a:p>
          <a:p>
            <a:endParaRPr lang="tr-TR" sz="2400" dirty="0">
              <a:latin typeface="Consolas" panose="020B0609020204030204" pitchFamily="49" charset="0"/>
            </a:endParaRPr>
          </a:p>
          <a:p>
            <a:endParaRPr lang="tr-TR" sz="2400" dirty="0">
              <a:latin typeface="Consolas" panose="020B0609020204030204" pitchFamily="49" charset="0"/>
            </a:endParaRPr>
          </a:p>
          <a:p>
            <a:endParaRPr lang="tr-TR" sz="2400" dirty="0">
              <a:latin typeface="Consolas" panose="020B0609020204030204" pitchFamily="49" charset="0"/>
            </a:endParaRPr>
          </a:p>
          <a:p>
            <a:endParaRPr lang="tr-TR" sz="2400" dirty="0">
              <a:latin typeface="Consolas" panose="020B0609020204030204" pitchFamily="49" charset="0"/>
            </a:endParaRPr>
          </a:p>
          <a:p>
            <a:r>
              <a:rPr lang="tr-TR" sz="2400" dirty="0">
                <a:latin typeface="Consolas" panose="020B0609020204030204" pitchFamily="49" charset="0"/>
              </a:rPr>
              <a:t>Bu fonksiyonlar 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main</a:t>
            </a:r>
            <a:r>
              <a:rPr lang="tr-TR" sz="2400" dirty="0">
                <a:latin typeface="Consolas" panose="020B0609020204030204" pitchFamily="49" charset="0"/>
              </a:rPr>
              <a:t> ile kullanılan </a:t>
            </a: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argc</a:t>
            </a:r>
            <a:r>
              <a:rPr lang="tr-TR" sz="2400" dirty="0">
                <a:latin typeface="Consolas" panose="020B0609020204030204" pitchFamily="49" charset="0"/>
              </a:rPr>
              <a:t> ve </a:t>
            </a: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argv</a:t>
            </a:r>
            <a:r>
              <a:rPr lang="tr-TR" sz="2400" dirty="0">
                <a:latin typeface="Consolas" panose="020B0609020204030204" pitchFamily="49" charset="0"/>
              </a:rPr>
              <a:t> argümanlarına karşılık gelirler ve kullanılmadıklarında zaman 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tr-TR" sz="2400" dirty="0">
                <a:latin typeface="Consolas" panose="020B0609020204030204" pitchFamily="49" charset="0"/>
              </a:rPr>
              <a:t> olarak tanımlanmalıdırlar. </a:t>
            </a: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4E1C02F3-2EE3-4309-0B75-213A37F99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3094789"/>
            <a:ext cx="792480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5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3771-9CBA-4CED-16D1-EEDF8318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allel computing for high-performance simulations">
            <a:extLst>
              <a:ext uri="{FF2B5EF4-FFF2-40B4-BE49-F238E27FC236}">
                <a16:creationId xmlns:a16="http://schemas.microsoft.com/office/drawing/2014/main" id="{DB13D94C-A8D2-C303-592D-A1242C10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2" b="-1"/>
          <a:stretch/>
        </p:blipFill>
        <p:spPr bwMode="auto">
          <a:xfrm rot="5400000">
            <a:off x="-2989346" y="2971346"/>
            <a:ext cx="68760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8DBF6EA-4C4D-C4F2-AB9A-2CE64C2AE959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b="1" dirty="0">
                <a:latin typeface="Consolas" panose="020B0609020204030204" pitchFamily="49" charset="0"/>
              </a:rPr>
              <a:t>MPI_Init ve MPI_Finalize</a:t>
            </a:r>
            <a:endParaRPr lang="tr-TR" sz="3000" b="1" dirty="0">
              <a:latin typeface="Consolas" panose="020B0609020204030204" pitchFamily="49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CD306626-0A70-8106-AF8F-BD96C91DDBB9}"/>
              </a:ext>
            </a:extLst>
          </p:cNvPr>
          <p:cNvSpPr txBox="1"/>
          <p:nvPr/>
        </p:nvSpPr>
        <p:spPr>
          <a:xfrm>
            <a:off x="1164349" y="947593"/>
            <a:ext cx="104635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>
                <a:latin typeface="Consolas" panose="020B0609020204030204" pitchFamily="49" charset="0"/>
              </a:rPr>
              <a:t>Birçok MPI fonksiyonu gibi </a:t>
            </a: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MPI_Init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>
                <a:latin typeface="Consolas" panose="020B0609020204030204" pitchFamily="49" charset="0"/>
              </a:rPr>
              <a:t>de sisteme </a:t>
            </a: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int</a:t>
            </a:r>
            <a:r>
              <a:rPr lang="tr-TR" sz="2400" dirty="0">
                <a:latin typeface="Consolas" panose="020B0609020204030204" pitchFamily="49" charset="0"/>
              </a:rPr>
              <a:t> tipinde bir hata kodu gönderir. Bu hata kodları genellikle ihmal edilebilirler.</a:t>
            </a:r>
          </a:p>
          <a:p>
            <a:endParaRPr lang="tr-TR" sz="2400" dirty="0">
              <a:latin typeface="Consolas" panose="020B0609020204030204" pitchFamily="49" charset="0"/>
            </a:endParaRPr>
          </a:p>
          <a:p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int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MPI_Finalize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(</a:t>
            </a: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void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) </a:t>
            </a:r>
            <a:r>
              <a:rPr lang="tr-TR" sz="2400" dirty="0">
                <a:latin typeface="Consolas" panose="020B0609020204030204" pitchFamily="49" charset="0"/>
              </a:rPr>
              <a:t>; Bu fonksiyon ise MPI kütüphanesinin işini bitirdiğini ifade eder.</a:t>
            </a:r>
          </a:p>
          <a:p>
            <a:endParaRPr lang="tr-TR" sz="2400" dirty="0">
              <a:latin typeface="Consolas" panose="020B0609020204030204" pitchFamily="49" charset="0"/>
            </a:endParaRPr>
          </a:p>
          <a:p>
            <a:r>
              <a:rPr lang="tr-TR" sz="2400" dirty="0">
                <a:latin typeface="Consolas" panose="020B0609020204030204" pitchFamily="49" charset="0"/>
              </a:rPr>
              <a:t>Ayrıca hafızada MPI ile ilgili ayrılan bütün alanların serbest bırakılmasını sağlar.</a:t>
            </a:r>
          </a:p>
          <a:p>
            <a:endParaRPr lang="tr-TR" sz="2400" dirty="0">
              <a:latin typeface="Consolas" panose="020B0609020204030204" pitchFamily="49" charset="0"/>
            </a:endParaRPr>
          </a:p>
          <a:p>
            <a:r>
              <a:rPr lang="tr-TR" sz="2400" dirty="0">
                <a:latin typeface="Consolas" panose="020B0609020204030204" pitchFamily="49" charset="0"/>
              </a:rPr>
              <a:t>Genellikle </a:t>
            </a: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MPI_Finalize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>
                <a:latin typeface="Consolas" panose="020B0609020204030204" pitchFamily="49" charset="0"/>
              </a:rPr>
              <a:t>fonksiyonundan sonra herhangi bir MPI fonksiyonu kullanılmaz.</a:t>
            </a:r>
          </a:p>
        </p:txBody>
      </p:sp>
    </p:spTree>
    <p:extLst>
      <p:ext uri="{BB962C8B-B14F-4D97-AF65-F5344CB8AC3E}">
        <p14:creationId xmlns:p14="http://schemas.microsoft.com/office/powerpoint/2010/main" val="3134715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3771-9CBA-4CED-16D1-EEDF8318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allel computing for high-performance simulations">
            <a:extLst>
              <a:ext uri="{FF2B5EF4-FFF2-40B4-BE49-F238E27FC236}">
                <a16:creationId xmlns:a16="http://schemas.microsoft.com/office/drawing/2014/main" id="{DB13D94C-A8D2-C303-592D-A1242C10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2" b="-1"/>
          <a:stretch/>
        </p:blipFill>
        <p:spPr bwMode="auto">
          <a:xfrm rot="5400000">
            <a:off x="-2989346" y="2971346"/>
            <a:ext cx="68760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8DBF6EA-4C4D-C4F2-AB9A-2CE64C2AE959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err="1">
                <a:latin typeface="Consolas" panose="020B0609020204030204" pitchFamily="49" charset="0"/>
              </a:rPr>
              <a:t>MPI_Comm_size</a:t>
            </a:r>
            <a:r>
              <a:rPr lang="en-US" sz="3000" b="1" dirty="0">
                <a:latin typeface="Consolas" panose="020B0609020204030204" pitchFamily="49" charset="0"/>
              </a:rPr>
              <a:t> </a:t>
            </a:r>
            <a:r>
              <a:rPr lang="en-US" sz="3000" b="1" dirty="0" err="1">
                <a:latin typeface="Consolas" panose="020B0609020204030204" pitchFamily="49" charset="0"/>
              </a:rPr>
              <a:t>ve</a:t>
            </a:r>
            <a:r>
              <a:rPr lang="en-US" sz="3000" b="1" dirty="0">
                <a:latin typeface="Consolas" panose="020B0609020204030204" pitchFamily="49" charset="0"/>
              </a:rPr>
              <a:t> </a:t>
            </a:r>
            <a:r>
              <a:rPr lang="en-US" sz="3000" b="1" dirty="0" err="1">
                <a:latin typeface="Consolas" panose="020B0609020204030204" pitchFamily="49" charset="0"/>
              </a:rPr>
              <a:t>MPI_rank</a:t>
            </a:r>
            <a:endParaRPr lang="tr-TR" sz="3000" b="1" dirty="0">
              <a:latin typeface="Consolas" panose="020B0609020204030204" pitchFamily="49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CD306626-0A70-8106-AF8F-BD96C91DDBB9}"/>
              </a:ext>
            </a:extLst>
          </p:cNvPr>
          <p:cNvSpPr txBox="1"/>
          <p:nvPr/>
        </p:nvSpPr>
        <p:spPr>
          <a:xfrm>
            <a:off x="1164349" y="947593"/>
            <a:ext cx="104635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>
                <a:latin typeface="Consolas" panose="020B0609020204030204" pitchFamily="49" charset="0"/>
              </a:rPr>
              <a:t>MPI içerisinde tanımlanan işlemler(</a:t>
            </a:r>
            <a:r>
              <a:rPr lang="tr-TR" sz="2400" dirty="0" err="1">
                <a:latin typeface="Consolas" panose="020B0609020204030204" pitchFamily="49" charset="0"/>
              </a:rPr>
              <a:t>processler</a:t>
            </a:r>
            <a:r>
              <a:rPr lang="tr-TR" sz="2400" dirty="0">
                <a:latin typeface="Consolas" panose="020B0609020204030204" pitchFamily="49" charset="0"/>
              </a:rPr>
              <a:t>) birbirlerine mesaj gönderebilirler.</a:t>
            </a:r>
          </a:p>
          <a:p>
            <a:endParaRPr lang="tr-TR" sz="2400" dirty="0">
              <a:latin typeface="Consolas" panose="020B0609020204030204" pitchFamily="49" charset="0"/>
            </a:endParaRPr>
          </a:p>
          <a:p>
            <a:r>
              <a:rPr lang="tr-TR" sz="2400" dirty="0">
                <a:latin typeface="Consolas" panose="020B0609020204030204" pitchFamily="49" charset="0"/>
              </a:rPr>
              <a:t>MPI kütüphanesinde işlemler arasındaki iletişimi </a:t>
            </a: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MPI_CoMM_WORLD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>
                <a:latin typeface="Consolas" panose="020B0609020204030204" pitchFamily="49" charset="0"/>
              </a:rPr>
              <a:t>adı verilen global bir argüman ile sağlar.</a:t>
            </a:r>
          </a:p>
          <a:p>
            <a:endParaRPr lang="tr-TR" sz="2400" dirty="0">
              <a:latin typeface="Consolas" panose="020B0609020204030204" pitchFamily="49" charset="0"/>
            </a:endParaRPr>
          </a:p>
          <a:p>
            <a:r>
              <a:rPr lang="tr-TR" sz="2400" dirty="0">
                <a:latin typeface="Consolas" panose="020B0609020204030204" pitchFamily="49" charset="0"/>
              </a:rPr>
              <a:t>Bunun içerisinde aşağıdaki gibi tutulmaktadırlar.</a:t>
            </a: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87E3968F-8C87-A74B-21B2-619283673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676" y="3929207"/>
            <a:ext cx="61722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199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3771-9CBA-4CED-16D1-EEDF8318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allel computing for high-performance simulations">
            <a:extLst>
              <a:ext uri="{FF2B5EF4-FFF2-40B4-BE49-F238E27FC236}">
                <a16:creationId xmlns:a16="http://schemas.microsoft.com/office/drawing/2014/main" id="{DB13D94C-A8D2-C303-592D-A1242C10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2" b="-1"/>
          <a:stretch/>
        </p:blipFill>
        <p:spPr bwMode="auto">
          <a:xfrm rot="5400000">
            <a:off x="-2989346" y="2971346"/>
            <a:ext cx="68760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8DBF6EA-4C4D-C4F2-AB9A-2CE64C2AE959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err="1">
                <a:latin typeface="Consolas" panose="020B0609020204030204" pitchFamily="49" charset="0"/>
              </a:rPr>
              <a:t>MPI_Comm_size</a:t>
            </a:r>
            <a:r>
              <a:rPr lang="en-US" sz="3000" b="1" dirty="0">
                <a:latin typeface="Consolas" panose="020B0609020204030204" pitchFamily="49" charset="0"/>
              </a:rPr>
              <a:t> </a:t>
            </a:r>
            <a:r>
              <a:rPr lang="en-US" sz="3000" b="1" dirty="0" err="1">
                <a:latin typeface="Consolas" panose="020B0609020204030204" pitchFamily="49" charset="0"/>
              </a:rPr>
              <a:t>ve</a:t>
            </a:r>
            <a:r>
              <a:rPr lang="en-US" sz="3000" b="1" dirty="0">
                <a:latin typeface="Consolas" panose="020B0609020204030204" pitchFamily="49" charset="0"/>
              </a:rPr>
              <a:t> </a:t>
            </a:r>
            <a:r>
              <a:rPr lang="en-US" sz="3000" b="1" dirty="0" err="1">
                <a:latin typeface="Consolas" panose="020B0609020204030204" pitchFamily="49" charset="0"/>
              </a:rPr>
              <a:t>MPI_rank</a:t>
            </a:r>
            <a:endParaRPr lang="tr-TR" sz="3000" b="1" dirty="0">
              <a:latin typeface="Consolas" panose="020B0609020204030204" pitchFamily="49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CD306626-0A70-8106-AF8F-BD96C91DDBB9}"/>
              </a:ext>
            </a:extLst>
          </p:cNvPr>
          <p:cNvSpPr txBox="1"/>
          <p:nvPr/>
        </p:nvSpPr>
        <p:spPr>
          <a:xfrm>
            <a:off x="1164349" y="947593"/>
            <a:ext cx="104635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MPI_Comm_Size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>
                <a:latin typeface="Consolas" panose="020B0609020204030204" pitchFamily="49" charset="0"/>
              </a:rPr>
              <a:t>fonksiyonu iletişim yapısından (</a:t>
            </a:r>
            <a:r>
              <a:rPr lang="tr-TR" sz="2400" dirty="0" err="1">
                <a:latin typeface="Consolas" panose="020B0609020204030204" pitchFamily="49" charset="0"/>
              </a:rPr>
              <a:t>struct</a:t>
            </a:r>
            <a:r>
              <a:rPr lang="tr-TR" sz="2400" dirty="0">
                <a:latin typeface="Consolas" panose="020B0609020204030204" pitchFamily="49" charset="0"/>
              </a:rPr>
              <a:t>) toplam işlem (</a:t>
            </a:r>
            <a:r>
              <a:rPr lang="tr-TR" sz="2400" dirty="0" err="1">
                <a:latin typeface="Consolas" panose="020B0609020204030204" pitchFamily="49" charset="0"/>
              </a:rPr>
              <a:t>process</a:t>
            </a:r>
            <a:r>
              <a:rPr lang="tr-TR" sz="2400" dirty="0">
                <a:latin typeface="Consolas" panose="020B0609020204030204" pitchFamily="49" charset="0"/>
              </a:rPr>
              <a:t>) sayısını alır.</a:t>
            </a:r>
          </a:p>
          <a:p>
            <a:endParaRPr lang="tr-TR" sz="2400" dirty="0">
              <a:latin typeface="Consolas" panose="020B0609020204030204" pitchFamily="49" charset="0"/>
            </a:endParaRPr>
          </a:p>
          <a:p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MPI_Comm_rank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>
                <a:latin typeface="Consolas" panose="020B0609020204030204" pitchFamily="49" charset="0"/>
              </a:rPr>
              <a:t>fonksiyonu ise iletişim yapısından (</a:t>
            </a:r>
            <a:r>
              <a:rPr lang="tr-TR" sz="2400" dirty="0" err="1">
                <a:latin typeface="Consolas" panose="020B0609020204030204" pitchFamily="49" charset="0"/>
              </a:rPr>
              <a:t>struct</a:t>
            </a:r>
            <a:r>
              <a:rPr lang="tr-TR" sz="2400" dirty="0">
                <a:latin typeface="Consolas" panose="020B0609020204030204" pitchFamily="49" charset="0"/>
              </a:rPr>
              <a:t>) işlemin </a:t>
            </a:r>
            <a:r>
              <a:rPr lang="tr-TR" sz="2400" dirty="0" err="1">
                <a:latin typeface="Consolas" panose="020B0609020204030204" pitchFamily="49" charset="0"/>
              </a:rPr>
              <a:t>rank</a:t>
            </a:r>
            <a:r>
              <a:rPr lang="tr-TR" sz="2400" dirty="0">
                <a:latin typeface="Consolas" panose="020B0609020204030204" pitchFamily="49" charset="0"/>
              </a:rPr>
              <a:t> (id) değerini geri döndürür.</a:t>
            </a:r>
          </a:p>
          <a:p>
            <a:endParaRPr lang="tr-TR" sz="2400" dirty="0">
              <a:latin typeface="Consolas" panose="020B0609020204030204" pitchFamily="49" charset="0"/>
            </a:endParaRPr>
          </a:p>
          <a:p>
            <a:r>
              <a:rPr lang="tr-TR" sz="2400" dirty="0">
                <a:latin typeface="Consolas" panose="020B0609020204030204" pitchFamily="49" charset="0"/>
              </a:rPr>
              <a:t> Bu rutinlerin çağrı sıraları aşağıdaki gibidir: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5E6BCB2D-559B-1F40-B72F-F0BA9329B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628" y="3834067"/>
            <a:ext cx="8439150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991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3771-9CBA-4CED-16D1-EEDF8318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allel computing for high-performance simulations">
            <a:extLst>
              <a:ext uri="{FF2B5EF4-FFF2-40B4-BE49-F238E27FC236}">
                <a16:creationId xmlns:a16="http://schemas.microsoft.com/office/drawing/2014/main" id="{DB13D94C-A8D2-C303-592D-A1242C10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2" b="-1"/>
          <a:stretch/>
        </p:blipFill>
        <p:spPr bwMode="auto">
          <a:xfrm rot="5400000">
            <a:off x="-2989346" y="2971346"/>
            <a:ext cx="68760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8DBF6EA-4C4D-C4F2-AB9A-2CE64C2AE959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err="1">
                <a:latin typeface="Consolas" panose="020B0609020204030204" pitchFamily="49" charset="0"/>
              </a:rPr>
              <a:t>MPI_Send</a:t>
            </a:r>
            <a:r>
              <a:rPr lang="en-US" sz="3000" b="1" dirty="0">
                <a:latin typeface="Consolas" panose="020B0609020204030204" pitchFamily="49" charset="0"/>
              </a:rPr>
              <a:t> </a:t>
            </a:r>
            <a:r>
              <a:rPr lang="en-US" sz="3000" b="1" dirty="0" err="1">
                <a:latin typeface="Consolas" panose="020B0609020204030204" pitchFamily="49" charset="0"/>
              </a:rPr>
              <a:t>ve</a:t>
            </a:r>
            <a:r>
              <a:rPr lang="en-US" sz="3000" b="1" dirty="0">
                <a:latin typeface="Consolas" panose="020B0609020204030204" pitchFamily="49" charset="0"/>
              </a:rPr>
              <a:t> </a:t>
            </a:r>
            <a:r>
              <a:rPr lang="en-US" sz="3000" b="1" dirty="0" err="1">
                <a:latin typeface="Consolas" panose="020B0609020204030204" pitchFamily="49" charset="0"/>
              </a:rPr>
              <a:t>MPI_Recv</a:t>
            </a:r>
            <a:endParaRPr lang="tr-TR" sz="3000" b="1" dirty="0">
              <a:latin typeface="Consolas" panose="020B0609020204030204" pitchFamily="49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CD306626-0A70-8106-AF8F-BD96C91DDBB9}"/>
              </a:ext>
            </a:extLst>
          </p:cNvPr>
          <p:cNvSpPr txBox="1"/>
          <p:nvPr/>
        </p:nvSpPr>
        <p:spPr>
          <a:xfrm>
            <a:off x="1164349" y="947593"/>
            <a:ext cx="104635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 err="1">
                <a:latin typeface="Consolas" panose="020B0609020204030204" pitchFamily="49" charset="0"/>
              </a:rPr>
              <a:t>MPI’da</a:t>
            </a:r>
            <a:r>
              <a:rPr lang="tr-TR" sz="2400" dirty="0">
                <a:latin typeface="Consolas" panose="020B0609020204030204" pitchFamily="49" charset="0"/>
              </a:rPr>
              <a:t> mesaj gönderip almak için kullanılan temel fonksiyonlar </a:t>
            </a: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MPI_Send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>
                <a:latin typeface="Consolas" panose="020B0609020204030204" pitchFamily="49" charset="0"/>
              </a:rPr>
              <a:t>ve </a:t>
            </a: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MPI_Recv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tr-TR" sz="2400" dirty="0">
                <a:latin typeface="Consolas" panose="020B0609020204030204" pitchFamily="49" charset="0"/>
              </a:rPr>
              <a:t>fonksiyonlarıdır.</a:t>
            </a:r>
          </a:p>
          <a:p>
            <a:endParaRPr lang="tr-TR" sz="2400" dirty="0">
              <a:latin typeface="Consolas" panose="020B0609020204030204" pitchFamily="49" charset="0"/>
            </a:endParaRPr>
          </a:p>
          <a:p>
            <a:r>
              <a:rPr lang="tr-TR" sz="2400" dirty="0">
                <a:latin typeface="Consolas" panose="020B0609020204030204" pitchFamily="49" charset="0"/>
              </a:rPr>
              <a:t>Bu fonksiyonların çağrı sıraları şu şekildedir: </a:t>
            </a:r>
          </a:p>
          <a:p>
            <a:endParaRPr lang="tr-TR" sz="2400" dirty="0">
              <a:latin typeface="Consolas" panose="020B0609020204030204" pitchFamily="49" charset="0"/>
            </a:endParaRPr>
          </a:p>
          <a:p>
            <a:endParaRPr lang="tr-TR" sz="2400" dirty="0">
              <a:latin typeface="Consolas" panose="020B0609020204030204" pitchFamily="49" charset="0"/>
            </a:endParaRPr>
          </a:p>
          <a:p>
            <a:endParaRPr lang="tr-TR" sz="2400" dirty="0">
              <a:latin typeface="Consolas" panose="020B0609020204030204" pitchFamily="49" charset="0"/>
            </a:endParaRPr>
          </a:p>
          <a:p>
            <a:endParaRPr lang="tr-TR" sz="2400" dirty="0">
              <a:latin typeface="Consolas" panose="020B0609020204030204" pitchFamily="49" charset="0"/>
            </a:endParaRPr>
          </a:p>
          <a:p>
            <a:endParaRPr lang="tr-TR" sz="2400" dirty="0">
              <a:latin typeface="Consolas" panose="020B0609020204030204" pitchFamily="49" charset="0"/>
            </a:endParaRPr>
          </a:p>
          <a:p>
            <a:endParaRPr lang="tr-TR" sz="2400" dirty="0">
              <a:latin typeface="Consolas" panose="020B0609020204030204" pitchFamily="49" charset="0"/>
            </a:endParaRPr>
          </a:p>
          <a:p>
            <a:r>
              <a:rPr lang="tr-TR" sz="2400" dirty="0">
                <a:latin typeface="Consolas" panose="020B0609020204030204" pitchFamily="49" charset="0"/>
              </a:rPr>
              <a:t>MPI, tüm C veri türleri için eşdeğer veri türleri sağlar. Bu taşınabilirlik amacı için yapılmaktadır.</a:t>
            </a: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D2FA4C45-5263-F98C-1C70-0E9B8B93F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0457"/>
            <a:ext cx="85344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354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3771-9CBA-4CED-16D1-EEDF8318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allel computing for high-performance simulations">
            <a:extLst>
              <a:ext uri="{FF2B5EF4-FFF2-40B4-BE49-F238E27FC236}">
                <a16:creationId xmlns:a16="http://schemas.microsoft.com/office/drawing/2014/main" id="{DB13D94C-A8D2-C303-592D-A1242C10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2" b="-1"/>
          <a:stretch/>
        </p:blipFill>
        <p:spPr bwMode="auto">
          <a:xfrm rot="5400000">
            <a:off x="-2989346" y="2971346"/>
            <a:ext cx="68760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8DBF6EA-4C4D-C4F2-AB9A-2CE64C2AE959}"/>
              </a:ext>
            </a:extLst>
          </p:cNvPr>
          <p:cNvSpPr txBox="1"/>
          <p:nvPr/>
        </p:nvSpPr>
        <p:spPr>
          <a:xfrm>
            <a:off x="1164349" y="184777"/>
            <a:ext cx="10688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latin typeface="Consolas" panose="020B0609020204030204" pitchFamily="49" charset="0"/>
              </a:rPr>
              <a:t>Bazı Tanımlı MPI Veri Türleri</a:t>
            </a:r>
            <a:endParaRPr lang="tr-TR" sz="3000" b="1" dirty="0">
              <a:latin typeface="Consolas" panose="020B0609020204030204" pitchFamily="49" charset="0"/>
            </a:endParaRPr>
          </a:p>
        </p:txBody>
      </p:sp>
      <p:pic>
        <p:nvPicPr>
          <p:cNvPr id="3" name="İçerik Yer Tutucusu 9">
            <a:extLst>
              <a:ext uri="{FF2B5EF4-FFF2-40B4-BE49-F238E27FC236}">
                <a16:creationId xmlns:a16="http://schemas.microsoft.com/office/drawing/2014/main" id="{1FD9807A-DABA-D384-FE30-A50AEBAF16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42268" y="1056702"/>
            <a:ext cx="6107463" cy="5227637"/>
          </a:xfrm>
        </p:spPr>
      </p:pic>
    </p:spTree>
    <p:extLst>
      <p:ext uri="{BB962C8B-B14F-4D97-AF65-F5344CB8AC3E}">
        <p14:creationId xmlns:p14="http://schemas.microsoft.com/office/powerpoint/2010/main" val="1543730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3771-9CBA-4CED-16D1-EEDF8318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allel computing for high-performance simulations">
            <a:extLst>
              <a:ext uri="{FF2B5EF4-FFF2-40B4-BE49-F238E27FC236}">
                <a16:creationId xmlns:a16="http://schemas.microsoft.com/office/drawing/2014/main" id="{DB13D94C-A8D2-C303-592D-A1242C10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2" b="-1"/>
          <a:stretch/>
        </p:blipFill>
        <p:spPr bwMode="auto">
          <a:xfrm rot="5400000">
            <a:off x="-2989346" y="2971346"/>
            <a:ext cx="68760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8DBF6EA-4C4D-C4F2-AB9A-2CE64C2AE959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 err="1">
                <a:latin typeface="Consolas" panose="020B0609020204030204" pitchFamily="49" charset="0"/>
              </a:rPr>
              <a:t>Örn</a:t>
            </a:r>
            <a:r>
              <a:rPr lang="tr-TR" sz="3000" b="1" dirty="0">
                <a:latin typeface="Consolas" panose="020B0609020204030204" pitchFamily="49" charset="0"/>
              </a:rPr>
              <a:t>: </a:t>
            </a:r>
            <a:r>
              <a:rPr lang="en-US" sz="3000" b="1" dirty="0" err="1">
                <a:latin typeface="Consolas" panose="020B0609020204030204" pitchFamily="49" charset="0"/>
              </a:rPr>
              <a:t>MPI_Sen</a:t>
            </a:r>
            <a:r>
              <a:rPr lang="tr-TR" sz="3000" b="1" dirty="0">
                <a:latin typeface="Consolas" panose="020B0609020204030204" pitchFamily="49" charset="0"/>
              </a:rPr>
              <a:t>d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CD306626-0A70-8106-AF8F-BD96C91DDBB9}"/>
              </a:ext>
            </a:extLst>
          </p:cNvPr>
          <p:cNvSpPr txBox="1"/>
          <p:nvPr/>
        </p:nvSpPr>
        <p:spPr>
          <a:xfrm>
            <a:off x="1164349" y="947593"/>
            <a:ext cx="1046354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tr-TR" sz="2400" dirty="0">
              <a:latin typeface="Consolas" panose="020B0609020204030204" pitchFamily="49" charset="0"/>
            </a:endParaRPr>
          </a:p>
          <a:p>
            <a:endParaRPr lang="tr-TR" sz="2400" dirty="0">
              <a:latin typeface="Consolas" panose="020B0609020204030204" pitchFamily="49" charset="0"/>
            </a:endParaRPr>
          </a:p>
          <a:p>
            <a:endParaRPr lang="tr-TR" sz="2400" dirty="0">
              <a:latin typeface="Consolas" panose="020B0609020204030204" pitchFamily="49" charset="0"/>
            </a:endParaRPr>
          </a:p>
          <a:p>
            <a:r>
              <a:rPr lang="tr-TR" sz="2400" dirty="0">
                <a:latin typeface="Consolas" panose="020B0609020204030204" pitchFamily="49" charset="0"/>
              </a:rPr>
              <a:t>Buradaki </a:t>
            </a:r>
            <a:r>
              <a:rPr lang="tr-TR" sz="2400" dirty="0" err="1">
                <a:latin typeface="Consolas" panose="020B0609020204030204" pitchFamily="49" charset="0"/>
              </a:rPr>
              <a:t>fonsiyonda</a:t>
            </a:r>
            <a:r>
              <a:rPr lang="tr-TR" sz="2400" dirty="0">
                <a:latin typeface="Consolas" panose="020B0609020204030204" pitchFamily="49" charset="0"/>
              </a:rPr>
              <a:t>:</a:t>
            </a:r>
          </a:p>
          <a:p>
            <a:pPr lvl="1"/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greeting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			     </a:t>
            </a: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message_buffer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*,</a:t>
            </a:r>
          </a:p>
          <a:p>
            <a:pPr lvl="1"/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strlen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(</a:t>
            </a: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greeting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)+1		size,</a:t>
            </a:r>
          </a:p>
          <a:p>
            <a:pPr lvl="1"/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MPI_CHAR			     </a:t>
            </a: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datatype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,</a:t>
            </a:r>
          </a:p>
          <a:p>
            <a:pPr lvl="1"/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0					dest,</a:t>
            </a:r>
          </a:p>
          <a:p>
            <a:pPr lvl="1"/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0					</a:t>
            </a: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tag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,</a:t>
            </a:r>
          </a:p>
          <a:p>
            <a:pPr lvl="1"/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MPI_COMM_WORLD		</a:t>
            </a: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MPI_Comm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,</a:t>
            </a:r>
          </a:p>
          <a:p>
            <a:pPr lvl="1"/>
            <a:endParaRPr lang="tr-TR" sz="2400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400" dirty="0">
                <a:latin typeface="Consolas" panose="020B0609020204030204" pitchFamily="49" charset="0"/>
              </a:rPr>
              <a:t>olarak ifade edilmiştir.</a:t>
            </a:r>
          </a:p>
          <a:p>
            <a:pPr marL="0" indent="0">
              <a:buNone/>
            </a:pPr>
            <a:endParaRPr lang="tr-TR" sz="2400" dirty="0">
              <a:latin typeface="Consolas" panose="020B0609020204030204" pitchFamily="49" charset="0"/>
            </a:endParaRPr>
          </a:p>
          <a:p>
            <a:r>
              <a:rPr lang="tr-TR" sz="2400" dirty="0">
                <a:latin typeface="Consolas" panose="020B0609020204030204" pitchFamily="49" charset="0"/>
              </a:rPr>
              <a:t>Burada </a:t>
            </a:r>
            <a:r>
              <a:rPr lang="tr-TR" sz="2400" dirty="0">
                <a:solidFill>
                  <a:srgbClr val="993300"/>
                </a:solidFill>
                <a:latin typeface="Consolas" panose="020B0609020204030204" pitchFamily="49" charset="0"/>
              </a:rPr>
              <a:t>size</a:t>
            </a:r>
            <a:r>
              <a:rPr lang="tr-TR" sz="2400" dirty="0">
                <a:latin typeface="Consolas" panose="020B0609020204030204" pitchFamily="49" charset="0"/>
              </a:rPr>
              <a:t> değeri değişken olabilir fakat 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MAX_STRING </a:t>
            </a:r>
            <a:r>
              <a:rPr lang="tr-TR" sz="2400" dirty="0">
                <a:latin typeface="Consolas" panose="020B0609020204030204" pitchFamily="49" charset="0"/>
              </a:rPr>
              <a:t>değerinden büyük olamaz.</a:t>
            </a:r>
          </a:p>
          <a:p>
            <a:pPr lvl="1"/>
            <a:endParaRPr lang="tr-TR" sz="2400" dirty="0">
              <a:latin typeface="Consolas" panose="020B0609020204030204" pitchFamily="49" charset="0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2926171A-2109-693D-CC45-DB5D7C4C1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349" y="947593"/>
            <a:ext cx="973455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956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3771-9CBA-4CED-16D1-EEDF8318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allel computing for high-performance simulations">
            <a:extLst>
              <a:ext uri="{FF2B5EF4-FFF2-40B4-BE49-F238E27FC236}">
                <a16:creationId xmlns:a16="http://schemas.microsoft.com/office/drawing/2014/main" id="{DB13D94C-A8D2-C303-592D-A1242C10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2" b="-1"/>
          <a:stretch/>
        </p:blipFill>
        <p:spPr bwMode="auto">
          <a:xfrm rot="5400000">
            <a:off x="-2989346" y="2971346"/>
            <a:ext cx="68760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8DBF6EA-4C4D-C4F2-AB9A-2CE64C2AE959}"/>
              </a:ext>
            </a:extLst>
          </p:cNvPr>
          <p:cNvSpPr txBox="1"/>
          <p:nvPr/>
        </p:nvSpPr>
        <p:spPr>
          <a:xfrm>
            <a:off x="1164349" y="184777"/>
            <a:ext cx="10688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 err="1">
                <a:latin typeface="Consolas" panose="020B0609020204030204" pitchFamily="49" charset="0"/>
              </a:rPr>
              <a:t>Örn</a:t>
            </a:r>
            <a:r>
              <a:rPr lang="tr-TR" sz="3200" b="1" dirty="0">
                <a:latin typeface="Consolas" panose="020B0609020204030204" pitchFamily="49" charset="0"/>
              </a:rPr>
              <a:t>: </a:t>
            </a:r>
            <a:r>
              <a:rPr lang="tr-TR" sz="3200" b="1" dirty="0" err="1">
                <a:latin typeface="Consolas" panose="020B0609020204030204" pitchFamily="49" charset="0"/>
              </a:rPr>
              <a:t>MPI_Recv</a:t>
            </a:r>
            <a:endParaRPr lang="tr-TR" sz="3000" b="1" dirty="0">
              <a:latin typeface="Consolas" panose="020B0609020204030204" pitchFamily="49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CD306626-0A70-8106-AF8F-BD96C91DDBB9}"/>
              </a:ext>
            </a:extLst>
          </p:cNvPr>
          <p:cNvSpPr txBox="1"/>
          <p:nvPr/>
        </p:nvSpPr>
        <p:spPr>
          <a:xfrm>
            <a:off x="1164349" y="1234235"/>
            <a:ext cx="1046354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tr-TR" sz="2400" dirty="0">
              <a:latin typeface="Consolas" panose="020B0609020204030204" pitchFamily="49" charset="0"/>
            </a:endParaRPr>
          </a:p>
          <a:p>
            <a:endParaRPr lang="tr-TR" sz="2400" dirty="0">
              <a:latin typeface="Consolas" panose="020B0609020204030204" pitchFamily="49" charset="0"/>
            </a:endParaRPr>
          </a:p>
          <a:p>
            <a:r>
              <a:rPr lang="tr-TR" sz="2400" dirty="0">
                <a:latin typeface="Consolas" panose="020B0609020204030204" pitchFamily="49" charset="0"/>
              </a:rPr>
              <a:t> Buradaki </a:t>
            </a:r>
            <a:r>
              <a:rPr lang="tr-TR" sz="2400" dirty="0" err="1">
                <a:latin typeface="Consolas" panose="020B0609020204030204" pitchFamily="49" charset="0"/>
              </a:rPr>
              <a:t>fonsiyonda</a:t>
            </a:r>
            <a:r>
              <a:rPr lang="tr-TR" sz="2400" dirty="0">
                <a:latin typeface="Consolas" panose="020B0609020204030204" pitchFamily="49" charset="0"/>
              </a:rPr>
              <a:t>:</a:t>
            </a:r>
          </a:p>
          <a:p>
            <a:pPr lvl="1"/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greeting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				</a:t>
            </a: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message_buffer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*,</a:t>
            </a:r>
          </a:p>
          <a:p>
            <a:pPr lvl="1"/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MAX_STRING 			size,</a:t>
            </a:r>
          </a:p>
          <a:p>
            <a:pPr lvl="1"/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MPI_CHAR			</a:t>
            </a: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datatype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,</a:t>
            </a:r>
          </a:p>
          <a:p>
            <a:pPr lvl="1"/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q					</a:t>
            </a: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source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,</a:t>
            </a:r>
          </a:p>
          <a:p>
            <a:pPr lvl="1"/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0					</a:t>
            </a: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tag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,</a:t>
            </a:r>
          </a:p>
          <a:p>
            <a:pPr lvl="1"/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MPI_COMM_WORLD		</a:t>
            </a: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MPI_Comm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,</a:t>
            </a:r>
          </a:p>
          <a:p>
            <a:pPr lvl="1"/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MPI_STATUS_IGNORE		</a:t>
            </a:r>
            <a:r>
              <a:rPr lang="tr-TR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MPI_Status</a:t>
            </a:r>
            <a:r>
              <a:rPr lang="tr-TR" sz="2400" dirty="0">
                <a:solidFill>
                  <a:srgbClr val="800000"/>
                </a:solidFill>
                <a:latin typeface="Consolas" panose="020B0609020204030204" pitchFamily="49" charset="0"/>
              </a:rPr>
              <a:t>*,</a:t>
            </a:r>
          </a:p>
          <a:p>
            <a:pPr marL="457189" lvl="1" indent="0">
              <a:buNone/>
            </a:pPr>
            <a:endParaRPr lang="tr-TR" sz="2400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400" dirty="0">
                <a:latin typeface="Consolas" panose="020B0609020204030204" pitchFamily="49" charset="0"/>
              </a:rPr>
              <a:t>olarak ifade edilmiştir.</a:t>
            </a:r>
          </a:p>
          <a:p>
            <a:pPr marL="0" indent="0">
              <a:buNone/>
            </a:pPr>
            <a:r>
              <a:rPr lang="tr-TR" sz="2400" dirty="0" err="1">
                <a:latin typeface="Consolas" panose="020B0609020204030204" pitchFamily="49" charset="0"/>
              </a:rPr>
              <a:t>Bknz</a:t>
            </a:r>
            <a:r>
              <a:rPr lang="tr-TR" sz="2400" dirty="0">
                <a:latin typeface="Consolas" panose="020B0609020204030204" pitchFamily="49" charset="0"/>
              </a:rPr>
              <a:t>: https://mpitutorial.com/tutorials/</a:t>
            </a:r>
          </a:p>
          <a:p>
            <a:pPr lvl="1"/>
            <a:endParaRPr lang="tr-TR" sz="2400" dirty="0">
              <a:latin typeface="Consolas" panose="020B0609020204030204" pitchFamily="49" charset="0"/>
            </a:endParaRP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2993A588-A8D2-D157-7A31-DF0A15452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349" y="777035"/>
            <a:ext cx="84105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55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3771-9CBA-4CED-16D1-EEDF8318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allel computing for high-performance simulations">
            <a:extLst>
              <a:ext uri="{FF2B5EF4-FFF2-40B4-BE49-F238E27FC236}">
                <a16:creationId xmlns:a16="http://schemas.microsoft.com/office/drawing/2014/main" id="{DB13D94C-A8D2-C303-592D-A1242C10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2" b="-1"/>
          <a:stretch/>
        </p:blipFill>
        <p:spPr bwMode="auto">
          <a:xfrm rot="5400000">
            <a:off x="-2989346" y="2971346"/>
            <a:ext cx="68760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8DBF6EA-4C4D-C4F2-AB9A-2CE64C2AE959}"/>
              </a:ext>
            </a:extLst>
          </p:cNvPr>
          <p:cNvSpPr txBox="1"/>
          <p:nvPr/>
        </p:nvSpPr>
        <p:spPr>
          <a:xfrm>
            <a:off x="1164349" y="184777"/>
            <a:ext cx="10688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 err="1">
                <a:latin typeface="Consolas" panose="020B0609020204030204" pitchFamily="49" charset="0"/>
              </a:rPr>
              <a:t>MPI_Status</a:t>
            </a:r>
            <a:r>
              <a:rPr lang="tr-TR" sz="3200" dirty="0">
                <a:latin typeface="Consolas" panose="020B0609020204030204" pitchFamily="49" charset="0"/>
              </a:rPr>
              <a:t> Yapısı</a:t>
            </a:r>
            <a:endParaRPr lang="tr-TR" sz="3000" b="1" dirty="0">
              <a:latin typeface="Consolas" panose="020B0609020204030204" pitchFamily="49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CD306626-0A70-8106-AF8F-BD96C91DDBB9}"/>
              </a:ext>
            </a:extLst>
          </p:cNvPr>
          <p:cNvSpPr txBox="1"/>
          <p:nvPr/>
        </p:nvSpPr>
        <p:spPr>
          <a:xfrm>
            <a:off x="1164349" y="1234235"/>
            <a:ext cx="1046354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800" dirty="0"/>
              <a:t> Veri alımı sonunda, durum değişkeni 					   işlemi hakkında bilgi almak için kullanılabilir.</a:t>
            </a:r>
          </a:p>
          <a:p>
            <a:pPr algn="just"/>
            <a:endParaRPr lang="tr-TR" sz="2800" dirty="0"/>
          </a:p>
          <a:p>
            <a:pPr algn="just"/>
            <a:r>
              <a:rPr lang="tr-TR" sz="2800" dirty="0"/>
              <a:t>İlgili veri yapısı şunları içerir:</a:t>
            </a:r>
          </a:p>
          <a:p>
            <a:pPr lvl="1" algn="just"/>
            <a:endParaRPr lang="tr-TR" sz="2800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B08C187C-BF77-2914-6934-7BC59EDE2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9400" y="1162345"/>
            <a:ext cx="4105003" cy="560491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193276C2-AACB-C520-DE5F-1A485A012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349" y="3481004"/>
            <a:ext cx="5610225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938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3771-9CBA-4CED-16D1-EEDF8318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allel computing for high-performance simulations">
            <a:extLst>
              <a:ext uri="{FF2B5EF4-FFF2-40B4-BE49-F238E27FC236}">
                <a16:creationId xmlns:a16="http://schemas.microsoft.com/office/drawing/2014/main" id="{DB13D94C-A8D2-C303-592D-A1242C10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2" b="-1"/>
          <a:stretch/>
        </p:blipFill>
        <p:spPr bwMode="auto">
          <a:xfrm rot="5400000">
            <a:off x="-2989346" y="2971346"/>
            <a:ext cx="68760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8DBF6EA-4C4D-C4F2-AB9A-2CE64C2AE959}"/>
              </a:ext>
            </a:extLst>
          </p:cNvPr>
          <p:cNvSpPr txBox="1"/>
          <p:nvPr/>
        </p:nvSpPr>
        <p:spPr>
          <a:xfrm>
            <a:off x="1164349" y="184777"/>
            <a:ext cx="10688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 err="1">
                <a:latin typeface="Consolas" panose="020B0609020204030204" pitchFamily="49" charset="0"/>
              </a:rPr>
              <a:t>MPI_Status</a:t>
            </a:r>
            <a:r>
              <a:rPr lang="tr-TR" sz="3200" dirty="0">
                <a:latin typeface="Consolas" panose="020B0609020204030204" pitchFamily="49" charset="0"/>
              </a:rPr>
              <a:t> Yapısı</a:t>
            </a:r>
            <a:endParaRPr lang="tr-TR" sz="3000" b="1" dirty="0">
              <a:latin typeface="Consolas" panose="020B0609020204030204" pitchFamily="49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CD306626-0A70-8106-AF8F-BD96C91DDBB9}"/>
              </a:ext>
            </a:extLst>
          </p:cNvPr>
          <p:cNvSpPr txBox="1"/>
          <p:nvPr/>
        </p:nvSpPr>
        <p:spPr>
          <a:xfrm>
            <a:off x="1164349" y="1234235"/>
            <a:ext cx="1046354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800" dirty="0" err="1">
                <a:solidFill>
                  <a:srgbClr val="800000"/>
                </a:solidFill>
                <a:latin typeface="Consolas" panose="020B0609020204030204" pitchFamily="49" charset="0"/>
              </a:rPr>
              <a:t>MPI_Recv</a:t>
            </a:r>
            <a:r>
              <a:rPr lang="tr-TR" sz="2800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tr-TR" sz="2800" dirty="0">
                <a:latin typeface="Consolas" panose="020B0609020204030204" pitchFamily="49" charset="0"/>
              </a:rPr>
              <a:t>ile toplanan veriler her zaman kesin bir sıralama ile gelmeyebilirler. Bu nedenle MPI sistemlerinde toplam alınan veri öğelerinin sayısını almak için bir fonksiyon bulunur.</a:t>
            </a:r>
          </a:p>
          <a:p>
            <a:pPr algn="just"/>
            <a:endParaRPr lang="tr-TR" sz="2800" dirty="0">
              <a:latin typeface="Consolas" panose="020B0609020204030204" pitchFamily="49" charset="0"/>
            </a:endParaRPr>
          </a:p>
          <a:p>
            <a:pPr algn="just"/>
            <a:r>
              <a:rPr lang="tr-TR" sz="2800" dirty="0" err="1">
                <a:solidFill>
                  <a:srgbClr val="800000"/>
                </a:solidFill>
                <a:latin typeface="Consolas" panose="020B0609020204030204" pitchFamily="49" charset="0"/>
              </a:rPr>
              <a:t>MPI_Get_count</a:t>
            </a:r>
            <a:r>
              <a:rPr lang="tr-TR" sz="2800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tr-TR" sz="2800" dirty="0">
                <a:latin typeface="Consolas" panose="020B0609020204030204" pitchFamily="49" charset="0"/>
              </a:rPr>
              <a:t>fonksiyonu, alınan veri öğelerinin toplam sayısını döndürür.</a:t>
            </a: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685FE163-6C98-AC97-7D75-47E93BBB8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012" y="4642690"/>
            <a:ext cx="8181975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676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8939E-F339-D011-7B85-1D9A3D8BA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arallel computing for high-performance simulations">
            <a:extLst>
              <a:ext uri="{FF2B5EF4-FFF2-40B4-BE49-F238E27FC236}">
                <a16:creationId xmlns:a16="http://schemas.microsoft.com/office/drawing/2014/main" id="{79B52703-5F33-2DC3-D0FF-40262EE8AD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02" b="-1"/>
          <a:stretch/>
        </p:blipFill>
        <p:spPr bwMode="auto">
          <a:xfrm rot="5400000">
            <a:off x="-2989346" y="2971346"/>
            <a:ext cx="6876000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2197574D-94FF-9637-7BF5-A1B5C29386E5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>
                <a:latin typeface="Consolas" panose="020B0609020204030204" pitchFamily="49" charset="0"/>
              </a:rPr>
              <a:t>Kaynaklar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8F93D063-FF23-2E20-15B1-308D8304F671}"/>
              </a:ext>
            </a:extLst>
          </p:cNvPr>
          <p:cNvSpPr txBox="1"/>
          <p:nvPr/>
        </p:nvSpPr>
        <p:spPr>
          <a:xfrm>
            <a:off x="1164349" y="883739"/>
            <a:ext cx="1068866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tr-TR" i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An </a:t>
            </a:r>
            <a:r>
              <a:rPr lang="tr-TR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Introduction</a:t>
            </a:r>
            <a:r>
              <a:rPr lang="tr-TR" i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tr-TR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to</a:t>
            </a:r>
            <a:r>
              <a:rPr lang="tr-TR" i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tr-TR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Parallel</a:t>
            </a:r>
            <a:r>
              <a:rPr lang="tr-TR" i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Programming, Peter </a:t>
            </a:r>
            <a:r>
              <a:rPr lang="tr-TR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Pacheco</a:t>
            </a:r>
            <a:endParaRPr lang="tr-TR" i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algn="l"/>
            <a:endParaRPr lang="tr-TR" b="0" i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tr-TR" i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algn="l"/>
            <a:endParaRPr lang="tr-TR" b="0" i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tr-TR" i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algn="l"/>
            <a:endParaRPr lang="tr-TR" b="0" i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tr-TR" i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algn="l"/>
            <a:endParaRPr lang="tr-TR" b="0" i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tr-TR" i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algn="l"/>
            <a:endParaRPr lang="tr-TR" b="0" i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tr-TR" b="0" i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Paralel Programlama, </a:t>
            </a:r>
            <a:r>
              <a:rPr lang="tr-TR" b="0" i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Basher</a:t>
            </a:r>
            <a:r>
              <a:rPr lang="tr-TR" b="0" i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b="0" i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Alhaj</a:t>
            </a:r>
            <a:r>
              <a:rPr lang="tr-TR" b="0" i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b="0" i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Ahmad</a:t>
            </a:r>
            <a:endParaRPr lang="tr-TR" b="0" i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tr-TR" i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tr-TR" i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2050" name="Picture 2" descr="An Introduction to Parallel Programming : Pacheco, Peter: Amazon.com.tr:  Kitap">
            <a:extLst>
              <a:ext uri="{FF2B5EF4-FFF2-40B4-BE49-F238E27FC236}">
                <a16:creationId xmlns:a16="http://schemas.microsoft.com/office/drawing/2014/main" id="{3BBEAF06-E47E-A286-796C-B47F5415F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045" y="1442265"/>
            <a:ext cx="1457917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aralel Programlama (Basher Alhaj Ahmad) Fiyatı, Yorumları, Satın Al -  Kitapyurdu.com">
            <a:extLst>
              <a:ext uri="{FF2B5EF4-FFF2-40B4-BE49-F238E27FC236}">
                <a16:creationId xmlns:a16="http://schemas.microsoft.com/office/drawing/2014/main" id="{53A24B0C-F05E-F851-F5A6-CF9217580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962" y="4217735"/>
            <a:ext cx="1440000" cy="2053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787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81CB4D0A077842BDED2766925F818C" ma:contentTypeVersion="4" ma:contentTypeDescription="Create a new document." ma:contentTypeScope="" ma:versionID="7ca4d40561e50098215b272a582dbe93">
  <xsd:schema xmlns:xsd="http://www.w3.org/2001/XMLSchema" xmlns:xs="http://www.w3.org/2001/XMLSchema" xmlns:p="http://schemas.microsoft.com/office/2006/metadata/properties" xmlns:ns3="5bc41a94-bbf5-40ca-b5ce-8a510d22409b" targetNamespace="http://schemas.microsoft.com/office/2006/metadata/properties" ma:root="true" ma:fieldsID="5674e0e6df6ae38d59263ca524813a9f" ns3:_="">
    <xsd:import namespace="5bc41a94-bbf5-40ca-b5ce-8a510d22409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c41a94-bbf5-40ca-b5ce-8a510d2240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6203C7A-D26A-4DAA-A04B-F28D85DA9E46}">
  <ds:schemaRefs>
    <ds:schemaRef ds:uri="http://purl.org/dc/dcmitype/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5bc41a94-bbf5-40ca-b5ce-8a510d22409b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C365A7B-4A65-4DFE-8B06-484DB27340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04DF61-7D71-4B90-8ACC-B33C63B024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c41a94-bbf5-40ca-b5ce-8a510d2240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4579</TotalTime>
  <Words>992</Words>
  <Application>Microsoft Office PowerPoint</Application>
  <PresentationFormat>Geniş ekran</PresentationFormat>
  <Paragraphs>152</Paragraphs>
  <Slides>24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Consolas</vt:lpstr>
      <vt:lpstr>Wingdings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FUNDA KUTLU ONAY</dc:creator>
  <cp:lastModifiedBy>FUNDA KUTLU ONAY</cp:lastModifiedBy>
  <cp:revision>11</cp:revision>
  <dcterms:created xsi:type="dcterms:W3CDTF">2024-02-17T09:49:24Z</dcterms:created>
  <dcterms:modified xsi:type="dcterms:W3CDTF">2024-03-24T21:53:14Z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0x010100D481CB4D0A077842BDED2766925F818C</vt:lpwstr>
  </property>
</Properties>
</file>