
<file path=[Content_Types].xml><?xml version="1.0" encoding="utf-8"?>
<Types xmlns="http://schemas.openxmlformats.org/package/2006/content-types">
  <Default Extension="png" ContentType="image/png"/>
  <Default Extension="jpeg" ContentType="image/jpeg"/>
  <Default Extension="wmf" ContentType="image/x-wmf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1"/>
  </p:notesMasterIdLst>
  <p:sldIdLst>
    <p:sldId id="256" r:id="rId2"/>
    <p:sldId id="276" r:id="rId3"/>
    <p:sldId id="261" r:id="rId4"/>
    <p:sldId id="264" r:id="rId5"/>
    <p:sldId id="265" r:id="rId6"/>
    <p:sldId id="266" r:id="rId7"/>
    <p:sldId id="267" r:id="rId8"/>
    <p:sldId id="268" r:id="rId9"/>
    <p:sldId id="271" r:id="rId10"/>
    <p:sldId id="272" r:id="rId11"/>
    <p:sldId id="278" r:id="rId12"/>
    <p:sldId id="421" r:id="rId13"/>
    <p:sldId id="299" r:id="rId14"/>
    <p:sldId id="423" r:id="rId15"/>
    <p:sldId id="426" r:id="rId16"/>
    <p:sldId id="427" r:id="rId17"/>
    <p:sldId id="425" r:id="rId18"/>
    <p:sldId id="297" r:id="rId19"/>
    <p:sldId id="304" r:id="rId20"/>
    <p:sldId id="436" r:id="rId21"/>
    <p:sldId id="320" r:id="rId22"/>
    <p:sldId id="321" r:id="rId23"/>
    <p:sldId id="322" r:id="rId24"/>
    <p:sldId id="323" r:id="rId25"/>
    <p:sldId id="348" r:id="rId26"/>
    <p:sldId id="324" r:id="rId27"/>
    <p:sldId id="325" r:id="rId28"/>
    <p:sldId id="328" r:id="rId29"/>
    <p:sldId id="331" r:id="rId30"/>
    <p:sldId id="333" r:id="rId31"/>
    <p:sldId id="335" r:id="rId32"/>
    <p:sldId id="336" r:id="rId33"/>
    <p:sldId id="337" r:id="rId34"/>
    <p:sldId id="431" r:id="rId35"/>
    <p:sldId id="407" r:id="rId36"/>
    <p:sldId id="349" r:id="rId37"/>
    <p:sldId id="354" r:id="rId38"/>
    <p:sldId id="355" r:id="rId39"/>
    <p:sldId id="275" r:id="rId40"/>
    <p:sldId id="338" r:id="rId41"/>
    <p:sldId id="346" r:id="rId42"/>
    <p:sldId id="347" r:id="rId43"/>
    <p:sldId id="339" r:id="rId44"/>
    <p:sldId id="345" r:id="rId45"/>
    <p:sldId id="428" r:id="rId46"/>
    <p:sldId id="437" r:id="rId47"/>
    <p:sldId id="429" r:id="rId48"/>
    <p:sldId id="420" r:id="rId49"/>
    <p:sldId id="442" r:id="rId50"/>
    <p:sldId id="443" r:id="rId51"/>
    <p:sldId id="356" r:id="rId52"/>
    <p:sldId id="351" r:id="rId53"/>
    <p:sldId id="350" r:id="rId54"/>
    <p:sldId id="352" r:id="rId55"/>
    <p:sldId id="433" r:id="rId56"/>
    <p:sldId id="434" r:id="rId57"/>
    <p:sldId id="435" r:id="rId58"/>
    <p:sldId id="408" r:id="rId59"/>
    <p:sldId id="411" r:id="rId60"/>
    <p:sldId id="412" r:id="rId61"/>
    <p:sldId id="413" r:id="rId62"/>
    <p:sldId id="419" r:id="rId63"/>
    <p:sldId id="432" r:id="rId64"/>
    <p:sldId id="414" r:id="rId65"/>
    <p:sldId id="418" r:id="rId66"/>
    <p:sldId id="415" r:id="rId67"/>
    <p:sldId id="416" r:id="rId68"/>
    <p:sldId id="417" r:id="rId69"/>
    <p:sldId id="353" r:id="rId70"/>
    <p:sldId id="380" r:id="rId71"/>
    <p:sldId id="440" r:id="rId72"/>
    <p:sldId id="441" r:id="rId73"/>
    <p:sldId id="430" r:id="rId74"/>
    <p:sldId id="357" r:id="rId75"/>
    <p:sldId id="358" r:id="rId76"/>
    <p:sldId id="359" r:id="rId77"/>
    <p:sldId id="360" r:id="rId78"/>
    <p:sldId id="382" r:id="rId79"/>
    <p:sldId id="281" r:id="rId80"/>
    <p:sldId id="292" r:id="rId81"/>
    <p:sldId id="295" r:id="rId82"/>
    <p:sldId id="296" r:id="rId83"/>
    <p:sldId id="308" r:id="rId84"/>
    <p:sldId id="309" r:id="rId85"/>
    <p:sldId id="269" r:id="rId86"/>
    <p:sldId id="270" r:id="rId87"/>
    <p:sldId id="298" r:id="rId88"/>
    <p:sldId id="274" r:id="rId89"/>
    <p:sldId id="303" r:id="rId90"/>
    <p:sldId id="305" r:id="rId91"/>
    <p:sldId id="422" r:id="rId92"/>
    <p:sldId id="326" r:id="rId93"/>
    <p:sldId id="332" r:id="rId94"/>
    <p:sldId id="334" r:id="rId95"/>
    <p:sldId id="329" r:id="rId96"/>
    <p:sldId id="383" r:id="rId97"/>
    <p:sldId id="438" r:id="rId98"/>
    <p:sldId id="439" r:id="rId99"/>
    <p:sldId id="381" r:id="rId10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6E06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2"/>
    <p:restoredTop sz="74819" autoAdjust="0"/>
  </p:normalViewPr>
  <p:slideViewPr>
    <p:cSldViewPr snapToGrid="0" snapToObjects="1">
      <p:cViewPr varScale="1">
        <p:scale>
          <a:sx n="85" d="100"/>
          <a:sy n="85" d="100"/>
        </p:scale>
        <p:origin x="2364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33" d="100"/>
        <a:sy n="33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87" Type="http://schemas.openxmlformats.org/officeDocument/2006/relationships/slide" Target="slides/slide86.xml"/><Relationship Id="rId102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103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6" Type="http://schemas.microsoft.com/office/2015/10/relationships/revisionInfo" Target="revisionInfo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\\Users\ananth\Documents\work\teaching\Others\ParallelWorkshop\slides\speedup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\\Users\ananth\Documents\work\teaching\Others\ParallelWorkshop\slides\speedup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0.148303322549798"/>
          <c:y val="4.5360862150295701E-2"/>
          <c:w val="0.85169667745020206"/>
          <c:h val="0.85729138696372598"/>
        </c:manualLayout>
      </c:layout>
      <c:lineChart>
        <c:grouping val="standard"/>
        <c:varyColors val="0"/>
        <c:ser>
          <c:idx val="0"/>
          <c:order val="0"/>
          <c:tx>
            <c:v>n=1,000</c:v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cat>
            <c:numRef>
              <c:f>Sheet1!$B$3:$F$3</c:f>
              <c:numCache>
                <c:formatCode>General</c:formatCode>
                <c:ptCount val="5"/>
                <c:pt idx="0">
                  <c:v>1</c:v>
                </c:pt>
                <c:pt idx="1">
                  <c:v>2</c:v>
                </c:pt>
                <c:pt idx="2">
                  <c:v>4</c:v>
                </c:pt>
                <c:pt idx="3">
                  <c:v>8</c:v>
                </c:pt>
                <c:pt idx="4">
                  <c:v>16</c:v>
                </c:pt>
              </c:numCache>
            </c:numRef>
          </c:cat>
          <c:val>
            <c:numRef>
              <c:f>Sheet1!$B$4:$F$4</c:f>
              <c:numCache>
                <c:formatCode>General</c:formatCode>
                <c:ptCount val="5"/>
                <c:pt idx="0">
                  <c:v>800</c:v>
                </c:pt>
                <c:pt idx="1">
                  <c:v>410</c:v>
                </c:pt>
                <c:pt idx="2">
                  <c:v>201</c:v>
                </c:pt>
                <c:pt idx="3">
                  <c:v>150</c:v>
                </c:pt>
                <c:pt idx="4">
                  <c:v>100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F8F2-4711-9DE6-14749262FD85}"/>
            </c:ext>
          </c:extLst>
        </c:ser>
        <c:ser>
          <c:idx val="1"/>
          <c:order val="1"/>
          <c:tx>
            <c:v>n=2,000</c:v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squar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cat>
            <c:numRef>
              <c:f>Sheet1!$B$3:$F$3</c:f>
              <c:numCache>
                <c:formatCode>General</c:formatCode>
                <c:ptCount val="5"/>
                <c:pt idx="0">
                  <c:v>1</c:v>
                </c:pt>
                <c:pt idx="1">
                  <c:v>2</c:v>
                </c:pt>
                <c:pt idx="2">
                  <c:v>4</c:v>
                </c:pt>
                <c:pt idx="3">
                  <c:v>8</c:v>
                </c:pt>
                <c:pt idx="4">
                  <c:v>16</c:v>
                </c:pt>
              </c:numCache>
            </c:numRef>
          </c:cat>
          <c:val>
            <c:numRef>
              <c:f>Sheet1!$B$5:$F$5</c:f>
              <c:numCache>
                <c:formatCode>General</c:formatCode>
                <c:ptCount val="5"/>
                <c:pt idx="0" formatCode="#,##0">
                  <c:v>1601</c:v>
                </c:pt>
                <c:pt idx="1">
                  <c:v>802</c:v>
                </c:pt>
                <c:pt idx="2">
                  <c:v>409</c:v>
                </c:pt>
                <c:pt idx="3">
                  <c:v>210</c:v>
                </c:pt>
                <c:pt idx="4">
                  <c:v>120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F8F2-4711-9DE6-14749262FD85}"/>
            </c:ext>
          </c:extLst>
        </c:ser>
        <c:ser>
          <c:idx val="2"/>
          <c:order val="2"/>
          <c:tx>
            <c:v>n=4,000</c:v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plus"/>
            <c:size val="5"/>
            <c:spPr>
              <a:noFill/>
              <a:ln w="9525">
                <a:solidFill>
                  <a:schemeClr val="accent3"/>
                </a:solidFill>
              </a:ln>
              <a:effectLst/>
            </c:spPr>
          </c:marker>
          <c:cat>
            <c:numRef>
              <c:f>Sheet1!$B$3:$F$3</c:f>
              <c:numCache>
                <c:formatCode>General</c:formatCode>
                <c:ptCount val="5"/>
                <c:pt idx="0">
                  <c:v>1</c:v>
                </c:pt>
                <c:pt idx="1">
                  <c:v>2</c:v>
                </c:pt>
                <c:pt idx="2">
                  <c:v>4</c:v>
                </c:pt>
                <c:pt idx="3">
                  <c:v>8</c:v>
                </c:pt>
                <c:pt idx="4">
                  <c:v>16</c:v>
                </c:pt>
              </c:numCache>
            </c:numRef>
          </c:cat>
          <c:val>
            <c:numRef>
              <c:f>Sheet1!$B$6:$F$6</c:f>
              <c:numCache>
                <c:formatCode>#,##0</c:formatCode>
                <c:ptCount val="5"/>
                <c:pt idx="0">
                  <c:v>3100</c:v>
                </c:pt>
                <c:pt idx="1">
                  <c:v>1504</c:v>
                </c:pt>
                <c:pt idx="2" formatCode="General">
                  <c:v>789</c:v>
                </c:pt>
                <c:pt idx="3" formatCode="General">
                  <c:v>399</c:v>
                </c:pt>
                <c:pt idx="4" formatCode="General">
                  <c:v>208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F8F2-4711-9DE6-14749262FD85}"/>
            </c:ext>
          </c:extLst>
        </c:ser>
        <c:ser>
          <c:idx val="4"/>
          <c:order val="3"/>
          <c:tx>
            <c:v>n=8,000</c:v>
          </c:tx>
          <c:spPr>
            <a:ln w="28575" cap="rnd">
              <a:solidFill>
                <a:schemeClr val="accent5"/>
              </a:solidFill>
              <a:round/>
            </a:ln>
            <a:effectLst/>
          </c:spPr>
          <c:marker>
            <c:symbol val="star"/>
            <c:size val="5"/>
            <c:spPr>
              <a:noFill/>
              <a:ln w="9525">
                <a:solidFill>
                  <a:schemeClr val="accent5"/>
                </a:solidFill>
              </a:ln>
              <a:effectLst/>
            </c:spPr>
          </c:marker>
          <c:cat>
            <c:numRef>
              <c:f>Sheet1!$B$3:$F$3</c:f>
              <c:numCache>
                <c:formatCode>General</c:formatCode>
                <c:ptCount val="5"/>
                <c:pt idx="0">
                  <c:v>1</c:v>
                </c:pt>
                <c:pt idx="1">
                  <c:v>2</c:v>
                </c:pt>
                <c:pt idx="2">
                  <c:v>4</c:v>
                </c:pt>
                <c:pt idx="3">
                  <c:v>8</c:v>
                </c:pt>
                <c:pt idx="4">
                  <c:v>16</c:v>
                </c:pt>
              </c:numCache>
            </c:numRef>
          </c:cat>
          <c:val>
            <c:numRef>
              <c:f>Sheet1!$B$7:$F$7</c:f>
              <c:numCache>
                <c:formatCode>#,##0</c:formatCode>
                <c:ptCount val="5"/>
                <c:pt idx="0">
                  <c:v>6010</c:v>
                </c:pt>
                <c:pt idx="1">
                  <c:v>3005</c:v>
                </c:pt>
                <c:pt idx="2">
                  <c:v>1500</c:v>
                </c:pt>
                <c:pt idx="3" formatCode="General">
                  <c:v>758</c:v>
                </c:pt>
                <c:pt idx="4" formatCode="General">
                  <c:v>376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F8F2-4711-9DE6-14749262FD85}"/>
            </c:ext>
          </c:extLst>
        </c:ser>
        <c:ser>
          <c:idx val="3"/>
          <c:order val="4"/>
          <c:tx>
            <c:v>n=16,000</c:v>
          </c:tx>
          <c:spPr>
            <a:ln w="28575" cap="rnd">
              <a:solidFill>
                <a:schemeClr val="accent4"/>
              </a:solidFill>
              <a:round/>
            </a:ln>
            <a:effectLst/>
          </c:spPr>
          <c:marker>
            <c:symbol val="triangle"/>
            <c:size val="5"/>
            <c:spPr>
              <a:solidFill>
                <a:schemeClr val="accent4"/>
              </a:solidFill>
              <a:ln w="9525">
                <a:solidFill>
                  <a:schemeClr val="accent4"/>
                </a:solidFill>
              </a:ln>
              <a:effectLst/>
            </c:spPr>
          </c:marker>
          <c:cat>
            <c:numRef>
              <c:f>Sheet1!$B$3:$F$3</c:f>
              <c:numCache>
                <c:formatCode>General</c:formatCode>
                <c:ptCount val="5"/>
                <c:pt idx="0">
                  <c:v>1</c:v>
                </c:pt>
                <c:pt idx="1">
                  <c:v>2</c:v>
                </c:pt>
                <c:pt idx="2">
                  <c:v>4</c:v>
                </c:pt>
                <c:pt idx="3">
                  <c:v>8</c:v>
                </c:pt>
                <c:pt idx="4">
                  <c:v>16</c:v>
                </c:pt>
              </c:numCache>
            </c:numRef>
          </c:cat>
          <c:val>
            <c:numRef>
              <c:f>Sheet1!$B$8:$F$8</c:f>
              <c:numCache>
                <c:formatCode>#,##0</c:formatCode>
                <c:ptCount val="5"/>
                <c:pt idx="0">
                  <c:v>12000</c:v>
                </c:pt>
                <c:pt idx="1">
                  <c:v>6000</c:v>
                </c:pt>
                <c:pt idx="2">
                  <c:v>3001</c:v>
                </c:pt>
                <c:pt idx="3">
                  <c:v>1509</c:v>
                </c:pt>
                <c:pt idx="4" formatCode="General">
                  <c:v>758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F8F2-4711-9DE6-14749262FD8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420896624"/>
        <c:axId val="1420897984"/>
      </c:lineChart>
      <c:catAx>
        <c:axId val="142089662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20897984"/>
        <c:crosses val="autoZero"/>
        <c:auto val="1"/>
        <c:lblAlgn val="ctr"/>
        <c:lblOffset val="100"/>
        <c:noMultiLvlLbl val="0"/>
      </c:catAx>
      <c:valAx>
        <c:axId val="142089798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2089662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65033306883151198"/>
          <c:y val="3.8786119477000801E-2"/>
          <c:w val="0.27814523184601903"/>
          <c:h val="0.30069160709749998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4.7329079029531401E-2"/>
          <c:y val="3.5763411279229697E-2"/>
          <c:w val="0.85402488615422101"/>
          <c:h val="0.85227436666702805"/>
        </c:manualLayout>
      </c:layout>
      <c:lineChart>
        <c:grouping val="standard"/>
        <c:varyColors val="0"/>
        <c:ser>
          <c:idx val="0"/>
          <c:order val="0"/>
          <c:tx>
            <c:v>n=1,000</c:v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cat>
            <c:numRef>
              <c:f>Sheet1!$B$12:$F$12</c:f>
              <c:numCache>
                <c:formatCode>General</c:formatCode>
                <c:ptCount val="5"/>
                <c:pt idx="0">
                  <c:v>1</c:v>
                </c:pt>
                <c:pt idx="1">
                  <c:v>2</c:v>
                </c:pt>
                <c:pt idx="2">
                  <c:v>4</c:v>
                </c:pt>
                <c:pt idx="3">
                  <c:v>8</c:v>
                </c:pt>
                <c:pt idx="4">
                  <c:v>16</c:v>
                </c:pt>
              </c:numCache>
            </c:numRef>
          </c:cat>
          <c:val>
            <c:numRef>
              <c:f>Sheet1!$B$13:$F$13</c:f>
              <c:numCache>
                <c:formatCode>General</c:formatCode>
                <c:ptCount val="5"/>
                <c:pt idx="0">
                  <c:v>1</c:v>
                </c:pt>
                <c:pt idx="1">
                  <c:v>1.9512195121951219</c:v>
                </c:pt>
                <c:pt idx="2">
                  <c:v>3.9800995024875618</c:v>
                </c:pt>
                <c:pt idx="3">
                  <c:v>5.3333333333333321</c:v>
                </c:pt>
                <c:pt idx="4">
                  <c:v>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5B6E-41D6-993F-6745C979C72C}"/>
            </c:ext>
          </c:extLst>
        </c:ser>
        <c:ser>
          <c:idx val="1"/>
          <c:order val="1"/>
          <c:tx>
            <c:v>n=2,000</c:v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cat>
            <c:numRef>
              <c:f>Sheet1!$B$12:$F$12</c:f>
              <c:numCache>
                <c:formatCode>General</c:formatCode>
                <c:ptCount val="5"/>
                <c:pt idx="0">
                  <c:v>1</c:v>
                </c:pt>
                <c:pt idx="1">
                  <c:v>2</c:v>
                </c:pt>
                <c:pt idx="2">
                  <c:v>4</c:v>
                </c:pt>
                <c:pt idx="3">
                  <c:v>8</c:v>
                </c:pt>
                <c:pt idx="4">
                  <c:v>16</c:v>
                </c:pt>
              </c:numCache>
            </c:numRef>
          </c:cat>
          <c:val>
            <c:numRef>
              <c:f>Sheet1!$B$14:$F$14</c:f>
              <c:numCache>
                <c:formatCode>General</c:formatCode>
                <c:ptCount val="5"/>
                <c:pt idx="0">
                  <c:v>1</c:v>
                </c:pt>
                <c:pt idx="1">
                  <c:v>1.9962593516209479</c:v>
                </c:pt>
                <c:pt idx="2">
                  <c:v>3.9144254278728581</c:v>
                </c:pt>
                <c:pt idx="3">
                  <c:v>7.6238095238095207</c:v>
                </c:pt>
                <c:pt idx="4">
                  <c:v>13.34166666666667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5B6E-41D6-993F-6745C979C72C}"/>
            </c:ext>
          </c:extLst>
        </c:ser>
        <c:ser>
          <c:idx val="2"/>
          <c:order val="2"/>
          <c:tx>
            <c:v>n=4,000</c:v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3"/>
              </a:solidFill>
              <a:ln w="9525">
                <a:solidFill>
                  <a:schemeClr val="accent3"/>
                </a:solidFill>
              </a:ln>
              <a:effectLst/>
            </c:spPr>
          </c:marker>
          <c:cat>
            <c:numRef>
              <c:f>Sheet1!$B$12:$F$12</c:f>
              <c:numCache>
                <c:formatCode>General</c:formatCode>
                <c:ptCount val="5"/>
                <c:pt idx="0">
                  <c:v>1</c:v>
                </c:pt>
                <c:pt idx="1">
                  <c:v>2</c:v>
                </c:pt>
                <c:pt idx="2">
                  <c:v>4</c:v>
                </c:pt>
                <c:pt idx="3">
                  <c:v>8</c:v>
                </c:pt>
                <c:pt idx="4">
                  <c:v>16</c:v>
                </c:pt>
              </c:numCache>
            </c:numRef>
          </c:cat>
          <c:val>
            <c:numRef>
              <c:f>Sheet1!$B$15:$F$15</c:f>
              <c:numCache>
                <c:formatCode>General</c:formatCode>
                <c:ptCount val="5"/>
                <c:pt idx="0">
                  <c:v>1</c:v>
                </c:pt>
                <c:pt idx="1">
                  <c:v>2.061170212765957</c:v>
                </c:pt>
                <c:pt idx="2">
                  <c:v>3.9290240811153359</c:v>
                </c:pt>
                <c:pt idx="3">
                  <c:v>7.7694235588972393</c:v>
                </c:pt>
                <c:pt idx="4">
                  <c:v>14.90384615384615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5B6E-41D6-993F-6745C979C72C}"/>
            </c:ext>
          </c:extLst>
        </c:ser>
        <c:ser>
          <c:idx val="3"/>
          <c:order val="3"/>
          <c:tx>
            <c:v>n=8,000</c:v>
          </c:tx>
          <c:spPr>
            <a:ln w="28575" cap="rnd">
              <a:solidFill>
                <a:schemeClr val="accent4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4"/>
              </a:solidFill>
              <a:ln w="9525">
                <a:solidFill>
                  <a:schemeClr val="accent4"/>
                </a:solidFill>
              </a:ln>
              <a:effectLst/>
            </c:spPr>
          </c:marker>
          <c:cat>
            <c:numRef>
              <c:f>Sheet1!$B$12:$F$12</c:f>
              <c:numCache>
                <c:formatCode>General</c:formatCode>
                <c:ptCount val="5"/>
                <c:pt idx="0">
                  <c:v>1</c:v>
                </c:pt>
                <c:pt idx="1">
                  <c:v>2</c:v>
                </c:pt>
                <c:pt idx="2">
                  <c:v>4</c:v>
                </c:pt>
                <c:pt idx="3">
                  <c:v>8</c:v>
                </c:pt>
                <c:pt idx="4">
                  <c:v>16</c:v>
                </c:pt>
              </c:numCache>
            </c:numRef>
          </c:cat>
          <c:val>
            <c:numRef>
              <c:f>Sheet1!$B$16:$F$16</c:f>
              <c:numCache>
                <c:formatCode>General</c:formatCode>
                <c:ptCount val="5"/>
                <c:pt idx="0">
                  <c:v>1</c:v>
                </c:pt>
                <c:pt idx="1">
                  <c:v>2</c:v>
                </c:pt>
                <c:pt idx="2">
                  <c:v>4.0066666666666659</c:v>
                </c:pt>
                <c:pt idx="3">
                  <c:v>7.9287598944591018</c:v>
                </c:pt>
                <c:pt idx="4">
                  <c:v>15.9840425531915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5B6E-41D6-993F-6745C979C72C}"/>
            </c:ext>
          </c:extLst>
        </c:ser>
        <c:ser>
          <c:idx val="4"/>
          <c:order val="4"/>
          <c:tx>
            <c:v>n=16,000</c:v>
          </c:tx>
          <c:spPr>
            <a:ln w="28575" cap="rnd">
              <a:solidFill>
                <a:schemeClr val="accent5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5"/>
              </a:solidFill>
              <a:ln w="9525">
                <a:solidFill>
                  <a:schemeClr val="accent5"/>
                </a:solidFill>
              </a:ln>
              <a:effectLst/>
            </c:spPr>
          </c:marker>
          <c:cat>
            <c:numRef>
              <c:f>Sheet1!$B$12:$F$12</c:f>
              <c:numCache>
                <c:formatCode>General</c:formatCode>
                <c:ptCount val="5"/>
                <c:pt idx="0">
                  <c:v>1</c:v>
                </c:pt>
                <c:pt idx="1">
                  <c:v>2</c:v>
                </c:pt>
                <c:pt idx="2">
                  <c:v>4</c:v>
                </c:pt>
                <c:pt idx="3">
                  <c:v>8</c:v>
                </c:pt>
                <c:pt idx="4">
                  <c:v>16</c:v>
                </c:pt>
              </c:numCache>
            </c:numRef>
          </c:cat>
          <c:val>
            <c:numRef>
              <c:f>Sheet1!$B$17:$F$17</c:f>
              <c:numCache>
                <c:formatCode>General</c:formatCode>
                <c:ptCount val="5"/>
                <c:pt idx="0">
                  <c:v>1</c:v>
                </c:pt>
                <c:pt idx="1">
                  <c:v>2</c:v>
                </c:pt>
                <c:pt idx="2">
                  <c:v>3.998667110963011</c:v>
                </c:pt>
                <c:pt idx="3">
                  <c:v>7.9522862823061633</c:v>
                </c:pt>
                <c:pt idx="4">
                  <c:v>15.831134564643801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5B6E-41D6-993F-6745C979C72C}"/>
            </c:ext>
          </c:extLst>
        </c:ser>
        <c:ser>
          <c:idx val="5"/>
          <c:order val="5"/>
          <c:tx>
            <c:v>Ideal</c:v>
          </c:tx>
          <c:spPr>
            <a:ln w="28575" cap="rnd">
              <a:solidFill>
                <a:schemeClr val="accent6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6"/>
              </a:solidFill>
              <a:ln w="9525">
                <a:solidFill>
                  <a:schemeClr val="accent6"/>
                </a:solidFill>
              </a:ln>
              <a:effectLst/>
            </c:spPr>
          </c:marker>
          <c:cat>
            <c:numRef>
              <c:f>Sheet1!$B$12:$F$12</c:f>
              <c:numCache>
                <c:formatCode>General</c:formatCode>
                <c:ptCount val="5"/>
                <c:pt idx="0">
                  <c:v>1</c:v>
                </c:pt>
                <c:pt idx="1">
                  <c:v>2</c:v>
                </c:pt>
                <c:pt idx="2">
                  <c:v>4</c:v>
                </c:pt>
                <c:pt idx="3">
                  <c:v>8</c:v>
                </c:pt>
                <c:pt idx="4">
                  <c:v>16</c:v>
                </c:pt>
              </c:numCache>
            </c:numRef>
          </c:cat>
          <c:val>
            <c:numRef>
              <c:f>Sheet1!$B$12:$F$12</c:f>
              <c:numCache>
                <c:formatCode>General</c:formatCode>
                <c:ptCount val="5"/>
                <c:pt idx="0">
                  <c:v>1</c:v>
                </c:pt>
                <c:pt idx="1">
                  <c:v>2</c:v>
                </c:pt>
                <c:pt idx="2">
                  <c:v>4</c:v>
                </c:pt>
                <c:pt idx="3">
                  <c:v>8</c:v>
                </c:pt>
                <c:pt idx="4">
                  <c:v>16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5-5B6E-41D6-993F-6745C979C72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420580656"/>
        <c:axId val="1420582448"/>
      </c:lineChart>
      <c:catAx>
        <c:axId val="142058065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20582448"/>
        <c:crosses val="autoZero"/>
        <c:auto val="1"/>
        <c:lblAlgn val="ctr"/>
        <c:lblOffset val="100"/>
        <c:noMultiLvlLbl val="0"/>
      </c:catAx>
      <c:valAx>
        <c:axId val="142058244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2058065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26062855054143402"/>
          <c:y val="0.14614758093340099"/>
          <c:w val="0.35378553789768902"/>
          <c:h val="0.3500707253409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39F8789-9A5E-A440-A9C4-5BE650A859F0}" type="datetimeFigureOut">
              <a:rPr lang="en-US" smtClean="0"/>
              <a:t>6/9/2017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3CAA69C-D349-EE45-B066-F759E7403B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8390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3CAA69C-D349-EE45-B066-F759E7403BE7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684727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</a:t>
            </a:r>
            <a:r>
              <a:rPr lang="en-US" dirty="0" err="1"/>
              <a:t>jeff</a:t>
            </a:r>
            <a:r>
              <a:rPr lang="en-US" dirty="0"/>
              <a:t> to add in notes about the</a:t>
            </a:r>
            <a:r>
              <a:rPr lang="en-US" baseline="0" dirty="0"/>
              <a:t> standard compute node architecture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3CAA69C-D349-EE45-B066-F759E7403BE7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98476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3CAA69C-D349-EE45-B066-F759E7403BE7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151091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3CAA69C-D349-EE45-B066-F759E7403BE7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751831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3CAA69C-D349-EE45-B066-F759E7403BE7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636064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92442">
              <a:spcBef>
                <a:spcPct val="20000"/>
              </a:spcBef>
              <a:buClr>
                <a:schemeClr val="tx1"/>
              </a:buClr>
              <a:buSzPct val="60000"/>
              <a:buFont typeface="Wingdings" charset="0"/>
              <a:defRPr sz="30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1pPr>
            <a:lvl2pPr marL="685817" indent="-263776" defTabSz="892442">
              <a:spcBef>
                <a:spcPct val="20000"/>
              </a:spcBef>
              <a:buClr>
                <a:schemeClr val="tx1"/>
              </a:buClr>
              <a:buSzPct val="60000"/>
              <a:buFont typeface="Wingdings" charset="0"/>
              <a:defRPr sz="30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2pPr>
            <a:lvl3pPr marL="1055103" indent="-211021" defTabSz="892442">
              <a:spcBef>
                <a:spcPct val="20000"/>
              </a:spcBef>
              <a:buClr>
                <a:schemeClr val="tx1"/>
              </a:buClr>
              <a:buSzPct val="60000"/>
              <a:buFont typeface="Wingdings" charset="0"/>
              <a:defRPr sz="30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3pPr>
            <a:lvl4pPr marL="1477145" indent="-211021" defTabSz="892442">
              <a:spcBef>
                <a:spcPct val="20000"/>
              </a:spcBef>
              <a:buClr>
                <a:schemeClr val="tx1"/>
              </a:buClr>
              <a:buSzPct val="60000"/>
              <a:buFont typeface="Wingdings" charset="0"/>
              <a:defRPr sz="30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4pPr>
            <a:lvl5pPr marL="1899186" indent="-211021" defTabSz="892442">
              <a:spcBef>
                <a:spcPct val="20000"/>
              </a:spcBef>
              <a:buClr>
                <a:schemeClr val="tx1"/>
              </a:buClr>
              <a:buSzPct val="60000"/>
              <a:buFont typeface="Wingdings" charset="0"/>
              <a:defRPr sz="30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5pPr>
            <a:lvl6pPr marL="2321227" indent="-211021" defTabSz="892442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charset="0"/>
              <a:defRPr sz="30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6pPr>
            <a:lvl7pPr marL="2743269" indent="-211021" defTabSz="892442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charset="0"/>
              <a:defRPr sz="30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7pPr>
            <a:lvl8pPr marL="3165310" indent="-211021" defTabSz="892442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charset="0"/>
              <a:defRPr sz="30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8pPr>
            <a:lvl9pPr marL="3587351" indent="-211021" defTabSz="892442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charset="0"/>
              <a:defRPr sz="30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sz="1200">
                <a:latin typeface="Times New Roman" charset="0"/>
              </a:rPr>
              <a:t>The University of Adelaide, School of Computer Science</a:t>
            </a:r>
          </a:p>
        </p:txBody>
      </p:sp>
      <p:sp>
        <p:nvSpPr>
          <p:cNvPr id="20482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92442">
              <a:spcBef>
                <a:spcPct val="20000"/>
              </a:spcBef>
              <a:buClr>
                <a:schemeClr val="tx1"/>
              </a:buClr>
              <a:buSzPct val="60000"/>
              <a:buFont typeface="Wingdings" charset="0"/>
              <a:defRPr sz="30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1pPr>
            <a:lvl2pPr marL="685817" indent="-263776" defTabSz="892442">
              <a:spcBef>
                <a:spcPct val="20000"/>
              </a:spcBef>
              <a:buClr>
                <a:schemeClr val="tx1"/>
              </a:buClr>
              <a:buSzPct val="60000"/>
              <a:buFont typeface="Wingdings" charset="0"/>
              <a:defRPr sz="30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2pPr>
            <a:lvl3pPr marL="1055103" indent="-211021" defTabSz="892442">
              <a:spcBef>
                <a:spcPct val="20000"/>
              </a:spcBef>
              <a:buClr>
                <a:schemeClr val="tx1"/>
              </a:buClr>
              <a:buSzPct val="60000"/>
              <a:buFont typeface="Wingdings" charset="0"/>
              <a:defRPr sz="30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3pPr>
            <a:lvl4pPr marL="1477145" indent="-211021" defTabSz="892442">
              <a:spcBef>
                <a:spcPct val="20000"/>
              </a:spcBef>
              <a:buClr>
                <a:schemeClr val="tx1"/>
              </a:buClr>
              <a:buSzPct val="60000"/>
              <a:buFont typeface="Wingdings" charset="0"/>
              <a:defRPr sz="30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4pPr>
            <a:lvl5pPr marL="1899186" indent="-211021" defTabSz="892442">
              <a:spcBef>
                <a:spcPct val="20000"/>
              </a:spcBef>
              <a:buClr>
                <a:schemeClr val="tx1"/>
              </a:buClr>
              <a:buSzPct val="60000"/>
              <a:buFont typeface="Wingdings" charset="0"/>
              <a:defRPr sz="30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5pPr>
            <a:lvl6pPr marL="2321227" indent="-211021" defTabSz="892442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charset="0"/>
              <a:defRPr sz="30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6pPr>
            <a:lvl7pPr marL="2743269" indent="-211021" defTabSz="892442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charset="0"/>
              <a:defRPr sz="30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7pPr>
            <a:lvl8pPr marL="3165310" indent="-211021" defTabSz="892442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charset="0"/>
              <a:defRPr sz="30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8pPr>
            <a:lvl9pPr marL="3587351" indent="-211021" defTabSz="892442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charset="0"/>
              <a:defRPr sz="30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A9FCA59B-D741-2441-94FA-D82F2FFF8461}" type="datetime3">
              <a:rPr lang="en-US" sz="1200">
                <a:latin typeface="Times New Roman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9 June 2017</a:t>
            </a:fld>
            <a:endParaRPr lang="en-US" sz="1200">
              <a:latin typeface="Times New Roman" charset="0"/>
            </a:endParaRPr>
          </a:p>
        </p:txBody>
      </p:sp>
      <p:sp>
        <p:nvSpPr>
          <p:cNvPr id="20483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92442">
              <a:spcBef>
                <a:spcPct val="20000"/>
              </a:spcBef>
              <a:buClr>
                <a:schemeClr val="tx1"/>
              </a:buClr>
              <a:buSzPct val="60000"/>
              <a:buFont typeface="Wingdings" charset="0"/>
              <a:defRPr sz="30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1pPr>
            <a:lvl2pPr marL="685817" indent="-263776" defTabSz="892442">
              <a:spcBef>
                <a:spcPct val="20000"/>
              </a:spcBef>
              <a:buClr>
                <a:schemeClr val="tx1"/>
              </a:buClr>
              <a:buSzPct val="60000"/>
              <a:buFont typeface="Wingdings" charset="0"/>
              <a:defRPr sz="30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2pPr>
            <a:lvl3pPr marL="1055103" indent="-211021" defTabSz="892442">
              <a:spcBef>
                <a:spcPct val="20000"/>
              </a:spcBef>
              <a:buClr>
                <a:schemeClr val="tx1"/>
              </a:buClr>
              <a:buSzPct val="60000"/>
              <a:buFont typeface="Wingdings" charset="0"/>
              <a:defRPr sz="30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3pPr>
            <a:lvl4pPr marL="1477145" indent="-211021" defTabSz="892442">
              <a:spcBef>
                <a:spcPct val="20000"/>
              </a:spcBef>
              <a:buClr>
                <a:schemeClr val="tx1"/>
              </a:buClr>
              <a:buSzPct val="60000"/>
              <a:buFont typeface="Wingdings" charset="0"/>
              <a:defRPr sz="30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4pPr>
            <a:lvl5pPr marL="1899186" indent="-211021" defTabSz="892442">
              <a:spcBef>
                <a:spcPct val="20000"/>
              </a:spcBef>
              <a:buClr>
                <a:schemeClr val="tx1"/>
              </a:buClr>
              <a:buSzPct val="60000"/>
              <a:buFont typeface="Wingdings" charset="0"/>
              <a:defRPr sz="30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5pPr>
            <a:lvl6pPr marL="2321227" indent="-211021" defTabSz="892442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charset="0"/>
              <a:defRPr sz="30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6pPr>
            <a:lvl7pPr marL="2743269" indent="-211021" defTabSz="892442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charset="0"/>
              <a:defRPr sz="30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7pPr>
            <a:lvl8pPr marL="3165310" indent="-211021" defTabSz="892442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charset="0"/>
              <a:defRPr sz="30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8pPr>
            <a:lvl9pPr marL="3587351" indent="-211021" defTabSz="892442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charset="0"/>
              <a:defRPr sz="30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sz="1200">
                <a:latin typeface="Times New Roman" charset="0"/>
              </a:rPr>
              <a:t>Chapter 2 — Instructions: Language of the Computer</a:t>
            </a:r>
          </a:p>
        </p:txBody>
      </p:sp>
      <p:sp>
        <p:nvSpPr>
          <p:cNvPr id="2048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92442">
              <a:spcBef>
                <a:spcPct val="20000"/>
              </a:spcBef>
              <a:buClr>
                <a:schemeClr val="tx1"/>
              </a:buClr>
              <a:buSzPct val="60000"/>
              <a:buFont typeface="Wingdings" charset="0"/>
              <a:defRPr sz="30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1pPr>
            <a:lvl2pPr marL="685817" indent="-263776" defTabSz="892442">
              <a:spcBef>
                <a:spcPct val="20000"/>
              </a:spcBef>
              <a:buClr>
                <a:schemeClr val="tx1"/>
              </a:buClr>
              <a:buSzPct val="60000"/>
              <a:buFont typeface="Wingdings" charset="0"/>
              <a:defRPr sz="30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2pPr>
            <a:lvl3pPr marL="1055103" indent="-211021" defTabSz="892442">
              <a:spcBef>
                <a:spcPct val="20000"/>
              </a:spcBef>
              <a:buClr>
                <a:schemeClr val="tx1"/>
              </a:buClr>
              <a:buSzPct val="60000"/>
              <a:buFont typeface="Wingdings" charset="0"/>
              <a:defRPr sz="30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3pPr>
            <a:lvl4pPr marL="1477145" indent="-211021" defTabSz="892442">
              <a:spcBef>
                <a:spcPct val="20000"/>
              </a:spcBef>
              <a:buClr>
                <a:schemeClr val="tx1"/>
              </a:buClr>
              <a:buSzPct val="60000"/>
              <a:buFont typeface="Wingdings" charset="0"/>
              <a:defRPr sz="30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4pPr>
            <a:lvl5pPr marL="1899186" indent="-211021" defTabSz="892442">
              <a:spcBef>
                <a:spcPct val="20000"/>
              </a:spcBef>
              <a:buClr>
                <a:schemeClr val="tx1"/>
              </a:buClr>
              <a:buSzPct val="60000"/>
              <a:buFont typeface="Wingdings" charset="0"/>
              <a:defRPr sz="30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5pPr>
            <a:lvl6pPr marL="2321227" indent="-211021" defTabSz="892442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charset="0"/>
              <a:defRPr sz="30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6pPr>
            <a:lvl7pPr marL="2743269" indent="-211021" defTabSz="892442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charset="0"/>
              <a:defRPr sz="30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7pPr>
            <a:lvl8pPr marL="3165310" indent="-211021" defTabSz="892442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charset="0"/>
              <a:defRPr sz="30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8pPr>
            <a:lvl9pPr marL="3587351" indent="-211021" defTabSz="892442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charset="0"/>
              <a:defRPr sz="30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02631D32-F5FC-A741-8377-32FEBA946A61}" type="slidenum">
              <a:rPr lang="en-US" sz="1200">
                <a:latin typeface="Times New Roman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27</a:t>
            </a:fld>
            <a:endParaRPr lang="en-US" sz="1200">
              <a:latin typeface="Times New Roman" charset="0"/>
            </a:endParaRPr>
          </a:p>
        </p:txBody>
      </p:sp>
      <p:sp>
        <p:nvSpPr>
          <p:cNvPr id="2048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48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AU">
              <a:latin typeface="Times New Roman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Students would test different timings of </a:t>
            </a:r>
            <a:r>
              <a:rPr lang="en-US" dirty="0" err="1"/>
              <a:t>loop.c</a:t>
            </a:r>
            <a:r>
              <a:rPr lang="en-US" dirty="0"/>
              <a:t> in class.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3CAA69C-D349-EE45-B066-F759E7403BE7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117682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Have </a:t>
            </a:r>
            <a:r>
              <a:rPr lang="en-US" baseline="0" dirty="0"/>
              <a:t> animation on these slides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3CAA69C-D349-EE45-B066-F759E7403BE7}" type="slidenum">
              <a:rPr lang="en-US" smtClean="0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169714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Have </a:t>
            </a:r>
            <a:r>
              <a:rPr lang="en-US" baseline="0" dirty="0"/>
              <a:t> animation on these slides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3CAA69C-D349-EE45-B066-F759E7403BE7}" type="slidenum">
              <a:rPr lang="en-US" smtClean="0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388814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3CAA69C-D349-EE45-B066-F759E7403BE7}" type="slidenum">
              <a:rPr lang="en-US" smtClean="0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980264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3CAA69C-D349-EE45-B066-F759E7403BE7}" type="slidenum">
              <a:rPr lang="en-US" smtClean="0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753253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1" name="Slide Image Placeholder 1"/>
          <p:cNvSpPr>
            <a:spLocks noGrp="1" noRot="1" noChangeAspect="1"/>
          </p:cNvSpPr>
          <p:nvPr>
            <p:ph type="sldImg"/>
          </p:nvPr>
        </p:nvSpPr>
        <p:spPr>
          <a:ln/>
        </p:spPr>
      </p:sp>
      <p:sp>
        <p:nvSpPr>
          <p:cNvPr id="107522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>
                <a:latin typeface="Times New Roman" charset="0"/>
              </a:rPr>
              <a:t>Please refer to the detailed slides on cache coherence and thread-safety in Chapter 4.</a:t>
            </a:r>
          </a:p>
        </p:txBody>
      </p:sp>
      <p:sp>
        <p:nvSpPr>
          <p:cNvPr id="107523" name="Header Placeholder 3"/>
          <p:cNvSpPr>
            <a:spLocks noGrp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92442">
              <a:spcBef>
                <a:spcPct val="20000"/>
              </a:spcBef>
              <a:buClr>
                <a:schemeClr val="tx1"/>
              </a:buClr>
              <a:buSzPct val="60000"/>
              <a:buFont typeface="Wingdings" charset="0"/>
              <a:defRPr sz="30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1pPr>
            <a:lvl2pPr marL="685817" indent="-263776" defTabSz="892442">
              <a:spcBef>
                <a:spcPct val="20000"/>
              </a:spcBef>
              <a:buClr>
                <a:schemeClr val="tx1"/>
              </a:buClr>
              <a:buSzPct val="60000"/>
              <a:buFont typeface="Wingdings" charset="0"/>
              <a:defRPr sz="30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2pPr>
            <a:lvl3pPr marL="1055103" indent="-211021" defTabSz="892442">
              <a:spcBef>
                <a:spcPct val="20000"/>
              </a:spcBef>
              <a:buClr>
                <a:schemeClr val="tx1"/>
              </a:buClr>
              <a:buSzPct val="60000"/>
              <a:buFont typeface="Wingdings" charset="0"/>
              <a:defRPr sz="30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3pPr>
            <a:lvl4pPr marL="1477145" indent="-211021" defTabSz="892442">
              <a:spcBef>
                <a:spcPct val="20000"/>
              </a:spcBef>
              <a:buClr>
                <a:schemeClr val="tx1"/>
              </a:buClr>
              <a:buSzPct val="60000"/>
              <a:buFont typeface="Wingdings" charset="0"/>
              <a:defRPr sz="30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4pPr>
            <a:lvl5pPr marL="1899186" indent="-211021" defTabSz="892442">
              <a:spcBef>
                <a:spcPct val="20000"/>
              </a:spcBef>
              <a:buClr>
                <a:schemeClr val="tx1"/>
              </a:buClr>
              <a:buSzPct val="60000"/>
              <a:buFont typeface="Wingdings" charset="0"/>
              <a:defRPr sz="30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5pPr>
            <a:lvl6pPr marL="2321227" indent="-211021" defTabSz="892442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charset="0"/>
              <a:defRPr sz="30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6pPr>
            <a:lvl7pPr marL="2743269" indent="-211021" defTabSz="892442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charset="0"/>
              <a:defRPr sz="30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7pPr>
            <a:lvl8pPr marL="3165310" indent="-211021" defTabSz="892442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charset="0"/>
              <a:defRPr sz="30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8pPr>
            <a:lvl9pPr marL="3587351" indent="-211021" defTabSz="892442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charset="0"/>
              <a:defRPr sz="30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sz="1200">
                <a:latin typeface="Times New Roman" charset="0"/>
              </a:rPr>
              <a:t>The University of Adelaide, School of Computer Science</a:t>
            </a:r>
          </a:p>
        </p:txBody>
      </p:sp>
      <p:sp>
        <p:nvSpPr>
          <p:cNvPr id="107524" name="Date Placeholder 4"/>
          <p:cNvSpPr>
            <a:spLocks noGrp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92442">
              <a:spcBef>
                <a:spcPct val="20000"/>
              </a:spcBef>
              <a:buClr>
                <a:schemeClr val="tx1"/>
              </a:buClr>
              <a:buSzPct val="60000"/>
              <a:buFont typeface="Wingdings" charset="0"/>
              <a:defRPr sz="30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1pPr>
            <a:lvl2pPr marL="685817" indent="-263776" defTabSz="892442">
              <a:spcBef>
                <a:spcPct val="20000"/>
              </a:spcBef>
              <a:buClr>
                <a:schemeClr val="tx1"/>
              </a:buClr>
              <a:buSzPct val="60000"/>
              <a:buFont typeface="Wingdings" charset="0"/>
              <a:defRPr sz="30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2pPr>
            <a:lvl3pPr marL="1055103" indent="-211021" defTabSz="892442">
              <a:spcBef>
                <a:spcPct val="20000"/>
              </a:spcBef>
              <a:buClr>
                <a:schemeClr val="tx1"/>
              </a:buClr>
              <a:buSzPct val="60000"/>
              <a:buFont typeface="Wingdings" charset="0"/>
              <a:defRPr sz="30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3pPr>
            <a:lvl4pPr marL="1477145" indent="-211021" defTabSz="892442">
              <a:spcBef>
                <a:spcPct val="20000"/>
              </a:spcBef>
              <a:buClr>
                <a:schemeClr val="tx1"/>
              </a:buClr>
              <a:buSzPct val="60000"/>
              <a:buFont typeface="Wingdings" charset="0"/>
              <a:defRPr sz="30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4pPr>
            <a:lvl5pPr marL="1899186" indent="-211021" defTabSz="892442">
              <a:spcBef>
                <a:spcPct val="20000"/>
              </a:spcBef>
              <a:buClr>
                <a:schemeClr val="tx1"/>
              </a:buClr>
              <a:buSzPct val="60000"/>
              <a:buFont typeface="Wingdings" charset="0"/>
              <a:defRPr sz="30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5pPr>
            <a:lvl6pPr marL="2321227" indent="-211021" defTabSz="892442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charset="0"/>
              <a:defRPr sz="30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6pPr>
            <a:lvl7pPr marL="2743269" indent="-211021" defTabSz="892442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charset="0"/>
              <a:defRPr sz="30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7pPr>
            <a:lvl8pPr marL="3165310" indent="-211021" defTabSz="892442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charset="0"/>
              <a:defRPr sz="30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8pPr>
            <a:lvl9pPr marL="3587351" indent="-211021" defTabSz="892442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charset="0"/>
              <a:defRPr sz="30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88BC15CB-BAF2-C746-BC24-D38B48AF645B}" type="datetime3">
              <a:rPr lang="en-US" sz="1200">
                <a:latin typeface="Times New Roman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9 June 2017</a:t>
            </a:fld>
            <a:endParaRPr lang="en-US" sz="1200">
              <a:latin typeface="Times New Roman" charset="0"/>
            </a:endParaRPr>
          </a:p>
        </p:txBody>
      </p:sp>
      <p:sp>
        <p:nvSpPr>
          <p:cNvPr id="107525" name="Footer Placeholder 5"/>
          <p:cNvSpPr>
            <a:spLocks noGrp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92442">
              <a:spcBef>
                <a:spcPct val="20000"/>
              </a:spcBef>
              <a:buClr>
                <a:schemeClr val="tx1"/>
              </a:buClr>
              <a:buSzPct val="60000"/>
              <a:buFont typeface="Wingdings" charset="0"/>
              <a:defRPr sz="30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1pPr>
            <a:lvl2pPr marL="685817" indent="-263776" defTabSz="892442">
              <a:spcBef>
                <a:spcPct val="20000"/>
              </a:spcBef>
              <a:buClr>
                <a:schemeClr val="tx1"/>
              </a:buClr>
              <a:buSzPct val="60000"/>
              <a:buFont typeface="Wingdings" charset="0"/>
              <a:defRPr sz="30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2pPr>
            <a:lvl3pPr marL="1055103" indent="-211021" defTabSz="892442">
              <a:spcBef>
                <a:spcPct val="20000"/>
              </a:spcBef>
              <a:buClr>
                <a:schemeClr val="tx1"/>
              </a:buClr>
              <a:buSzPct val="60000"/>
              <a:buFont typeface="Wingdings" charset="0"/>
              <a:defRPr sz="30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3pPr>
            <a:lvl4pPr marL="1477145" indent="-211021" defTabSz="892442">
              <a:spcBef>
                <a:spcPct val="20000"/>
              </a:spcBef>
              <a:buClr>
                <a:schemeClr val="tx1"/>
              </a:buClr>
              <a:buSzPct val="60000"/>
              <a:buFont typeface="Wingdings" charset="0"/>
              <a:defRPr sz="30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4pPr>
            <a:lvl5pPr marL="1899186" indent="-211021" defTabSz="892442">
              <a:spcBef>
                <a:spcPct val="20000"/>
              </a:spcBef>
              <a:buClr>
                <a:schemeClr val="tx1"/>
              </a:buClr>
              <a:buSzPct val="60000"/>
              <a:buFont typeface="Wingdings" charset="0"/>
              <a:defRPr sz="30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5pPr>
            <a:lvl6pPr marL="2321227" indent="-211021" defTabSz="892442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charset="0"/>
              <a:defRPr sz="30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6pPr>
            <a:lvl7pPr marL="2743269" indent="-211021" defTabSz="892442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charset="0"/>
              <a:defRPr sz="30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7pPr>
            <a:lvl8pPr marL="3165310" indent="-211021" defTabSz="892442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charset="0"/>
              <a:defRPr sz="30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8pPr>
            <a:lvl9pPr marL="3587351" indent="-211021" defTabSz="892442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charset="0"/>
              <a:defRPr sz="30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sz="1200">
                <a:latin typeface="Times New Roman" charset="0"/>
              </a:rPr>
              <a:t>Chapter 2 — Instructions: Language of the Computer</a:t>
            </a:r>
          </a:p>
        </p:txBody>
      </p:sp>
      <p:sp>
        <p:nvSpPr>
          <p:cNvPr id="107526" name="Slide Number Placeholder 6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92442">
              <a:spcBef>
                <a:spcPct val="20000"/>
              </a:spcBef>
              <a:buClr>
                <a:schemeClr val="tx1"/>
              </a:buClr>
              <a:buSzPct val="60000"/>
              <a:buFont typeface="Wingdings" charset="0"/>
              <a:defRPr sz="30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1pPr>
            <a:lvl2pPr marL="685817" indent="-263776" defTabSz="892442">
              <a:spcBef>
                <a:spcPct val="20000"/>
              </a:spcBef>
              <a:buClr>
                <a:schemeClr val="tx1"/>
              </a:buClr>
              <a:buSzPct val="60000"/>
              <a:buFont typeface="Wingdings" charset="0"/>
              <a:defRPr sz="30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2pPr>
            <a:lvl3pPr marL="1055103" indent="-211021" defTabSz="892442">
              <a:spcBef>
                <a:spcPct val="20000"/>
              </a:spcBef>
              <a:buClr>
                <a:schemeClr val="tx1"/>
              </a:buClr>
              <a:buSzPct val="60000"/>
              <a:buFont typeface="Wingdings" charset="0"/>
              <a:defRPr sz="30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3pPr>
            <a:lvl4pPr marL="1477145" indent="-211021" defTabSz="892442">
              <a:spcBef>
                <a:spcPct val="20000"/>
              </a:spcBef>
              <a:buClr>
                <a:schemeClr val="tx1"/>
              </a:buClr>
              <a:buSzPct val="60000"/>
              <a:buFont typeface="Wingdings" charset="0"/>
              <a:defRPr sz="30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4pPr>
            <a:lvl5pPr marL="1899186" indent="-211021" defTabSz="892442">
              <a:spcBef>
                <a:spcPct val="20000"/>
              </a:spcBef>
              <a:buClr>
                <a:schemeClr val="tx1"/>
              </a:buClr>
              <a:buSzPct val="60000"/>
              <a:buFont typeface="Wingdings" charset="0"/>
              <a:defRPr sz="30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5pPr>
            <a:lvl6pPr marL="2321227" indent="-211021" defTabSz="892442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charset="0"/>
              <a:defRPr sz="30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6pPr>
            <a:lvl7pPr marL="2743269" indent="-211021" defTabSz="892442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charset="0"/>
              <a:defRPr sz="30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7pPr>
            <a:lvl8pPr marL="3165310" indent="-211021" defTabSz="892442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charset="0"/>
              <a:defRPr sz="30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8pPr>
            <a:lvl9pPr marL="3587351" indent="-211021" defTabSz="892442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charset="0"/>
              <a:defRPr sz="30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A6697C02-B6CE-4D49-916C-A9073055DB1A}" type="slidenum">
              <a:rPr lang="en-US" sz="1200">
                <a:latin typeface="Times New Roman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70</a:t>
            </a:fld>
            <a:endParaRPr lang="en-US" sz="1200">
              <a:latin typeface="Times New Roman" charset="0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7" name="Slide Image Placeholder 1"/>
          <p:cNvSpPr>
            <a:spLocks noGrp="1" noRot="1" noChangeAspect="1"/>
          </p:cNvSpPr>
          <p:nvPr>
            <p:ph type="sldImg"/>
          </p:nvPr>
        </p:nvSpPr>
        <p:spPr>
          <a:ln/>
        </p:spPr>
      </p:sp>
      <p:sp>
        <p:nvSpPr>
          <p:cNvPr id="111618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>
                <a:latin typeface="Times New Roman" charset="0"/>
              </a:rPr>
              <a:t>Please refer to the detailed slides on cache coherence and thread-safety in Chapter 4.</a:t>
            </a:r>
          </a:p>
          <a:p>
            <a:endParaRPr lang="en-US">
              <a:latin typeface="Times New Roman" charset="0"/>
            </a:endParaRPr>
          </a:p>
        </p:txBody>
      </p:sp>
      <p:sp>
        <p:nvSpPr>
          <p:cNvPr id="111619" name="Header Placeholder 3"/>
          <p:cNvSpPr>
            <a:spLocks noGrp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92442">
              <a:spcBef>
                <a:spcPct val="20000"/>
              </a:spcBef>
              <a:buClr>
                <a:schemeClr val="tx1"/>
              </a:buClr>
              <a:buSzPct val="60000"/>
              <a:buFont typeface="Wingdings" charset="0"/>
              <a:defRPr sz="30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1pPr>
            <a:lvl2pPr marL="685817" indent="-263776" defTabSz="892442">
              <a:spcBef>
                <a:spcPct val="20000"/>
              </a:spcBef>
              <a:buClr>
                <a:schemeClr val="tx1"/>
              </a:buClr>
              <a:buSzPct val="60000"/>
              <a:buFont typeface="Wingdings" charset="0"/>
              <a:defRPr sz="30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2pPr>
            <a:lvl3pPr marL="1055103" indent="-211021" defTabSz="892442">
              <a:spcBef>
                <a:spcPct val="20000"/>
              </a:spcBef>
              <a:buClr>
                <a:schemeClr val="tx1"/>
              </a:buClr>
              <a:buSzPct val="60000"/>
              <a:buFont typeface="Wingdings" charset="0"/>
              <a:defRPr sz="30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3pPr>
            <a:lvl4pPr marL="1477145" indent="-211021" defTabSz="892442">
              <a:spcBef>
                <a:spcPct val="20000"/>
              </a:spcBef>
              <a:buClr>
                <a:schemeClr val="tx1"/>
              </a:buClr>
              <a:buSzPct val="60000"/>
              <a:buFont typeface="Wingdings" charset="0"/>
              <a:defRPr sz="30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4pPr>
            <a:lvl5pPr marL="1899186" indent="-211021" defTabSz="892442">
              <a:spcBef>
                <a:spcPct val="20000"/>
              </a:spcBef>
              <a:buClr>
                <a:schemeClr val="tx1"/>
              </a:buClr>
              <a:buSzPct val="60000"/>
              <a:buFont typeface="Wingdings" charset="0"/>
              <a:defRPr sz="30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5pPr>
            <a:lvl6pPr marL="2321227" indent="-211021" defTabSz="892442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charset="0"/>
              <a:defRPr sz="30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6pPr>
            <a:lvl7pPr marL="2743269" indent="-211021" defTabSz="892442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charset="0"/>
              <a:defRPr sz="30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7pPr>
            <a:lvl8pPr marL="3165310" indent="-211021" defTabSz="892442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charset="0"/>
              <a:defRPr sz="30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8pPr>
            <a:lvl9pPr marL="3587351" indent="-211021" defTabSz="892442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charset="0"/>
              <a:defRPr sz="30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sz="1200">
                <a:latin typeface="Times New Roman" charset="0"/>
              </a:rPr>
              <a:t>The University of Adelaide, School of Computer Science</a:t>
            </a:r>
          </a:p>
        </p:txBody>
      </p:sp>
      <p:sp>
        <p:nvSpPr>
          <p:cNvPr id="111620" name="Date Placeholder 4"/>
          <p:cNvSpPr>
            <a:spLocks noGrp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92442">
              <a:spcBef>
                <a:spcPct val="20000"/>
              </a:spcBef>
              <a:buClr>
                <a:schemeClr val="tx1"/>
              </a:buClr>
              <a:buSzPct val="60000"/>
              <a:buFont typeface="Wingdings" charset="0"/>
              <a:defRPr sz="30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1pPr>
            <a:lvl2pPr marL="685817" indent="-263776" defTabSz="892442">
              <a:spcBef>
                <a:spcPct val="20000"/>
              </a:spcBef>
              <a:buClr>
                <a:schemeClr val="tx1"/>
              </a:buClr>
              <a:buSzPct val="60000"/>
              <a:buFont typeface="Wingdings" charset="0"/>
              <a:defRPr sz="30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2pPr>
            <a:lvl3pPr marL="1055103" indent="-211021" defTabSz="892442">
              <a:spcBef>
                <a:spcPct val="20000"/>
              </a:spcBef>
              <a:buClr>
                <a:schemeClr val="tx1"/>
              </a:buClr>
              <a:buSzPct val="60000"/>
              <a:buFont typeface="Wingdings" charset="0"/>
              <a:defRPr sz="30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3pPr>
            <a:lvl4pPr marL="1477145" indent="-211021" defTabSz="892442">
              <a:spcBef>
                <a:spcPct val="20000"/>
              </a:spcBef>
              <a:buClr>
                <a:schemeClr val="tx1"/>
              </a:buClr>
              <a:buSzPct val="60000"/>
              <a:buFont typeface="Wingdings" charset="0"/>
              <a:defRPr sz="30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4pPr>
            <a:lvl5pPr marL="1899186" indent="-211021" defTabSz="892442">
              <a:spcBef>
                <a:spcPct val="20000"/>
              </a:spcBef>
              <a:buClr>
                <a:schemeClr val="tx1"/>
              </a:buClr>
              <a:buSzPct val="60000"/>
              <a:buFont typeface="Wingdings" charset="0"/>
              <a:defRPr sz="30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5pPr>
            <a:lvl6pPr marL="2321227" indent="-211021" defTabSz="892442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charset="0"/>
              <a:defRPr sz="30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6pPr>
            <a:lvl7pPr marL="2743269" indent="-211021" defTabSz="892442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charset="0"/>
              <a:defRPr sz="30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7pPr>
            <a:lvl8pPr marL="3165310" indent="-211021" defTabSz="892442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charset="0"/>
              <a:defRPr sz="30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8pPr>
            <a:lvl9pPr marL="3587351" indent="-211021" defTabSz="892442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charset="0"/>
              <a:defRPr sz="30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5A64A88F-25F0-DE42-8E1A-A841F0592854}" type="datetime3">
              <a:rPr lang="en-US" sz="1200">
                <a:latin typeface="Times New Roman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9 June 2017</a:t>
            </a:fld>
            <a:endParaRPr lang="en-US" sz="1200">
              <a:latin typeface="Times New Roman" charset="0"/>
            </a:endParaRPr>
          </a:p>
        </p:txBody>
      </p:sp>
      <p:sp>
        <p:nvSpPr>
          <p:cNvPr id="111621" name="Footer Placeholder 5"/>
          <p:cNvSpPr>
            <a:spLocks noGrp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92442">
              <a:spcBef>
                <a:spcPct val="20000"/>
              </a:spcBef>
              <a:buClr>
                <a:schemeClr val="tx1"/>
              </a:buClr>
              <a:buSzPct val="60000"/>
              <a:buFont typeface="Wingdings" charset="0"/>
              <a:defRPr sz="30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1pPr>
            <a:lvl2pPr marL="685817" indent="-263776" defTabSz="892442">
              <a:spcBef>
                <a:spcPct val="20000"/>
              </a:spcBef>
              <a:buClr>
                <a:schemeClr val="tx1"/>
              </a:buClr>
              <a:buSzPct val="60000"/>
              <a:buFont typeface="Wingdings" charset="0"/>
              <a:defRPr sz="30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2pPr>
            <a:lvl3pPr marL="1055103" indent="-211021" defTabSz="892442">
              <a:spcBef>
                <a:spcPct val="20000"/>
              </a:spcBef>
              <a:buClr>
                <a:schemeClr val="tx1"/>
              </a:buClr>
              <a:buSzPct val="60000"/>
              <a:buFont typeface="Wingdings" charset="0"/>
              <a:defRPr sz="30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3pPr>
            <a:lvl4pPr marL="1477145" indent="-211021" defTabSz="892442">
              <a:spcBef>
                <a:spcPct val="20000"/>
              </a:spcBef>
              <a:buClr>
                <a:schemeClr val="tx1"/>
              </a:buClr>
              <a:buSzPct val="60000"/>
              <a:buFont typeface="Wingdings" charset="0"/>
              <a:defRPr sz="30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4pPr>
            <a:lvl5pPr marL="1899186" indent="-211021" defTabSz="892442">
              <a:spcBef>
                <a:spcPct val="20000"/>
              </a:spcBef>
              <a:buClr>
                <a:schemeClr val="tx1"/>
              </a:buClr>
              <a:buSzPct val="60000"/>
              <a:buFont typeface="Wingdings" charset="0"/>
              <a:defRPr sz="30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5pPr>
            <a:lvl6pPr marL="2321227" indent="-211021" defTabSz="892442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charset="0"/>
              <a:defRPr sz="30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6pPr>
            <a:lvl7pPr marL="2743269" indent="-211021" defTabSz="892442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charset="0"/>
              <a:defRPr sz="30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7pPr>
            <a:lvl8pPr marL="3165310" indent="-211021" defTabSz="892442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charset="0"/>
              <a:defRPr sz="30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8pPr>
            <a:lvl9pPr marL="3587351" indent="-211021" defTabSz="892442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charset="0"/>
              <a:defRPr sz="30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sz="1200">
                <a:latin typeface="Times New Roman" charset="0"/>
              </a:rPr>
              <a:t>Chapter 2 — Instructions: Language of the Computer</a:t>
            </a:r>
          </a:p>
        </p:txBody>
      </p:sp>
      <p:sp>
        <p:nvSpPr>
          <p:cNvPr id="111622" name="Slide Number Placeholder 6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92442">
              <a:spcBef>
                <a:spcPct val="20000"/>
              </a:spcBef>
              <a:buClr>
                <a:schemeClr val="tx1"/>
              </a:buClr>
              <a:buSzPct val="60000"/>
              <a:buFont typeface="Wingdings" charset="0"/>
              <a:defRPr sz="30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1pPr>
            <a:lvl2pPr marL="685817" indent="-263776" defTabSz="892442">
              <a:spcBef>
                <a:spcPct val="20000"/>
              </a:spcBef>
              <a:buClr>
                <a:schemeClr val="tx1"/>
              </a:buClr>
              <a:buSzPct val="60000"/>
              <a:buFont typeface="Wingdings" charset="0"/>
              <a:defRPr sz="30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2pPr>
            <a:lvl3pPr marL="1055103" indent="-211021" defTabSz="892442">
              <a:spcBef>
                <a:spcPct val="20000"/>
              </a:spcBef>
              <a:buClr>
                <a:schemeClr val="tx1"/>
              </a:buClr>
              <a:buSzPct val="60000"/>
              <a:buFont typeface="Wingdings" charset="0"/>
              <a:defRPr sz="30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3pPr>
            <a:lvl4pPr marL="1477145" indent="-211021" defTabSz="892442">
              <a:spcBef>
                <a:spcPct val="20000"/>
              </a:spcBef>
              <a:buClr>
                <a:schemeClr val="tx1"/>
              </a:buClr>
              <a:buSzPct val="60000"/>
              <a:buFont typeface="Wingdings" charset="0"/>
              <a:defRPr sz="30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4pPr>
            <a:lvl5pPr marL="1899186" indent="-211021" defTabSz="892442">
              <a:spcBef>
                <a:spcPct val="20000"/>
              </a:spcBef>
              <a:buClr>
                <a:schemeClr val="tx1"/>
              </a:buClr>
              <a:buSzPct val="60000"/>
              <a:buFont typeface="Wingdings" charset="0"/>
              <a:defRPr sz="30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5pPr>
            <a:lvl6pPr marL="2321227" indent="-211021" defTabSz="892442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charset="0"/>
              <a:defRPr sz="30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6pPr>
            <a:lvl7pPr marL="2743269" indent="-211021" defTabSz="892442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charset="0"/>
              <a:defRPr sz="30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7pPr>
            <a:lvl8pPr marL="3165310" indent="-211021" defTabSz="892442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charset="0"/>
              <a:defRPr sz="30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8pPr>
            <a:lvl9pPr marL="3587351" indent="-211021" defTabSz="892442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charset="0"/>
              <a:defRPr sz="30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D656E572-9E0B-0A4E-813D-3717F3AA8BC3}" type="slidenum">
              <a:rPr lang="en-US" sz="1200">
                <a:latin typeface="Times New Roman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78</a:t>
            </a:fld>
            <a:endParaRPr lang="en-US" sz="1200">
              <a:latin typeface="Times New Roman" charset="0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latin typeface="Arial" charset="0"/>
              </a:rPr>
              <a:t>Shared-memory</a:t>
            </a:r>
          </a:p>
          <a:p>
            <a:pPr lvl="1"/>
            <a:r>
              <a:rPr lang="en-US" dirty="0">
                <a:latin typeface="Arial" charset="0"/>
              </a:rPr>
              <a:t>The cores can share access to the computer</a:t>
            </a:r>
            <a:r>
              <a:rPr lang="ja-JP" altLang="en-US" dirty="0">
                <a:latin typeface="Arial" charset="0"/>
              </a:rPr>
              <a:t>’</a:t>
            </a:r>
            <a:r>
              <a:rPr lang="en-US" dirty="0">
                <a:latin typeface="Arial" charset="0"/>
              </a:rPr>
              <a:t>s memory.</a:t>
            </a:r>
          </a:p>
          <a:p>
            <a:pPr lvl="1"/>
            <a:r>
              <a:rPr lang="en-US" dirty="0">
                <a:latin typeface="Arial" charset="0"/>
              </a:rPr>
              <a:t>Coordinate the cores by having them examine and update shared memory locations.</a:t>
            </a:r>
          </a:p>
          <a:p>
            <a:pPr lvl="1"/>
            <a:r>
              <a:rPr lang="en-US" dirty="0">
                <a:latin typeface="Arial" charset="0"/>
              </a:rPr>
              <a:t>Example: A single system with multiple CPU cores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3CAA69C-D349-EE45-B066-F759E7403BE7}" type="slidenum">
              <a:rPr lang="en-US" smtClean="0"/>
              <a:t>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323675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3CAA69C-D349-EE45-B066-F759E7403BE7}" type="slidenum">
              <a:rPr lang="en-US" smtClean="0"/>
              <a:t>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603976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3CAA69C-D349-EE45-B066-F759E7403BE7}" type="slidenum">
              <a:rPr lang="en-US" smtClean="0"/>
              <a:t>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67275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69" name="Slide Image Placeholder 1"/>
          <p:cNvSpPr>
            <a:spLocks noGrp="1" noRot="1" noChangeAspect="1"/>
          </p:cNvSpPr>
          <p:nvPr>
            <p:ph type="sldImg"/>
          </p:nvPr>
        </p:nvSpPr>
        <p:spPr>
          <a:ln/>
        </p:spPr>
      </p:sp>
      <p:sp>
        <p:nvSpPr>
          <p:cNvPr id="109570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>
                <a:latin typeface="Times New Roman" charset="0"/>
              </a:rPr>
              <a:t>Please refer to the detailed slides on cache coherence and thread-safety in Chapter 4.</a:t>
            </a:r>
          </a:p>
          <a:p>
            <a:endParaRPr lang="en-US">
              <a:latin typeface="Times New Roman" charset="0"/>
            </a:endParaRPr>
          </a:p>
        </p:txBody>
      </p:sp>
      <p:sp>
        <p:nvSpPr>
          <p:cNvPr id="109571" name="Header Placeholder 3"/>
          <p:cNvSpPr>
            <a:spLocks noGrp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92442">
              <a:spcBef>
                <a:spcPct val="20000"/>
              </a:spcBef>
              <a:buClr>
                <a:schemeClr val="tx1"/>
              </a:buClr>
              <a:buSzPct val="60000"/>
              <a:buFont typeface="Wingdings" charset="0"/>
              <a:defRPr sz="30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1pPr>
            <a:lvl2pPr marL="685817" indent="-263776" defTabSz="892442">
              <a:spcBef>
                <a:spcPct val="20000"/>
              </a:spcBef>
              <a:buClr>
                <a:schemeClr val="tx1"/>
              </a:buClr>
              <a:buSzPct val="60000"/>
              <a:buFont typeface="Wingdings" charset="0"/>
              <a:defRPr sz="30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2pPr>
            <a:lvl3pPr marL="1055103" indent="-211021" defTabSz="892442">
              <a:spcBef>
                <a:spcPct val="20000"/>
              </a:spcBef>
              <a:buClr>
                <a:schemeClr val="tx1"/>
              </a:buClr>
              <a:buSzPct val="60000"/>
              <a:buFont typeface="Wingdings" charset="0"/>
              <a:defRPr sz="30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3pPr>
            <a:lvl4pPr marL="1477145" indent="-211021" defTabSz="892442">
              <a:spcBef>
                <a:spcPct val="20000"/>
              </a:spcBef>
              <a:buClr>
                <a:schemeClr val="tx1"/>
              </a:buClr>
              <a:buSzPct val="60000"/>
              <a:buFont typeface="Wingdings" charset="0"/>
              <a:defRPr sz="30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4pPr>
            <a:lvl5pPr marL="1899186" indent="-211021" defTabSz="892442">
              <a:spcBef>
                <a:spcPct val="20000"/>
              </a:spcBef>
              <a:buClr>
                <a:schemeClr val="tx1"/>
              </a:buClr>
              <a:buSzPct val="60000"/>
              <a:buFont typeface="Wingdings" charset="0"/>
              <a:defRPr sz="30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5pPr>
            <a:lvl6pPr marL="2321227" indent="-211021" defTabSz="892442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charset="0"/>
              <a:defRPr sz="30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6pPr>
            <a:lvl7pPr marL="2743269" indent="-211021" defTabSz="892442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charset="0"/>
              <a:defRPr sz="30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7pPr>
            <a:lvl8pPr marL="3165310" indent="-211021" defTabSz="892442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charset="0"/>
              <a:defRPr sz="30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8pPr>
            <a:lvl9pPr marL="3587351" indent="-211021" defTabSz="892442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charset="0"/>
              <a:defRPr sz="30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sz="1200">
                <a:latin typeface="Times New Roman" charset="0"/>
              </a:rPr>
              <a:t>The University of Adelaide, School of Computer Science</a:t>
            </a:r>
          </a:p>
        </p:txBody>
      </p:sp>
      <p:sp>
        <p:nvSpPr>
          <p:cNvPr id="109572" name="Date Placeholder 4"/>
          <p:cNvSpPr>
            <a:spLocks noGrp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92442">
              <a:spcBef>
                <a:spcPct val="20000"/>
              </a:spcBef>
              <a:buClr>
                <a:schemeClr val="tx1"/>
              </a:buClr>
              <a:buSzPct val="60000"/>
              <a:buFont typeface="Wingdings" charset="0"/>
              <a:defRPr sz="30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1pPr>
            <a:lvl2pPr marL="685817" indent="-263776" defTabSz="892442">
              <a:spcBef>
                <a:spcPct val="20000"/>
              </a:spcBef>
              <a:buClr>
                <a:schemeClr val="tx1"/>
              </a:buClr>
              <a:buSzPct val="60000"/>
              <a:buFont typeface="Wingdings" charset="0"/>
              <a:defRPr sz="30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2pPr>
            <a:lvl3pPr marL="1055103" indent="-211021" defTabSz="892442">
              <a:spcBef>
                <a:spcPct val="20000"/>
              </a:spcBef>
              <a:buClr>
                <a:schemeClr val="tx1"/>
              </a:buClr>
              <a:buSzPct val="60000"/>
              <a:buFont typeface="Wingdings" charset="0"/>
              <a:defRPr sz="30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3pPr>
            <a:lvl4pPr marL="1477145" indent="-211021" defTabSz="892442">
              <a:spcBef>
                <a:spcPct val="20000"/>
              </a:spcBef>
              <a:buClr>
                <a:schemeClr val="tx1"/>
              </a:buClr>
              <a:buSzPct val="60000"/>
              <a:buFont typeface="Wingdings" charset="0"/>
              <a:defRPr sz="30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4pPr>
            <a:lvl5pPr marL="1899186" indent="-211021" defTabSz="892442">
              <a:spcBef>
                <a:spcPct val="20000"/>
              </a:spcBef>
              <a:buClr>
                <a:schemeClr val="tx1"/>
              </a:buClr>
              <a:buSzPct val="60000"/>
              <a:buFont typeface="Wingdings" charset="0"/>
              <a:defRPr sz="30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5pPr>
            <a:lvl6pPr marL="2321227" indent="-211021" defTabSz="892442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charset="0"/>
              <a:defRPr sz="30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6pPr>
            <a:lvl7pPr marL="2743269" indent="-211021" defTabSz="892442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charset="0"/>
              <a:defRPr sz="30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7pPr>
            <a:lvl8pPr marL="3165310" indent="-211021" defTabSz="892442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charset="0"/>
              <a:defRPr sz="30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8pPr>
            <a:lvl9pPr marL="3587351" indent="-211021" defTabSz="892442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charset="0"/>
              <a:defRPr sz="30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A4415D54-8C13-BB46-8529-313641D4013A}" type="datetime3">
              <a:rPr lang="en-US" sz="1200">
                <a:latin typeface="Times New Roman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9 June 2017</a:t>
            </a:fld>
            <a:endParaRPr lang="en-US" sz="1200">
              <a:latin typeface="Times New Roman" charset="0"/>
            </a:endParaRPr>
          </a:p>
        </p:txBody>
      </p:sp>
      <p:sp>
        <p:nvSpPr>
          <p:cNvPr id="109573" name="Footer Placeholder 5"/>
          <p:cNvSpPr>
            <a:spLocks noGrp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92442">
              <a:spcBef>
                <a:spcPct val="20000"/>
              </a:spcBef>
              <a:buClr>
                <a:schemeClr val="tx1"/>
              </a:buClr>
              <a:buSzPct val="60000"/>
              <a:buFont typeface="Wingdings" charset="0"/>
              <a:defRPr sz="30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1pPr>
            <a:lvl2pPr marL="685817" indent="-263776" defTabSz="892442">
              <a:spcBef>
                <a:spcPct val="20000"/>
              </a:spcBef>
              <a:buClr>
                <a:schemeClr val="tx1"/>
              </a:buClr>
              <a:buSzPct val="60000"/>
              <a:buFont typeface="Wingdings" charset="0"/>
              <a:defRPr sz="30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2pPr>
            <a:lvl3pPr marL="1055103" indent="-211021" defTabSz="892442">
              <a:spcBef>
                <a:spcPct val="20000"/>
              </a:spcBef>
              <a:buClr>
                <a:schemeClr val="tx1"/>
              </a:buClr>
              <a:buSzPct val="60000"/>
              <a:buFont typeface="Wingdings" charset="0"/>
              <a:defRPr sz="30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3pPr>
            <a:lvl4pPr marL="1477145" indent="-211021" defTabSz="892442">
              <a:spcBef>
                <a:spcPct val="20000"/>
              </a:spcBef>
              <a:buClr>
                <a:schemeClr val="tx1"/>
              </a:buClr>
              <a:buSzPct val="60000"/>
              <a:buFont typeface="Wingdings" charset="0"/>
              <a:defRPr sz="30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4pPr>
            <a:lvl5pPr marL="1899186" indent="-211021" defTabSz="892442">
              <a:spcBef>
                <a:spcPct val="20000"/>
              </a:spcBef>
              <a:buClr>
                <a:schemeClr val="tx1"/>
              </a:buClr>
              <a:buSzPct val="60000"/>
              <a:buFont typeface="Wingdings" charset="0"/>
              <a:defRPr sz="30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5pPr>
            <a:lvl6pPr marL="2321227" indent="-211021" defTabSz="892442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charset="0"/>
              <a:defRPr sz="30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6pPr>
            <a:lvl7pPr marL="2743269" indent="-211021" defTabSz="892442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charset="0"/>
              <a:defRPr sz="30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7pPr>
            <a:lvl8pPr marL="3165310" indent="-211021" defTabSz="892442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charset="0"/>
              <a:defRPr sz="30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8pPr>
            <a:lvl9pPr marL="3587351" indent="-211021" defTabSz="892442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charset="0"/>
              <a:defRPr sz="30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sz="1200">
                <a:latin typeface="Times New Roman" charset="0"/>
              </a:rPr>
              <a:t>Chapter 2 — Instructions: Language of the Computer</a:t>
            </a:r>
          </a:p>
        </p:txBody>
      </p:sp>
      <p:sp>
        <p:nvSpPr>
          <p:cNvPr id="109574" name="Slide Number Placeholder 6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92442">
              <a:spcBef>
                <a:spcPct val="20000"/>
              </a:spcBef>
              <a:buClr>
                <a:schemeClr val="tx1"/>
              </a:buClr>
              <a:buSzPct val="60000"/>
              <a:buFont typeface="Wingdings" charset="0"/>
              <a:defRPr sz="30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1pPr>
            <a:lvl2pPr marL="685817" indent="-263776" defTabSz="892442">
              <a:spcBef>
                <a:spcPct val="20000"/>
              </a:spcBef>
              <a:buClr>
                <a:schemeClr val="tx1"/>
              </a:buClr>
              <a:buSzPct val="60000"/>
              <a:buFont typeface="Wingdings" charset="0"/>
              <a:defRPr sz="30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2pPr>
            <a:lvl3pPr marL="1055103" indent="-211021" defTabSz="892442">
              <a:spcBef>
                <a:spcPct val="20000"/>
              </a:spcBef>
              <a:buClr>
                <a:schemeClr val="tx1"/>
              </a:buClr>
              <a:buSzPct val="60000"/>
              <a:buFont typeface="Wingdings" charset="0"/>
              <a:defRPr sz="30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3pPr>
            <a:lvl4pPr marL="1477145" indent="-211021" defTabSz="892442">
              <a:spcBef>
                <a:spcPct val="20000"/>
              </a:spcBef>
              <a:buClr>
                <a:schemeClr val="tx1"/>
              </a:buClr>
              <a:buSzPct val="60000"/>
              <a:buFont typeface="Wingdings" charset="0"/>
              <a:defRPr sz="30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4pPr>
            <a:lvl5pPr marL="1899186" indent="-211021" defTabSz="892442">
              <a:spcBef>
                <a:spcPct val="20000"/>
              </a:spcBef>
              <a:buClr>
                <a:schemeClr val="tx1"/>
              </a:buClr>
              <a:buSzPct val="60000"/>
              <a:buFont typeface="Wingdings" charset="0"/>
              <a:defRPr sz="30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5pPr>
            <a:lvl6pPr marL="2321227" indent="-211021" defTabSz="892442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charset="0"/>
              <a:defRPr sz="30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6pPr>
            <a:lvl7pPr marL="2743269" indent="-211021" defTabSz="892442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charset="0"/>
              <a:defRPr sz="30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7pPr>
            <a:lvl8pPr marL="3165310" indent="-211021" defTabSz="892442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charset="0"/>
              <a:defRPr sz="30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8pPr>
            <a:lvl9pPr marL="3587351" indent="-211021" defTabSz="892442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charset="0"/>
              <a:defRPr sz="30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4B4C9FB2-21F0-B543-851B-2F430B95F7D4}" type="slidenum">
              <a:rPr lang="en-US" sz="1200">
                <a:latin typeface="Times New Roman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99</a:t>
            </a:fld>
            <a:endParaRPr lang="en-US" sz="1200">
              <a:latin typeface="Times New Roman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C32EC4-AE81-4048-B3F5-41A9FF47F051}" type="datetime1">
              <a:rPr lang="en-US" smtClean="0"/>
              <a:t>6/9/2017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 2010, Elsevier Inc. All rights Reserved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6BE44D-6AB7-7747-A5B3-8E5957F8FC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30698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627E7C-98BB-9E4E-81F4-B56F02447EB2}" type="datetime1">
              <a:rPr lang="en-US" smtClean="0"/>
              <a:t>6/9/2017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 2010, Elsevier Inc. All rights Reserved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6BE44D-6AB7-7747-A5B3-8E5957F8FC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1374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AD9622-64D2-C744-A943-A108B9016C26}" type="datetime1">
              <a:rPr lang="en-US" smtClean="0"/>
              <a:t>6/9/2017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 2010, Elsevier Inc. All rights Reserved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6BE44D-6AB7-7747-A5B3-8E5957F8FC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83400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F12D6-0768-3348-8634-C9392F578217}" type="datetime1">
              <a:rPr lang="en-US" smtClean="0"/>
              <a:t>6/9/2017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 2010, Elsevier Inc. All rights Reserved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6BE44D-6AB7-7747-A5B3-8E5957F8FC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10295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A2FE12-F474-D34C-8EDC-5088CFDBD482}" type="datetime1">
              <a:rPr lang="en-US" smtClean="0"/>
              <a:t>6/9/2017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 2010, Elsevier Inc. All rights Reserved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6BE44D-6AB7-7747-A5B3-8E5957F8FC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97694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59D897-3379-324B-960E-125ADB051387}" type="datetime1">
              <a:rPr lang="en-US" smtClean="0"/>
              <a:t>6/9/2017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 2010, Elsevier Inc. All rights Reserved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6BE44D-6AB7-7747-A5B3-8E5957F8FC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29492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AB6A28-CD5C-2343-BF2B-1BAFA46FBEF3}" type="datetime1">
              <a:rPr lang="en-US" smtClean="0"/>
              <a:t>6/9/2017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 2010, Elsevier Inc. All rights Reserved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6BE44D-6AB7-7747-A5B3-8E5957F8FC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24003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60D274-D1FB-AD4E-AEE2-FC6E94487A2E}" type="datetime1">
              <a:rPr lang="en-US" smtClean="0"/>
              <a:t>6/9/2017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 2010, Elsevier Inc. All rights Reserved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6BE44D-6AB7-7747-A5B3-8E5957F8FC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61541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082AA2-C724-4E42-9C43-B0FD5C07B491}" type="datetime1">
              <a:rPr lang="en-US" smtClean="0"/>
              <a:t>6/9/2017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 2010, Elsevier Inc. All rights Reserved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6BE44D-6AB7-7747-A5B3-8E5957F8FC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77115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B2AE66-D490-454F-8303-52346253B1BD}" type="datetime1">
              <a:rPr lang="en-US" smtClean="0"/>
              <a:t>6/9/2017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 2010, Elsevier Inc. All rights Reserved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6BE44D-6AB7-7747-A5B3-8E5957F8FC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38038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319771-6013-A549-A9CF-F11AF5DBAC90}" type="datetime1">
              <a:rPr lang="en-US" smtClean="0"/>
              <a:t>6/9/2017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 2010, Elsevier Inc. All rights Reserved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6BE44D-6AB7-7747-A5B3-8E5957F8FC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59434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45D37D-61F0-B045-9259-A3FC2E571505}" type="datetime1">
              <a:rPr lang="en-US" smtClean="0"/>
              <a:t>6/9/2017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Copyright © 2010, Elsevier Inc. All rights Reserved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36BE44D-6AB7-7747-A5B3-8E5957F8FC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05074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://booksite.elsevier.com/9780123742605/" TargetMode="Externa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wmf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w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6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6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6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6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6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6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6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6.xml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6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jpeg"/><Relationship Id="rId1" Type="http://schemas.openxmlformats.org/officeDocument/2006/relationships/slideLayout" Target="../slideLayouts/slideLayout3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362241"/>
            <a:ext cx="7772400" cy="1470025"/>
          </a:xfrm>
        </p:spPr>
        <p:txBody>
          <a:bodyPr/>
          <a:lstStyle/>
          <a:p>
            <a:r>
              <a:rPr lang="en-US" dirty="0"/>
              <a:t>Introduction to Parallel Programming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118016"/>
            <a:ext cx="6400800" cy="1752600"/>
          </a:xfrm>
        </p:spPr>
        <p:txBody>
          <a:bodyPr/>
          <a:lstStyle/>
          <a:p>
            <a:r>
              <a:rPr lang="en-US" dirty="0"/>
              <a:t>Center for Institutional Research Computing</a:t>
            </a:r>
          </a:p>
          <a:p>
            <a:endParaRPr lang="en-US" dirty="0"/>
          </a:p>
        </p:txBody>
      </p:sp>
      <p:pic>
        <p:nvPicPr>
          <p:cNvPr id="4" name="Picture 3" descr="9780123742605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444836" y="3999187"/>
            <a:ext cx="1853527" cy="2286016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5" name="TextBox 4"/>
          <p:cNvSpPr txBox="1"/>
          <p:nvPr/>
        </p:nvSpPr>
        <p:spPr>
          <a:xfrm>
            <a:off x="2681073" y="4532568"/>
            <a:ext cx="556122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Slides for the book "An introduction to Parallel Programming", by Peter Pacheco (available from the publisher website):                  </a:t>
            </a:r>
            <a:r>
              <a:rPr lang="en-US" i="1" u="sng" dirty="0">
                <a:hlinkClick r:id="rId3"/>
              </a:rPr>
              <a:t> http://booksite.elsevier.com/9780123742605/ </a:t>
            </a:r>
            <a:endParaRPr lang="en-US" i="1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 2010, Elsevier Inc. All rights Reserved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6BE44D-6AB7-7747-A5B3-8E5957F8FC9E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20903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rial" charset="0"/>
              </a:rPr>
              <a:t>Serial hardware and software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charset="0"/>
              <a:defRPr sz="32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charset="0"/>
              <a:defRPr sz="32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charset="0"/>
              <a:defRPr sz="32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charset="0"/>
              <a:defRPr sz="32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charset="0"/>
              <a:defRPr sz="32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charset="0"/>
              <a:defRPr sz="32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charset="0"/>
              <a:defRPr sz="32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charset="0"/>
              <a:defRPr sz="32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charset="0"/>
              <a:defRPr sz="32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sz="1200">
                <a:latin typeface="Arial" charset="0"/>
              </a:rPr>
              <a:t>Copyright © 2010, Elsevier Inc. All rights Reserved</a:t>
            </a:r>
          </a:p>
        </p:txBody>
      </p:sp>
      <p:pic>
        <p:nvPicPr>
          <p:cNvPr id="22531" name="Picture 8" descr="C:\Documents and Settings\liszka\Local Settings\Temporary Internet Files\Content.IE5\1G3WK4XC\MC900431543[1]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8075" y="2270125"/>
            <a:ext cx="3097213" cy="2528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2532" name="Picture 2" descr="C:\Documents and Settings\liszka\Local Settings\Temporary Internet Files\Content.IE5\Q7HGDQRM\MC900024275[1].wmf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45150" y="1693863"/>
            <a:ext cx="1947863" cy="1155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2533" name="Picture 11" descr="C:\Documents and Settings\liszka\Local Settings\Temporary Internet Files\Content.IE5\5W39ONER\MC900439808[1]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425461">
            <a:off x="4492625" y="1909763"/>
            <a:ext cx="1371600" cy="137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" name="Rectangle 15"/>
          <p:cNvSpPr/>
          <p:nvPr/>
        </p:nvSpPr>
        <p:spPr>
          <a:xfrm>
            <a:off x="4708525" y="1549400"/>
            <a:ext cx="965200" cy="5238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None/>
              <a:defRPr/>
            </a:pPr>
            <a:r>
              <a:rPr lang="en-US" sz="2800" kern="0" dirty="0">
                <a:latin typeface="Arial"/>
                <a:ea typeface="+mn-ea"/>
              </a:rPr>
              <a:t>input</a:t>
            </a:r>
            <a:endParaRPr lang="en-US" dirty="0">
              <a:latin typeface="Arial Black" pitchFamily="34" charset="0"/>
              <a:ea typeface="+mn-ea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1036638" y="4933950"/>
            <a:ext cx="1184275" cy="5238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None/>
              <a:defRPr/>
            </a:pPr>
            <a:r>
              <a:rPr lang="en-US" sz="2800" kern="0" dirty="0">
                <a:latin typeface="Arial"/>
                <a:ea typeface="+mn-ea"/>
              </a:rPr>
              <a:t>output</a:t>
            </a:r>
            <a:endParaRPr lang="en-US" dirty="0">
              <a:latin typeface="Arial Black" pitchFamily="34" charset="0"/>
              <a:ea typeface="+mn-ea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6653213" y="1189038"/>
            <a:ext cx="1706562" cy="5238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None/>
              <a:defRPr/>
            </a:pPr>
            <a:r>
              <a:rPr lang="en-US" sz="2800" kern="0" dirty="0">
                <a:latin typeface="Arial"/>
                <a:ea typeface="+mn-ea"/>
              </a:rPr>
              <a:t>programs</a:t>
            </a:r>
            <a:endParaRPr lang="en-US" dirty="0">
              <a:latin typeface="Arial Black" pitchFamily="34" charset="0"/>
              <a:ea typeface="+mn-ea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4708525" y="4141788"/>
            <a:ext cx="3500438" cy="103981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None/>
              <a:defRPr/>
            </a:pPr>
            <a:r>
              <a:rPr lang="en-US" sz="2800" b="1" kern="0" dirty="0">
                <a:latin typeface="Arial"/>
                <a:ea typeface="+mn-ea"/>
              </a:rPr>
              <a:t>Computer runs one</a:t>
            </a:r>
          </a:p>
          <a:p>
            <a:pPr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None/>
              <a:defRPr/>
            </a:pPr>
            <a:r>
              <a:rPr lang="en-US" sz="2800" b="1" kern="0" dirty="0">
                <a:latin typeface="Arial"/>
                <a:ea typeface="+mn-ea"/>
              </a:rPr>
              <a:t>program at a time.</a:t>
            </a:r>
            <a:endParaRPr lang="en-US" b="1" dirty="0">
              <a:latin typeface="Arial Black" pitchFamily="34" charset="0"/>
              <a:ea typeface="+mn-ea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6BE44D-6AB7-7747-A5B3-8E5957F8FC9E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1019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Title 1"/>
          <p:cNvSpPr>
            <a:spLocks noGrp="1"/>
          </p:cNvSpPr>
          <p:nvPr>
            <p:ph type="title"/>
          </p:nvPr>
        </p:nvSpPr>
        <p:spPr>
          <a:xfrm>
            <a:off x="611188" y="0"/>
            <a:ext cx="8281987" cy="1323975"/>
          </a:xfrm>
        </p:spPr>
        <p:txBody>
          <a:bodyPr>
            <a:normAutofit fontScale="90000"/>
          </a:bodyPr>
          <a:lstStyle/>
          <a:p>
            <a:r>
              <a:rPr lang="en-US">
                <a:latin typeface="Arial" charset="0"/>
              </a:rPr>
              <a:t>Why we need to write parallel programs</a:t>
            </a:r>
          </a:p>
        </p:txBody>
      </p:sp>
      <p:sp>
        <p:nvSpPr>
          <p:cNvPr id="33794" name="Content Placeholder 2"/>
          <p:cNvSpPr>
            <a:spLocks noGrp="1"/>
          </p:cNvSpPr>
          <p:nvPr>
            <p:ph idx="1"/>
          </p:nvPr>
        </p:nvSpPr>
        <p:spPr>
          <a:xfrm>
            <a:off x="684213" y="1700213"/>
            <a:ext cx="8270875" cy="4537075"/>
          </a:xfrm>
        </p:spPr>
        <p:txBody>
          <a:bodyPr/>
          <a:lstStyle/>
          <a:p>
            <a:r>
              <a:rPr lang="en-US">
                <a:latin typeface="Arial" charset="0"/>
              </a:rPr>
              <a:t>Running multiple instances of a serial program often isn</a:t>
            </a:r>
            <a:r>
              <a:rPr lang="ja-JP" altLang="en-US">
                <a:latin typeface="Arial" charset="0"/>
              </a:rPr>
              <a:t>’</a:t>
            </a:r>
            <a:r>
              <a:rPr lang="en-US">
                <a:latin typeface="Arial" charset="0"/>
              </a:rPr>
              <a:t>t very useful.</a:t>
            </a:r>
          </a:p>
          <a:p>
            <a:r>
              <a:rPr lang="en-US">
                <a:latin typeface="Arial" charset="0"/>
              </a:rPr>
              <a:t>Think of running multiple instances of your favorite game.</a:t>
            </a:r>
          </a:p>
          <a:p>
            <a:endParaRPr lang="en-US">
              <a:latin typeface="Arial" charset="0"/>
            </a:endParaRPr>
          </a:p>
          <a:p>
            <a:r>
              <a:rPr lang="en-US">
                <a:latin typeface="Arial" charset="0"/>
              </a:rPr>
              <a:t>What you really want is for</a:t>
            </a:r>
            <a:br>
              <a:rPr lang="en-US">
                <a:latin typeface="Arial" charset="0"/>
              </a:rPr>
            </a:br>
            <a:r>
              <a:rPr lang="en-US">
                <a:latin typeface="Arial" charset="0"/>
              </a:rPr>
              <a:t>it to run faster.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charset="0"/>
              <a:defRPr sz="32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charset="0"/>
              <a:defRPr sz="32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charset="0"/>
              <a:defRPr sz="32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charset="0"/>
              <a:defRPr sz="32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charset="0"/>
              <a:defRPr sz="32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charset="0"/>
              <a:defRPr sz="32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charset="0"/>
              <a:defRPr sz="32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charset="0"/>
              <a:defRPr sz="32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charset="0"/>
              <a:defRPr sz="32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sz="1200">
                <a:latin typeface="Arial" charset="0"/>
              </a:rPr>
              <a:t>Copyright © 2010, Elsevier Inc. All rights Reserved</a:t>
            </a:r>
          </a:p>
        </p:txBody>
      </p:sp>
      <p:pic>
        <p:nvPicPr>
          <p:cNvPr id="33796" name="Picture 2" descr="C:\Documents and Settings\liszka\Local Settings\Temporary Internet Files\Content.IE5\5W39ONER\MC900434783[1]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43663" y="3573463"/>
            <a:ext cx="1828800" cy="182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6BE44D-6AB7-7747-A5B3-8E5957F8FC9E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25868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3" name="Title 1"/>
          <p:cNvSpPr>
            <a:spLocks noGrp="1"/>
          </p:cNvSpPr>
          <p:nvPr>
            <p:ph type="title"/>
          </p:nvPr>
        </p:nvSpPr>
        <p:spPr>
          <a:xfrm>
            <a:off x="611188" y="0"/>
            <a:ext cx="8281987" cy="1323975"/>
          </a:xfrm>
        </p:spPr>
        <p:txBody>
          <a:bodyPr>
            <a:normAutofit fontScale="90000"/>
          </a:bodyPr>
          <a:lstStyle/>
          <a:p>
            <a:r>
              <a:rPr lang="en-US">
                <a:latin typeface="Arial" charset="0"/>
              </a:rPr>
              <a:t>How do we write parallel programs?</a:t>
            </a:r>
          </a:p>
        </p:txBody>
      </p:sp>
      <p:sp>
        <p:nvSpPr>
          <p:cNvPr id="49154" name="Content Placeholder 2"/>
          <p:cNvSpPr>
            <a:spLocks noGrp="1"/>
          </p:cNvSpPr>
          <p:nvPr>
            <p:ph idx="1"/>
          </p:nvPr>
        </p:nvSpPr>
        <p:spPr>
          <a:xfrm>
            <a:off x="684213" y="1628775"/>
            <a:ext cx="8270875" cy="4608513"/>
          </a:xfrm>
        </p:spPr>
        <p:txBody>
          <a:bodyPr/>
          <a:lstStyle/>
          <a:p>
            <a:r>
              <a:rPr lang="en-US">
                <a:latin typeface="Arial" charset="0"/>
              </a:rPr>
              <a:t>Task parallelism </a:t>
            </a:r>
          </a:p>
          <a:p>
            <a:pPr lvl="1"/>
            <a:r>
              <a:rPr lang="en-US">
                <a:latin typeface="Arial" charset="0"/>
              </a:rPr>
              <a:t>Partition various tasks carried out solving the problem among the cores.</a:t>
            </a:r>
            <a:br>
              <a:rPr lang="en-US">
                <a:latin typeface="Arial" charset="0"/>
              </a:rPr>
            </a:br>
            <a:endParaRPr lang="en-US">
              <a:latin typeface="Arial" charset="0"/>
            </a:endParaRPr>
          </a:p>
          <a:p>
            <a:r>
              <a:rPr lang="en-US">
                <a:latin typeface="Arial" charset="0"/>
              </a:rPr>
              <a:t>Data parallelism</a:t>
            </a:r>
          </a:p>
          <a:p>
            <a:pPr lvl="1"/>
            <a:r>
              <a:rPr lang="en-US">
                <a:latin typeface="Arial" charset="0"/>
              </a:rPr>
              <a:t>Partition the data used in solving the problem among the cores.</a:t>
            </a:r>
          </a:p>
          <a:p>
            <a:pPr lvl="1"/>
            <a:r>
              <a:rPr lang="en-US">
                <a:latin typeface="Arial" charset="0"/>
              </a:rPr>
              <a:t>Each core carries out similar operations on it</a:t>
            </a:r>
            <a:r>
              <a:rPr lang="ja-JP" altLang="en-US">
                <a:latin typeface="Arial" charset="0"/>
              </a:rPr>
              <a:t>’</a:t>
            </a:r>
            <a:r>
              <a:rPr lang="en-US">
                <a:latin typeface="Arial" charset="0"/>
              </a:rPr>
              <a:t>s part of the data.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charset="0"/>
              <a:defRPr sz="32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charset="0"/>
              <a:defRPr sz="32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charset="0"/>
              <a:defRPr sz="32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charset="0"/>
              <a:defRPr sz="32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charset="0"/>
              <a:defRPr sz="32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charset="0"/>
              <a:defRPr sz="32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charset="0"/>
              <a:defRPr sz="32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charset="0"/>
              <a:defRPr sz="32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charset="0"/>
              <a:defRPr sz="32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sz="1200">
                <a:latin typeface="Arial" charset="0"/>
              </a:rPr>
              <a:t>Copyright © 2010, Elsevier Inc. All rights Reserved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6BE44D-6AB7-7747-A5B3-8E5957F8FC9E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77657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7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rial" charset="0"/>
              </a:rPr>
              <a:t>Professor P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charset="0"/>
              <a:defRPr sz="32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charset="0"/>
              <a:defRPr sz="32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charset="0"/>
              <a:defRPr sz="32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charset="0"/>
              <a:defRPr sz="32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charset="0"/>
              <a:defRPr sz="32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charset="0"/>
              <a:defRPr sz="32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charset="0"/>
              <a:defRPr sz="32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charset="0"/>
              <a:defRPr sz="32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charset="0"/>
              <a:defRPr sz="32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sz="1200">
                <a:latin typeface="Arial" charset="0"/>
              </a:rPr>
              <a:t>Copyright © 2010, Elsevier Inc. All rights Reserved</a:t>
            </a:r>
          </a:p>
        </p:txBody>
      </p:sp>
      <p:pic>
        <p:nvPicPr>
          <p:cNvPr id="50179" name="Picture 2" descr="C:\Documents and Settings\liszka\Local Settings\Temporary Internet Files\Content.IE5\1G3WK4XC\MP900422592[1]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35600" y="1125538"/>
            <a:ext cx="3248025" cy="48688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0180" name="Picture 3" descr="C:\Documents and Settings\liszka\Local Settings\Temporary Internet Files\Content.IE5\Q7HGDQRM\MC900024275[1].wmf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4213" y="4292600"/>
            <a:ext cx="1946275" cy="1155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2195513" y="2565400"/>
            <a:ext cx="2508250" cy="11747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None/>
              <a:defRPr/>
            </a:pPr>
            <a:r>
              <a:rPr lang="en-US" dirty="0">
                <a:latin typeface="+mj-lt"/>
                <a:ea typeface="+mn-ea"/>
              </a:rPr>
              <a:t>15 questions</a:t>
            </a:r>
          </a:p>
          <a:p>
            <a:pPr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None/>
              <a:defRPr/>
            </a:pPr>
            <a:r>
              <a:rPr lang="en-US" dirty="0">
                <a:latin typeface="+mj-lt"/>
                <a:ea typeface="+mn-ea"/>
              </a:rPr>
              <a:t>300 exams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6BE44D-6AB7-7747-A5B3-8E5957F8FC9E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59503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1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>
                <a:latin typeface="Arial" charset="0"/>
              </a:rPr>
              <a:t>Professor P</a:t>
            </a:r>
            <a:r>
              <a:rPr lang="ja-JP" altLang="en-US">
                <a:latin typeface="Arial" charset="0"/>
              </a:rPr>
              <a:t>’</a:t>
            </a:r>
            <a:r>
              <a:rPr lang="en-US">
                <a:latin typeface="Arial" charset="0"/>
              </a:rPr>
              <a:t>s grading assistants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charset="0"/>
              <a:defRPr sz="32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charset="0"/>
              <a:defRPr sz="32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charset="0"/>
              <a:defRPr sz="32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charset="0"/>
              <a:defRPr sz="32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charset="0"/>
              <a:defRPr sz="32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charset="0"/>
              <a:defRPr sz="32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charset="0"/>
              <a:defRPr sz="32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charset="0"/>
              <a:defRPr sz="32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charset="0"/>
              <a:defRPr sz="32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sz="1200">
                <a:latin typeface="Arial" charset="0"/>
              </a:rPr>
              <a:t>Copyright © 2010, Elsevier Inc. All rights Reserved</a:t>
            </a:r>
          </a:p>
        </p:txBody>
      </p:sp>
      <p:pic>
        <p:nvPicPr>
          <p:cNvPr id="51203" name="Picture 4" descr="C:\Documents and Settings\liszka\Local Settings\Temporary Internet Files\Content.IE5\1G3WK4XC\MP900439561[1]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1600" y="1292225"/>
            <a:ext cx="6400800" cy="4273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TextBox 7"/>
          <p:cNvSpPr txBox="1"/>
          <p:nvPr/>
        </p:nvSpPr>
        <p:spPr>
          <a:xfrm>
            <a:off x="1979613" y="4652963"/>
            <a:ext cx="1133475" cy="584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None/>
              <a:defRPr/>
            </a:pPr>
            <a:r>
              <a:rPr lang="en-US" dirty="0">
                <a:solidFill>
                  <a:srgbClr val="0066FF"/>
                </a:solidFill>
                <a:latin typeface="+mj-lt"/>
                <a:ea typeface="+mn-ea"/>
              </a:rPr>
              <a:t>TA#1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95738" y="4868863"/>
            <a:ext cx="1133475" cy="5857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None/>
              <a:defRPr/>
            </a:pPr>
            <a:r>
              <a:rPr lang="en-US" dirty="0">
                <a:solidFill>
                  <a:srgbClr val="0066FF"/>
                </a:solidFill>
                <a:latin typeface="+mj-lt"/>
                <a:ea typeface="+mn-ea"/>
              </a:rPr>
              <a:t>TA#2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67400" y="4797425"/>
            <a:ext cx="1135063" cy="584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None/>
              <a:defRPr/>
            </a:pPr>
            <a:r>
              <a:rPr lang="en-US" dirty="0">
                <a:solidFill>
                  <a:srgbClr val="0066FF"/>
                </a:solidFill>
                <a:latin typeface="+mj-lt"/>
                <a:ea typeface="+mn-ea"/>
              </a:rPr>
              <a:t>TA#3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6BE44D-6AB7-7747-A5B3-8E5957F8FC9E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77624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5" name="Title 1"/>
          <p:cNvSpPr>
            <a:spLocks noGrp="1"/>
          </p:cNvSpPr>
          <p:nvPr>
            <p:ph type="title"/>
          </p:nvPr>
        </p:nvSpPr>
        <p:spPr>
          <a:xfrm>
            <a:off x="611188" y="0"/>
            <a:ext cx="8281987" cy="1323975"/>
          </a:xfrm>
        </p:spPr>
        <p:txBody>
          <a:bodyPr>
            <a:normAutofit fontScale="90000"/>
          </a:bodyPr>
          <a:lstStyle/>
          <a:p>
            <a:r>
              <a:rPr lang="en-US">
                <a:latin typeface="Arial" charset="0"/>
              </a:rPr>
              <a:t>Division of work – </a:t>
            </a:r>
            <a:br>
              <a:rPr lang="en-US">
                <a:latin typeface="Arial" charset="0"/>
              </a:rPr>
            </a:br>
            <a:r>
              <a:rPr lang="en-US">
                <a:latin typeface="Arial" charset="0"/>
              </a:rPr>
              <a:t>data parallelism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charset="0"/>
              <a:defRPr sz="32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charset="0"/>
              <a:defRPr sz="32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charset="0"/>
              <a:defRPr sz="32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charset="0"/>
              <a:defRPr sz="32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charset="0"/>
              <a:defRPr sz="32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charset="0"/>
              <a:defRPr sz="32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charset="0"/>
              <a:defRPr sz="32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charset="0"/>
              <a:defRPr sz="32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charset="0"/>
              <a:defRPr sz="32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sz="1200">
                <a:latin typeface="Arial" charset="0"/>
              </a:rPr>
              <a:t>Copyright © 2010, Elsevier Inc. All rights Reserved</a:t>
            </a:r>
          </a:p>
        </p:txBody>
      </p:sp>
      <p:pic>
        <p:nvPicPr>
          <p:cNvPr id="52227" name="Picture 2" descr="C:\Documents and Settings\liszka\Local Settings\Temporary Internet Files\Content.IE5\Q7HGDQRM\MC900024275[1].wmf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3350" y="2349500"/>
            <a:ext cx="1947863" cy="1155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900113" y="1989138"/>
            <a:ext cx="1133475" cy="584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None/>
              <a:defRPr/>
            </a:pPr>
            <a:r>
              <a:rPr lang="en-US" dirty="0">
                <a:solidFill>
                  <a:srgbClr val="0066FF"/>
                </a:solidFill>
                <a:latin typeface="+mj-lt"/>
                <a:ea typeface="+mn-ea"/>
              </a:rPr>
              <a:t>TA#1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35600" y="4581525"/>
            <a:ext cx="1133475" cy="584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None/>
              <a:defRPr/>
            </a:pPr>
            <a:r>
              <a:rPr lang="en-US" dirty="0">
                <a:solidFill>
                  <a:srgbClr val="0066FF"/>
                </a:solidFill>
                <a:latin typeface="+mj-lt"/>
                <a:ea typeface="+mn-ea"/>
              </a:rPr>
              <a:t>TA#2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35825" y="2420938"/>
            <a:ext cx="1133475" cy="584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None/>
              <a:defRPr/>
            </a:pPr>
            <a:r>
              <a:rPr lang="en-US" dirty="0">
                <a:solidFill>
                  <a:srgbClr val="0066FF"/>
                </a:solidFill>
                <a:latin typeface="+mj-lt"/>
                <a:ea typeface="+mn-ea"/>
              </a:rPr>
              <a:t>TA#3</a:t>
            </a:r>
          </a:p>
        </p:txBody>
      </p:sp>
      <p:pic>
        <p:nvPicPr>
          <p:cNvPr id="52231" name="Picture 2" descr="C:\Documents and Settings\liszka\Local Settings\Temporary Internet Files\Content.IE5\Q7HGDQRM\MC900024275[1].wmf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35375" y="3860800"/>
            <a:ext cx="1947863" cy="1155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2232" name="Picture 2" descr="C:\Documents and Settings\liszka\Local Settings\Temporary Internet Files\Content.IE5\Q7HGDQRM\MC900024275[1].wmf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8625" y="1628775"/>
            <a:ext cx="1947863" cy="1155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TextBox 9"/>
          <p:cNvSpPr txBox="1"/>
          <p:nvPr/>
        </p:nvSpPr>
        <p:spPr>
          <a:xfrm>
            <a:off x="1187450" y="3429000"/>
            <a:ext cx="1438275" cy="4000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None/>
              <a:defRPr/>
            </a:pPr>
            <a:r>
              <a:rPr lang="en-US" sz="2000" dirty="0">
                <a:latin typeface="+mj-lt"/>
                <a:ea typeface="+mn-ea"/>
              </a:rPr>
              <a:t>100 exams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48263" y="2708275"/>
            <a:ext cx="1438275" cy="4000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None/>
              <a:defRPr/>
            </a:pPr>
            <a:r>
              <a:rPr lang="en-US" sz="2000" dirty="0">
                <a:latin typeface="+mj-lt"/>
                <a:ea typeface="+mn-ea"/>
              </a:rPr>
              <a:t>100 exams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87675" y="4868863"/>
            <a:ext cx="1438275" cy="4000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None/>
              <a:defRPr/>
            </a:pPr>
            <a:r>
              <a:rPr lang="en-US" sz="2000" dirty="0">
                <a:latin typeface="+mj-lt"/>
                <a:ea typeface="+mn-ea"/>
              </a:rPr>
              <a:t>100 exams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6BE44D-6AB7-7747-A5B3-8E5957F8FC9E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84001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49" name="Title 1"/>
          <p:cNvSpPr>
            <a:spLocks noGrp="1"/>
          </p:cNvSpPr>
          <p:nvPr>
            <p:ph type="title"/>
          </p:nvPr>
        </p:nvSpPr>
        <p:spPr>
          <a:xfrm>
            <a:off x="611188" y="0"/>
            <a:ext cx="8281987" cy="1323975"/>
          </a:xfrm>
        </p:spPr>
        <p:txBody>
          <a:bodyPr>
            <a:normAutofit fontScale="90000"/>
          </a:bodyPr>
          <a:lstStyle/>
          <a:p>
            <a:r>
              <a:rPr lang="en-US">
                <a:latin typeface="Arial" charset="0"/>
              </a:rPr>
              <a:t>Division of work – </a:t>
            </a:r>
            <a:br>
              <a:rPr lang="en-US">
                <a:latin typeface="Arial" charset="0"/>
              </a:rPr>
            </a:br>
            <a:r>
              <a:rPr lang="en-US">
                <a:latin typeface="Arial" charset="0"/>
              </a:rPr>
              <a:t>task parallelism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charset="0"/>
              <a:defRPr sz="32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charset="0"/>
              <a:defRPr sz="32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charset="0"/>
              <a:defRPr sz="32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charset="0"/>
              <a:defRPr sz="32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charset="0"/>
              <a:defRPr sz="32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charset="0"/>
              <a:defRPr sz="32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charset="0"/>
              <a:defRPr sz="32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charset="0"/>
              <a:defRPr sz="32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charset="0"/>
              <a:defRPr sz="32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sz="1200">
                <a:latin typeface="Arial" charset="0"/>
              </a:rPr>
              <a:t>Copyright © 2010, Elsevier Inc. All rights Reserved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00113" y="1989138"/>
            <a:ext cx="1133475" cy="584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None/>
              <a:defRPr/>
            </a:pPr>
            <a:r>
              <a:rPr lang="en-US" dirty="0">
                <a:solidFill>
                  <a:srgbClr val="0066FF"/>
                </a:solidFill>
                <a:latin typeface="+mj-lt"/>
                <a:ea typeface="+mn-ea"/>
              </a:rPr>
              <a:t>TA#1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35600" y="4581525"/>
            <a:ext cx="1133475" cy="584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None/>
              <a:defRPr/>
            </a:pPr>
            <a:r>
              <a:rPr lang="en-US" dirty="0">
                <a:solidFill>
                  <a:srgbClr val="0066FF"/>
                </a:solidFill>
                <a:latin typeface="+mj-lt"/>
                <a:ea typeface="+mn-ea"/>
              </a:rPr>
              <a:t>TA#2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35825" y="2420938"/>
            <a:ext cx="1133475" cy="584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None/>
              <a:defRPr/>
            </a:pPr>
            <a:r>
              <a:rPr lang="en-US" dirty="0">
                <a:solidFill>
                  <a:srgbClr val="0066FF"/>
                </a:solidFill>
                <a:latin typeface="+mj-lt"/>
                <a:ea typeface="+mn-ea"/>
              </a:rPr>
              <a:t>TA#3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7450" y="3429000"/>
            <a:ext cx="1746376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None/>
              <a:defRPr/>
            </a:pPr>
            <a:r>
              <a:rPr lang="en-US" sz="2000" dirty="0">
                <a:latin typeface="+mj-lt"/>
                <a:ea typeface="+mn-ea"/>
              </a:rPr>
              <a:t>Questions 1 - </a:t>
            </a:r>
            <a:r>
              <a:rPr lang="en-US" sz="2000" dirty="0">
                <a:latin typeface="+mj-lt"/>
              </a:rPr>
              <a:t>5</a:t>
            </a:r>
            <a:endParaRPr lang="en-US" sz="2000" dirty="0">
              <a:latin typeface="+mj-lt"/>
              <a:ea typeface="+mn-ea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132138" y="4941888"/>
            <a:ext cx="1876219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None/>
              <a:defRPr/>
            </a:pPr>
            <a:r>
              <a:rPr lang="en-US" sz="2000" dirty="0">
                <a:latin typeface="+mj-lt"/>
                <a:ea typeface="+mn-ea"/>
              </a:rPr>
              <a:t>Questions </a:t>
            </a:r>
            <a:r>
              <a:rPr lang="en-US" sz="2000" dirty="0">
                <a:latin typeface="+mj-lt"/>
              </a:rPr>
              <a:t>6</a:t>
            </a:r>
            <a:r>
              <a:rPr lang="en-US" sz="2000" dirty="0">
                <a:latin typeface="+mj-lt"/>
                <a:ea typeface="+mn-ea"/>
              </a:rPr>
              <a:t> - 10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76825" y="2997200"/>
            <a:ext cx="2006062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None/>
              <a:defRPr/>
            </a:pPr>
            <a:r>
              <a:rPr lang="en-US" sz="2000" dirty="0">
                <a:latin typeface="+mj-lt"/>
                <a:ea typeface="+mn-ea"/>
              </a:rPr>
              <a:t>Questions </a:t>
            </a:r>
            <a:r>
              <a:rPr lang="en-US" sz="2000" dirty="0">
                <a:latin typeface="+mj-lt"/>
              </a:rPr>
              <a:t>11 </a:t>
            </a:r>
            <a:r>
              <a:rPr lang="en-US" sz="2000" dirty="0">
                <a:latin typeface="+mj-lt"/>
                <a:ea typeface="+mn-ea"/>
              </a:rPr>
              <a:t>- 15</a:t>
            </a:r>
          </a:p>
        </p:txBody>
      </p:sp>
      <p:pic>
        <p:nvPicPr>
          <p:cNvPr id="53257" name="Picture 2" descr="C:\Documents and Settings\liszka\Local Settings\Temporary Internet Files\Content.IE5\1G3WK4XC\MC900310998[1].wmf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95513" y="1916113"/>
            <a:ext cx="1306512" cy="127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3258" name="Picture 2" descr="C:\Documents and Settings\liszka\Local Settings\Temporary Internet Files\Content.IE5\1G3WK4XC\MC900310998[1].wmf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63938" y="3573463"/>
            <a:ext cx="1306512" cy="1268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3259" name="Picture 2" descr="C:\Documents and Settings\liszka\Local Settings\Temporary Internet Files\Content.IE5\1G3WK4XC\MC900310998[1].wmf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51500" y="1628775"/>
            <a:ext cx="1306513" cy="127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" name="TextBox 14"/>
          <p:cNvSpPr txBox="1"/>
          <p:nvPr/>
        </p:nvSpPr>
        <p:spPr>
          <a:xfrm>
            <a:off x="1187450" y="3841720"/>
            <a:ext cx="1746376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None/>
              <a:defRPr/>
            </a:pPr>
            <a:r>
              <a:rPr lang="en-US" sz="2000" dirty="0">
                <a:solidFill>
                  <a:srgbClr val="FF0000"/>
                </a:solidFill>
                <a:latin typeface="+mj-lt"/>
                <a:ea typeface="+mn-ea"/>
              </a:rPr>
              <a:t>Questions 1 - 7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67369" y="5421802"/>
            <a:ext cx="1876219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None/>
              <a:defRPr/>
            </a:pPr>
            <a:r>
              <a:rPr lang="en-US" sz="2000" dirty="0">
                <a:solidFill>
                  <a:srgbClr val="FF0000"/>
                </a:solidFill>
                <a:latin typeface="+mj-lt"/>
                <a:ea typeface="+mn-ea"/>
              </a:rPr>
              <a:t>Questions 8 - 11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29149" y="3373408"/>
            <a:ext cx="2006062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None/>
              <a:defRPr/>
            </a:pPr>
            <a:r>
              <a:rPr lang="en-US" sz="2000" dirty="0">
                <a:solidFill>
                  <a:srgbClr val="FF0000"/>
                </a:solidFill>
                <a:latin typeface="+mj-lt"/>
                <a:ea typeface="+mn-ea"/>
              </a:rPr>
              <a:t>Questions 12 - </a:t>
            </a:r>
            <a:r>
              <a:rPr lang="en-US" sz="2000" dirty="0">
                <a:solidFill>
                  <a:srgbClr val="FF0000"/>
                </a:solidFill>
                <a:latin typeface="+mj-lt"/>
              </a:rPr>
              <a:t>15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6730986" y="5360247"/>
            <a:ext cx="214315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Partitioning strategy:</a:t>
            </a:r>
          </a:p>
          <a:p>
            <a:r>
              <a:rPr lang="en-US" dirty="0"/>
              <a:t> - either by number</a:t>
            </a:r>
          </a:p>
          <a:p>
            <a:r>
              <a:rPr lang="en-US" dirty="0"/>
              <a:t>- Or by workload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8554" y="3773518"/>
            <a:ext cx="3866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90510" y="5237136"/>
            <a:ext cx="3866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or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42505" y="3279135"/>
            <a:ext cx="3866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or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6BE44D-6AB7-7747-A5B3-8E5957F8FC9E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42595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1" name="Title 1"/>
          <p:cNvSpPr>
            <a:spLocks noGrp="1"/>
          </p:cNvSpPr>
          <p:nvPr>
            <p:ph type="title"/>
          </p:nvPr>
        </p:nvSpPr>
        <p:spPr>
          <a:xfrm>
            <a:off x="457200" y="4204"/>
            <a:ext cx="8229600" cy="1143000"/>
          </a:xfrm>
        </p:spPr>
        <p:txBody>
          <a:bodyPr/>
          <a:lstStyle/>
          <a:p>
            <a:r>
              <a:rPr lang="en-US" dirty="0">
                <a:latin typeface="Arial" charset="0"/>
              </a:rPr>
              <a:t>Coordination</a:t>
            </a:r>
          </a:p>
        </p:txBody>
      </p:sp>
      <p:sp>
        <p:nvSpPr>
          <p:cNvPr id="56322" name="Content Placeholder 2"/>
          <p:cNvSpPr>
            <a:spLocks noGrp="1"/>
          </p:cNvSpPr>
          <p:nvPr>
            <p:ph idx="1"/>
          </p:nvPr>
        </p:nvSpPr>
        <p:spPr>
          <a:xfrm>
            <a:off x="395288" y="981075"/>
            <a:ext cx="8559800" cy="5111750"/>
          </a:xfrm>
        </p:spPr>
        <p:txBody>
          <a:bodyPr/>
          <a:lstStyle/>
          <a:p>
            <a:r>
              <a:rPr lang="en-US">
                <a:latin typeface="Arial" charset="0"/>
              </a:rPr>
              <a:t>Cores usually need to coordinate their work.</a:t>
            </a:r>
          </a:p>
          <a:p>
            <a:r>
              <a:rPr lang="en-US">
                <a:solidFill>
                  <a:srgbClr val="3399FF"/>
                </a:solidFill>
                <a:latin typeface="Arial" charset="0"/>
              </a:rPr>
              <a:t>Communication</a:t>
            </a:r>
            <a:r>
              <a:rPr lang="en-US">
                <a:latin typeface="Arial" charset="0"/>
              </a:rPr>
              <a:t> – one or more cores send their current partial sums to another core.</a:t>
            </a:r>
          </a:p>
          <a:p>
            <a:r>
              <a:rPr lang="en-US">
                <a:solidFill>
                  <a:srgbClr val="3399FF"/>
                </a:solidFill>
                <a:latin typeface="Arial" charset="0"/>
              </a:rPr>
              <a:t>Load balancing </a:t>
            </a:r>
            <a:r>
              <a:rPr lang="en-US">
                <a:latin typeface="Arial" charset="0"/>
              </a:rPr>
              <a:t>– share the work evenly among the cores so that one is not heavily loaded.</a:t>
            </a:r>
          </a:p>
          <a:p>
            <a:r>
              <a:rPr lang="en-US">
                <a:solidFill>
                  <a:srgbClr val="3399FF"/>
                </a:solidFill>
                <a:latin typeface="Arial" charset="0"/>
              </a:rPr>
              <a:t>Synchronization</a:t>
            </a:r>
            <a:r>
              <a:rPr lang="en-US">
                <a:latin typeface="Arial" charset="0"/>
              </a:rPr>
              <a:t> – because each core works at its own pace, make sure cores do not get too far ahead of the rest.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charset="0"/>
              <a:defRPr sz="32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charset="0"/>
              <a:defRPr sz="32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charset="0"/>
              <a:defRPr sz="32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charset="0"/>
              <a:defRPr sz="32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charset="0"/>
              <a:defRPr sz="32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charset="0"/>
              <a:defRPr sz="32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charset="0"/>
              <a:defRPr sz="32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charset="0"/>
              <a:defRPr sz="32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charset="0"/>
              <a:defRPr sz="32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sz="1200">
                <a:latin typeface="Arial" charset="0"/>
              </a:rPr>
              <a:t>Copyright © 2010, Elsevier Inc. All rights Reserved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6BE44D-6AB7-7747-A5B3-8E5957F8FC9E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92469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5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Arial" charset="0"/>
              </a:rPr>
              <a:t>What we</a:t>
            </a:r>
            <a:r>
              <a:rPr lang="ja-JP" altLang="en-US" dirty="0">
                <a:latin typeface="Arial" charset="0"/>
              </a:rPr>
              <a:t>’</a:t>
            </a:r>
            <a:r>
              <a:rPr lang="en-US" dirty="0" err="1">
                <a:latin typeface="Arial" charset="0"/>
              </a:rPr>
              <a:t>ll</a:t>
            </a:r>
            <a:r>
              <a:rPr lang="en-US" dirty="0">
                <a:latin typeface="Arial" charset="0"/>
              </a:rPr>
              <a:t> be doing</a:t>
            </a:r>
            <a:endParaRPr lang="en-US" dirty="0">
              <a:solidFill>
                <a:srgbClr val="FF0000"/>
              </a:solidFill>
              <a:latin typeface="Arial" charset="0"/>
            </a:endParaRPr>
          </a:p>
        </p:txBody>
      </p:sp>
      <p:sp>
        <p:nvSpPr>
          <p:cNvPr id="57346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>
                <a:latin typeface="Arial" charset="0"/>
              </a:rPr>
              <a:t>Learning to write programs that are explicitly parallel.</a:t>
            </a:r>
          </a:p>
          <a:p>
            <a:r>
              <a:rPr lang="en-US" dirty="0">
                <a:latin typeface="Arial" charset="0"/>
              </a:rPr>
              <a:t>Using the C language.</a:t>
            </a:r>
          </a:p>
          <a:p>
            <a:r>
              <a:rPr lang="en-US" dirty="0">
                <a:latin typeface="Arial" charset="0"/>
              </a:rPr>
              <a:t>Using the </a:t>
            </a:r>
            <a:r>
              <a:rPr lang="en-US" dirty="0" err="1">
                <a:latin typeface="Arial" charset="0"/>
              </a:rPr>
              <a:t>OpenMP</a:t>
            </a:r>
            <a:r>
              <a:rPr lang="en-US" dirty="0">
                <a:latin typeface="Arial" charset="0"/>
              </a:rPr>
              <a:t> extension to C </a:t>
            </a:r>
            <a:br>
              <a:rPr lang="en-US" dirty="0">
                <a:latin typeface="Arial" charset="0"/>
              </a:rPr>
            </a:br>
            <a:r>
              <a:rPr lang="en-US" dirty="0">
                <a:latin typeface="Arial" charset="0"/>
              </a:rPr>
              <a:t>	(multi-threading for shared memory)</a:t>
            </a:r>
          </a:p>
          <a:p>
            <a:pPr lvl="1"/>
            <a:r>
              <a:rPr lang="en-US" dirty="0">
                <a:latin typeface="Arial" charset="0"/>
              </a:rPr>
              <a:t>Others you can investigate after this workshop:</a:t>
            </a:r>
          </a:p>
          <a:p>
            <a:pPr lvl="2"/>
            <a:r>
              <a:rPr lang="en-US" dirty="0">
                <a:latin typeface="Arial" charset="0"/>
              </a:rPr>
              <a:t>Message-Passing Interface (MPI)</a:t>
            </a:r>
          </a:p>
          <a:p>
            <a:pPr lvl="2"/>
            <a:r>
              <a:rPr lang="en-US" dirty="0" err="1">
                <a:latin typeface="Arial" charset="0"/>
              </a:rPr>
              <a:t>Posix</a:t>
            </a:r>
            <a:r>
              <a:rPr lang="en-US" dirty="0">
                <a:latin typeface="Arial" charset="0"/>
              </a:rPr>
              <a:t> Threads (</a:t>
            </a:r>
            <a:r>
              <a:rPr lang="en-US" dirty="0" err="1">
                <a:latin typeface="Arial" charset="0"/>
              </a:rPr>
              <a:t>Pthreads</a:t>
            </a:r>
            <a:r>
              <a:rPr lang="en-US" dirty="0">
                <a:latin typeface="Arial" charset="0"/>
              </a:rPr>
              <a:t>)</a:t>
            </a:r>
          </a:p>
          <a:p>
            <a:pPr marL="457200" lvl="1" indent="0">
              <a:buNone/>
            </a:pPr>
            <a:endParaRPr lang="en-US" dirty="0">
              <a:latin typeface="Arial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charset="0"/>
              <a:defRPr sz="32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charset="0"/>
              <a:defRPr sz="32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charset="0"/>
              <a:defRPr sz="32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charset="0"/>
              <a:defRPr sz="32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charset="0"/>
              <a:defRPr sz="32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charset="0"/>
              <a:defRPr sz="32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charset="0"/>
              <a:defRPr sz="32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charset="0"/>
              <a:defRPr sz="32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charset="0"/>
              <a:defRPr sz="32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sz="1200">
                <a:latin typeface="Arial" charset="0"/>
              </a:rPr>
              <a:t>Copyright © 2010, Elsevier Inc. All rights Reserved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6BE44D-6AB7-7747-A5B3-8E5957F8FC9E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62671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Essential concepts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Memory </a:t>
            </a:r>
          </a:p>
          <a:p>
            <a:r>
              <a:rPr lang="en-US" dirty="0"/>
              <a:t>Process execution terminology</a:t>
            </a:r>
          </a:p>
          <a:p>
            <a:r>
              <a:rPr lang="en-US" dirty="0"/>
              <a:t>Configuration of </a:t>
            </a:r>
            <a:r>
              <a:rPr lang="en-US" dirty="0" err="1"/>
              <a:t>Kamiak</a:t>
            </a:r>
            <a:endParaRPr lang="en-US" dirty="0"/>
          </a:p>
          <a:p>
            <a:r>
              <a:rPr lang="en-US" dirty="0"/>
              <a:t>Coding concepts for parallelism - Parallel program design</a:t>
            </a:r>
          </a:p>
          <a:p>
            <a:r>
              <a:rPr lang="en-US" dirty="0"/>
              <a:t>Performance</a:t>
            </a:r>
          </a:p>
          <a:p>
            <a:r>
              <a:rPr lang="en-US" dirty="0" err="1"/>
              <a:t>OpenMP</a:t>
            </a:r>
            <a:endParaRPr lang="en-US" dirty="0"/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 2010, Elsevier Inc. All rights Reserved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6BE44D-6AB7-7747-A5B3-8E5957F8FC9E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211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.c programs we will use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loop.c</a:t>
            </a:r>
            <a:endParaRPr lang="en-US" dirty="0"/>
          </a:p>
          <a:p>
            <a:r>
              <a:rPr lang="en-US" dirty="0" err="1"/>
              <a:t>sync.c</a:t>
            </a:r>
            <a:endParaRPr lang="en-US" dirty="0"/>
          </a:p>
          <a:p>
            <a:r>
              <a:rPr lang="en-US" dirty="0" err="1"/>
              <a:t>sumcomp.c</a:t>
            </a:r>
            <a:endParaRPr lang="en-US" dirty="0"/>
          </a:p>
          <a:p>
            <a:r>
              <a:rPr lang="en-US" dirty="0" err="1"/>
              <a:t>matrix_vector.c</a:t>
            </a:r>
            <a:r>
              <a:rPr lang="en-US" dirty="0"/>
              <a:t> (for independent study)</a:t>
            </a:r>
          </a:p>
          <a:p>
            <a:endParaRPr lang="en-US" dirty="0"/>
          </a:p>
          <a:p>
            <a:r>
              <a:rPr lang="en-US" dirty="0">
                <a:solidFill>
                  <a:srgbClr val="000000"/>
                </a:solidFill>
              </a:rPr>
              <a:t>Step 1: log into </a:t>
            </a:r>
            <a:r>
              <a:rPr lang="en-US" dirty="0" err="1">
                <a:solidFill>
                  <a:srgbClr val="000000"/>
                </a:solidFill>
              </a:rPr>
              <a:t>kamiak</a:t>
            </a:r>
            <a:endParaRPr lang="en-US" dirty="0">
              <a:solidFill>
                <a:srgbClr val="000000"/>
              </a:solidFill>
            </a:endParaRPr>
          </a:p>
          <a:p>
            <a:r>
              <a:rPr lang="en-US" dirty="0">
                <a:solidFill>
                  <a:srgbClr val="000000"/>
                </a:solidFill>
              </a:rPr>
              <a:t>Step 2: run command: training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 2010, Elsevier Inc. All rights Reserved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6BE44D-6AB7-7747-A5B3-8E5957F8FC9E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326972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Memory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Two major classes of parallel programming models:</a:t>
            </a:r>
          </a:p>
          <a:p>
            <a:pPr lvl="1"/>
            <a:r>
              <a:rPr lang="en-US" dirty="0"/>
              <a:t>Shared Memory </a:t>
            </a:r>
          </a:p>
          <a:p>
            <a:pPr lvl="1"/>
            <a:r>
              <a:rPr lang="en-US" dirty="0"/>
              <a:t>Distributed Memory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6BE44D-6AB7-7747-A5B3-8E5957F8FC9E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99129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4529" y="-189361"/>
            <a:ext cx="8229600" cy="1143000"/>
          </a:xfrm>
        </p:spPr>
        <p:txBody>
          <a:bodyPr/>
          <a:lstStyle/>
          <a:p>
            <a:r>
              <a:rPr lang="en-US" dirty="0"/>
              <a:t>Shared Memory Architecture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02010" y="1598157"/>
            <a:ext cx="1817256" cy="1275673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CPU core #1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24539" y="3796510"/>
            <a:ext cx="3001488" cy="1186037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/>
              <a:t>Memory</a:t>
            </a:r>
            <a:br>
              <a:rPr lang="en-US" sz="2400"/>
            </a:br>
            <a:r>
              <a:rPr lang="en-US" sz="2400"/>
              <a:t>(Shared address space)</a:t>
            </a:r>
            <a:endParaRPr lang="en-US" sz="2400" dirty="0"/>
          </a:p>
        </p:txBody>
      </p:sp>
      <p:sp>
        <p:nvSpPr>
          <p:cNvPr id="13" name="Can 12"/>
          <p:cNvSpPr/>
          <p:nvPr/>
        </p:nvSpPr>
        <p:spPr>
          <a:xfrm>
            <a:off x="2553619" y="5786092"/>
            <a:ext cx="3172408" cy="989045"/>
          </a:xfrm>
          <a:prstGeom prst="can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disk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51313" y="3062387"/>
            <a:ext cx="13749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Memory bus</a:t>
            </a:r>
          </a:p>
        </p:txBody>
      </p:sp>
      <p:sp>
        <p:nvSpPr>
          <p:cNvPr id="17" name="Rounded Rectangle 16"/>
          <p:cNvSpPr/>
          <p:nvPr/>
        </p:nvSpPr>
        <p:spPr>
          <a:xfrm flipH="1">
            <a:off x="375953" y="1394445"/>
            <a:ext cx="7293810" cy="3772768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/>
          <p:cNvSpPr txBox="1"/>
          <p:nvPr/>
        </p:nvSpPr>
        <p:spPr>
          <a:xfrm>
            <a:off x="513886" y="4557232"/>
            <a:ext cx="20410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/>
              <a:t>Compute node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69329" y="5371157"/>
            <a:ext cx="8707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I/O bus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45785" y="2471643"/>
            <a:ext cx="1317830" cy="427261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Cache ($)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147643" y="1604140"/>
            <a:ext cx="1817256" cy="1254413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CPU core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397356" y="2425421"/>
            <a:ext cx="1317830" cy="427261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Cache ($)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598367" y="2146041"/>
            <a:ext cx="450764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mr-IN" sz="3000" dirty="0"/>
              <a:t>…</a:t>
            </a:r>
            <a:endParaRPr lang="en-US" sz="3000" dirty="0"/>
          </a:p>
        </p:txBody>
      </p:sp>
      <p:cxnSp>
        <p:nvCxnSpPr>
          <p:cNvPr id="37" name="Straight Connector 36"/>
          <p:cNvCxnSpPr/>
          <p:nvPr/>
        </p:nvCxnSpPr>
        <p:spPr>
          <a:xfrm>
            <a:off x="1548882" y="3394397"/>
            <a:ext cx="4963885" cy="0"/>
          </a:xfrm>
          <a:prstGeom prst="line">
            <a:avLst/>
          </a:prstGeom>
          <a:ln w="4762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/>
          <p:cNvCxnSpPr/>
          <p:nvPr/>
        </p:nvCxnSpPr>
        <p:spPr>
          <a:xfrm flipH="1" flipV="1">
            <a:off x="1573316" y="2873830"/>
            <a:ext cx="12889" cy="520567"/>
          </a:xfrm>
          <a:prstGeom prst="line">
            <a:avLst/>
          </a:prstGeom>
          <a:ln w="4762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/>
          <p:nvPr/>
        </p:nvCxnSpPr>
        <p:spPr>
          <a:xfrm flipV="1">
            <a:off x="4102922" y="2886367"/>
            <a:ext cx="0" cy="508030"/>
          </a:xfrm>
          <a:prstGeom prst="line">
            <a:avLst/>
          </a:prstGeom>
          <a:ln w="4762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/>
          <p:cNvCxnSpPr/>
          <p:nvPr/>
        </p:nvCxnSpPr>
        <p:spPr>
          <a:xfrm flipV="1">
            <a:off x="6550655" y="2886367"/>
            <a:ext cx="0" cy="508030"/>
          </a:xfrm>
          <a:prstGeom prst="line">
            <a:avLst/>
          </a:prstGeom>
          <a:ln w="4762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>
            <a:stCxn id="12" idx="0"/>
          </p:cNvCxnSpPr>
          <p:nvPr/>
        </p:nvCxnSpPr>
        <p:spPr>
          <a:xfrm flipH="1" flipV="1">
            <a:off x="4209532" y="3394397"/>
            <a:ext cx="15751" cy="402113"/>
          </a:xfrm>
          <a:prstGeom prst="line">
            <a:avLst/>
          </a:prstGeom>
          <a:ln w="4762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Up-Down Arrow 44"/>
          <p:cNvSpPr/>
          <p:nvPr/>
        </p:nvSpPr>
        <p:spPr>
          <a:xfrm>
            <a:off x="4102922" y="5167213"/>
            <a:ext cx="366407" cy="606056"/>
          </a:xfrm>
          <a:prstGeom prst="upDown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ectangle 45"/>
          <p:cNvSpPr/>
          <p:nvPr/>
        </p:nvSpPr>
        <p:spPr>
          <a:xfrm>
            <a:off x="5670018" y="1588591"/>
            <a:ext cx="1817256" cy="1254413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CPU core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5919731" y="2409872"/>
            <a:ext cx="1317830" cy="427261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Cache ($)</a:t>
            </a:r>
          </a:p>
        </p:txBody>
      </p:sp>
      <p:grpSp>
        <p:nvGrpSpPr>
          <p:cNvPr id="55" name="Group 54"/>
          <p:cNvGrpSpPr/>
          <p:nvPr/>
        </p:nvGrpSpPr>
        <p:grpSpPr>
          <a:xfrm>
            <a:off x="5917055" y="726148"/>
            <a:ext cx="1190876" cy="1362799"/>
            <a:chOff x="8133893" y="1287095"/>
            <a:chExt cx="1190876" cy="1362799"/>
          </a:xfrm>
        </p:grpSpPr>
        <p:sp>
          <p:nvSpPr>
            <p:cNvPr id="50" name="TextBox 49"/>
            <p:cNvSpPr txBox="1"/>
            <p:nvPr/>
          </p:nvSpPr>
          <p:spPr>
            <a:xfrm>
              <a:off x="8192393" y="1287095"/>
              <a:ext cx="1018099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/>
                <a:t>Threads</a:t>
              </a:r>
            </a:p>
          </p:txBody>
        </p:sp>
        <p:sp>
          <p:nvSpPr>
            <p:cNvPr id="52" name="Freeform 51"/>
            <p:cNvSpPr/>
            <p:nvPr/>
          </p:nvSpPr>
          <p:spPr>
            <a:xfrm>
              <a:off x="8133893" y="1642188"/>
              <a:ext cx="301007" cy="1007706"/>
            </a:xfrm>
            <a:custGeom>
              <a:avLst/>
              <a:gdLst>
                <a:gd name="connsiteX0" fmla="*/ 170352 w 301007"/>
                <a:gd name="connsiteY0" fmla="*/ 0 h 1007706"/>
                <a:gd name="connsiteX1" fmla="*/ 2401 w 301007"/>
                <a:gd name="connsiteY1" fmla="*/ 223934 h 1007706"/>
                <a:gd name="connsiteX2" fmla="*/ 282319 w 301007"/>
                <a:gd name="connsiteY2" fmla="*/ 335902 h 1007706"/>
                <a:gd name="connsiteX3" fmla="*/ 39723 w 301007"/>
                <a:gd name="connsiteY3" fmla="*/ 485192 h 1007706"/>
                <a:gd name="connsiteX4" fmla="*/ 300980 w 301007"/>
                <a:gd name="connsiteY4" fmla="*/ 597159 h 1007706"/>
                <a:gd name="connsiteX5" fmla="*/ 21062 w 301007"/>
                <a:gd name="connsiteY5" fmla="*/ 690465 h 1007706"/>
                <a:gd name="connsiteX6" fmla="*/ 207674 w 301007"/>
                <a:gd name="connsiteY6" fmla="*/ 821094 h 1007706"/>
                <a:gd name="connsiteX7" fmla="*/ 226336 w 301007"/>
                <a:gd name="connsiteY7" fmla="*/ 1007706 h 1007706"/>
                <a:gd name="connsiteX8" fmla="*/ 226336 w 301007"/>
                <a:gd name="connsiteY8" fmla="*/ 1007706 h 10077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01007" h="1007706">
                  <a:moveTo>
                    <a:pt x="170352" y="0"/>
                  </a:moveTo>
                  <a:cubicBezTo>
                    <a:pt x="77046" y="83975"/>
                    <a:pt x="-16260" y="167950"/>
                    <a:pt x="2401" y="223934"/>
                  </a:cubicBezTo>
                  <a:cubicBezTo>
                    <a:pt x="21062" y="279918"/>
                    <a:pt x="276099" y="292359"/>
                    <a:pt x="282319" y="335902"/>
                  </a:cubicBezTo>
                  <a:cubicBezTo>
                    <a:pt x="288539" y="379445"/>
                    <a:pt x="36613" y="441649"/>
                    <a:pt x="39723" y="485192"/>
                  </a:cubicBezTo>
                  <a:cubicBezTo>
                    <a:pt x="42833" y="528735"/>
                    <a:pt x="304090" y="562947"/>
                    <a:pt x="300980" y="597159"/>
                  </a:cubicBezTo>
                  <a:cubicBezTo>
                    <a:pt x="297870" y="631371"/>
                    <a:pt x="36613" y="653143"/>
                    <a:pt x="21062" y="690465"/>
                  </a:cubicBezTo>
                  <a:cubicBezTo>
                    <a:pt x="5511" y="727788"/>
                    <a:pt x="173462" y="768221"/>
                    <a:pt x="207674" y="821094"/>
                  </a:cubicBezTo>
                  <a:cubicBezTo>
                    <a:pt x="241886" y="873968"/>
                    <a:pt x="226336" y="1007706"/>
                    <a:pt x="226336" y="1007706"/>
                  </a:cubicBezTo>
                  <a:lnTo>
                    <a:pt x="226336" y="1007706"/>
                  </a:lnTo>
                </a:path>
              </a:pathLst>
            </a:custGeom>
            <a:noFill/>
            <a:ln>
              <a:tailEnd type="arrow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Freeform 52"/>
            <p:cNvSpPr/>
            <p:nvPr/>
          </p:nvSpPr>
          <p:spPr>
            <a:xfrm>
              <a:off x="8570684" y="1622801"/>
              <a:ext cx="301007" cy="1007706"/>
            </a:xfrm>
            <a:custGeom>
              <a:avLst/>
              <a:gdLst>
                <a:gd name="connsiteX0" fmla="*/ 170352 w 301007"/>
                <a:gd name="connsiteY0" fmla="*/ 0 h 1007706"/>
                <a:gd name="connsiteX1" fmla="*/ 2401 w 301007"/>
                <a:gd name="connsiteY1" fmla="*/ 223934 h 1007706"/>
                <a:gd name="connsiteX2" fmla="*/ 282319 w 301007"/>
                <a:gd name="connsiteY2" fmla="*/ 335902 h 1007706"/>
                <a:gd name="connsiteX3" fmla="*/ 39723 w 301007"/>
                <a:gd name="connsiteY3" fmla="*/ 485192 h 1007706"/>
                <a:gd name="connsiteX4" fmla="*/ 300980 w 301007"/>
                <a:gd name="connsiteY4" fmla="*/ 597159 h 1007706"/>
                <a:gd name="connsiteX5" fmla="*/ 21062 w 301007"/>
                <a:gd name="connsiteY5" fmla="*/ 690465 h 1007706"/>
                <a:gd name="connsiteX6" fmla="*/ 207674 w 301007"/>
                <a:gd name="connsiteY6" fmla="*/ 821094 h 1007706"/>
                <a:gd name="connsiteX7" fmla="*/ 226336 w 301007"/>
                <a:gd name="connsiteY7" fmla="*/ 1007706 h 1007706"/>
                <a:gd name="connsiteX8" fmla="*/ 226336 w 301007"/>
                <a:gd name="connsiteY8" fmla="*/ 1007706 h 10077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01007" h="1007706">
                  <a:moveTo>
                    <a:pt x="170352" y="0"/>
                  </a:moveTo>
                  <a:cubicBezTo>
                    <a:pt x="77046" y="83975"/>
                    <a:pt x="-16260" y="167950"/>
                    <a:pt x="2401" y="223934"/>
                  </a:cubicBezTo>
                  <a:cubicBezTo>
                    <a:pt x="21062" y="279918"/>
                    <a:pt x="276099" y="292359"/>
                    <a:pt x="282319" y="335902"/>
                  </a:cubicBezTo>
                  <a:cubicBezTo>
                    <a:pt x="288539" y="379445"/>
                    <a:pt x="36613" y="441649"/>
                    <a:pt x="39723" y="485192"/>
                  </a:cubicBezTo>
                  <a:cubicBezTo>
                    <a:pt x="42833" y="528735"/>
                    <a:pt x="304090" y="562947"/>
                    <a:pt x="300980" y="597159"/>
                  </a:cubicBezTo>
                  <a:cubicBezTo>
                    <a:pt x="297870" y="631371"/>
                    <a:pt x="36613" y="653143"/>
                    <a:pt x="21062" y="690465"/>
                  </a:cubicBezTo>
                  <a:cubicBezTo>
                    <a:pt x="5511" y="727788"/>
                    <a:pt x="173462" y="768221"/>
                    <a:pt x="207674" y="821094"/>
                  </a:cubicBezTo>
                  <a:cubicBezTo>
                    <a:pt x="241886" y="873968"/>
                    <a:pt x="226336" y="1007706"/>
                    <a:pt x="226336" y="1007706"/>
                  </a:cubicBezTo>
                  <a:lnTo>
                    <a:pt x="226336" y="1007706"/>
                  </a:lnTo>
                </a:path>
              </a:pathLst>
            </a:custGeom>
            <a:noFill/>
            <a:ln>
              <a:tailEnd type="arrow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Freeform 53"/>
            <p:cNvSpPr/>
            <p:nvPr/>
          </p:nvSpPr>
          <p:spPr>
            <a:xfrm>
              <a:off x="9023762" y="1588591"/>
              <a:ext cx="301007" cy="1007706"/>
            </a:xfrm>
            <a:custGeom>
              <a:avLst/>
              <a:gdLst>
                <a:gd name="connsiteX0" fmla="*/ 170352 w 301007"/>
                <a:gd name="connsiteY0" fmla="*/ 0 h 1007706"/>
                <a:gd name="connsiteX1" fmla="*/ 2401 w 301007"/>
                <a:gd name="connsiteY1" fmla="*/ 223934 h 1007706"/>
                <a:gd name="connsiteX2" fmla="*/ 282319 w 301007"/>
                <a:gd name="connsiteY2" fmla="*/ 335902 h 1007706"/>
                <a:gd name="connsiteX3" fmla="*/ 39723 w 301007"/>
                <a:gd name="connsiteY3" fmla="*/ 485192 h 1007706"/>
                <a:gd name="connsiteX4" fmla="*/ 300980 w 301007"/>
                <a:gd name="connsiteY4" fmla="*/ 597159 h 1007706"/>
                <a:gd name="connsiteX5" fmla="*/ 21062 w 301007"/>
                <a:gd name="connsiteY5" fmla="*/ 690465 h 1007706"/>
                <a:gd name="connsiteX6" fmla="*/ 207674 w 301007"/>
                <a:gd name="connsiteY6" fmla="*/ 821094 h 1007706"/>
                <a:gd name="connsiteX7" fmla="*/ 226336 w 301007"/>
                <a:gd name="connsiteY7" fmla="*/ 1007706 h 1007706"/>
                <a:gd name="connsiteX8" fmla="*/ 226336 w 301007"/>
                <a:gd name="connsiteY8" fmla="*/ 1007706 h 10077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01007" h="1007706">
                  <a:moveTo>
                    <a:pt x="170352" y="0"/>
                  </a:moveTo>
                  <a:cubicBezTo>
                    <a:pt x="77046" y="83975"/>
                    <a:pt x="-16260" y="167950"/>
                    <a:pt x="2401" y="223934"/>
                  </a:cubicBezTo>
                  <a:cubicBezTo>
                    <a:pt x="21062" y="279918"/>
                    <a:pt x="276099" y="292359"/>
                    <a:pt x="282319" y="335902"/>
                  </a:cubicBezTo>
                  <a:cubicBezTo>
                    <a:pt x="288539" y="379445"/>
                    <a:pt x="36613" y="441649"/>
                    <a:pt x="39723" y="485192"/>
                  </a:cubicBezTo>
                  <a:cubicBezTo>
                    <a:pt x="42833" y="528735"/>
                    <a:pt x="304090" y="562947"/>
                    <a:pt x="300980" y="597159"/>
                  </a:cubicBezTo>
                  <a:cubicBezTo>
                    <a:pt x="297870" y="631371"/>
                    <a:pt x="36613" y="653143"/>
                    <a:pt x="21062" y="690465"/>
                  </a:cubicBezTo>
                  <a:cubicBezTo>
                    <a:pt x="5511" y="727788"/>
                    <a:pt x="173462" y="768221"/>
                    <a:pt x="207674" y="821094"/>
                  </a:cubicBezTo>
                  <a:cubicBezTo>
                    <a:pt x="241886" y="873968"/>
                    <a:pt x="226336" y="1007706"/>
                    <a:pt x="226336" y="1007706"/>
                  </a:cubicBezTo>
                  <a:lnTo>
                    <a:pt x="226336" y="1007706"/>
                  </a:lnTo>
                </a:path>
              </a:pathLst>
            </a:custGeom>
            <a:noFill/>
            <a:ln>
              <a:tailEnd type="arrow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56" name="Group 55"/>
          <p:cNvGrpSpPr/>
          <p:nvPr/>
        </p:nvGrpSpPr>
        <p:grpSpPr>
          <a:xfrm>
            <a:off x="945684" y="662203"/>
            <a:ext cx="1190876" cy="1382397"/>
            <a:chOff x="8133893" y="1267497"/>
            <a:chExt cx="1190876" cy="1382397"/>
          </a:xfrm>
        </p:grpSpPr>
        <p:sp>
          <p:nvSpPr>
            <p:cNvPr id="57" name="TextBox 56"/>
            <p:cNvSpPr txBox="1"/>
            <p:nvPr/>
          </p:nvSpPr>
          <p:spPr>
            <a:xfrm>
              <a:off x="8212137" y="1267497"/>
              <a:ext cx="1018099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/>
                <a:t>Threads</a:t>
              </a:r>
            </a:p>
          </p:txBody>
        </p:sp>
        <p:sp>
          <p:nvSpPr>
            <p:cNvPr id="58" name="Freeform 57"/>
            <p:cNvSpPr/>
            <p:nvPr/>
          </p:nvSpPr>
          <p:spPr>
            <a:xfrm>
              <a:off x="8133893" y="1642188"/>
              <a:ext cx="301007" cy="1007706"/>
            </a:xfrm>
            <a:custGeom>
              <a:avLst/>
              <a:gdLst>
                <a:gd name="connsiteX0" fmla="*/ 170352 w 301007"/>
                <a:gd name="connsiteY0" fmla="*/ 0 h 1007706"/>
                <a:gd name="connsiteX1" fmla="*/ 2401 w 301007"/>
                <a:gd name="connsiteY1" fmla="*/ 223934 h 1007706"/>
                <a:gd name="connsiteX2" fmla="*/ 282319 w 301007"/>
                <a:gd name="connsiteY2" fmla="*/ 335902 h 1007706"/>
                <a:gd name="connsiteX3" fmla="*/ 39723 w 301007"/>
                <a:gd name="connsiteY3" fmla="*/ 485192 h 1007706"/>
                <a:gd name="connsiteX4" fmla="*/ 300980 w 301007"/>
                <a:gd name="connsiteY4" fmla="*/ 597159 h 1007706"/>
                <a:gd name="connsiteX5" fmla="*/ 21062 w 301007"/>
                <a:gd name="connsiteY5" fmla="*/ 690465 h 1007706"/>
                <a:gd name="connsiteX6" fmla="*/ 207674 w 301007"/>
                <a:gd name="connsiteY6" fmla="*/ 821094 h 1007706"/>
                <a:gd name="connsiteX7" fmla="*/ 226336 w 301007"/>
                <a:gd name="connsiteY7" fmla="*/ 1007706 h 1007706"/>
                <a:gd name="connsiteX8" fmla="*/ 226336 w 301007"/>
                <a:gd name="connsiteY8" fmla="*/ 1007706 h 10077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01007" h="1007706">
                  <a:moveTo>
                    <a:pt x="170352" y="0"/>
                  </a:moveTo>
                  <a:cubicBezTo>
                    <a:pt x="77046" y="83975"/>
                    <a:pt x="-16260" y="167950"/>
                    <a:pt x="2401" y="223934"/>
                  </a:cubicBezTo>
                  <a:cubicBezTo>
                    <a:pt x="21062" y="279918"/>
                    <a:pt x="276099" y="292359"/>
                    <a:pt x="282319" y="335902"/>
                  </a:cubicBezTo>
                  <a:cubicBezTo>
                    <a:pt x="288539" y="379445"/>
                    <a:pt x="36613" y="441649"/>
                    <a:pt x="39723" y="485192"/>
                  </a:cubicBezTo>
                  <a:cubicBezTo>
                    <a:pt x="42833" y="528735"/>
                    <a:pt x="304090" y="562947"/>
                    <a:pt x="300980" y="597159"/>
                  </a:cubicBezTo>
                  <a:cubicBezTo>
                    <a:pt x="297870" y="631371"/>
                    <a:pt x="36613" y="653143"/>
                    <a:pt x="21062" y="690465"/>
                  </a:cubicBezTo>
                  <a:cubicBezTo>
                    <a:pt x="5511" y="727788"/>
                    <a:pt x="173462" y="768221"/>
                    <a:pt x="207674" y="821094"/>
                  </a:cubicBezTo>
                  <a:cubicBezTo>
                    <a:pt x="241886" y="873968"/>
                    <a:pt x="226336" y="1007706"/>
                    <a:pt x="226336" y="1007706"/>
                  </a:cubicBezTo>
                  <a:lnTo>
                    <a:pt x="226336" y="1007706"/>
                  </a:lnTo>
                </a:path>
              </a:pathLst>
            </a:custGeom>
            <a:noFill/>
            <a:ln>
              <a:tailEnd type="arrow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Freeform 58"/>
            <p:cNvSpPr/>
            <p:nvPr/>
          </p:nvSpPr>
          <p:spPr>
            <a:xfrm>
              <a:off x="8570684" y="1622801"/>
              <a:ext cx="301007" cy="1007706"/>
            </a:xfrm>
            <a:custGeom>
              <a:avLst/>
              <a:gdLst>
                <a:gd name="connsiteX0" fmla="*/ 170352 w 301007"/>
                <a:gd name="connsiteY0" fmla="*/ 0 h 1007706"/>
                <a:gd name="connsiteX1" fmla="*/ 2401 w 301007"/>
                <a:gd name="connsiteY1" fmla="*/ 223934 h 1007706"/>
                <a:gd name="connsiteX2" fmla="*/ 282319 w 301007"/>
                <a:gd name="connsiteY2" fmla="*/ 335902 h 1007706"/>
                <a:gd name="connsiteX3" fmla="*/ 39723 w 301007"/>
                <a:gd name="connsiteY3" fmla="*/ 485192 h 1007706"/>
                <a:gd name="connsiteX4" fmla="*/ 300980 w 301007"/>
                <a:gd name="connsiteY4" fmla="*/ 597159 h 1007706"/>
                <a:gd name="connsiteX5" fmla="*/ 21062 w 301007"/>
                <a:gd name="connsiteY5" fmla="*/ 690465 h 1007706"/>
                <a:gd name="connsiteX6" fmla="*/ 207674 w 301007"/>
                <a:gd name="connsiteY6" fmla="*/ 821094 h 1007706"/>
                <a:gd name="connsiteX7" fmla="*/ 226336 w 301007"/>
                <a:gd name="connsiteY7" fmla="*/ 1007706 h 1007706"/>
                <a:gd name="connsiteX8" fmla="*/ 226336 w 301007"/>
                <a:gd name="connsiteY8" fmla="*/ 1007706 h 10077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01007" h="1007706">
                  <a:moveTo>
                    <a:pt x="170352" y="0"/>
                  </a:moveTo>
                  <a:cubicBezTo>
                    <a:pt x="77046" y="83975"/>
                    <a:pt x="-16260" y="167950"/>
                    <a:pt x="2401" y="223934"/>
                  </a:cubicBezTo>
                  <a:cubicBezTo>
                    <a:pt x="21062" y="279918"/>
                    <a:pt x="276099" y="292359"/>
                    <a:pt x="282319" y="335902"/>
                  </a:cubicBezTo>
                  <a:cubicBezTo>
                    <a:pt x="288539" y="379445"/>
                    <a:pt x="36613" y="441649"/>
                    <a:pt x="39723" y="485192"/>
                  </a:cubicBezTo>
                  <a:cubicBezTo>
                    <a:pt x="42833" y="528735"/>
                    <a:pt x="304090" y="562947"/>
                    <a:pt x="300980" y="597159"/>
                  </a:cubicBezTo>
                  <a:cubicBezTo>
                    <a:pt x="297870" y="631371"/>
                    <a:pt x="36613" y="653143"/>
                    <a:pt x="21062" y="690465"/>
                  </a:cubicBezTo>
                  <a:cubicBezTo>
                    <a:pt x="5511" y="727788"/>
                    <a:pt x="173462" y="768221"/>
                    <a:pt x="207674" y="821094"/>
                  </a:cubicBezTo>
                  <a:cubicBezTo>
                    <a:pt x="241886" y="873968"/>
                    <a:pt x="226336" y="1007706"/>
                    <a:pt x="226336" y="1007706"/>
                  </a:cubicBezTo>
                  <a:lnTo>
                    <a:pt x="226336" y="1007706"/>
                  </a:lnTo>
                </a:path>
              </a:pathLst>
            </a:custGeom>
            <a:noFill/>
            <a:ln>
              <a:tailEnd type="arrow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Freeform 59"/>
            <p:cNvSpPr/>
            <p:nvPr/>
          </p:nvSpPr>
          <p:spPr>
            <a:xfrm>
              <a:off x="9023762" y="1588591"/>
              <a:ext cx="301007" cy="1007706"/>
            </a:xfrm>
            <a:custGeom>
              <a:avLst/>
              <a:gdLst>
                <a:gd name="connsiteX0" fmla="*/ 170352 w 301007"/>
                <a:gd name="connsiteY0" fmla="*/ 0 h 1007706"/>
                <a:gd name="connsiteX1" fmla="*/ 2401 w 301007"/>
                <a:gd name="connsiteY1" fmla="*/ 223934 h 1007706"/>
                <a:gd name="connsiteX2" fmla="*/ 282319 w 301007"/>
                <a:gd name="connsiteY2" fmla="*/ 335902 h 1007706"/>
                <a:gd name="connsiteX3" fmla="*/ 39723 w 301007"/>
                <a:gd name="connsiteY3" fmla="*/ 485192 h 1007706"/>
                <a:gd name="connsiteX4" fmla="*/ 300980 w 301007"/>
                <a:gd name="connsiteY4" fmla="*/ 597159 h 1007706"/>
                <a:gd name="connsiteX5" fmla="*/ 21062 w 301007"/>
                <a:gd name="connsiteY5" fmla="*/ 690465 h 1007706"/>
                <a:gd name="connsiteX6" fmla="*/ 207674 w 301007"/>
                <a:gd name="connsiteY6" fmla="*/ 821094 h 1007706"/>
                <a:gd name="connsiteX7" fmla="*/ 226336 w 301007"/>
                <a:gd name="connsiteY7" fmla="*/ 1007706 h 1007706"/>
                <a:gd name="connsiteX8" fmla="*/ 226336 w 301007"/>
                <a:gd name="connsiteY8" fmla="*/ 1007706 h 10077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01007" h="1007706">
                  <a:moveTo>
                    <a:pt x="170352" y="0"/>
                  </a:moveTo>
                  <a:cubicBezTo>
                    <a:pt x="77046" y="83975"/>
                    <a:pt x="-16260" y="167950"/>
                    <a:pt x="2401" y="223934"/>
                  </a:cubicBezTo>
                  <a:cubicBezTo>
                    <a:pt x="21062" y="279918"/>
                    <a:pt x="276099" y="292359"/>
                    <a:pt x="282319" y="335902"/>
                  </a:cubicBezTo>
                  <a:cubicBezTo>
                    <a:pt x="288539" y="379445"/>
                    <a:pt x="36613" y="441649"/>
                    <a:pt x="39723" y="485192"/>
                  </a:cubicBezTo>
                  <a:cubicBezTo>
                    <a:pt x="42833" y="528735"/>
                    <a:pt x="304090" y="562947"/>
                    <a:pt x="300980" y="597159"/>
                  </a:cubicBezTo>
                  <a:cubicBezTo>
                    <a:pt x="297870" y="631371"/>
                    <a:pt x="36613" y="653143"/>
                    <a:pt x="21062" y="690465"/>
                  </a:cubicBezTo>
                  <a:cubicBezTo>
                    <a:pt x="5511" y="727788"/>
                    <a:pt x="173462" y="768221"/>
                    <a:pt x="207674" y="821094"/>
                  </a:cubicBezTo>
                  <a:cubicBezTo>
                    <a:pt x="241886" y="873968"/>
                    <a:pt x="226336" y="1007706"/>
                    <a:pt x="226336" y="1007706"/>
                  </a:cubicBezTo>
                  <a:lnTo>
                    <a:pt x="226336" y="1007706"/>
                  </a:lnTo>
                </a:path>
              </a:pathLst>
            </a:custGeom>
            <a:noFill/>
            <a:ln>
              <a:tailEnd type="arrow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61" name="Group 60"/>
          <p:cNvGrpSpPr/>
          <p:nvPr/>
        </p:nvGrpSpPr>
        <p:grpSpPr>
          <a:xfrm>
            <a:off x="3319663" y="786925"/>
            <a:ext cx="1190876" cy="1362799"/>
            <a:chOff x="8133893" y="1287095"/>
            <a:chExt cx="1190876" cy="1362799"/>
          </a:xfrm>
        </p:grpSpPr>
        <p:sp>
          <p:nvSpPr>
            <p:cNvPr id="62" name="TextBox 61"/>
            <p:cNvSpPr txBox="1"/>
            <p:nvPr/>
          </p:nvSpPr>
          <p:spPr>
            <a:xfrm>
              <a:off x="8192393" y="1287095"/>
              <a:ext cx="1018099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/>
                <a:t>Threads</a:t>
              </a:r>
            </a:p>
          </p:txBody>
        </p:sp>
        <p:sp>
          <p:nvSpPr>
            <p:cNvPr id="63" name="Freeform 62"/>
            <p:cNvSpPr/>
            <p:nvPr/>
          </p:nvSpPr>
          <p:spPr>
            <a:xfrm>
              <a:off x="8133893" y="1642188"/>
              <a:ext cx="301007" cy="1007706"/>
            </a:xfrm>
            <a:custGeom>
              <a:avLst/>
              <a:gdLst>
                <a:gd name="connsiteX0" fmla="*/ 170352 w 301007"/>
                <a:gd name="connsiteY0" fmla="*/ 0 h 1007706"/>
                <a:gd name="connsiteX1" fmla="*/ 2401 w 301007"/>
                <a:gd name="connsiteY1" fmla="*/ 223934 h 1007706"/>
                <a:gd name="connsiteX2" fmla="*/ 282319 w 301007"/>
                <a:gd name="connsiteY2" fmla="*/ 335902 h 1007706"/>
                <a:gd name="connsiteX3" fmla="*/ 39723 w 301007"/>
                <a:gd name="connsiteY3" fmla="*/ 485192 h 1007706"/>
                <a:gd name="connsiteX4" fmla="*/ 300980 w 301007"/>
                <a:gd name="connsiteY4" fmla="*/ 597159 h 1007706"/>
                <a:gd name="connsiteX5" fmla="*/ 21062 w 301007"/>
                <a:gd name="connsiteY5" fmla="*/ 690465 h 1007706"/>
                <a:gd name="connsiteX6" fmla="*/ 207674 w 301007"/>
                <a:gd name="connsiteY6" fmla="*/ 821094 h 1007706"/>
                <a:gd name="connsiteX7" fmla="*/ 226336 w 301007"/>
                <a:gd name="connsiteY7" fmla="*/ 1007706 h 1007706"/>
                <a:gd name="connsiteX8" fmla="*/ 226336 w 301007"/>
                <a:gd name="connsiteY8" fmla="*/ 1007706 h 10077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01007" h="1007706">
                  <a:moveTo>
                    <a:pt x="170352" y="0"/>
                  </a:moveTo>
                  <a:cubicBezTo>
                    <a:pt x="77046" y="83975"/>
                    <a:pt x="-16260" y="167950"/>
                    <a:pt x="2401" y="223934"/>
                  </a:cubicBezTo>
                  <a:cubicBezTo>
                    <a:pt x="21062" y="279918"/>
                    <a:pt x="276099" y="292359"/>
                    <a:pt x="282319" y="335902"/>
                  </a:cubicBezTo>
                  <a:cubicBezTo>
                    <a:pt x="288539" y="379445"/>
                    <a:pt x="36613" y="441649"/>
                    <a:pt x="39723" y="485192"/>
                  </a:cubicBezTo>
                  <a:cubicBezTo>
                    <a:pt x="42833" y="528735"/>
                    <a:pt x="304090" y="562947"/>
                    <a:pt x="300980" y="597159"/>
                  </a:cubicBezTo>
                  <a:cubicBezTo>
                    <a:pt x="297870" y="631371"/>
                    <a:pt x="36613" y="653143"/>
                    <a:pt x="21062" y="690465"/>
                  </a:cubicBezTo>
                  <a:cubicBezTo>
                    <a:pt x="5511" y="727788"/>
                    <a:pt x="173462" y="768221"/>
                    <a:pt x="207674" y="821094"/>
                  </a:cubicBezTo>
                  <a:cubicBezTo>
                    <a:pt x="241886" y="873968"/>
                    <a:pt x="226336" y="1007706"/>
                    <a:pt x="226336" y="1007706"/>
                  </a:cubicBezTo>
                  <a:lnTo>
                    <a:pt x="226336" y="1007706"/>
                  </a:lnTo>
                </a:path>
              </a:pathLst>
            </a:custGeom>
            <a:noFill/>
            <a:ln>
              <a:tailEnd type="arrow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Freeform 63"/>
            <p:cNvSpPr/>
            <p:nvPr/>
          </p:nvSpPr>
          <p:spPr>
            <a:xfrm>
              <a:off x="8570684" y="1622801"/>
              <a:ext cx="301007" cy="1007706"/>
            </a:xfrm>
            <a:custGeom>
              <a:avLst/>
              <a:gdLst>
                <a:gd name="connsiteX0" fmla="*/ 170352 w 301007"/>
                <a:gd name="connsiteY0" fmla="*/ 0 h 1007706"/>
                <a:gd name="connsiteX1" fmla="*/ 2401 w 301007"/>
                <a:gd name="connsiteY1" fmla="*/ 223934 h 1007706"/>
                <a:gd name="connsiteX2" fmla="*/ 282319 w 301007"/>
                <a:gd name="connsiteY2" fmla="*/ 335902 h 1007706"/>
                <a:gd name="connsiteX3" fmla="*/ 39723 w 301007"/>
                <a:gd name="connsiteY3" fmla="*/ 485192 h 1007706"/>
                <a:gd name="connsiteX4" fmla="*/ 300980 w 301007"/>
                <a:gd name="connsiteY4" fmla="*/ 597159 h 1007706"/>
                <a:gd name="connsiteX5" fmla="*/ 21062 w 301007"/>
                <a:gd name="connsiteY5" fmla="*/ 690465 h 1007706"/>
                <a:gd name="connsiteX6" fmla="*/ 207674 w 301007"/>
                <a:gd name="connsiteY6" fmla="*/ 821094 h 1007706"/>
                <a:gd name="connsiteX7" fmla="*/ 226336 w 301007"/>
                <a:gd name="connsiteY7" fmla="*/ 1007706 h 1007706"/>
                <a:gd name="connsiteX8" fmla="*/ 226336 w 301007"/>
                <a:gd name="connsiteY8" fmla="*/ 1007706 h 10077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01007" h="1007706">
                  <a:moveTo>
                    <a:pt x="170352" y="0"/>
                  </a:moveTo>
                  <a:cubicBezTo>
                    <a:pt x="77046" y="83975"/>
                    <a:pt x="-16260" y="167950"/>
                    <a:pt x="2401" y="223934"/>
                  </a:cubicBezTo>
                  <a:cubicBezTo>
                    <a:pt x="21062" y="279918"/>
                    <a:pt x="276099" y="292359"/>
                    <a:pt x="282319" y="335902"/>
                  </a:cubicBezTo>
                  <a:cubicBezTo>
                    <a:pt x="288539" y="379445"/>
                    <a:pt x="36613" y="441649"/>
                    <a:pt x="39723" y="485192"/>
                  </a:cubicBezTo>
                  <a:cubicBezTo>
                    <a:pt x="42833" y="528735"/>
                    <a:pt x="304090" y="562947"/>
                    <a:pt x="300980" y="597159"/>
                  </a:cubicBezTo>
                  <a:cubicBezTo>
                    <a:pt x="297870" y="631371"/>
                    <a:pt x="36613" y="653143"/>
                    <a:pt x="21062" y="690465"/>
                  </a:cubicBezTo>
                  <a:cubicBezTo>
                    <a:pt x="5511" y="727788"/>
                    <a:pt x="173462" y="768221"/>
                    <a:pt x="207674" y="821094"/>
                  </a:cubicBezTo>
                  <a:cubicBezTo>
                    <a:pt x="241886" y="873968"/>
                    <a:pt x="226336" y="1007706"/>
                    <a:pt x="226336" y="1007706"/>
                  </a:cubicBezTo>
                  <a:lnTo>
                    <a:pt x="226336" y="1007706"/>
                  </a:lnTo>
                </a:path>
              </a:pathLst>
            </a:custGeom>
            <a:noFill/>
            <a:ln>
              <a:tailEnd type="arrow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Freeform 64"/>
            <p:cNvSpPr/>
            <p:nvPr/>
          </p:nvSpPr>
          <p:spPr>
            <a:xfrm>
              <a:off x="9023762" y="1588591"/>
              <a:ext cx="301007" cy="1007706"/>
            </a:xfrm>
            <a:custGeom>
              <a:avLst/>
              <a:gdLst>
                <a:gd name="connsiteX0" fmla="*/ 170352 w 301007"/>
                <a:gd name="connsiteY0" fmla="*/ 0 h 1007706"/>
                <a:gd name="connsiteX1" fmla="*/ 2401 w 301007"/>
                <a:gd name="connsiteY1" fmla="*/ 223934 h 1007706"/>
                <a:gd name="connsiteX2" fmla="*/ 282319 w 301007"/>
                <a:gd name="connsiteY2" fmla="*/ 335902 h 1007706"/>
                <a:gd name="connsiteX3" fmla="*/ 39723 w 301007"/>
                <a:gd name="connsiteY3" fmla="*/ 485192 h 1007706"/>
                <a:gd name="connsiteX4" fmla="*/ 300980 w 301007"/>
                <a:gd name="connsiteY4" fmla="*/ 597159 h 1007706"/>
                <a:gd name="connsiteX5" fmla="*/ 21062 w 301007"/>
                <a:gd name="connsiteY5" fmla="*/ 690465 h 1007706"/>
                <a:gd name="connsiteX6" fmla="*/ 207674 w 301007"/>
                <a:gd name="connsiteY6" fmla="*/ 821094 h 1007706"/>
                <a:gd name="connsiteX7" fmla="*/ 226336 w 301007"/>
                <a:gd name="connsiteY7" fmla="*/ 1007706 h 1007706"/>
                <a:gd name="connsiteX8" fmla="*/ 226336 w 301007"/>
                <a:gd name="connsiteY8" fmla="*/ 1007706 h 10077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01007" h="1007706">
                  <a:moveTo>
                    <a:pt x="170352" y="0"/>
                  </a:moveTo>
                  <a:cubicBezTo>
                    <a:pt x="77046" y="83975"/>
                    <a:pt x="-16260" y="167950"/>
                    <a:pt x="2401" y="223934"/>
                  </a:cubicBezTo>
                  <a:cubicBezTo>
                    <a:pt x="21062" y="279918"/>
                    <a:pt x="276099" y="292359"/>
                    <a:pt x="282319" y="335902"/>
                  </a:cubicBezTo>
                  <a:cubicBezTo>
                    <a:pt x="288539" y="379445"/>
                    <a:pt x="36613" y="441649"/>
                    <a:pt x="39723" y="485192"/>
                  </a:cubicBezTo>
                  <a:cubicBezTo>
                    <a:pt x="42833" y="528735"/>
                    <a:pt x="304090" y="562947"/>
                    <a:pt x="300980" y="597159"/>
                  </a:cubicBezTo>
                  <a:cubicBezTo>
                    <a:pt x="297870" y="631371"/>
                    <a:pt x="36613" y="653143"/>
                    <a:pt x="21062" y="690465"/>
                  </a:cubicBezTo>
                  <a:cubicBezTo>
                    <a:pt x="5511" y="727788"/>
                    <a:pt x="173462" y="768221"/>
                    <a:pt x="207674" y="821094"/>
                  </a:cubicBezTo>
                  <a:cubicBezTo>
                    <a:pt x="241886" y="873968"/>
                    <a:pt x="226336" y="1007706"/>
                    <a:pt x="226336" y="1007706"/>
                  </a:cubicBezTo>
                  <a:lnTo>
                    <a:pt x="226336" y="1007706"/>
                  </a:lnTo>
                </a:path>
              </a:pathLst>
            </a:custGeom>
            <a:noFill/>
            <a:ln>
              <a:tailEnd type="arrow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71" name="TextBox 70"/>
          <p:cNvSpPr txBox="1"/>
          <p:nvPr/>
        </p:nvSpPr>
        <p:spPr>
          <a:xfrm>
            <a:off x="5887874" y="3751948"/>
            <a:ext cx="2885983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All threads can see a single </a:t>
            </a:r>
            <a:br>
              <a:rPr lang="en-US" dirty="0"/>
            </a:br>
            <a:r>
              <a:rPr lang="en-US" dirty="0"/>
              <a:t>shared address space. </a:t>
            </a:r>
            <a:br>
              <a:rPr lang="en-US" dirty="0"/>
            </a:br>
            <a:r>
              <a:rPr lang="en-US" dirty="0"/>
              <a:t>Therefore, they can see each</a:t>
            </a:r>
            <a:br>
              <a:rPr lang="en-US" dirty="0"/>
            </a:br>
            <a:r>
              <a:rPr lang="en-US" dirty="0"/>
              <a:t>other’s data.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942274" y="5359179"/>
            <a:ext cx="3083616" cy="826935"/>
          </a:xfrm>
          <a:prstGeom prst="round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Each compute node has 1-2 CPUs each with 10-14 cores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6BE44D-6AB7-7747-A5B3-8E5957F8FC9E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16296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latin typeface="Arial" charset="0"/>
              </a:rPr>
              <a:t>Multi-Threading  (for shared memory architectures)</a:t>
            </a:r>
          </a:p>
        </p:txBody>
      </p:sp>
      <p:sp>
        <p:nvSpPr>
          <p:cNvPr id="32770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5230807" cy="4588505"/>
          </a:xfrm>
        </p:spPr>
        <p:txBody>
          <a:bodyPr>
            <a:normAutofit fontScale="62500" lnSpcReduction="20000"/>
          </a:bodyPr>
          <a:lstStyle/>
          <a:p>
            <a:r>
              <a:rPr lang="en-US" dirty="0">
                <a:latin typeface="Arial" charset="0"/>
              </a:rPr>
              <a:t>Threads are contained within processes</a:t>
            </a:r>
          </a:p>
          <a:p>
            <a:pPr lvl="1"/>
            <a:r>
              <a:rPr lang="en-US" dirty="0">
                <a:latin typeface="Arial" charset="0"/>
              </a:rPr>
              <a:t>One process =&gt; multiple threads</a:t>
            </a:r>
          </a:p>
          <a:p>
            <a:endParaRPr lang="en-US" dirty="0">
              <a:latin typeface="Arial" charset="0"/>
            </a:endParaRPr>
          </a:p>
          <a:p>
            <a:r>
              <a:rPr lang="en-US" dirty="0">
                <a:latin typeface="Arial" charset="0"/>
              </a:rPr>
              <a:t>All threads of a process share the same address space (in memory).</a:t>
            </a:r>
          </a:p>
          <a:p>
            <a:endParaRPr lang="en-US" dirty="0">
              <a:latin typeface="Arial" charset="0"/>
            </a:endParaRPr>
          </a:p>
          <a:p>
            <a:r>
              <a:rPr lang="en-US" dirty="0">
                <a:latin typeface="Arial" charset="0"/>
              </a:rPr>
              <a:t>Threads have the capability to run concurrently (executing different instructions and accessing different pieces of data at the same time)</a:t>
            </a:r>
          </a:p>
          <a:p>
            <a:endParaRPr lang="en-US" dirty="0">
              <a:latin typeface="Arial" charset="0"/>
            </a:endParaRPr>
          </a:p>
          <a:p>
            <a:r>
              <a:rPr lang="en-US" dirty="0">
                <a:latin typeface="Arial" charset="0"/>
              </a:rPr>
              <a:t>But if the resource is occupied by another thread, they form a queue and wait.</a:t>
            </a:r>
          </a:p>
          <a:p>
            <a:pPr lvl="1"/>
            <a:r>
              <a:rPr lang="en-US" dirty="0">
                <a:latin typeface="Arial" charset="0"/>
              </a:rPr>
              <a:t>For maximum throughput, it is ideal to map each thread to a unique/distinct core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charset="0"/>
              <a:defRPr sz="32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charset="0"/>
              <a:defRPr sz="32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charset="0"/>
              <a:defRPr sz="32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charset="0"/>
              <a:defRPr sz="32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charset="0"/>
              <a:defRPr sz="32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charset="0"/>
              <a:defRPr sz="32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charset="0"/>
              <a:defRPr sz="32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charset="0"/>
              <a:defRPr sz="32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charset="0"/>
              <a:defRPr sz="32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sz="1200">
                <a:latin typeface="Arial" charset="0"/>
              </a:rPr>
              <a:t>Copyright © 2010, Elsevier Inc. All rights Reserved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6BE44D-6AB7-7747-A5B3-8E5957F8FC9E}" type="slidenum">
              <a:rPr lang="en-US" smtClean="0"/>
              <a:t>15</a:t>
            </a:fld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5748795" y="2624766"/>
            <a:ext cx="1817256" cy="1275673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CPU cores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92570" y="3498252"/>
            <a:ext cx="1317830" cy="427261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Cache ($)</a:t>
            </a:r>
          </a:p>
        </p:txBody>
      </p:sp>
      <p:grpSp>
        <p:nvGrpSpPr>
          <p:cNvPr id="8" name="Group 7"/>
          <p:cNvGrpSpPr/>
          <p:nvPr/>
        </p:nvGrpSpPr>
        <p:grpSpPr>
          <a:xfrm>
            <a:off x="5992469" y="1688812"/>
            <a:ext cx="1190876" cy="1382397"/>
            <a:chOff x="8133893" y="1267497"/>
            <a:chExt cx="1190876" cy="1382397"/>
          </a:xfrm>
        </p:grpSpPr>
        <p:sp>
          <p:nvSpPr>
            <p:cNvPr id="9" name="TextBox 8"/>
            <p:cNvSpPr txBox="1"/>
            <p:nvPr/>
          </p:nvSpPr>
          <p:spPr>
            <a:xfrm>
              <a:off x="8212137" y="1267497"/>
              <a:ext cx="1018099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/>
                <a:t>Threads</a:t>
              </a:r>
            </a:p>
          </p:txBody>
        </p:sp>
        <p:sp>
          <p:nvSpPr>
            <p:cNvPr id="10" name="Freeform 9"/>
            <p:cNvSpPr/>
            <p:nvPr/>
          </p:nvSpPr>
          <p:spPr>
            <a:xfrm>
              <a:off x="8133893" y="1642188"/>
              <a:ext cx="301007" cy="1007706"/>
            </a:xfrm>
            <a:custGeom>
              <a:avLst/>
              <a:gdLst>
                <a:gd name="connsiteX0" fmla="*/ 170352 w 301007"/>
                <a:gd name="connsiteY0" fmla="*/ 0 h 1007706"/>
                <a:gd name="connsiteX1" fmla="*/ 2401 w 301007"/>
                <a:gd name="connsiteY1" fmla="*/ 223934 h 1007706"/>
                <a:gd name="connsiteX2" fmla="*/ 282319 w 301007"/>
                <a:gd name="connsiteY2" fmla="*/ 335902 h 1007706"/>
                <a:gd name="connsiteX3" fmla="*/ 39723 w 301007"/>
                <a:gd name="connsiteY3" fmla="*/ 485192 h 1007706"/>
                <a:gd name="connsiteX4" fmla="*/ 300980 w 301007"/>
                <a:gd name="connsiteY4" fmla="*/ 597159 h 1007706"/>
                <a:gd name="connsiteX5" fmla="*/ 21062 w 301007"/>
                <a:gd name="connsiteY5" fmla="*/ 690465 h 1007706"/>
                <a:gd name="connsiteX6" fmla="*/ 207674 w 301007"/>
                <a:gd name="connsiteY6" fmla="*/ 821094 h 1007706"/>
                <a:gd name="connsiteX7" fmla="*/ 226336 w 301007"/>
                <a:gd name="connsiteY7" fmla="*/ 1007706 h 1007706"/>
                <a:gd name="connsiteX8" fmla="*/ 226336 w 301007"/>
                <a:gd name="connsiteY8" fmla="*/ 1007706 h 10077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01007" h="1007706">
                  <a:moveTo>
                    <a:pt x="170352" y="0"/>
                  </a:moveTo>
                  <a:cubicBezTo>
                    <a:pt x="77046" y="83975"/>
                    <a:pt x="-16260" y="167950"/>
                    <a:pt x="2401" y="223934"/>
                  </a:cubicBezTo>
                  <a:cubicBezTo>
                    <a:pt x="21062" y="279918"/>
                    <a:pt x="276099" y="292359"/>
                    <a:pt x="282319" y="335902"/>
                  </a:cubicBezTo>
                  <a:cubicBezTo>
                    <a:pt x="288539" y="379445"/>
                    <a:pt x="36613" y="441649"/>
                    <a:pt x="39723" y="485192"/>
                  </a:cubicBezTo>
                  <a:cubicBezTo>
                    <a:pt x="42833" y="528735"/>
                    <a:pt x="304090" y="562947"/>
                    <a:pt x="300980" y="597159"/>
                  </a:cubicBezTo>
                  <a:cubicBezTo>
                    <a:pt x="297870" y="631371"/>
                    <a:pt x="36613" y="653143"/>
                    <a:pt x="21062" y="690465"/>
                  </a:cubicBezTo>
                  <a:cubicBezTo>
                    <a:pt x="5511" y="727788"/>
                    <a:pt x="173462" y="768221"/>
                    <a:pt x="207674" y="821094"/>
                  </a:cubicBezTo>
                  <a:cubicBezTo>
                    <a:pt x="241886" y="873968"/>
                    <a:pt x="226336" y="1007706"/>
                    <a:pt x="226336" y="1007706"/>
                  </a:cubicBezTo>
                  <a:lnTo>
                    <a:pt x="226336" y="1007706"/>
                  </a:lnTo>
                </a:path>
              </a:pathLst>
            </a:custGeom>
            <a:noFill/>
            <a:ln>
              <a:tailEnd type="arrow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Freeform 10"/>
            <p:cNvSpPr/>
            <p:nvPr/>
          </p:nvSpPr>
          <p:spPr>
            <a:xfrm>
              <a:off x="8570684" y="1622801"/>
              <a:ext cx="301007" cy="1007706"/>
            </a:xfrm>
            <a:custGeom>
              <a:avLst/>
              <a:gdLst>
                <a:gd name="connsiteX0" fmla="*/ 170352 w 301007"/>
                <a:gd name="connsiteY0" fmla="*/ 0 h 1007706"/>
                <a:gd name="connsiteX1" fmla="*/ 2401 w 301007"/>
                <a:gd name="connsiteY1" fmla="*/ 223934 h 1007706"/>
                <a:gd name="connsiteX2" fmla="*/ 282319 w 301007"/>
                <a:gd name="connsiteY2" fmla="*/ 335902 h 1007706"/>
                <a:gd name="connsiteX3" fmla="*/ 39723 w 301007"/>
                <a:gd name="connsiteY3" fmla="*/ 485192 h 1007706"/>
                <a:gd name="connsiteX4" fmla="*/ 300980 w 301007"/>
                <a:gd name="connsiteY4" fmla="*/ 597159 h 1007706"/>
                <a:gd name="connsiteX5" fmla="*/ 21062 w 301007"/>
                <a:gd name="connsiteY5" fmla="*/ 690465 h 1007706"/>
                <a:gd name="connsiteX6" fmla="*/ 207674 w 301007"/>
                <a:gd name="connsiteY6" fmla="*/ 821094 h 1007706"/>
                <a:gd name="connsiteX7" fmla="*/ 226336 w 301007"/>
                <a:gd name="connsiteY7" fmla="*/ 1007706 h 1007706"/>
                <a:gd name="connsiteX8" fmla="*/ 226336 w 301007"/>
                <a:gd name="connsiteY8" fmla="*/ 1007706 h 10077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01007" h="1007706">
                  <a:moveTo>
                    <a:pt x="170352" y="0"/>
                  </a:moveTo>
                  <a:cubicBezTo>
                    <a:pt x="77046" y="83975"/>
                    <a:pt x="-16260" y="167950"/>
                    <a:pt x="2401" y="223934"/>
                  </a:cubicBezTo>
                  <a:cubicBezTo>
                    <a:pt x="21062" y="279918"/>
                    <a:pt x="276099" y="292359"/>
                    <a:pt x="282319" y="335902"/>
                  </a:cubicBezTo>
                  <a:cubicBezTo>
                    <a:pt x="288539" y="379445"/>
                    <a:pt x="36613" y="441649"/>
                    <a:pt x="39723" y="485192"/>
                  </a:cubicBezTo>
                  <a:cubicBezTo>
                    <a:pt x="42833" y="528735"/>
                    <a:pt x="304090" y="562947"/>
                    <a:pt x="300980" y="597159"/>
                  </a:cubicBezTo>
                  <a:cubicBezTo>
                    <a:pt x="297870" y="631371"/>
                    <a:pt x="36613" y="653143"/>
                    <a:pt x="21062" y="690465"/>
                  </a:cubicBezTo>
                  <a:cubicBezTo>
                    <a:pt x="5511" y="727788"/>
                    <a:pt x="173462" y="768221"/>
                    <a:pt x="207674" y="821094"/>
                  </a:cubicBezTo>
                  <a:cubicBezTo>
                    <a:pt x="241886" y="873968"/>
                    <a:pt x="226336" y="1007706"/>
                    <a:pt x="226336" y="1007706"/>
                  </a:cubicBezTo>
                  <a:lnTo>
                    <a:pt x="226336" y="1007706"/>
                  </a:lnTo>
                </a:path>
              </a:pathLst>
            </a:custGeom>
            <a:noFill/>
            <a:ln>
              <a:tailEnd type="arrow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Freeform 11"/>
            <p:cNvSpPr/>
            <p:nvPr/>
          </p:nvSpPr>
          <p:spPr>
            <a:xfrm>
              <a:off x="9023762" y="1588591"/>
              <a:ext cx="301007" cy="1007706"/>
            </a:xfrm>
            <a:custGeom>
              <a:avLst/>
              <a:gdLst>
                <a:gd name="connsiteX0" fmla="*/ 170352 w 301007"/>
                <a:gd name="connsiteY0" fmla="*/ 0 h 1007706"/>
                <a:gd name="connsiteX1" fmla="*/ 2401 w 301007"/>
                <a:gd name="connsiteY1" fmla="*/ 223934 h 1007706"/>
                <a:gd name="connsiteX2" fmla="*/ 282319 w 301007"/>
                <a:gd name="connsiteY2" fmla="*/ 335902 h 1007706"/>
                <a:gd name="connsiteX3" fmla="*/ 39723 w 301007"/>
                <a:gd name="connsiteY3" fmla="*/ 485192 h 1007706"/>
                <a:gd name="connsiteX4" fmla="*/ 300980 w 301007"/>
                <a:gd name="connsiteY4" fmla="*/ 597159 h 1007706"/>
                <a:gd name="connsiteX5" fmla="*/ 21062 w 301007"/>
                <a:gd name="connsiteY5" fmla="*/ 690465 h 1007706"/>
                <a:gd name="connsiteX6" fmla="*/ 207674 w 301007"/>
                <a:gd name="connsiteY6" fmla="*/ 821094 h 1007706"/>
                <a:gd name="connsiteX7" fmla="*/ 226336 w 301007"/>
                <a:gd name="connsiteY7" fmla="*/ 1007706 h 1007706"/>
                <a:gd name="connsiteX8" fmla="*/ 226336 w 301007"/>
                <a:gd name="connsiteY8" fmla="*/ 1007706 h 10077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01007" h="1007706">
                  <a:moveTo>
                    <a:pt x="170352" y="0"/>
                  </a:moveTo>
                  <a:cubicBezTo>
                    <a:pt x="77046" y="83975"/>
                    <a:pt x="-16260" y="167950"/>
                    <a:pt x="2401" y="223934"/>
                  </a:cubicBezTo>
                  <a:cubicBezTo>
                    <a:pt x="21062" y="279918"/>
                    <a:pt x="276099" y="292359"/>
                    <a:pt x="282319" y="335902"/>
                  </a:cubicBezTo>
                  <a:cubicBezTo>
                    <a:pt x="288539" y="379445"/>
                    <a:pt x="36613" y="441649"/>
                    <a:pt x="39723" y="485192"/>
                  </a:cubicBezTo>
                  <a:cubicBezTo>
                    <a:pt x="42833" y="528735"/>
                    <a:pt x="304090" y="562947"/>
                    <a:pt x="300980" y="597159"/>
                  </a:cubicBezTo>
                  <a:cubicBezTo>
                    <a:pt x="297870" y="631371"/>
                    <a:pt x="36613" y="653143"/>
                    <a:pt x="21062" y="690465"/>
                  </a:cubicBezTo>
                  <a:cubicBezTo>
                    <a:pt x="5511" y="727788"/>
                    <a:pt x="173462" y="768221"/>
                    <a:pt x="207674" y="821094"/>
                  </a:cubicBezTo>
                  <a:cubicBezTo>
                    <a:pt x="241886" y="873968"/>
                    <a:pt x="226336" y="1007706"/>
                    <a:pt x="226336" y="1007706"/>
                  </a:cubicBezTo>
                  <a:lnTo>
                    <a:pt x="226336" y="1007706"/>
                  </a:lnTo>
                </a:path>
              </a:pathLst>
            </a:custGeom>
            <a:noFill/>
            <a:ln>
              <a:tailEnd type="arrow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Rectangle 13"/>
          <p:cNvSpPr/>
          <p:nvPr/>
        </p:nvSpPr>
        <p:spPr>
          <a:xfrm>
            <a:off x="5696052" y="4519759"/>
            <a:ext cx="1962919" cy="1668946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Memory</a:t>
            </a:r>
            <a:br>
              <a:rPr lang="en-US" sz="2400" dirty="0"/>
            </a:br>
            <a:r>
              <a:rPr lang="en-US" sz="2400" dirty="0"/>
              <a:t>(Shared address space)</a:t>
            </a:r>
          </a:p>
        </p:txBody>
      </p:sp>
      <p:cxnSp>
        <p:nvCxnSpPr>
          <p:cNvPr id="13" name="Straight Arrow Connector 12"/>
          <p:cNvCxnSpPr>
            <a:stCxn id="7" idx="2"/>
            <a:endCxn id="14" idx="0"/>
          </p:cNvCxnSpPr>
          <p:nvPr/>
        </p:nvCxnSpPr>
        <p:spPr>
          <a:xfrm>
            <a:off x="6651485" y="3925513"/>
            <a:ext cx="26027" cy="594246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4417415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793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0113" y="1916113"/>
            <a:ext cx="7180262" cy="2381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379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rial" charset="0"/>
              </a:rPr>
              <a:t>A process and two threads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charset="0"/>
              <a:defRPr sz="32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charset="0"/>
              <a:defRPr sz="32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charset="0"/>
              <a:defRPr sz="32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charset="0"/>
              <a:defRPr sz="32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charset="0"/>
              <a:defRPr sz="32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charset="0"/>
              <a:defRPr sz="32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charset="0"/>
              <a:defRPr sz="32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charset="0"/>
              <a:defRPr sz="32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charset="0"/>
              <a:defRPr sz="32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sz="1200">
                <a:latin typeface="Arial" charset="0"/>
              </a:rPr>
              <a:t>Copyright © 2010, Elsevier Inc. All rights Reserved</a:t>
            </a:r>
          </a:p>
        </p:txBody>
      </p:sp>
      <p:sp>
        <p:nvSpPr>
          <p:cNvPr id="7" name="Rectangle 6"/>
          <p:cNvSpPr/>
          <p:nvPr/>
        </p:nvSpPr>
        <p:spPr>
          <a:xfrm>
            <a:off x="1116013" y="1484313"/>
            <a:ext cx="2359025" cy="40005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ct val="20000"/>
              </a:spcBef>
              <a:buClr>
                <a:schemeClr val="tx1"/>
              </a:buClr>
              <a:buSzPct val="60000"/>
              <a:buFont typeface="Wingdings" charset="0"/>
              <a:buNone/>
            </a:pPr>
            <a:r>
              <a:rPr lang="en-US" sz="2000">
                <a:solidFill>
                  <a:srgbClr val="3177FF"/>
                </a:solidFill>
                <a:latin typeface="Arial" charset="0"/>
              </a:rPr>
              <a:t>the </a:t>
            </a:r>
            <a:r>
              <a:rPr lang="ja-JP" altLang="en-US" sz="2000">
                <a:solidFill>
                  <a:srgbClr val="3177FF"/>
                </a:solidFill>
                <a:latin typeface="Arial" charset="0"/>
              </a:rPr>
              <a:t>“</a:t>
            </a:r>
            <a:r>
              <a:rPr lang="en-US" sz="2000">
                <a:solidFill>
                  <a:srgbClr val="3177FF"/>
                </a:solidFill>
                <a:latin typeface="Arial" charset="0"/>
              </a:rPr>
              <a:t>master</a:t>
            </a:r>
            <a:r>
              <a:rPr lang="ja-JP" altLang="en-US" sz="2000">
                <a:solidFill>
                  <a:srgbClr val="3177FF"/>
                </a:solidFill>
                <a:latin typeface="Arial" charset="0"/>
              </a:rPr>
              <a:t>”</a:t>
            </a:r>
            <a:r>
              <a:rPr lang="en-US" sz="2000">
                <a:solidFill>
                  <a:srgbClr val="3177FF"/>
                </a:solidFill>
                <a:latin typeface="Arial" charset="0"/>
              </a:rPr>
              <a:t> thread</a:t>
            </a:r>
            <a:endParaRPr lang="en-US" sz="2000">
              <a:solidFill>
                <a:srgbClr val="3177FF"/>
              </a:solidFill>
            </a:endParaRPr>
          </a:p>
        </p:txBody>
      </p:sp>
      <p:cxnSp>
        <p:nvCxnSpPr>
          <p:cNvPr id="33798" name="Straight Arrow Connector 8"/>
          <p:cNvCxnSpPr>
            <a:cxnSpLocks noChangeShapeType="1"/>
          </p:cNvCxnSpPr>
          <p:nvPr/>
        </p:nvCxnSpPr>
        <p:spPr bwMode="auto">
          <a:xfrm rot="5400000">
            <a:off x="1331913" y="2132013"/>
            <a:ext cx="792162" cy="360362"/>
          </a:xfrm>
          <a:prstGeom prst="straightConnector1">
            <a:avLst/>
          </a:prstGeom>
          <a:noFill/>
          <a:ln w="9525">
            <a:solidFill>
              <a:srgbClr val="0066FF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sp>
        <p:nvSpPr>
          <p:cNvPr id="11" name="Rectangle 10"/>
          <p:cNvSpPr/>
          <p:nvPr/>
        </p:nvSpPr>
        <p:spPr>
          <a:xfrm>
            <a:off x="611188" y="4292600"/>
            <a:ext cx="2065337" cy="76993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None/>
              <a:defRPr/>
            </a:pPr>
            <a:r>
              <a:rPr lang="en-US" sz="2000" kern="0" dirty="0">
                <a:solidFill>
                  <a:schemeClr val="tx2">
                    <a:lumMod val="60000"/>
                    <a:lumOff val="40000"/>
                  </a:schemeClr>
                </a:solidFill>
                <a:latin typeface="Arial"/>
                <a:ea typeface="+mn-ea"/>
              </a:rPr>
              <a:t>starting a thread</a:t>
            </a:r>
          </a:p>
          <a:p>
            <a:pPr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None/>
              <a:defRPr/>
            </a:pPr>
            <a:r>
              <a:rPr lang="en-US" sz="2000" kern="0" dirty="0">
                <a:solidFill>
                  <a:schemeClr val="tx2">
                    <a:lumMod val="60000"/>
                    <a:lumOff val="40000"/>
                  </a:schemeClr>
                </a:solidFill>
                <a:latin typeface="Arial"/>
                <a:ea typeface="+mn-ea"/>
              </a:rPr>
              <a:t>Is called </a:t>
            </a:r>
            <a:r>
              <a:rPr lang="en-US" sz="2000" b="1" i="1" u="sng" kern="0" dirty="0">
                <a:solidFill>
                  <a:schemeClr val="tx2">
                    <a:lumMod val="60000"/>
                    <a:lumOff val="40000"/>
                  </a:schemeClr>
                </a:solidFill>
                <a:latin typeface="Arial"/>
                <a:ea typeface="+mn-ea"/>
              </a:rPr>
              <a:t>fork</a:t>
            </a:r>
            <a:r>
              <a:rPr lang="en-US" sz="2000" b="1" i="1" kern="0" dirty="0">
                <a:solidFill>
                  <a:schemeClr val="tx2">
                    <a:lumMod val="60000"/>
                    <a:lumOff val="40000"/>
                  </a:schemeClr>
                </a:solidFill>
                <a:latin typeface="Arial"/>
                <a:ea typeface="+mn-ea"/>
              </a:rPr>
              <a:t>ing</a:t>
            </a:r>
            <a:endParaRPr lang="en-US" sz="2000" b="1" i="1" dirty="0">
              <a:solidFill>
                <a:schemeClr val="tx2">
                  <a:lumMod val="60000"/>
                  <a:lumOff val="40000"/>
                </a:schemeClr>
              </a:solidFill>
              <a:latin typeface="Arial Black" pitchFamily="34" charset="0"/>
              <a:ea typeface="+mn-ea"/>
            </a:endParaRPr>
          </a:p>
        </p:txBody>
      </p:sp>
      <p:cxnSp>
        <p:nvCxnSpPr>
          <p:cNvPr id="33800" name="Straight Arrow Connector 12"/>
          <p:cNvCxnSpPr>
            <a:cxnSpLocks noChangeShapeType="1"/>
          </p:cNvCxnSpPr>
          <p:nvPr/>
        </p:nvCxnSpPr>
        <p:spPr bwMode="auto">
          <a:xfrm rot="5400000" flipH="1" flipV="1">
            <a:off x="1512094" y="3680619"/>
            <a:ext cx="1079500" cy="144462"/>
          </a:xfrm>
          <a:prstGeom prst="straightConnector1">
            <a:avLst/>
          </a:prstGeom>
          <a:noFill/>
          <a:ln w="9525">
            <a:solidFill>
              <a:srgbClr val="0066FF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cxnSp>
        <p:nvCxnSpPr>
          <p:cNvPr id="33801" name="Straight Arrow Connector 14"/>
          <p:cNvCxnSpPr>
            <a:cxnSpLocks noChangeShapeType="1"/>
          </p:cNvCxnSpPr>
          <p:nvPr/>
        </p:nvCxnSpPr>
        <p:spPr bwMode="auto">
          <a:xfrm rot="5400000" flipH="1" flipV="1">
            <a:off x="1691482" y="3572669"/>
            <a:ext cx="1081087" cy="504825"/>
          </a:xfrm>
          <a:prstGeom prst="straightConnector1">
            <a:avLst/>
          </a:prstGeom>
          <a:noFill/>
          <a:ln w="9525">
            <a:solidFill>
              <a:srgbClr val="0066FF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sp>
        <p:nvSpPr>
          <p:cNvPr id="16" name="Rectangle 15"/>
          <p:cNvSpPr/>
          <p:nvPr/>
        </p:nvSpPr>
        <p:spPr>
          <a:xfrm>
            <a:off x="6084888" y="4076700"/>
            <a:ext cx="2462212" cy="76993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None/>
              <a:defRPr/>
            </a:pPr>
            <a:r>
              <a:rPr lang="en-US" sz="2000" kern="0" dirty="0">
                <a:solidFill>
                  <a:schemeClr val="tx2">
                    <a:lumMod val="60000"/>
                    <a:lumOff val="40000"/>
                  </a:schemeClr>
                </a:solidFill>
                <a:latin typeface="Arial"/>
                <a:ea typeface="+mn-ea"/>
              </a:rPr>
              <a:t>terminating a thread</a:t>
            </a:r>
          </a:p>
          <a:p>
            <a:pPr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None/>
              <a:defRPr/>
            </a:pPr>
            <a:r>
              <a:rPr lang="en-US" sz="2000" kern="0" dirty="0">
                <a:solidFill>
                  <a:schemeClr val="tx2">
                    <a:lumMod val="60000"/>
                    <a:lumOff val="40000"/>
                  </a:schemeClr>
                </a:solidFill>
                <a:latin typeface="Arial"/>
                <a:ea typeface="+mn-ea"/>
              </a:rPr>
              <a:t>Is called </a:t>
            </a:r>
            <a:r>
              <a:rPr lang="en-US" sz="2000" b="1" i="1" u="sng" kern="0" dirty="0">
                <a:solidFill>
                  <a:schemeClr val="tx2">
                    <a:lumMod val="60000"/>
                    <a:lumOff val="40000"/>
                  </a:schemeClr>
                </a:solidFill>
                <a:latin typeface="Arial"/>
                <a:ea typeface="+mn-ea"/>
              </a:rPr>
              <a:t>join</a:t>
            </a:r>
            <a:r>
              <a:rPr lang="en-US" sz="2000" b="1" i="1" kern="0" dirty="0">
                <a:solidFill>
                  <a:schemeClr val="tx2">
                    <a:lumMod val="60000"/>
                    <a:lumOff val="40000"/>
                  </a:schemeClr>
                </a:solidFill>
                <a:latin typeface="Arial"/>
                <a:ea typeface="+mn-ea"/>
              </a:rPr>
              <a:t>ing</a:t>
            </a:r>
            <a:endParaRPr lang="en-US" sz="2000" b="1" i="1" dirty="0">
              <a:solidFill>
                <a:schemeClr val="tx2">
                  <a:lumMod val="60000"/>
                  <a:lumOff val="40000"/>
                </a:schemeClr>
              </a:solidFill>
              <a:latin typeface="Arial Black" pitchFamily="34" charset="0"/>
              <a:ea typeface="+mn-ea"/>
            </a:endParaRPr>
          </a:p>
        </p:txBody>
      </p:sp>
      <p:cxnSp>
        <p:nvCxnSpPr>
          <p:cNvPr id="33803" name="Straight Arrow Connector 17"/>
          <p:cNvCxnSpPr>
            <a:cxnSpLocks noChangeShapeType="1"/>
          </p:cNvCxnSpPr>
          <p:nvPr/>
        </p:nvCxnSpPr>
        <p:spPr bwMode="auto">
          <a:xfrm rot="16200000" flipV="1">
            <a:off x="6192044" y="3248819"/>
            <a:ext cx="936625" cy="865187"/>
          </a:xfrm>
          <a:prstGeom prst="straightConnector1">
            <a:avLst/>
          </a:prstGeom>
          <a:noFill/>
          <a:ln w="9525">
            <a:solidFill>
              <a:srgbClr val="0066FF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cxnSp>
        <p:nvCxnSpPr>
          <p:cNvPr id="33804" name="Straight Arrow Connector 19"/>
          <p:cNvCxnSpPr>
            <a:cxnSpLocks noChangeShapeType="1"/>
          </p:cNvCxnSpPr>
          <p:nvPr/>
        </p:nvCxnSpPr>
        <p:spPr bwMode="auto">
          <a:xfrm rot="16200000" flipV="1">
            <a:off x="6480175" y="3536951"/>
            <a:ext cx="865187" cy="360362"/>
          </a:xfrm>
          <a:prstGeom prst="straightConnector1">
            <a:avLst/>
          </a:prstGeom>
          <a:noFill/>
          <a:ln w="9525">
            <a:solidFill>
              <a:srgbClr val="0066FF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6BE44D-6AB7-7747-A5B3-8E5957F8FC9E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324153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23940"/>
            <a:ext cx="8229600" cy="1143000"/>
          </a:xfrm>
        </p:spPr>
        <p:txBody>
          <a:bodyPr/>
          <a:lstStyle/>
          <a:p>
            <a:r>
              <a:rPr lang="en-US" dirty="0"/>
              <a:t>Distributed Memory Architecture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18125" y="3553989"/>
            <a:ext cx="1536160" cy="458175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Local Memory</a:t>
            </a:r>
          </a:p>
        </p:txBody>
      </p:sp>
      <p:sp>
        <p:nvSpPr>
          <p:cNvPr id="17" name="Rounded Rectangle 16"/>
          <p:cNvSpPr/>
          <p:nvPr/>
        </p:nvSpPr>
        <p:spPr>
          <a:xfrm flipH="1">
            <a:off x="651793" y="1525072"/>
            <a:ext cx="1923119" cy="2692363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TextBox 17"/>
          <p:cNvSpPr txBox="1"/>
          <p:nvPr/>
        </p:nvSpPr>
        <p:spPr>
          <a:xfrm>
            <a:off x="651796" y="1155740"/>
            <a:ext cx="17516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Compute node 1</a:t>
            </a:r>
          </a:p>
        </p:txBody>
      </p:sp>
      <p:cxnSp>
        <p:nvCxnSpPr>
          <p:cNvPr id="39" name="Straight Connector 38"/>
          <p:cNvCxnSpPr/>
          <p:nvPr/>
        </p:nvCxnSpPr>
        <p:spPr>
          <a:xfrm flipH="1" flipV="1">
            <a:off x="1573316" y="2985796"/>
            <a:ext cx="12889" cy="520567"/>
          </a:xfrm>
          <a:prstGeom prst="line">
            <a:avLst/>
          </a:prstGeom>
          <a:ln w="4762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 flipV="1">
            <a:off x="1586205" y="3485290"/>
            <a:ext cx="0" cy="21073"/>
          </a:xfrm>
          <a:prstGeom prst="line">
            <a:avLst/>
          </a:prstGeom>
          <a:ln w="4762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Up-Down Arrow 44"/>
          <p:cNvSpPr/>
          <p:nvPr/>
        </p:nvSpPr>
        <p:spPr>
          <a:xfrm>
            <a:off x="1344441" y="4227198"/>
            <a:ext cx="366407" cy="606056"/>
          </a:xfrm>
          <a:prstGeom prst="upDown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/>
          <p:cNvSpPr/>
          <p:nvPr/>
        </p:nvSpPr>
        <p:spPr>
          <a:xfrm>
            <a:off x="3555542" y="3549878"/>
            <a:ext cx="1536160" cy="458175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Local Memory</a:t>
            </a:r>
          </a:p>
        </p:txBody>
      </p:sp>
      <p:sp>
        <p:nvSpPr>
          <p:cNvPr id="26" name="Rounded Rectangle 25"/>
          <p:cNvSpPr/>
          <p:nvPr/>
        </p:nvSpPr>
        <p:spPr>
          <a:xfrm flipH="1">
            <a:off x="3350098" y="1520961"/>
            <a:ext cx="1873351" cy="2692363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/>
          <p:cNvSpPr txBox="1"/>
          <p:nvPr/>
        </p:nvSpPr>
        <p:spPr>
          <a:xfrm>
            <a:off x="3389213" y="1151629"/>
            <a:ext cx="17516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Compute node 2</a:t>
            </a:r>
          </a:p>
        </p:txBody>
      </p:sp>
      <p:cxnSp>
        <p:nvCxnSpPr>
          <p:cNvPr id="31" name="Straight Connector 30"/>
          <p:cNvCxnSpPr/>
          <p:nvPr/>
        </p:nvCxnSpPr>
        <p:spPr>
          <a:xfrm flipH="1" flipV="1">
            <a:off x="4310733" y="2981685"/>
            <a:ext cx="12889" cy="520567"/>
          </a:xfrm>
          <a:prstGeom prst="line">
            <a:avLst/>
          </a:prstGeom>
          <a:ln w="4762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/>
          <p:cNvCxnSpPr/>
          <p:nvPr/>
        </p:nvCxnSpPr>
        <p:spPr>
          <a:xfrm flipV="1">
            <a:off x="4323622" y="3481179"/>
            <a:ext cx="0" cy="21073"/>
          </a:xfrm>
          <a:prstGeom prst="line">
            <a:avLst/>
          </a:prstGeom>
          <a:ln w="4762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ectangle 33"/>
          <p:cNvSpPr/>
          <p:nvPr/>
        </p:nvSpPr>
        <p:spPr>
          <a:xfrm>
            <a:off x="7129933" y="3549878"/>
            <a:ext cx="1536160" cy="458175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Local Memory</a:t>
            </a:r>
          </a:p>
        </p:txBody>
      </p:sp>
      <p:sp>
        <p:nvSpPr>
          <p:cNvPr id="36" name="Rounded Rectangle 35"/>
          <p:cNvSpPr/>
          <p:nvPr/>
        </p:nvSpPr>
        <p:spPr>
          <a:xfrm flipH="1">
            <a:off x="6963603" y="1520961"/>
            <a:ext cx="1819023" cy="2692363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TextBox 37"/>
          <p:cNvSpPr txBox="1"/>
          <p:nvPr/>
        </p:nvSpPr>
        <p:spPr>
          <a:xfrm>
            <a:off x="6963604" y="1151629"/>
            <a:ext cx="18190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Compute node m</a:t>
            </a:r>
          </a:p>
        </p:txBody>
      </p:sp>
      <p:cxnSp>
        <p:nvCxnSpPr>
          <p:cNvPr id="43" name="Straight Connector 42"/>
          <p:cNvCxnSpPr/>
          <p:nvPr/>
        </p:nvCxnSpPr>
        <p:spPr>
          <a:xfrm flipH="1" flipV="1">
            <a:off x="7885124" y="2981685"/>
            <a:ext cx="12889" cy="520567"/>
          </a:xfrm>
          <a:prstGeom prst="line">
            <a:avLst/>
          </a:prstGeom>
          <a:ln w="4762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/>
          <p:cNvCxnSpPr/>
          <p:nvPr/>
        </p:nvCxnSpPr>
        <p:spPr>
          <a:xfrm flipV="1">
            <a:off x="7898013" y="3481179"/>
            <a:ext cx="0" cy="21073"/>
          </a:xfrm>
          <a:prstGeom prst="line">
            <a:avLst/>
          </a:prstGeom>
          <a:ln w="4762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850785" y="2369976"/>
            <a:ext cx="6751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mr-IN" dirty="0"/>
              <a:t>………</a:t>
            </a:r>
            <a:endParaRPr lang="en-US" dirty="0"/>
          </a:p>
        </p:txBody>
      </p:sp>
      <p:sp>
        <p:nvSpPr>
          <p:cNvPr id="49" name="Up-Down Arrow 48"/>
          <p:cNvSpPr/>
          <p:nvPr/>
        </p:nvSpPr>
        <p:spPr>
          <a:xfrm>
            <a:off x="4081858" y="4213324"/>
            <a:ext cx="366407" cy="606056"/>
          </a:xfrm>
          <a:prstGeom prst="upDown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Up-Down Arrow 49"/>
          <p:cNvSpPr/>
          <p:nvPr/>
        </p:nvSpPr>
        <p:spPr>
          <a:xfrm>
            <a:off x="7701920" y="4196064"/>
            <a:ext cx="366407" cy="606056"/>
          </a:xfrm>
          <a:prstGeom prst="upDown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Left-Right Arrow 5"/>
          <p:cNvSpPr/>
          <p:nvPr/>
        </p:nvSpPr>
        <p:spPr>
          <a:xfrm>
            <a:off x="375951" y="4707414"/>
            <a:ext cx="8455123" cy="1413468"/>
          </a:xfrm>
          <a:prstGeom prst="left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/>
              <a:t>Network Interconnect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64307227"/>
              </p:ext>
            </p:extLst>
          </p:nvPr>
        </p:nvGraphicFramePr>
        <p:xfrm>
          <a:off x="964958" y="2197662"/>
          <a:ext cx="1321324" cy="96278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0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665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033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3033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962787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43692" y="1548926"/>
            <a:ext cx="188173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Processes running</a:t>
            </a:r>
            <a:br>
              <a:rPr lang="en-US" dirty="0"/>
            </a:br>
            <a:r>
              <a:rPr lang="en-US" dirty="0"/>
              <a:t>on cores</a:t>
            </a:r>
          </a:p>
        </p:txBody>
      </p:sp>
      <p:graphicFrame>
        <p:nvGraphicFramePr>
          <p:cNvPr id="51" name="Table 5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59995182"/>
              </p:ext>
            </p:extLst>
          </p:nvPr>
        </p:nvGraphicFramePr>
        <p:xfrm>
          <a:off x="3655284" y="2200774"/>
          <a:ext cx="1321324" cy="96278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0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665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033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3033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962787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3" name="Table 5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95916523"/>
              </p:ext>
            </p:extLst>
          </p:nvPr>
        </p:nvGraphicFramePr>
        <p:xfrm>
          <a:off x="7204024" y="2203886"/>
          <a:ext cx="1321324" cy="96278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0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665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033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3033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962787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58" name="Group 57"/>
          <p:cNvGrpSpPr/>
          <p:nvPr/>
        </p:nvGrpSpPr>
        <p:grpSpPr>
          <a:xfrm>
            <a:off x="1086378" y="2371007"/>
            <a:ext cx="1088566" cy="628745"/>
            <a:chOff x="9629192" y="2556588"/>
            <a:chExt cx="1088566" cy="628745"/>
          </a:xfrm>
        </p:grpSpPr>
        <p:sp>
          <p:nvSpPr>
            <p:cNvPr id="59" name="Down Arrow 58"/>
            <p:cNvSpPr/>
            <p:nvPr/>
          </p:nvSpPr>
          <p:spPr>
            <a:xfrm>
              <a:off x="9629192" y="2556588"/>
              <a:ext cx="167951" cy="622522"/>
            </a:xfrm>
            <a:prstGeom prst="downArrow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Down Arrow 59"/>
            <p:cNvSpPr/>
            <p:nvPr/>
          </p:nvSpPr>
          <p:spPr>
            <a:xfrm>
              <a:off x="9909109" y="2556588"/>
              <a:ext cx="167951" cy="622522"/>
            </a:xfrm>
            <a:prstGeom prst="downArrow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Down Arrow 60"/>
            <p:cNvSpPr/>
            <p:nvPr/>
          </p:nvSpPr>
          <p:spPr>
            <a:xfrm>
              <a:off x="10229458" y="2559699"/>
              <a:ext cx="167951" cy="622522"/>
            </a:xfrm>
            <a:prstGeom prst="downArrow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Down Arrow 61"/>
            <p:cNvSpPr/>
            <p:nvPr/>
          </p:nvSpPr>
          <p:spPr>
            <a:xfrm>
              <a:off x="10549807" y="2562811"/>
              <a:ext cx="167951" cy="622522"/>
            </a:xfrm>
            <a:prstGeom prst="downArrow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63" name="TextBox 62"/>
          <p:cNvSpPr txBox="1"/>
          <p:nvPr/>
        </p:nvSpPr>
        <p:spPr>
          <a:xfrm>
            <a:off x="3416008" y="1533346"/>
            <a:ext cx="188173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Processes running</a:t>
            </a:r>
            <a:br>
              <a:rPr lang="en-US" dirty="0"/>
            </a:br>
            <a:r>
              <a:rPr lang="en-US" dirty="0"/>
              <a:t>on cores</a:t>
            </a:r>
          </a:p>
        </p:txBody>
      </p:sp>
      <p:grpSp>
        <p:nvGrpSpPr>
          <p:cNvPr id="64" name="Group 63"/>
          <p:cNvGrpSpPr/>
          <p:nvPr/>
        </p:nvGrpSpPr>
        <p:grpSpPr>
          <a:xfrm>
            <a:off x="3777355" y="2355427"/>
            <a:ext cx="1088566" cy="628745"/>
            <a:chOff x="9629192" y="2556588"/>
            <a:chExt cx="1088566" cy="628745"/>
          </a:xfrm>
        </p:grpSpPr>
        <p:sp>
          <p:nvSpPr>
            <p:cNvPr id="65" name="Down Arrow 64"/>
            <p:cNvSpPr/>
            <p:nvPr/>
          </p:nvSpPr>
          <p:spPr>
            <a:xfrm>
              <a:off x="9629192" y="2556588"/>
              <a:ext cx="167951" cy="622522"/>
            </a:xfrm>
            <a:prstGeom prst="downArrow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Down Arrow 65"/>
            <p:cNvSpPr/>
            <p:nvPr/>
          </p:nvSpPr>
          <p:spPr>
            <a:xfrm>
              <a:off x="9909109" y="2556588"/>
              <a:ext cx="167951" cy="622522"/>
            </a:xfrm>
            <a:prstGeom prst="downArrow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Down Arrow 66"/>
            <p:cNvSpPr/>
            <p:nvPr/>
          </p:nvSpPr>
          <p:spPr>
            <a:xfrm>
              <a:off x="10229458" y="2559699"/>
              <a:ext cx="167951" cy="622522"/>
            </a:xfrm>
            <a:prstGeom prst="downArrow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Down Arrow 67"/>
            <p:cNvSpPr/>
            <p:nvPr/>
          </p:nvSpPr>
          <p:spPr>
            <a:xfrm>
              <a:off x="10549807" y="2562811"/>
              <a:ext cx="167951" cy="622522"/>
            </a:xfrm>
            <a:prstGeom prst="downArrow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69" name="TextBox 68"/>
          <p:cNvSpPr txBox="1"/>
          <p:nvPr/>
        </p:nvSpPr>
        <p:spPr>
          <a:xfrm>
            <a:off x="6998717" y="1535500"/>
            <a:ext cx="188173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Processes running</a:t>
            </a:r>
            <a:br>
              <a:rPr lang="en-US" dirty="0"/>
            </a:br>
            <a:r>
              <a:rPr lang="en-US" dirty="0"/>
              <a:t>on cores</a:t>
            </a:r>
          </a:p>
        </p:txBody>
      </p:sp>
      <p:grpSp>
        <p:nvGrpSpPr>
          <p:cNvPr id="70" name="Group 69"/>
          <p:cNvGrpSpPr/>
          <p:nvPr/>
        </p:nvGrpSpPr>
        <p:grpSpPr>
          <a:xfrm>
            <a:off x="7360064" y="2357581"/>
            <a:ext cx="1088566" cy="628745"/>
            <a:chOff x="9629192" y="2556588"/>
            <a:chExt cx="1088566" cy="628745"/>
          </a:xfrm>
        </p:grpSpPr>
        <p:sp>
          <p:nvSpPr>
            <p:cNvPr id="71" name="Down Arrow 70"/>
            <p:cNvSpPr/>
            <p:nvPr/>
          </p:nvSpPr>
          <p:spPr>
            <a:xfrm>
              <a:off x="9629192" y="2556588"/>
              <a:ext cx="167951" cy="622522"/>
            </a:xfrm>
            <a:prstGeom prst="downArrow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2" name="Down Arrow 71"/>
            <p:cNvSpPr/>
            <p:nvPr/>
          </p:nvSpPr>
          <p:spPr>
            <a:xfrm>
              <a:off x="9909109" y="2556588"/>
              <a:ext cx="167951" cy="622522"/>
            </a:xfrm>
            <a:prstGeom prst="downArrow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3" name="Down Arrow 72"/>
            <p:cNvSpPr/>
            <p:nvPr/>
          </p:nvSpPr>
          <p:spPr>
            <a:xfrm>
              <a:off x="10229458" y="2559699"/>
              <a:ext cx="167951" cy="622522"/>
            </a:xfrm>
            <a:prstGeom prst="downArrow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4" name="Down Arrow 73"/>
            <p:cNvSpPr/>
            <p:nvPr/>
          </p:nvSpPr>
          <p:spPr>
            <a:xfrm>
              <a:off x="10549807" y="2562811"/>
              <a:ext cx="167951" cy="622522"/>
            </a:xfrm>
            <a:prstGeom prst="downArrow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75" name="TextBox 74"/>
          <p:cNvSpPr txBox="1"/>
          <p:nvPr/>
        </p:nvSpPr>
        <p:spPr>
          <a:xfrm>
            <a:off x="2099766" y="5921650"/>
            <a:ext cx="570816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Processes cannot see each other’s memory address space. </a:t>
            </a:r>
          </a:p>
          <a:p>
            <a:r>
              <a:rPr lang="en-US" dirty="0"/>
              <a:t>They have to send inter-process messages (using MPI).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6BE44D-6AB7-7747-A5B3-8E5957F8FC9E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496957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1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rial" charset="0"/>
              </a:rPr>
              <a:t>Distributed Memory System</a:t>
            </a:r>
          </a:p>
        </p:txBody>
      </p:sp>
      <p:sp>
        <p:nvSpPr>
          <p:cNvPr id="92162" name="Content Placeholder 3"/>
          <p:cNvSpPr>
            <a:spLocks noGrp="1"/>
          </p:cNvSpPr>
          <p:nvPr>
            <p:ph idx="1"/>
          </p:nvPr>
        </p:nvSpPr>
        <p:spPr>
          <a:xfrm>
            <a:off x="684213" y="1125538"/>
            <a:ext cx="8270875" cy="3621391"/>
          </a:xfrm>
        </p:spPr>
        <p:txBody>
          <a:bodyPr/>
          <a:lstStyle/>
          <a:p>
            <a:r>
              <a:rPr lang="en-US" dirty="0">
                <a:solidFill>
                  <a:srgbClr val="0066FF"/>
                </a:solidFill>
                <a:latin typeface="Arial" charset="0"/>
              </a:rPr>
              <a:t>Clusters</a:t>
            </a:r>
            <a:r>
              <a:rPr lang="en-US" dirty="0">
                <a:latin typeface="Arial" charset="0"/>
              </a:rPr>
              <a:t> (most popular)</a:t>
            </a:r>
          </a:p>
          <a:p>
            <a:pPr lvl="1"/>
            <a:r>
              <a:rPr lang="en-US" dirty="0">
                <a:latin typeface="Arial" charset="0"/>
              </a:rPr>
              <a:t>A collection of commodity systems.</a:t>
            </a:r>
          </a:p>
          <a:p>
            <a:pPr lvl="1"/>
            <a:r>
              <a:rPr lang="en-US" dirty="0">
                <a:latin typeface="Arial" charset="0"/>
              </a:rPr>
              <a:t>Connected by a commodity interconnection network.</a:t>
            </a:r>
          </a:p>
          <a:p>
            <a:r>
              <a:rPr lang="en-US" dirty="0">
                <a:solidFill>
                  <a:srgbClr val="00B050"/>
                </a:solidFill>
                <a:latin typeface="Arial" charset="0"/>
              </a:rPr>
              <a:t>Nodes</a:t>
            </a:r>
            <a:r>
              <a:rPr lang="en-US" dirty="0">
                <a:latin typeface="Arial" charset="0"/>
              </a:rPr>
              <a:t> of a cluster are individual computers joined by a communication network.</a:t>
            </a:r>
          </a:p>
        </p:txBody>
      </p:sp>
      <p:sp>
        <p:nvSpPr>
          <p:cNvPr id="5" name="Rectangle 4"/>
          <p:cNvSpPr/>
          <p:nvPr/>
        </p:nvSpPr>
        <p:spPr>
          <a:xfrm>
            <a:off x="5202238" y="4746929"/>
            <a:ext cx="3752850" cy="46196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None/>
              <a:defRPr/>
            </a:pPr>
            <a:r>
              <a:rPr lang="en-US" sz="2400" kern="0" dirty="0">
                <a:solidFill>
                  <a:srgbClr val="C00000"/>
                </a:solidFill>
                <a:latin typeface="Lucida Handwriting" pitchFamily="66" charset="0"/>
                <a:ea typeface="+mn-ea"/>
              </a:rPr>
              <a:t>a.k.a. hybrid systems</a:t>
            </a:r>
            <a:endParaRPr lang="en-US" sz="2400" dirty="0">
              <a:solidFill>
                <a:srgbClr val="C00000"/>
              </a:solidFill>
              <a:latin typeface="Lucida Handwriting" pitchFamily="66" charset="0"/>
              <a:ea typeface="+mn-ea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613410" y="4945712"/>
            <a:ext cx="4206240" cy="826935"/>
          </a:xfrm>
          <a:prstGeom prst="round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tx1"/>
                </a:solidFill>
              </a:rPr>
              <a:t>Kamiak</a:t>
            </a:r>
            <a:r>
              <a:rPr lang="en-US" dirty="0">
                <a:solidFill>
                  <a:schemeClr val="tx1"/>
                </a:solidFill>
              </a:rPr>
              <a:t> provides an </a:t>
            </a:r>
            <a:r>
              <a:rPr lang="en-US" dirty="0" err="1">
                <a:solidFill>
                  <a:schemeClr val="tx1"/>
                </a:solidFill>
              </a:rPr>
              <a:t>Infiniband</a:t>
            </a:r>
            <a:r>
              <a:rPr lang="en-US" dirty="0">
                <a:solidFill>
                  <a:schemeClr val="tx1"/>
                </a:solidFill>
              </a:rPr>
              <a:t> interconnect between all compute nodes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6BE44D-6AB7-7747-A5B3-8E5957F8FC9E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221997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7" name="Title 1"/>
          <p:cNvSpPr>
            <a:spLocks noGrp="1"/>
          </p:cNvSpPr>
          <p:nvPr>
            <p:ph type="title"/>
          </p:nvPr>
        </p:nvSpPr>
        <p:spPr>
          <a:xfrm>
            <a:off x="280655" y="231303"/>
            <a:ext cx="8281987" cy="708025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Arial" charset="0"/>
              </a:rPr>
              <a:t>Single Program Models:</a:t>
            </a:r>
            <a:br>
              <a:rPr lang="en-US" dirty="0">
                <a:latin typeface="Arial" charset="0"/>
              </a:rPr>
            </a:br>
            <a:r>
              <a:rPr lang="en-US" dirty="0">
                <a:latin typeface="Arial" charset="0"/>
              </a:rPr>
              <a:t>SIMD vs. MIMD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6BE44D-6AB7-7747-A5B3-8E5957F8FC9E}" type="slidenum">
              <a:rPr lang="en-US" smtClean="0"/>
              <a:t>19</a:t>
            </a:fld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SP</a:t>
            </a:r>
            <a:r>
              <a:rPr lang="en-US" dirty="0"/>
              <a:t>: Single Program </a:t>
            </a:r>
          </a:p>
          <a:p>
            <a:pPr lvl="1"/>
            <a:r>
              <a:rPr lang="en-US" dirty="0"/>
              <a:t>Your parallel program is a single program that you execute on all threads (or processes)</a:t>
            </a:r>
          </a:p>
          <a:p>
            <a:r>
              <a:rPr lang="en-US" b="1" dirty="0">
                <a:solidFill>
                  <a:srgbClr val="FF0000"/>
                </a:solidFill>
              </a:rPr>
              <a:t>SI</a:t>
            </a:r>
            <a:r>
              <a:rPr lang="en-US" dirty="0"/>
              <a:t>: Single Instruction</a:t>
            </a:r>
          </a:p>
          <a:p>
            <a:pPr lvl="1"/>
            <a:r>
              <a:rPr lang="en-US" dirty="0"/>
              <a:t>Each thread should be executing the same line of code at any given clock cycle.</a:t>
            </a:r>
          </a:p>
          <a:p>
            <a:r>
              <a:rPr lang="en-US" b="1" dirty="0">
                <a:solidFill>
                  <a:srgbClr val="FF0000"/>
                </a:solidFill>
              </a:rPr>
              <a:t>MI</a:t>
            </a:r>
            <a:r>
              <a:rPr lang="en-US" dirty="0"/>
              <a:t>: Multiple Instruction</a:t>
            </a:r>
          </a:p>
          <a:p>
            <a:pPr lvl="1"/>
            <a:r>
              <a:rPr lang="en-US" dirty="0"/>
              <a:t>Each thread (or process) could be independently running a different line of your code (instruction) concurrently</a:t>
            </a:r>
          </a:p>
          <a:p>
            <a:r>
              <a:rPr lang="en-US" b="1" dirty="0">
                <a:solidFill>
                  <a:srgbClr val="FF0000"/>
                </a:solidFill>
              </a:rPr>
              <a:t>MD</a:t>
            </a:r>
            <a:r>
              <a:rPr lang="en-US" dirty="0"/>
              <a:t>: Multiple Data</a:t>
            </a:r>
          </a:p>
          <a:p>
            <a:pPr lvl="1"/>
            <a:r>
              <a:rPr lang="en-US" dirty="0"/>
              <a:t>Each thread (or process) could be operating/accessing a different piece of the data from the memory concurrently</a:t>
            </a:r>
          </a:p>
        </p:txBody>
      </p:sp>
    </p:spTree>
    <p:extLst>
      <p:ext uri="{BB962C8B-B14F-4D97-AF65-F5344CB8AC3E}">
        <p14:creationId xmlns:p14="http://schemas.microsoft.com/office/powerpoint/2010/main" val="151958696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latin typeface="Arial" charset="0"/>
              </a:rPr>
              <a:t>Single Program Models:</a:t>
            </a:r>
            <a:br>
              <a:rPr lang="en-US" dirty="0">
                <a:latin typeface="Arial" charset="0"/>
              </a:rPr>
            </a:br>
            <a:r>
              <a:rPr lang="en-US" dirty="0">
                <a:latin typeface="Arial" charset="0"/>
              </a:rPr>
              <a:t>SIMD vs. MIMD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6BE44D-6AB7-7747-A5B3-8E5957F8FC9E}" type="slidenum">
              <a:rPr lang="en-US" smtClean="0"/>
              <a:t>20</a:t>
            </a:fld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457200" y="2356338"/>
            <a:ext cx="3604846" cy="397031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// Begin: parallel region of the code</a:t>
            </a:r>
          </a:p>
          <a:p>
            <a:endParaRPr lang="en-US" dirty="0"/>
          </a:p>
          <a:p>
            <a:r>
              <a:rPr lang="mr-IN" dirty="0"/>
              <a:t>…</a:t>
            </a:r>
            <a:endParaRPr lang="en-US" dirty="0"/>
          </a:p>
          <a:p>
            <a:r>
              <a:rPr lang="en-US" dirty="0"/>
              <a:t>..</a:t>
            </a:r>
          </a:p>
          <a:p>
            <a:r>
              <a:rPr lang="en-US" dirty="0"/>
              <a:t>..</a:t>
            </a:r>
          </a:p>
          <a:p>
            <a:r>
              <a:rPr lang="en-US" dirty="0"/>
              <a:t>..</a:t>
            </a:r>
          </a:p>
          <a:p>
            <a:r>
              <a:rPr lang="en-US" dirty="0"/>
              <a:t>..</a:t>
            </a:r>
          </a:p>
          <a:p>
            <a:r>
              <a:rPr lang="en-US" dirty="0"/>
              <a:t>..</a:t>
            </a:r>
          </a:p>
          <a:p>
            <a:r>
              <a:rPr lang="en-US" dirty="0"/>
              <a:t>..</a:t>
            </a:r>
          </a:p>
          <a:p>
            <a:r>
              <a:rPr lang="en-US" dirty="0"/>
              <a:t>..</a:t>
            </a:r>
          </a:p>
          <a:p>
            <a:r>
              <a:rPr lang="en-US" dirty="0"/>
              <a:t>..</a:t>
            </a:r>
          </a:p>
          <a:p>
            <a:r>
              <a:rPr lang="en-US" dirty="0"/>
              <a:t>..</a:t>
            </a:r>
          </a:p>
          <a:p>
            <a:r>
              <a:rPr lang="en-US" dirty="0"/>
              <a:t>..</a:t>
            </a:r>
          </a:p>
          <a:p>
            <a:r>
              <a:rPr lang="en-US" dirty="0"/>
              <a:t>// End: parallel region of the code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00247" y="2356338"/>
            <a:ext cx="3604846" cy="397031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// Begin: parallel region of the code</a:t>
            </a:r>
          </a:p>
          <a:p>
            <a:endParaRPr lang="en-US" dirty="0"/>
          </a:p>
          <a:p>
            <a:r>
              <a:rPr lang="mr-IN" dirty="0"/>
              <a:t>…</a:t>
            </a:r>
            <a:endParaRPr lang="en-US" dirty="0"/>
          </a:p>
          <a:p>
            <a:r>
              <a:rPr lang="en-US" dirty="0"/>
              <a:t>..</a:t>
            </a:r>
          </a:p>
          <a:p>
            <a:r>
              <a:rPr lang="en-US" dirty="0"/>
              <a:t>..</a:t>
            </a:r>
          </a:p>
          <a:p>
            <a:r>
              <a:rPr lang="en-US" dirty="0"/>
              <a:t>..</a:t>
            </a:r>
          </a:p>
          <a:p>
            <a:r>
              <a:rPr lang="en-US" dirty="0"/>
              <a:t>..</a:t>
            </a:r>
          </a:p>
          <a:p>
            <a:r>
              <a:rPr lang="en-US" dirty="0"/>
              <a:t>..</a:t>
            </a:r>
          </a:p>
          <a:p>
            <a:r>
              <a:rPr lang="en-US" dirty="0"/>
              <a:t>..</a:t>
            </a:r>
          </a:p>
          <a:p>
            <a:r>
              <a:rPr lang="en-US" dirty="0"/>
              <a:t>..</a:t>
            </a:r>
          </a:p>
          <a:p>
            <a:r>
              <a:rPr lang="en-US" dirty="0"/>
              <a:t>..</a:t>
            </a:r>
          </a:p>
          <a:p>
            <a:r>
              <a:rPr lang="en-US" dirty="0"/>
              <a:t>..</a:t>
            </a:r>
          </a:p>
          <a:p>
            <a:r>
              <a:rPr lang="en-US" dirty="0"/>
              <a:t>..</a:t>
            </a:r>
          </a:p>
          <a:p>
            <a:r>
              <a:rPr lang="en-US" dirty="0"/>
              <a:t>// End: parallel region of the code</a:t>
            </a:r>
          </a:p>
        </p:txBody>
      </p:sp>
      <p:cxnSp>
        <p:nvCxnSpPr>
          <p:cNvPr id="10" name="Straight Arrow Connector 9"/>
          <p:cNvCxnSpPr/>
          <p:nvPr/>
        </p:nvCxnSpPr>
        <p:spPr>
          <a:xfrm flipH="1">
            <a:off x="668216" y="4036518"/>
            <a:ext cx="949569" cy="439616"/>
          </a:xfrm>
          <a:prstGeom prst="straightConnector1">
            <a:avLst/>
          </a:prstGeom>
          <a:ln w="53975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1574403" y="2967004"/>
            <a:ext cx="2563843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All threads executing the </a:t>
            </a:r>
            <a:br>
              <a:rPr lang="en-US" dirty="0"/>
            </a:br>
            <a:r>
              <a:rPr lang="en-US" dirty="0"/>
              <a:t>same line of code. </a:t>
            </a:r>
            <a:br>
              <a:rPr lang="en-US" dirty="0"/>
            </a:br>
            <a:r>
              <a:rPr lang="en-US" dirty="0"/>
              <a:t>They may be accessing</a:t>
            </a:r>
            <a:br>
              <a:rPr lang="en-US" dirty="0"/>
            </a:br>
            <a:r>
              <a:rPr lang="en-US" dirty="0"/>
              <a:t>different pieces of data.</a:t>
            </a:r>
          </a:p>
        </p:txBody>
      </p:sp>
      <p:cxnSp>
        <p:nvCxnSpPr>
          <p:cNvPr id="13" name="Straight Arrow Connector 12"/>
          <p:cNvCxnSpPr/>
          <p:nvPr/>
        </p:nvCxnSpPr>
        <p:spPr>
          <a:xfrm flipH="1">
            <a:off x="5289458" y="3221858"/>
            <a:ext cx="949569" cy="439616"/>
          </a:xfrm>
          <a:prstGeom prst="straightConnector1">
            <a:avLst/>
          </a:prstGeom>
          <a:ln w="53975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/>
          <p:nvPr/>
        </p:nvCxnSpPr>
        <p:spPr>
          <a:xfrm flipH="1">
            <a:off x="5230844" y="4047542"/>
            <a:ext cx="949569" cy="439616"/>
          </a:xfrm>
          <a:prstGeom prst="straightConnector1">
            <a:avLst/>
          </a:prstGeom>
          <a:ln w="53975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 flipH="1">
            <a:off x="5230843" y="4894741"/>
            <a:ext cx="949569" cy="439616"/>
          </a:xfrm>
          <a:prstGeom prst="straightConnector1">
            <a:avLst/>
          </a:prstGeom>
          <a:ln w="53975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6239825" y="3072334"/>
            <a:ext cx="10136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Thread 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33960" y="3787442"/>
            <a:ext cx="10136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Thread 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45680" y="4660813"/>
            <a:ext cx="10136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Thread 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17785" y="1565029"/>
            <a:ext cx="122180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u="sng"/>
              <a:t>SIMD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79847" y="1561713"/>
            <a:ext cx="140775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u="sng" dirty="0"/>
              <a:t>MIMD</a:t>
            </a:r>
          </a:p>
        </p:txBody>
      </p:sp>
    </p:spTree>
    <p:extLst>
      <p:ext uri="{BB962C8B-B14F-4D97-AF65-F5344CB8AC3E}">
        <p14:creationId xmlns:p14="http://schemas.microsoft.com/office/powerpoint/2010/main" val="5359929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01" name="Title 1"/>
          <p:cNvSpPr>
            <a:spLocks noGrp="1"/>
          </p:cNvSpPr>
          <p:nvPr>
            <p:ph type="title"/>
          </p:nvPr>
        </p:nvSpPr>
        <p:spPr>
          <a:xfrm>
            <a:off x="611188" y="109538"/>
            <a:ext cx="8281987" cy="708025"/>
          </a:xfrm>
        </p:spPr>
        <p:txBody>
          <a:bodyPr>
            <a:normAutofit fontScale="90000"/>
          </a:bodyPr>
          <a:lstStyle/>
          <a:p>
            <a:r>
              <a:rPr lang="en-US">
                <a:latin typeface="Arial" charset="0"/>
              </a:rPr>
              <a:t>Foster</a:t>
            </a:r>
            <a:r>
              <a:rPr lang="ja-JP" altLang="en-US">
                <a:latin typeface="Arial" charset="0"/>
              </a:rPr>
              <a:t>’</a:t>
            </a:r>
            <a:r>
              <a:rPr lang="en-US">
                <a:latin typeface="Arial" charset="0"/>
              </a:rPr>
              <a:t>s methodology</a:t>
            </a:r>
          </a:p>
        </p:txBody>
      </p:sp>
      <p:sp>
        <p:nvSpPr>
          <p:cNvPr id="153602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SzPct val="100000"/>
              <a:buFont typeface="Arial" charset="0"/>
              <a:buAutoNum type="arabicPeriod"/>
            </a:pPr>
            <a:r>
              <a:rPr lang="en-US">
                <a:solidFill>
                  <a:srgbClr val="FF0000"/>
                </a:solidFill>
                <a:latin typeface="Arial" charset="0"/>
              </a:rPr>
              <a:t>Partitioning</a:t>
            </a:r>
            <a:r>
              <a:rPr lang="en-US">
                <a:latin typeface="Arial" charset="0"/>
              </a:rPr>
              <a:t>: divide the computation to be performed and the data operated on by the computation into small tasks. </a:t>
            </a:r>
            <a:br>
              <a:rPr lang="en-US">
                <a:latin typeface="Arial" charset="0"/>
              </a:rPr>
            </a:br>
            <a:br>
              <a:rPr lang="en-US">
                <a:latin typeface="Arial" charset="0"/>
              </a:rPr>
            </a:br>
            <a:r>
              <a:rPr lang="en-US">
                <a:latin typeface="Arial" charset="0"/>
              </a:rPr>
              <a:t>The focus here should be on identifying tasks that can be executed in parallel.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charset="0"/>
              <a:defRPr sz="32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charset="0"/>
              <a:defRPr sz="32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charset="0"/>
              <a:defRPr sz="32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charset="0"/>
              <a:defRPr sz="32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charset="0"/>
              <a:defRPr sz="32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charset="0"/>
              <a:defRPr sz="32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charset="0"/>
              <a:defRPr sz="32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charset="0"/>
              <a:defRPr sz="32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charset="0"/>
              <a:defRPr sz="32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sz="1200">
                <a:latin typeface="Arial" charset="0"/>
              </a:rPr>
              <a:t>Copyright © 2010, Elsevier Inc. All rights Reserved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6BE44D-6AB7-7747-A5B3-8E5957F8FC9E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141794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5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rial" charset="0"/>
              </a:rPr>
              <a:t>Foster</a:t>
            </a:r>
            <a:r>
              <a:rPr lang="ja-JP" altLang="en-US">
                <a:latin typeface="Arial" charset="0"/>
              </a:rPr>
              <a:t>’</a:t>
            </a:r>
            <a:r>
              <a:rPr lang="en-US">
                <a:latin typeface="Arial" charset="0"/>
              </a:rPr>
              <a:t>s methodology</a:t>
            </a:r>
          </a:p>
        </p:txBody>
      </p:sp>
      <p:sp>
        <p:nvSpPr>
          <p:cNvPr id="154626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SzPct val="100000"/>
              <a:buFont typeface="Arial" charset="0"/>
              <a:buAutoNum type="arabicPeriod" startAt="2"/>
            </a:pPr>
            <a:r>
              <a:rPr lang="en-US">
                <a:solidFill>
                  <a:srgbClr val="FF0000"/>
                </a:solidFill>
                <a:latin typeface="Arial" charset="0"/>
              </a:rPr>
              <a:t>Communication</a:t>
            </a:r>
            <a:r>
              <a:rPr lang="en-US">
                <a:latin typeface="Arial" charset="0"/>
              </a:rPr>
              <a:t>: determine what communication needs to be carried out among the tasks identified in the previous step.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charset="0"/>
              <a:defRPr sz="32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charset="0"/>
              <a:defRPr sz="32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charset="0"/>
              <a:defRPr sz="32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charset="0"/>
              <a:defRPr sz="32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charset="0"/>
              <a:defRPr sz="32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charset="0"/>
              <a:defRPr sz="32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charset="0"/>
              <a:defRPr sz="32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charset="0"/>
              <a:defRPr sz="32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charset="0"/>
              <a:defRPr sz="32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sz="1200">
                <a:latin typeface="Arial" charset="0"/>
              </a:rPr>
              <a:t>Copyright © 2010, Elsevier Inc. All rights Reserved</a:t>
            </a:r>
          </a:p>
        </p:txBody>
      </p:sp>
      <p:pic>
        <p:nvPicPr>
          <p:cNvPr id="154628" name="Picture 2" descr="communications,phones,Photographs,receivers,telecommunications,telephone receivers,telephone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73079" y="3260725"/>
            <a:ext cx="3095625" cy="3095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6BE44D-6AB7-7747-A5B3-8E5957F8FC9E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425595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64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rial" charset="0"/>
              </a:rPr>
              <a:t>Foster</a:t>
            </a:r>
            <a:r>
              <a:rPr lang="ja-JP" altLang="en-US">
                <a:latin typeface="Arial" charset="0"/>
              </a:rPr>
              <a:t>’</a:t>
            </a:r>
            <a:r>
              <a:rPr lang="en-US">
                <a:latin typeface="Arial" charset="0"/>
              </a:rPr>
              <a:t>s methodology</a:t>
            </a:r>
          </a:p>
        </p:txBody>
      </p:sp>
      <p:sp>
        <p:nvSpPr>
          <p:cNvPr id="155650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SzPct val="100000"/>
              <a:buFont typeface="Arial" charset="0"/>
              <a:buAutoNum type="arabicPeriod" startAt="3"/>
            </a:pPr>
            <a:r>
              <a:rPr lang="en-US">
                <a:solidFill>
                  <a:srgbClr val="FF0000"/>
                </a:solidFill>
                <a:latin typeface="Arial" charset="0"/>
              </a:rPr>
              <a:t>Agglomeration or aggregation</a:t>
            </a:r>
            <a:r>
              <a:rPr lang="en-US">
                <a:latin typeface="Arial" charset="0"/>
              </a:rPr>
              <a:t>: combine tasks and communications identified in the first step into larger tasks. </a:t>
            </a:r>
            <a:br>
              <a:rPr lang="en-US">
                <a:latin typeface="Arial" charset="0"/>
              </a:rPr>
            </a:br>
            <a:br>
              <a:rPr lang="en-US">
                <a:latin typeface="Arial" charset="0"/>
              </a:rPr>
            </a:br>
            <a:r>
              <a:rPr lang="en-US">
                <a:latin typeface="Arial" charset="0"/>
              </a:rPr>
              <a:t>For example, if task A must be executed before task B can be executed, it may make sense to aggregate them into a single composite task.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charset="0"/>
              <a:defRPr sz="32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charset="0"/>
              <a:defRPr sz="32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charset="0"/>
              <a:defRPr sz="32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charset="0"/>
              <a:defRPr sz="32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charset="0"/>
              <a:defRPr sz="32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charset="0"/>
              <a:defRPr sz="32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charset="0"/>
              <a:defRPr sz="32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charset="0"/>
              <a:defRPr sz="32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charset="0"/>
              <a:defRPr sz="32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sz="1200">
                <a:latin typeface="Arial" charset="0"/>
              </a:rPr>
              <a:t>Copyright © 2010, Elsevier Inc. All rights Reserved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6BE44D-6AB7-7747-A5B3-8E5957F8FC9E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325226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673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rial" charset="0"/>
              </a:rPr>
              <a:t>Foster</a:t>
            </a:r>
            <a:r>
              <a:rPr lang="ja-JP" altLang="en-US">
                <a:latin typeface="Arial" charset="0"/>
              </a:rPr>
              <a:t>’</a:t>
            </a:r>
            <a:r>
              <a:rPr lang="en-US">
                <a:latin typeface="Arial" charset="0"/>
              </a:rPr>
              <a:t>s methodology</a:t>
            </a:r>
          </a:p>
        </p:txBody>
      </p:sp>
      <p:sp>
        <p:nvSpPr>
          <p:cNvPr id="156674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SzPct val="100000"/>
              <a:buFont typeface="Arial" charset="0"/>
              <a:buAutoNum type="arabicPeriod" startAt="4"/>
            </a:pPr>
            <a:r>
              <a:rPr lang="en-US">
                <a:solidFill>
                  <a:srgbClr val="FF0000"/>
                </a:solidFill>
                <a:latin typeface="Arial" charset="0"/>
              </a:rPr>
              <a:t>Mapping</a:t>
            </a:r>
            <a:r>
              <a:rPr lang="en-US">
                <a:latin typeface="Arial" charset="0"/>
              </a:rPr>
              <a:t>: assign the composite tasks identified in the previous step to processes/threads.</a:t>
            </a:r>
            <a:br>
              <a:rPr lang="en-US">
                <a:latin typeface="Arial" charset="0"/>
              </a:rPr>
            </a:br>
            <a:br>
              <a:rPr lang="en-US">
                <a:latin typeface="Arial" charset="0"/>
              </a:rPr>
            </a:br>
            <a:r>
              <a:rPr lang="en-US">
                <a:latin typeface="Arial" charset="0"/>
              </a:rPr>
              <a:t>This should be done so that communication is minimized, and each process/thread gets roughly the same amount of work.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charset="0"/>
              <a:defRPr sz="32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charset="0"/>
              <a:defRPr sz="32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charset="0"/>
              <a:defRPr sz="32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charset="0"/>
              <a:defRPr sz="32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charset="0"/>
              <a:defRPr sz="32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charset="0"/>
              <a:defRPr sz="32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charset="0"/>
              <a:defRPr sz="32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charset="0"/>
              <a:defRPr sz="32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charset="0"/>
              <a:defRPr sz="32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sz="1200">
                <a:latin typeface="Arial" charset="0"/>
              </a:rPr>
              <a:t>Copyright © 2010, Elsevier Inc. All rights Reserved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6BE44D-6AB7-7747-A5B3-8E5957F8FC9E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619555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from </a:t>
            </a:r>
            <a:r>
              <a:rPr lang="en-US" dirty="0" err="1"/>
              <a:t>sum.c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000000"/>
                </a:solidFill>
              </a:rPr>
              <a:t>Open </a:t>
            </a:r>
            <a:r>
              <a:rPr lang="en-US" dirty="0" err="1">
                <a:solidFill>
                  <a:srgbClr val="000000"/>
                </a:solidFill>
              </a:rPr>
              <a:t>sum.c</a:t>
            </a:r>
            <a:endParaRPr lang="en-US" dirty="0">
              <a:solidFill>
                <a:srgbClr val="000000"/>
              </a:solidFill>
            </a:endParaRPr>
          </a:p>
          <a:p>
            <a:r>
              <a:rPr lang="en-US" dirty="0">
                <a:solidFill>
                  <a:srgbClr val="000000"/>
                </a:solidFill>
              </a:rPr>
              <a:t>What can be parallelized here?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 2010, Elsevier Inc. All rights Reserved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6BE44D-6AB7-7747-A5B3-8E5957F8FC9E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063250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1815037"/>
            <a:ext cx="7772400" cy="1362075"/>
          </a:xfrm>
        </p:spPr>
        <p:txBody>
          <a:bodyPr>
            <a:normAutofit/>
          </a:bodyPr>
          <a:lstStyle/>
          <a:p>
            <a:r>
              <a:rPr lang="en-US" dirty="0" err="1"/>
              <a:t>OpenMP</a:t>
            </a:r>
            <a:r>
              <a:rPr lang="en-US" dirty="0"/>
              <a:t> for shared memory multithreaded programming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 2010, Elsevier Inc. All rights Reserved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6BE44D-6AB7-7747-A5B3-8E5957F8FC9E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421220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charset="0"/>
              <a:defRPr sz="32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charset="0"/>
              <a:defRPr sz="32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charset="0"/>
              <a:defRPr sz="32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charset="0"/>
              <a:defRPr sz="32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charset="0"/>
              <a:defRPr sz="32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charset="0"/>
              <a:defRPr sz="32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charset="0"/>
              <a:defRPr sz="32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charset="0"/>
              <a:defRPr sz="32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charset="0"/>
              <a:defRPr sz="32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sz="1200">
                <a:latin typeface="Arial" charset="0"/>
              </a:rPr>
              <a:t>Copyright © 2010, Elsevier Inc. All rights Reserved</a:t>
            </a:r>
          </a:p>
        </p:txBody>
      </p:sp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Arial" charset="0"/>
              </a:rPr>
              <a:t>Roadmap</a:t>
            </a:r>
            <a:endParaRPr lang="en-AU">
              <a:latin typeface="Arial" charset="0"/>
            </a:endParaRPr>
          </a:p>
        </p:txBody>
      </p:sp>
      <p:sp>
        <p:nvSpPr>
          <p:cNvPr id="194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2800">
                <a:latin typeface="Arial" charset="0"/>
              </a:rPr>
              <a:t>Writing programs that use OpenMP.</a:t>
            </a:r>
          </a:p>
          <a:p>
            <a:r>
              <a:rPr lang="en-US" sz="2800">
                <a:latin typeface="Arial" charset="0"/>
              </a:rPr>
              <a:t>Using OpenMP to parallelize many serial for loops with only small changes to the source code.</a:t>
            </a:r>
          </a:p>
          <a:p>
            <a:r>
              <a:rPr lang="en-US" sz="2800">
                <a:latin typeface="Arial" charset="0"/>
              </a:rPr>
              <a:t>Task parallelism.</a:t>
            </a:r>
          </a:p>
          <a:p>
            <a:r>
              <a:rPr lang="en-US" sz="2800">
                <a:latin typeface="Arial" charset="0"/>
              </a:rPr>
              <a:t>Explicit thread synchronization.</a:t>
            </a:r>
          </a:p>
          <a:p>
            <a:r>
              <a:rPr lang="en-US" sz="2800">
                <a:latin typeface="Arial" charset="0"/>
              </a:rPr>
              <a:t>Standard problems in shared-memory programming.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6BE44D-6AB7-7747-A5B3-8E5957F8FC9E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843535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Title 1"/>
          <p:cNvSpPr>
            <a:spLocks noGrp="1"/>
          </p:cNvSpPr>
          <p:nvPr>
            <p:ph type="title"/>
          </p:nvPr>
        </p:nvSpPr>
        <p:spPr>
          <a:xfrm>
            <a:off x="611188" y="109538"/>
            <a:ext cx="8281987" cy="708025"/>
          </a:xfrm>
        </p:spPr>
        <p:txBody>
          <a:bodyPr>
            <a:normAutofit fontScale="90000"/>
          </a:bodyPr>
          <a:lstStyle/>
          <a:p>
            <a:r>
              <a:rPr lang="en-US">
                <a:latin typeface="Arial" charset="0"/>
              </a:rPr>
              <a:t>Pragmas</a:t>
            </a:r>
          </a:p>
        </p:txBody>
      </p:sp>
      <p:sp>
        <p:nvSpPr>
          <p:cNvPr id="23554" name="Content Placeholder 2"/>
          <p:cNvSpPr>
            <a:spLocks noGrp="1"/>
          </p:cNvSpPr>
          <p:nvPr>
            <p:ph idx="1"/>
          </p:nvPr>
        </p:nvSpPr>
        <p:spPr>
          <a:xfrm>
            <a:off x="684213" y="1125538"/>
            <a:ext cx="8270875" cy="3671887"/>
          </a:xfrm>
        </p:spPr>
        <p:txBody>
          <a:bodyPr/>
          <a:lstStyle/>
          <a:p>
            <a:r>
              <a:rPr lang="en-US">
                <a:latin typeface="Arial" charset="0"/>
              </a:rPr>
              <a:t>Special preprocessor instructions.</a:t>
            </a:r>
          </a:p>
          <a:p>
            <a:r>
              <a:rPr lang="en-US">
                <a:latin typeface="Arial" charset="0"/>
              </a:rPr>
              <a:t>Typically added to a system to allow behaviors that aren</a:t>
            </a:r>
            <a:r>
              <a:rPr lang="ja-JP" altLang="en-US">
                <a:latin typeface="Arial" charset="0"/>
              </a:rPr>
              <a:t>’</a:t>
            </a:r>
            <a:r>
              <a:rPr lang="en-US">
                <a:latin typeface="Arial" charset="0"/>
              </a:rPr>
              <a:t>t part of the basic C specification.</a:t>
            </a:r>
          </a:p>
          <a:p>
            <a:r>
              <a:rPr lang="en-US">
                <a:latin typeface="Arial" charset="0"/>
              </a:rPr>
              <a:t>Compilers that don</a:t>
            </a:r>
            <a:r>
              <a:rPr lang="ja-JP" altLang="en-US">
                <a:latin typeface="Arial" charset="0"/>
              </a:rPr>
              <a:t>’</a:t>
            </a:r>
            <a:r>
              <a:rPr lang="en-US">
                <a:latin typeface="Arial" charset="0"/>
              </a:rPr>
              <a:t>t support the pragmas ignore them.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charset="0"/>
              <a:defRPr sz="32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charset="0"/>
              <a:defRPr sz="32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charset="0"/>
              <a:defRPr sz="32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charset="0"/>
              <a:defRPr sz="32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charset="0"/>
              <a:defRPr sz="32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charset="0"/>
              <a:defRPr sz="32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charset="0"/>
              <a:defRPr sz="32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charset="0"/>
              <a:defRPr sz="32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charset="0"/>
              <a:defRPr sz="32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sz="1200">
                <a:latin typeface="Arial" charset="0"/>
              </a:rPr>
              <a:t>Copyright © 2010, Elsevier Inc. All rights Reserved</a:t>
            </a:r>
          </a:p>
        </p:txBody>
      </p:sp>
      <p:sp>
        <p:nvSpPr>
          <p:cNvPr id="5" name="Rectangle 4"/>
          <p:cNvSpPr/>
          <p:nvPr/>
        </p:nvSpPr>
        <p:spPr>
          <a:xfrm>
            <a:off x="3708400" y="4437063"/>
            <a:ext cx="1800225" cy="58420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None/>
              <a:defRPr/>
            </a:pPr>
            <a:r>
              <a:rPr lang="en-US" dirty="0">
                <a:latin typeface="+mn-lt"/>
                <a:ea typeface="+mn-ea"/>
              </a:rPr>
              <a:t>#pragma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6BE44D-6AB7-7747-A5B3-8E5957F8FC9E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702607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rial" charset="0"/>
              </a:rPr>
              <a:t>OpenMp pragmas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charset="0"/>
              <a:defRPr sz="32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charset="0"/>
              <a:defRPr sz="32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charset="0"/>
              <a:defRPr sz="32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charset="0"/>
              <a:defRPr sz="32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charset="0"/>
              <a:defRPr sz="32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charset="0"/>
              <a:defRPr sz="32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charset="0"/>
              <a:defRPr sz="32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charset="0"/>
              <a:defRPr sz="32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charset="0"/>
              <a:defRPr sz="32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sz="1200">
                <a:latin typeface="Arial" charset="0"/>
              </a:rPr>
              <a:t>Copyright © 2010, Elsevier Inc. All rights Reserved</a:t>
            </a:r>
          </a:p>
        </p:txBody>
      </p:sp>
      <p:sp>
        <p:nvSpPr>
          <p:cNvPr id="26627" name="Content Placeholder 4"/>
          <p:cNvSpPr>
            <a:spLocks noGrp="1"/>
          </p:cNvSpPr>
          <p:nvPr>
            <p:ph idx="1"/>
          </p:nvPr>
        </p:nvSpPr>
        <p:spPr>
          <a:xfrm>
            <a:off x="684213" y="1125538"/>
            <a:ext cx="6921636" cy="4154984"/>
          </a:xfrm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C00000"/>
                </a:solidFill>
                <a:latin typeface="Arial" charset="0"/>
              </a:rPr>
              <a:t># pragma </a:t>
            </a:r>
            <a:r>
              <a:rPr lang="en-US" dirty="0" err="1">
                <a:solidFill>
                  <a:srgbClr val="C00000"/>
                </a:solidFill>
                <a:latin typeface="Arial" charset="0"/>
              </a:rPr>
              <a:t>omp</a:t>
            </a:r>
            <a:r>
              <a:rPr lang="en-US" dirty="0">
                <a:solidFill>
                  <a:srgbClr val="C00000"/>
                </a:solidFill>
                <a:latin typeface="Arial" charset="0"/>
              </a:rPr>
              <a:t> parallel</a:t>
            </a:r>
            <a:br>
              <a:rPr lang="en-US" dirty="0">
                <a:latin typeface="Arial" charset="0"/>
              </a:rPr>
            </a:br>
            <a:endParaRPr lang="en-US" dirty="0">
              <a:latin typeface="Arial" charset="0"/>
            </a:endParaRPr>
          </a:p>
          <a:p>
            <a:r>
              <a:rPr lang="en-US" dirty="0">
                <a:latin typeface="Arial" charset="0"/>
              </a:rPr>
              <a:t># include </a:t>
            </a:r>
            <a:r>
              <a:rPr lang="en-US" dirty="0" err="1">
                <a:latin typeface="Arial" charset="0"/>
              </a:rPr>
              <a:t>omp.h</a:t>
            </a:r>
            <a:endParaRPr lang="en-US" dirty="0">
              <a:latin typeface="Arial" charset="0"/>
            </a:endParaRPr>
          </a:p>
          <a:p>
            <a:endParaRPr lang="en-US" dirty="0">
              <a:latin typeface="Arial" charset="0"/>
            </a:endParaRPr>
          </a:p>
          <a:p>
            <a:pPr lvl="1"/>
            <a:r>
              <a:rPr lang="en-US" dirty="0">
                <a:latin typeface="Arial" charset="0"/>
              </a:rPr>
              <a:t>Most basic parallel directive.</a:t>
            </a:r>
          </a:p>
          <a:p>
            <a:pPr lvl="1"/>
            <a:r>
              <a:rPr lang="en-US" dirty="0">
                <a:latin typeface="Arial" charset="0"/>
              </a:rPr>
              <a:t>The number of threads that run </a:t>
            </a:r>
            <a:br>
              <a:rPr lang="en-US" dirty="0">
                <a:latin typeface="Arial" charset="0"/>
              </a:rPr>
            </a:br>
            <a:r>
              <a:rPr lang="en-US" dirty="0">
                <a:latin typeface="Arial" charset="0"/>
              </a:rPr>
              <a:t>the following structured block of code </a:t>
            </a:r>
            <a:br>
              <a:rPr lang="en-US" dirty="0">
                <a:latin typeface="Arial" charset="0"/>
              </a:rPr>
            </a:br>
            <a:r>
              <a:rPr lang="en-US" dirty="0">
                <a:latin typeface="Arial" charset="0"/>
              </a:rPr>
              <a:t>is determined by the run-time system.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6BE44D-6AB7-7747-A5B3-8E5957F8FC9E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147889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Title 1"/>
          <p:cNvSpPr>
            <a:spLocks noGrp="1"/>
          </p:cNvSpPr>
          <p:nvPr>
            <p:ph type="title"/>
          </p:nvPr>
        </p:nvSpPr>
        <p:spPr>
          <a:xfrm>
            <a:off x="611188" y="109538"/>
            <a:ext cx="8281987" cy="708025"/>
          </a:xfrm>
        </p:spPr>
        <p:txBody>
          <a:bodyPr>
            <a:normAutofit fontScale="90000"/>
          </a:bodyPr>
          <a:lstStyle/>
          <a:p>
            <a:r>
              <a:rPr lang="en-US">
                <a:latin typeface="Arial" charset="0"/>
              </a:rPr>
              <a:t>clause</a:t>
            </a:r>
          </a:p>
        </p:txBody>
      </p:sp>
      <p:sp>
        <p:nvSpPr>
          <p:cNvPr id="28674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>
                <a:latin typeface="Arial" charset="0"/>
              </a:rPr>
              <a:t>Text that modifies a directive. </a:t>
            </a:r>
          </a:p>
          <a:p>
            <a:r>
              <a:rPr lang="en-US">
                <a:latin typeface="Arial" charset="0"/>
              </a:rPr>
              <a:t>The num_threads clause can be added to a parallel directive. </a:t>
            </a:r>
          </a:p>
          <a:p>
            <a:r>
              <a:rPr lang="en-US">
                <a:latin typeface="Arial" charset="0"/>
              </a:rPr>
              <a:t>It allows the programmer to specify the number of threads that should execute the following block.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charset="0"/>
              <a:defRPr sz="32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charset="0"/>
              <a:defRPr sz="32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charset="0"/>
              <a:defRPr sz="32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charset="0"/>
              <a:defRPr sz="32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charset="0"/>
              <a:defRPr sz="32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charset="0"/>
              <a:defRPr sz="32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charset="0"/>
              <a:defRPr sz="32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charset="0"/>
              <a:defRPr sz="32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charset="0"/>
              <a:defRPr sz="32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sz="1200">
                <a:latin typeface="Arial" charset="0"/>
              </a:rPr>
              <a:t>Copyright © 2010, Elsevier Inc. All rights Reserved</a:t>
            </a:r>
          </a:p>
        </p:txBody>
      </p:sp>
      <p:sp>
        <p:nvSpPr>
          <p:cNvPr id="5" name="Rectangle 4"/>
          <p:cNvSpPr/>
          <p:nvPr/>
        </p:nvSpPr>
        <p:spPr>
          <a:xfrm>
            <a:off x="900113" y="4868863"/>
            <a:ext cx="7596187" cy="461962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None/>
              <a:defRPr/>
            </a:pPr>
            <a:r>
              <a:rPr lang="en-US" sz="2400" dirty="0">
                <a:solidFill>
                  <a:srgbClr val="C00000"/>
                </a:solidFill>
                <a:latin typeface="+mn-lt"/>
                <a:ea typeface="+mn-ea"/>
              </a:rPr>
              <a:t># pragma omp parallel num_threads ( thread_count )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6BE44D-6AB7-7747-A5B3-8E5957F8FC9E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609169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rial" charset="0"/>
              </a:rPr>
              <a:t>Some terminology</a:t>
            </a:r>
          </a:p>
        </p:txBody>
      </p:sp>
      <p:sp>
        <p:nvSpPr>
          <p:cNvPr id="30722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Arial" charset="0"/>
              </a:rPr>
              <a:t>In </a:t>
            </a:r>
            <a:r>
              <a:rPr lang="en-US" dirty="0" err="1">
                <a:latin typeface="Arial" charset="0"/>
              </a:rPr>
              <a:t>OpenMP</a:t>
            </a:r>
            <a:r>
              <a:rPr lang="en-US" dirty="0">
                <a:latin typeface="Arial" charset="0"/>
              </a:rPr>
              <a:t> parlance the collection of threads executing the parallel block — the original thread and the new threads — is called a </a:t>
            </a:r>
            <a:r>
              <a:rPr lang="en-US" dirty="0">
                <a:solidFill>
                  <a:srgbClr val="C00000"/>
                </a:solidFill>
                <a:latin typeface="Arial" charset="0"/>
              </a:rPr>
              <a:t>team</a:t>
            </a:r>
            <a:r>
              <a:rPr lang="en-US" dirty="0">
                <a:latin typeface="Arial" charset="0"/>
              </a:rPr>
              <a:t>, the original thread is called the </a:t>
            </a:r>
            <a:r>
              <a:rPr lang="en-US" dirty="0">
                <a:solidFill>
                  <a:srgbClr val="C00000"/>
                </a:solidFill>
                <a:latin typeface="Arial" charset="0"/>
              </a:rPr>
              <a:t>master</a:t>
            </a:r>
            <a:r>
              <a:rPr lang="en-US" dirty="0">
                <a:latin typeface="Arial" charset="0"/>
              </a:rPr>
              <a:t>, and the additional threads are called </a:t>
            </a:r>
            <a:r>
              <a:rPr lang="en-US" dirty="0">
                <a:solidFill>
                  <a:srgbClr val="C00000"/>
                </a:solidFill>
                <a:latin typeface="Arial" charset="0"/>
              </a:rPr>
              <a:t>worker</a:t>
            </a:r>
            <a:r>
              <a:rPr lang="en-US" dirty="0">
                <a:latin typeface="Arial" charset="0"/>
              </a:rPr>
              <a:t>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charset="0"/>
              <a:defRPr sz="32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charset="0"/>
              <a:defRPr sz="32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charset="0"/>
              <a:defRPr sz="32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charset="0"/>
              <a:defRPr sz="32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charset="0"/>
              <a:defRPr sz="32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charset="0"/>
              <a:defRPr sz="32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charset="0"/>
              <a:defRPr sz="32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charset="0"/>
              <a:defRPr sz="32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charset="0"/>
              <a:defRPr sz="32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sz="1200">
                <a:latin typeface="Arial" charset="0"/>
              </a:rPr>
              <a:t>Copyright © 2010, Elsevier Inc. All rights Reserved</a:t>
            </a:r>
          </a:p>
        </p:txBody>
      </p:sp>
      <p:pic>
        <p:nvPicPr>
          <p:cNvPr id="30724" name="Picture 2" descr="cartoons,cooperation,households,keys,people,persons,Screen Beans®,synergy,team efforts,teamwork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05901" y="4273550"/>
            <a:ext cx="2447925" cy="2447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6BE44D-6AB7-7747-A5B3-8E5957F8FC9E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652808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Title 1"/>
          <p:cNvSpPr>
            <a:spLocks noGrp="1"/>
          </p:cNvSpPr>
          <p:nvPr>
            <p:ph type="title"/>
          </p:nvPr>
        </p:nvSpPr>
        <p:spPr>
          <a:xfrm>
            <a:off x="468313" y="0"/>
            <a:ext cx="8281987" cy="1323975"/>
          </a:xfrm>
        </p:spPr>
        <p:txBody>
          <a:bodyPr>
            <a:normAutofit fontScale="90000"/>
          </a:bodyPr>
          <a:lstStyle/>
          <a:p>
            <a:r>
              <a:rPr lang="en-US">
                <a:latin typeface="Arial" charset="0"/>
              </a:rPr>
              <a:t>In case the compiler doesn</a:t>
            </a:r>
            <a:r>
              <a:rPr lang="ja-JP" altLang="en-US">
                <a:latin typeface="Arial" charset="0"/>
              </a:rPr>
              <a:t>’</a:t>
            </a:r>
            <a:r>
              <a:rPr lang="en-US">
                <a:latin typeface="Arial" charset="0"/>
              </a:rPr>
              <a:t>t support OpenMP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charset="0"/>
              <a:defRPr sz="32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charset="0"/>
              <a:defRPr sz="32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charset="0"/>
              <a:defRPr sz="32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charset="0"/>
              <a:defRPr sz="32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charset="0"/>
              <a:defRPr sz="32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charset="0"/>
              <a:defRPr sz="32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charset="0"/>
              <a:defRPr sz="32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charset="0"/>
              <a:defRPr sz="32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charset="0"/>
              <a:defRPr sz="32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sz="1200">
                <a:latin typeface="Arial" charset="0"/>
              </a:rPr>
              <a:t>Copyright © 2010, Elsevier Inc. All rights Reserved</a:t>
            </a:r>
          </a:p>
        </p:txBody>
      </p:sp>
      <p:sp>
        <p:nvSpPr>
          <p:cNvPr id="4" name="Rectangle 3"/>
          <p:cNvSpPr/>
          <p:nvPr/>
        </p:nvSpPr>
        <p:spPr>
          <a:xfrm>
            <a:off x="1331913" y="1916113"/>
            <a:ext cx="3144837" cy="5238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None/>
              <a:defRPr/>
            </a:pPr>
            <a:r>
              <a:rPr lang="en-US" sz="2800" dirty="0">
                <a:latin typeface="+mn-lt"/>
                <a:ea typeface="+mn-ea"/>
              </a:rPr>
              <a:t># include &lt;omp.h&gt;</a:t>
            </a:r>
          </a:p>
        </p:txBody>
      </p:sp>
      <p:sp>
        <p:nvSpPr>
          <p:cNvPr id="5" name="Rectangle 4"/>
          <p:cNvSpPr/>
          <p:nvPr/>
        </p:nvSpPr>
        <p:spPr>
          <a:xfrm>
            <a:off x="3276600" y="3284538"/>
            <a:ext cx="4572000" cy="1557337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None/>
              <a:defRPr/>
            </a:pPr>
            <a:r>
              <a:rPr lang="en-US" sz="2800" dirty="0">
                <a:latin typeface="+mn-lt"/>
                <a:ea typeface="+mn-ea"/>
              </a:rPr>
              <a:t>#ifdef _OPENMP</a:t>
            </a:r>
          </a:p>
          <a:p>
            <a:pPr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None/>
              <a:defRPr/>
            </a:pPr>
            <a:r>
              <a:rPr lang="en-US" sz="2800" dirty="0">
                <a:latin typeface="+mn-lt"/>
                <a:ea typeface="+mn-ea"/>
              </a:rPr>
              <a:t># include &lt;omp.h&gt;</a:t>
            </a:r>
          </a:p>
          <a:p>
            <a:pPr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None/>
              <a:defRPr/>
            </a:pPr>
            <a:r>
              <a:rPr lang="en-US" sz="2800" dirty="0">
                <a:latin typeface="+mn-lt"/>
                <a:ea typeface="+mn-ea"/>
              </a:rPr>
              <a:t>#endif</a:t>
            </a:r>
          </a:p>
        </p:txBody>
      </p:sp>
      <p:cxnSp>
        <p:nvCxnSpPr>
          <p:cNvPr id="31749" name="Straight Arrow Connector 6"/>
          <p:cNvCxnSpPr>
            <a:cxnSpLocks noChangeShapeType="1"/>
          </p:cNvCxnSpPr>
          <p:nvPr/>
        </p:nvCxnSpPr>
        <p:spPr bwMode="auto">
          <a:xfrm>
            <a:off x="3132138" y="2492375"/>
            <a:ext cx="1008062" cy="649288"/>
          </a:xfrm>
          <a:prstGeom prst="straightConnector1">
            <a:avLst/>
          </a:prstGeom>
          <a:noFill/>
          <a:ln w="28575">
            <a:solidFill>
              <a:srgbClr val="0066FF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6BE44D-6AB7-7747-A5B3-8E5957F8FC9E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89626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Title 1"/>
          <p:cNvSpPr>
            <a:spLocks noGrp="1"/>
          </p:cNvSpPr>
          <p:nvPr>
            <p:ph type="title"/>
          </p:nvPr>
        </p:nvSpPr>
        <p:spPr>
          <a:xfrm>
            <a:off x="468313" y="0"/>
            <a:ext cx="8281987" cy="1323975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Arial" charset="0"/>
              </a:rPr>
              <a:t>In case the compiler </a:t>
            </a:r>
            <a:r>
              <a:rPr lang="en-US" dirty="0" err="1">
                <a:latin typeface="Arial" charset="0"/>
              </a:rPr>
              <a:t>doesn</a:t>
            </a:r>
            <a:r>
              <a:rPr lang="ja-JP" altLang="en-US" dirty="0">
                <a:latin typeface="Arial" charset="0"/>
              </a:rPr>
              <a:t>’</a:t>
            </a:r>
            <a:r>
              <a:rPr lang="en-US" dirty="0">
                <a:latin typeface="Arial" charset="0"/>
              </a:rPr>
              <a:t>t support </a:t>
            </a:r>
            <a:r>
              <a:rPr lang="en-US" dirty="0" err="1">
                <a:latin typeface="Arial" charset="0"/>
              </a:rPr>
              <a:t>OpenMP</a:t>
            </a:r>
            <a:endParaRPr lang="en-US" dirty="0">
              <a:latin typeface="Arial" charset="0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charset="0"/>
              <a:defRPr sz="32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charset="0"/>
              <a:defRPr sz="32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charset="0"/>
              <a:defRPr sz="32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charset="0"/>
              <a:defRPr sz="32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charset="0"/>
              <a:defRPr sz="32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charset="0"/>
              <a:defRPr sz="32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charset="0"/>
              <a:defRPr sz="32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charset="0"/>
              <a:defRPr sz="32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charset="0"/>
              <a:defRPr sz="32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sz="1200">
                <a:latin typeface="Arial" charset="0"/>
              </a:rPr>
              <a:t>Copyright © 2010, Elsevier Inc. All rights Reserved</a:t>
            </a:r>
          </a:p>
        </p:txBody>
      </p:sp>
      <p:sp>
        <p:nvSpPr>
          <p:cNvPr id="8" name="Rectangle 7"/>
          <p:cNvSpPr/>
          <p:nvPr/>
        </p:nvSpPr>
        <p:spPr>
          <a:xfrm>
            <a:off x="684213" y="1844675"/>
            <a:ext cx="8064500" cy="362585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None/>
              <a:defRPr/>
            </a:pPr>
            <a:r>
              <a:rPr lang="en-US" sz="2800" dirty="0">
                <a:latin typeface="+mn-lt"/>
                <a:ea typeface="+mn-ea"/>
              </a:rPr>
              <a:t># ifdef _OPENMP</a:t>
            </a:r>
          </a:p>
          <a:p>
            <a:pPr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None/>
              <a:defRPr/>
            </a:pPr>
            <a:r>
              <a:rPr lang="en-US" sz="2800" dirty="0">
                <a:latin typeface="+mn-lt"/>
                <a:ea typeface="+mn-ea"/>
              </a:rPr>
              <a:t>   </a:t>
            </a:r>
            <a:r>
              <a:rPr lang="en-US" sz="2800" dirty="0" err="1">
                <a:latin typeface="+mn-lt"/>
                <a:ea typeface="+mn-ea"/>
              </a:rPr>
              <a:t>int</a:t>
            </a:r>
            <a:r>
              <a:rPr lang="en-US" sz="2800" dirty="0">
                <a:latin typeface="+mn-lt"/>
                <a:ea typeface="+mn-ea"/>
              </a:rPr>
              <a:t> </a:t>
            </a:r>
            <a:r>
              <a:rPr lang="en-US" sz="2800" dirty="0" err="1">
                <a:latin typeface="+mn-lt"/>
                <a:ea typeface="+mn-ea"/>
              </a:rPr>
              <a:t>my_rank</a:t>
            </a:r>
            <a:r>
              <a:rPr lang="en-US" sz="2800" dirty="0">
                <a:latin typeface="+mn-lt"/>
                <a:ea typeface="+mn-ea"/>
              </a:rPr>
              <a:t> = </a:t>
            </a:r>
            <a:r>
              <a:rPr lang="en-US" sz="2800" dirty="0" err="1">
                <a:latin typeface="+mn-lt"/>
                <a:ea typeface="+mn-ea"/>
              </a:rPr>
              <a:t>omp_get_thread_num</a:t>
            </a:r>
            <a:r>
              <a:rPr lang="en-US" sz="2800" dirty="0">
                <a:latin typeface="+mn-lt"/>
                <a:ea typeface="+mn-ea"/>
              </a:rPr>
              <a:t> ( );</a:t>
            </a:r>
          </a:p>
          <a:p>
            <a:pPr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None/>
              <a:defRPr/>
            </a:pPr>
            <a:r>
              <a:rPr lang="en-US" sz="2800" dirty="0">
                <a:latin typeface="+mn-lt"/>
                <a:ea typeface="+mn-ea"/>
              </a:rPr>
              <a:t>   </a:t>
            </a:r>
            <a:r>
              <a:rPr lang="en-US" sz="2800" dirty="0" err="1">
                <a:latin typeface="+mn-lt"/>
                <a:ea typeface="+mn-ea"/>
              </a:rPr>
              <a:t>int</a:t>
            </a:r>
            <a:r>
              <a:rPr lang="en-US" sz="2800" dirty="0">
                <a:latin typeface="+mn-lt"/>
                <a:ea typeface="+mn-ea"/>
              </a:rPr>
              <a:t> thread_count = </a:t>
            </a:r>
            <a:r>
              <a:rPr lang="en-US" sz="2800" dirty="0" err="1">
                <a:latin typeface="+mn-lt"/>
                <a:ea typeface="+mn-ea"/>
              </a:rPr>
              <a:t>omp_get_num_threads</a:t>
            </a:r>
            <a:r>
              <a:rPr lang="en-US" sz="2800" dirty="0">
                <a:latin typeface="+mn-lt"/>
                <a:ea typeface="+mn-ea"/>
              </a:rPr>
              <a:t> ( );</a:t>
            </a:r>
          </a:p>
          <a:p>
            <a:pPr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None/>
              <a:defRPr/>
            </a:pPr>
            <a:r>
              <a:rPr lang="en-US" sz="2800" dirty="0">
                <a:latin typeface="+mn-lt"/>
                <a:ea typeface="+mn-ea"/>
              </a:rPr>
              <a:t># e l s e</a:t>
            </a:r>
          </a:p>
          <a:p>
            <a:pPr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None/>
              <a:defRPr/>
            </a:pPr>
            <a:r>
              <a:rPr lang="en-US" sz="2800" dirty="0">
                <a:latin typeface="+mn-lt"/>
                <a:ea typeface="+mn-ea"/>
              </a:rPr>
              <a:t>   </a:t>
            </a:r>
            <a:r>
              <a:rPr lang="en-US" sz="2800" dirty="0" err="1">
                <a:latin typeface="+mn-lt"/>
                <a:ea typeface="+mn-ea"/>
              </a:rPr>
              <a:t>int</a:t>
            </a:r>
            <a:r>
              <a:rPr lang="en-US" sz="2800" dirty="0">
                <a:latin typeface="+mn-lt"/>
                <a:ea typeface="+mn-ea"/>
              </a:rPr>
              <a:t> </a:t>
            </a:r>
            <a:r>
              <a:rPr lang="en-US" sz="2800" dirty="0" err="1">
                <a:latin typeface="+mn-lt"/>
                <a:ea typeface="+mn-ea"/>
              </a:rPr>
              <a:t>my_rank</a:t>
            </a:r>
            <a:r>
              <a:rPr lang="en-US" sz="2800" dirty="0">
                <a:latin typeface="+mn-lt"/>
                <a:ea typeface="+mn-ea"/>
              </a:rPr>
              <a:t> = 0;</a:t>
            </a:r>
          </a:p>
          <a:p>
            <a:pPr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None/>
              <a:defRPr/>
            </a:pPr>
            <a:r>
              <a:rPr lang="en-US" sz="2800" dirty="0">
                <a:latin typeface="+mn-lt"/>
                <a:ea typeface="+mn-ea"/>
              </a:rPr>
              <a:t>   </a:t>
            </a:r>
            <a:r>
              <a:rPr lang="en-US" sz="2800" dirty="0" err="1">
                <a:latin typeface="+mn-lt"/>
                <a:ea typeface="+mn-ea"/>
              </a:rPr>
              <a:t>int</a:t>
            </a:r>
            <a:r>
              <a:rPr lang="en-US" sz="2800" dirty="0">
                <a:latin typeface="+mn-lt"/>
                <a:ea typeface="+mn-ea"/>
              </a:rPr>
              <a:t> thread_count = 1;</a:t>
            </a:r>
          </a:p>
          <a:p>
            <a:pPr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None/>
              <a:defRPr/>
            </a:pPr>
            <a:r>
              <a:rPr lang="en-US" sz="2800" dirty="0">
                <a:latin typeface="+mn-lt"/>
                <a:ea typeface="+mn-ea"/>
              </a:rPr>
              <a:t># endif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6BE44D-6AB7-7747-A5B3-8E5957F8FC9E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125730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252543" y="1410950"/>
            <a:ext cx="6036562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mr-IN" b="1" dirty="0"/>
          </a:p>
          <a:p>
            <a:r>
              <a:rPr lang="en-US" b="1" dirty="0"/>
              <a:t>#include &lt;</a:t>
            </a:r>
            <a:r>
              <a:rPr lang="en-US" b="1" dirty="0" err="1"/>
              <a:t>stdio.h</a:t>
            </a:r>
            <a:r>
              <a:rPr lang="en-US" b="1" dirty="0"/>
              <a:t>&gt;</a:t>
            </a:r>
          </a:p>
          <a:p>
            <a:endParaRPr lang="en-US" b="1" dirty="0"/>
          </a:p>
          <a:p>
            <a:r>
              <a:rPr lang="en-US" b="1" dirty="0" err="1"/>
              <a:t>int</a:t>
            </a:r>
            <a:r>
              <a:rPr lang="en-US" b="1" dirty="0"/>
              <a:t> main()</a:t>
            </a:r>
          </a:p>
          <a:p>
            <a:r>
              <a:rPr lang="en-US" b="1" dirty="0"/>
              <a:t>{</a:t>
            </a:r>
          </a:p>
          <a:p>
            <a:r>
              <a:rPr lang="en-US" b="1" dirty="0"/>
              <a:t>   </a:t>
            </a:r>
            <a:r>
              <a:rPr lang="en-US" b="1" dirty="0" err="1"/>
              <a:t>printf</a:t>
            </a:r>
            <a:r>
              <a:rPr lang="en-US" b="1" dirty="0"/>
              <a:t>("Hello world\n");</a:t>
            </a:r>
          </a:p>
          <a:p>
            <a:r>
              <a:rPr lang="mr-IN" b="1" dirty="0"/>
              <a:t>   return 0;</a:t>
            </a:r>
          </a:p>
          <a:p>
            <a:r>
              <a:rPr lang="mr-IN" b="1" dirty="0"/>
              <a:t>}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 2010, Elsevier Inc. All rights Reserved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6BE44D-6AB7-7747-A5B3-8E5957F8FC9E}" type="slidenum">
              <a:rPr lang="en-US" smtClean="0"/>
              <a:t>34</a:t>
            </a:fld>
            <a:endParaRPr lang="en-US"/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468313" y="86975"/>
            <a:ext cx="8281987" cy="1323975"/>
          </a:xfrm>
          <a:prstGeom prst="rect">
            <a:avLst/>
          </a:prstGeom>
        </p:spPr>
        <p:txBody>
          <a:bodyPr>
            <a:normAutofit fontScale="975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Arial" charset="0"/>
              </a:rPr>
              <a:t>Serial version of “hello world”</a:t>
            </a:r>
          </a:p>
        </p:txBody>
      </p:sp>
      <p:sp>
        <p:nvSpPr>
          <p:cNvPr id="6" name="Rectangle 5"/>
          <p:cNvSpPr/>
          <p:nvPr/>
        </p:nvSpPr>
        <p:spPr>
          <a:xfrm>
            <a:off x="840781" y="4767044"/>
            <a:ext cx="8064500" cy="52322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None/>
              <a:defRPr/>
            </a:pPr>
            <a:r>
              <a:rPr lang="en-US" sz="2800" b="1" dirty="0">
                <a:latin typeface="+mn-lt"/>
                <a:ea typeface="+mn-ea"/>
              </a:rPr>
              <a:t>How do we invoke </a:t>
            </a:r>
            <a:r>
              <a:rPr lang="en-US" sz="2800" b="1" dirty="0" err="1">
                <a:latin typeface="+mn-lt"/>
                <a:ea typeface="+mn-ea"/>
              </a:rPr>
              <a:t>omp</a:t>
            </a:r>
            <a:r>
              <a:rPr lang="en-US" sz="2800" b="1" dirty="0">
                <a:latin typeface="+mn-lt"/>
                <a:ea typeface="+mn-ea"/>
              </a:rPr>
              <a:t> in this case?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081" y="4034968"/>
            <a:ext cx="336337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Compile it: </a:t>
            </a:r>
            <a:r>
              <a:rPr lang="en-US" sz="2800" dirty="0" err="1"/>
              <a:t>gcc</a:t>
            </a:r>
            <a:r>
              <a:rPr lang="en-US" sz="2800" dirty="0"/>
              <a:t> </a:t>
            </a:r>
            <a:r>
              <a:rPr lang="en-US" sz="2800" dirty="0" err="1"/>
              <a:t>hello.c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34221376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charset="0"/>
              <a:defRPr sz="32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charset="0"/>
              <a:defRPr sz="32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charset="0"/>
              <a:defRPr sz="32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charset="0"/>
              <a:defRPr sz="32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charset="0"/>
              <a:defRPr sz="32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charset="0"/>
              <a:defRPr sz="32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charset="0"/>
              <a:defRPr sz="32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charset="0"/>
              <a:defRPr sz="32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charset="0"/>
              <a:defRPr sz="32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sz="1200">
                <a:latin typeface="Arial" charset="0"/>
              </a:rPr>
              <a:t>Copyright © 2010, Elsevier Inc. All rights Reserved</a:t>
            </a:r>
          </a:p>
        </p:txBody>
      </p:sp>
      <p:pic>
        <p:nvPicPr>
          <p:cNvPr id="2457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088" y="260350"/>
            <a:ext cx="7694612" cy="5667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4550589" y="387704"/>
            <a:ext cx="304637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000000"/>
                </a:solidFill>
              </a:rPr>
              <a:t>After invoking </a:t>
            </a:r>
            <a:r>
              <a:rPr lang="en-US" sz="2800" b="1" dirty="0" err="1">
                <a:solidFill>
                  <a:srgbClr val="000000"/>
                </a:solidFill>
              </a:rPr>
              <a:t>omp</a:t>
            </a:r>
            <a:endParaRPr lang="en-US" sz="2800" b="1" dirty="0">
              <a:solidFill>
                <a:srgbClr val="000000"/>
              </a:solidFill>
            </a:endParaRPr>
          </a:p>
        </p:txBody>
      </p:sp>
      <p:cxnSp>
        <p:nvCxnSpPr>
          <p:cNvPr id="6" name="Straight Arrow Connector 5"/>
          <p:cNvCxnSpPr/>
          <p:nvPr/>
        </p:nvCxnSpPr>
        <p:spPr>
          <a:xfrm>
            <a:off x="310761" y="379779"/>
            <a:ext cx="372109" cy="428318"/>
          </a:xfrm>
          <a:prstGeom prst="straightConnector1">
            <a:avLst/>
          </a:prstGeom>
          <a:ln w="762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/>
          <p:nvPr/>
        </p:nvCxnSpPr>
        <p:spPr>
          <a:xfrm>
            <a:off x="457200" y="2198077"/>
            <a:ext cx="451340" cy="527964"/>
          </a:xfrm>
          <a:prstGeom prst="straightConnector1">
            <a:avLst/>
          </a:prstGeom>
          <a:ln w="762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/>
          <p:nvPr/>
        </p:nvCxnSpPr>
        <p:spPr>
          <a:xfrm>
            <a:off x="2878016" y="3862753"/>
            <a:ext cx="451340" cy="527964"/>
          </a:xfrm>
          <a:prstGeom prst="straightConnector1">
            <a:avLst/>
          </a:prstGeom>
          <a:ln w="762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6BE44D-6AB7-7747-A5B3-8E5957F8FC9E}" type="slidenum">
              <a:rPr lang="en-US" smtClean="0"/>
              <a:t>35</a:t>
            </a:fld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2868903" y="6014016"/>
            <a:ext cx="495447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Compile it: </a:t>
            </a:r>
            <a:r>
              <a:rPr lang="en-US" sz="2800" dirty="0" err="1"/>
              <a:t>gcc</a:t>
            </a:r>
            <a:r>
              <a:rPr lang="en-US" sz="2800" dirty="0"/>
              <a:t> </a:t>
            </a:r>
            <a:r>
              <a:rPr lang="mr-IN" sz="2800" dirty="0"/>
              <a:t>–</a:t>
            </a:r>
            <a:r>
              <a:rPr lang="en-US" sz="2800" dirty="0" err="1"/>
              <a:t>fopenmp</a:t>
            </a:r>
            <a:r>
              <a:rPr lang="en-US" sz="2800" dirty="0"/>
              <a:t> </a:t>
            </a:r>
            <a:r>
              <a:rPr lang="en-US" sz="2800" dirty="0" err="1"/>
              <a:t>hello.c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35859286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Parallel Code Template (</a:t>
            </a:r>
            <a:r>
              <a:rPr lang="en-US" dirty="0" err="1"/>
              <a:t>OpenMP</a:t>
            </a:r>
            <a:r>
              <a:rPr lang="en-US" dirty="0"/>
              <a:t>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 defTabSz="914400">
              <a:spcBef>
                <a:spcPts val="0"/>
              </a:spcBef>
              <a:buNone/>
            </a:pPr>
            <a:r>
              <a:rPr lang="en-US" dirty="0">
                <a:solidFill>
                  <a:srgbClr val="FF0000"/>
                </a:solidFill>
              </a:rPr>
              <a:t>#include &lt;</a:t>
            </a:r>
            <a:r>
              <a:rPr lang="en-US" dirty="0" err="1">
                <a:solidFill>
                  <a:srgbClr val="FF0000"/>
                </a:solidFill>
              </a:rPr>
              <a:t>omp.h</a:t>
            </a:r>
            <a:r>
              <a:rPr lang="en-US" dirty="0">
                <a:solidFill>
                  <a:srgbClr val="FF0000"/>
                </a:solidFill>
              </a:rPr>
              <a:t>&gt;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srgbClr val="FF0000"/>
                </a:solidFill>
              </a:rPr>
              <a:t>main(</a:t>
            </a:r>
            <a:r>
              <a:rPr lang="mr-IN" dirty="0">
                <a:solidFill>
                  <a:srgbClr val="FF0000"/>
                </a:solidFill>
              </a:rPr>
              <a:t>…</a:t>
            </a:r>
            <a:r>
              <a:rPr lang="en-US" dirty="0">
                <a:solidFill>
                  <a:srgbClr val="FF0000"/>
                </a:solidFill>
              </a:rPr>
              <a:t>) </a:t>
            </a:r>
            <a:r>
              <a:rPr lang="en-US" dirty="0"/>
              <a:t>{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mr-IN" dirty="0"/>
              <a:t>…</a:t>
            </a:r>
            <a:r>
              <a:rPr lang="en-US" dirty="0"/>
              <a:t> // let p be the user-specified #threads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>
              <a:solidFill>
                <a:srgbClr val="FF0000"/>
              </a:solidFill>
            </a:endParaRPr>
          </a:p>
          <a:p>
            <a:pPr marL="0" indent="0" defTabSz="914400">
              <a:spcBef>
                <a:spcPts val="0"/>
              </a:spcBef>
              <a:buNone/>
            </a:pPr>
            <a:r>
              <a:rPr lang="en-US" dirty="0" err="1">
                <a:solidFill>
                  <a:srgbClr val="FF0000"/>
                </a:solidFill>
              </a:rPr>
              <a:t>omp_set_num_threads</a:t>
            </a:r>
            <a:r>
              <a:rPr lang="en-US" dirty="0">
                <a:solidFill>
                  <a:srgbClr val="FF0000"/>
                </a:solidFill>
              </a:rPr>
              <a:t>(p);</a:t>
            </a:r>
          </a:p>
          <a:p>
            <a:pPr marL="0" indent="0" defTabSz="914400">
              <a:spcBef>
                <a:spcPts val="0"/>
              </a:spcBef>
              <a:buNone/>
            </a:pPr>
            <a:endParaRPr lang="en-US" dirty="0"/>
          </a:p>
          <a:p>
            <a:pPr marL="0" indent="0" defTabSz="914400">
              <a:spcBef>
                <a:spcPts val="0"/>
              </a:spcBef>
              <a:buNone/>
            </a:pPr>
            <a:r>
              <a:rPr lang="en-US" dirty="0">
                <a:solidFill>
                  <a:srgbClr val="FF0000"/>
                </a:solidFill>
              </a:rPr>
              <a:t>#pragma </a:t>
            </a:r>
            <a:r>
              <a:rPr lang="en-US" dirty="0" err="1">
                <a:solidFill>
                  <a:srgbClr val="FF0000"/>
                </a:solidFill>
              </a:rPr>
              <a:t>omp</a:t>
            </a:r>
            <a:r>
              <a:rPr lang="en-US" dirty="0">
                <a:solidFill>
                  <a:srgbClr val="FF0000"/>
                </a:solidFill>
              </a:rPr>
              <a:t> parallel </a:t>
            </a:r>
            <a:r>
              <a:rPr lang="en-US" dirty="0">
                <a:solidFill>
                  <a:srgbClr val="0070C0"/>
                </a:solidFill>
              </a:rPr>
              <a:t>for </a:t>
            </a:r>
          </a:p>
          <a:p>
            <a:pPr marL="0" indent="0" defTabSz="914400">
              <a:spcBef>
                <a:spcPts val="0"/>
              </a:spcBef>
              <a:buNone/>
            </a:pPr>
            <a:r>
              <a:rPr lang="en-US" dirty="0">
                <a:solidFill>
                  <a:srgbClr val="FF0000"/>
                </a:solidFill>
              </a:rPr>
              <a:t>{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mr-IN" dirty="0"/>
              <a:t>…</a:t>
            </a:r>
            <a:r>
              <a:rPr lang="en-US" dirty="0"/>
              <a:t>. // </a:t>
            </a:r>
            <a:r>
              <a:rPr lang="en-US" dirty="0" err="1"/>
              <a:t>openmp</a:t>
            </a:r>
            <a:r>
              <a:rPr lang="en-US" dirty="0"/>
              <a:t> parallel region where p threads are active and running concurrently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srgbClr val="FF0000"/>
                </a:solidFill>
              </a:rPr>
              <a:t>}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 2010, Elsevier Inc. All rights Reserved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6BE44D-6AB7-7747-A5B3-8E5957F8FC9E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014224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7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rial" charset="0"/>
              </a:rPr>
              <a:t>Scope</a:t>
            </a:r>
          </a:p>
        </p:txBody>
      </p:sp>
      <p:sp>
        <p:nvSpPr>
          <p:cNvPr id="45058" name="Conten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>
                <a:latin typeface="Arial" charset="0"/>
              </a:rPr>
              <a:t>In serial programming, the scope of a variable consists of those parts of a program in which the variable can be used.</a:t>
            </a:r>
          </a:p>
          <a:p>
            <a:endParaRPr lang="en-US">
              <a:latin typeface="Arial" charset="0"/>
            </a:endParaRPr>
          </a:p>
          <a:p>
            <a:r>
              <a:rPr lang="en-US">
                <a:latin typeface="Arial" charset="0"/>
              </a:rPr>
              <a:t>In OpenMP, the scope of a variable refers to the set of threads that can access the variable in a parallel block.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charset="0"/>
              <a:defRPr sz="32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charset="0"/>
              <a:defRPr sz="32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charset="0"/>
              <a:defRPr sz="32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charset="0"/>
              <a:defRPr sz="32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charset="0"/>
              <a:defRPr sz="32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charset="0"/>
              <a:defRPr sz="32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charset="0"/>
              <a:defRPr sz="32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charset="0"/>
              <a:defRPr sz="32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charset="0"/>
              <a:defRPr sz="32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sz="1200">
                <a:latin typeface="Arial" charset="0"/>
              </a:rPr>
              <a:t>Copyright © 2010, Elsevier Inc. All rights Reserved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6BE44D-6AB7-7747-A5B3-8E5957F8FC9E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258926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081" name="Picture 2" descr="optical viewing devices,science,scopes,technology,telescopes,tripod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80175" y="3644900"/>
            <a:ext cx="2663825" cy="2663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608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rial" charset="0"/>
              </a:rPr>
              <a:t>Scope in OpenMP</a:t>
            </a:r>
          </a:p>
        </p:txBody>
      </p:sp>
      <p:sp>
        <p:nvSpPr>
          <p:cNvPr id="4608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>
                <a:latin typeface="Arial" charset="0"/>
              </a:rPr>
              <a:t>A variable that can be accessed by all the threads in the team has </a:t>
            </a:r>
            <a:r>
              <a:rPr lang="en-US">
                <a:solidFill>
                  <a:srgbClr val="C00000"/>
                </a:solidFill>
                <a:latin typeface="Arial" charset="0"/>
              </a:rPr>
              <a:t>shared</a:t>
            </a:r>
            <a:r>
              <a:rPr lang="en-US">
                <a:latin typeface="Arial" charset="0"/>
              </a:rPr>
              <a:t> scope.</a:t>
            </a:r>
          </a:p>
          <a:p>
            <a:endParaRPr lang="en-US">
              <a:latin typeface="Arial" charset="0"/>
            </a:endParaRPr>
          </a:p>
          <a:p>
            <a:r>
              <a:rPr lang="en-US">
                <a:latin typeface="Arial" charset="0"/>
              </a:rPr>
              <a:t>A variable that can only be accessed by a single thread has </a:t>
            </a:r>
            <a:r>
              <a:rPr lang="en-US">
                <a:solidFill>
                  <a:srgbClr val="C00000"/>
                </a:solidFill>
                <a:latin typeface="Arial" charset="0"/>
              </a:rPr>
              <a:t>private</a:t>
            </a:r>
            <a:r>
              <a:rPr lang="en-US">
                <a:latin typeface="Arial" charset="0"/>
              </a:rPr>
              <a:t> scope.</a:t>
            </a:r>
          </a:p>
          <a:p>
            <a:endParaRPr lang="en-US">
              <a:latin typeface="Arial" charset="0"/>
            </a:endParaRPr>
          </a:p>
          <a:p>
            <a:r>
              <a:rPr lang="en-US">
                <a:latin typeface="Arial" charset="0"/>
              </a:rPr>
              <a:t>The default scope for variables </a:t>
            </a:r>
            <a:br>
              <a:rPr lang="en-US">
                <a:latin typeface="Arial" charset="0"/>
              </a:rPr>
            </a:br>
            <a:r>
              <a:rPr lang="en-US">
                <a:latin typeface="Arial" charset="0"/>
              </a:rPr>
              <a:t>declared before a parallel block </a:t>
            </a:r>
            <a:br>
              <a:rPr lang="en-US">
                <a:latin typeface="Arial" charset="0"/>
              </a:rPr>
            </a:br>
            <a:r>
              <a:rPr lang="en-US">
                <a:latin typeface="Arial" charset="0"/>
              </a:rPr>
              <a:t>is </a:t>
            </a:r>
            <a:r>
              <a:rPr lang="en-US">
                <a:solidFill>
                  <a:srgbClr val="0066FF"/>
                </a:solidFill>
                <a:latin typeface="Arial" charset="0"/>
              </a:rPr>
              <a:t>shared</a:t>
            </a:r>
            <a:r>
              <a:rPr lang="en-US">
                <a:latin typeface="Arial" charset="0"/>
              </a:rPr>
              <a:t>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charset="0"/>
              <a:defRPr sz="32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charset="0"/>
              <a:defRPr sz="32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charset="0"/>
              <a:defRPr sz="32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charset="0"/>
              <a:defRPr sz="32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charset="0"/>
              <a:defRPr sz="32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charset="0"/>
              <a:defRPr sz="32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charset="0"/>
              <a:defRPr sz="32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charset="0"/>
              <a:defRPr sz="32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charset="0"/>
              <a:defRPr sz="32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sz="1200">
                <a:latin typeface="Arial" charset="0"/>
              </a:rPr>
              <a:t>Copyright © 2010, Elsevier Inc. All rights Reserved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6BE44D-6AB7-7747-A5B3-8E5957F8FC9E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227483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Loop.c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Lets go over our first code </a:t>
            </a:r>
            <a:r>
              <a:rPr lang="mr-IN" dirty="0"/>
              <a:t>–</a:t>
            </a:r>
            <a:r>
              <a:rPr lang="en-US" dirty="0"/>
              <a:t> loop-</a:t>
            </a:r>
            <a:r>
              <a:rPr lang="en-US" dirty="0" err="1"/>
              <a:t>serial.c</a:t>
            </a:r>
            <a:endParaRPr lang="en-US" dirty="0"/>
          </a:p>
          <a:p>
            <a:endParaRPr lang="en-US" dirty="0"/>
          </a:p>
          <a:p>
            <a:r>
              <a:rPr lang="en-US" dirty="0"/>
              <a:t>Now edit to employ </a:t>
            </a:r>
            <a:r>
              <a:rPr lang="en-US" dirty="0" err="1"/>
              <a:t>omp</a:t>
            </a:r>
            <a:r>
              <a:rPr lang="en-US" dirty="0"/>
              <a:t>, save as loop-</a:t>
            </a:r>
            <a:r>
              <a:rPr lang="en-US" dirty="0" err="1"/>
              <a:t>parallel.c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 2010, Elsevier Inc. All rights Reserved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6BE44D-6AB7-7747-A5B3-8E5957F8FC9E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672627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Performance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 2010, Elsevier Inc. All rights Reserved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6BE44D-6AB7-7747-A5B3-8E5957F8FC9E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824517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8481" name="Picture 2" descr="analog clocks,clipped images,clocks,cropped images,cropped pictures,icons,PNG,timepieces,times,transparent background,wall clock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00563" y="2565400"/>
            <a:ext cx="3095625" cy="3095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848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rial" charset="0"/>
              </a:rPr>
              <a:t>Taking Timings</a:t>
            </a:r>
          </a:p>
        </p:txBody>
      </p:sp>
      <p:sp>
        <p:nvSpPr>
          <p:cNvPr id="14848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>
                <a:latin typeface="Arial" charset="0"/>
              </a:rPr>
              <a:t>What is time?</a:t>
            </a:r>
          </a:p>
          <a:p>
            <a:r>
              <a:rPr lang="en-US">
                <a:latin typeface="Arial" charset="0"/>
              </a:rPr>
              <a:t>Start to finish?</a:t>
            </a:r>
          </a:p>
          <a:p>
            <a:r>
              <a:rPr lang="en-US">
                <a:latin typeface="Arial" charset="0"/>
              </a:rPr>
              <a:t>A program segment of interest?</a:t>
            </a:r>
          </a:p>
          <a:p>
            <a:r>
              <a:rPr lang="en-US">
                <a:latin typeface="Arial" charset="0"/>
              </a:rPr>
              <a:t>CPU time?</a:t>
            </a:r>
          </a:p>
          <a:p>
            <a:r>
              <a:rPr lang="en-US">
                <a:latin typeface="Arial" charset="0"/>
              </a:rPr>
              <a:t>Wall clock time?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charset="0"/>
              <a:defRPr sz="32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charset="0"/>
              <a:defRPr sz="32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charset="0"/>
              <a:defRPr sz="32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charset="0"/>
              <a:defRPr sz="32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charset="0"/>
              <a:defRPr sz="32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charset="0"/>
              <a:defRPr sz="32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charset="0"/>
              <a:defRPr sz="32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charset="0"/>
              <a:defRPr sz="32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charset="0"/>
              <a:defRPr sz="32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sz="1200">
                <a:latin typeface="Arial" charset="0"/>
              </a:rPr>
              <a:t>Copyright © 2010, Elsevier Inc. All rights Reserved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6BE44D-6AB7-7747-A5B3-8E5957F8FC9E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485316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505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Arial" charset="0"/>
              </a:rPr>
              <a:t>Taking Timings</a:t>
            </a:r>
            <a:endParaRPr lang="en-US" dirty="0">
              <a:solidFill>
                <a:srgbClr val="FF0000"/>
              </a:solidFill>
              <a:latin typeface="Arial" charset="0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charset="0"/>
              <a:defRPr sz="32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charset="0"/>
              <a:defRPr sz="32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charset="0"/>
              <a:defRPr sz="32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charset="0"/>
              <a:defRPr sz="32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charset="0"/>
              <a:defRPr sz="32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charset="0"/>
              <a:defRPr sz="32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charset="0"/>
              <a:defRPr sz="32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charset="0"/>
              <a:defRPr sz="32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charset="0"/>
              <a:defRPr sz="32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sz="1200">
                <a:latin typeface="Arial" charset="0"/>
              </a:rPr>
              <a:t>Copyright © 2010, Elsevier Inc. All rights Reserved</a:t>
            </a:r>
          </a:p>
        </p:txBody>
      </p:sp>
      <p:pic>
        <p:nvPicPr>
          <p:cNvPr id="14950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750" y="1628775"/>
            <a:ext cx="8101013" cy="2160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5651500" y="1196975"/>
            <a:ext cx="1692275" cy="9048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None/>
              <a:defRPr/>
            </a:pPr>
            <a:r>
              <a:rPr lang="en-US" sz="2400" dirty="0">
                <a:solidFill>
                  <a:srgbClr val="00B050"/>
                </a:solidFill>
                <a:latin typeface="+mn-lt"/>
                <a:ea typeface="+mn-ea"/>
              </a:rPr>
              <a:t>theoretical </a:t>
            </a:r>
          </a:p>
          <a:p>
            <a:pPr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None/>
              <a:defRPr/>
            </a:pPr>
            <a:r>
              <a:rPr lang="en-US" sz="2400" dirty="0">
                <a:solidFill>
                  <a:srgbClr val="00B050"/>
                </a:solidFill>
                <a:latin typeface="+mn-lt"/>
                <a:ea typeface="+mn-ea"/>
              </a:rPr>
              <a:t>function</a:t>
            </a:r>
          </a:p>
        </p:txBody>
      </p:sp>
      <p:sp>
        <p:nvSpPr>
          <p:cNvPr id="149509" name="Freeform 6"/>
          <p:cNvSpPr>
            <a:spLocks noChangeArrowheads="1"/>
          </p:cNvSpPr>
          <p:nvPr/>
        </p:nvSpPr>
        <p:spPr bwMode="auto">
          <a:xfrm>
            <a:off x="3513138" y="1509713"/>
            <a:ext cx="2117725" cy="725487"/>
          </a:xfrm>
          <a:custGeom>
            <a:avLst/>
            <a:gdLst>
              <a:gd name="T0" fmla="*/ 2119086 w 2119086"/>
              <a:gd name="T1" fmla="*/ 0 h 725714"/>
              <a:gd name="T2" fmla="*/ 1045029 w 2119086"/>
              <a:gd name="T3" fmla="*/ 43543 h 725714"/>
              <a:gd name="T4" fmla="*/ 1538514 w 2119086"/>
              <a:gd name="T5" fmla="*/ 493485 h 725714"/>
              <a:gd name="T6" fmla="*/ 464457 w 2119086"/>
              <a:gd name="T7" fmla="*/ 362857 h 725714"/>
              <a:gd name="T8" fmla="*/ 0 w 2119086"/>
              <a:gd name="T9" fmla="*/ 725714 h 72571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119086"/>
              <a:gd name="T16" fmla="*/ 0 h 725714"/>
              <a:gd name="T17" fmla="*/ 2119086 w 2119086"/>
              <a:gd name="T18" fmla="*/ 725714 h 725714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119086" h="725714">
                <a:moveTo>
                  <a:pt x="2119086" y="0"/>
                </a:moveTo>
                <a:lnTo>
                  <a:pt x="1045029" y="43543"/>
                </a:lnTo>
                <a:cubicBezTo>
                  <a:pt x="948267" y="125791"/>
                  <a:pt x="1635276" y="440266"/>
                  <a:pt x="1538514" y="493485"/>
                </a:cubicBezTo>
                <a:cubicBezTo>
                  <a:pt x="1441752" y="546704"/>
                  <a:pt x="720876" y="324152"/>
                  <a:pt x="464457" y="362857"/>
                </a:cubicBezTo>
                <a:cubicBezTo>
                  <a:pt x="208038" y="401562"/>
                  <a:pt x="104019" y="563638"/>
                  <a:pt x="0" y="725714"/>
                </a:cubicBezTo>
              </a:path>
            </a:pathLst>
          </a:custGeom>
          <a:noFill/>
          <a:ln w="9525">
            <a:solidFill>
              <a:srgbClr val="00B050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/>
          <a:p>
            <a:pPr>
              <a:spcBef>
                <a:spcPct val="20000"/>
              </a:spcBef>
              <a:buClr>
                <a:schemeClr val="tx1"/>
              </a:buClr>
              <a:buSzPct val="60000"/>
              <a:buFont typeface="Wingdings" charset="0"/>
              <a:buNone/>
            </a:pPr>
            <a:endParaRPr lang="en-GB"/>
          </a:p>
        </p:txBody>
      </p:sp>
      <p:sp>
        <p:nvSpPr>
          <p:cNvPr id="149510" name="Rectangle 7"/>
          <p:cNvSpPr>
            <a:spLocks noChangeArrowheads="1"/>
          </p:cNvSpPr>
          <p:nvPr/>
        </p:nvSpPr>
        <p:spPr bwMode="auto">
          <a:xfrm>
            <a:off x="1187450" y="4437063"/>
            <a:ext cx="1509713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20000"/>
              </a:spcBef>
              <a:buClr>
                <a:schemeClr val="tx1"/>
              </a:buClr>
              <a:buSzPct val="60000"/>
              <a:buFont typeface="Wingdings" charset="0"/>
              <a:buNone/>
            </a:pPr>
            <a:r>
              <a:rPr lang="en-US" sz="2000">
                <a:solidFill>
                  <a:srgbClr val="00B050"/>
                </a:solidFill>
                <a:latin typeface="NimbusMonL-Regu-Extend_850" charset="0"/>
              </a:rPr>
              <a:t>MPI_Wtime</a:t>
            </a:r>
            <a:endParaRPr lang="en-US" sz="2000">
              <a:solidFill>
                <a:srgbClr val="00B050"/>
              </a:solidFill>
            </a:endParaRPr>
          </a:p>
        </p:txBody>
      </p:sp>
      <p:sp>
        <p:nvSpPr>
          <p:cNvPr id="149511" name="Rectangle 8"/>
          <p:cNvSpPr>
            <a:spLocks noChangeArrowheads="1"/>
          </p:cNvSpPr>
          <p:nvPr/>
        </p:nvSpPr>
        <p:spPr bwMode="auto">
          <a:xfrm>
            <a:off x="4787900" y="4292600"/>
            <a:ext cx="2360613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20000"/>
              </a:spcBef>
              <a:buClr>
                <a:schemeClr val="tx1"/>
              </a:buClr>
              <a:buSzPct val="60000"/>
              <a:buFont typeface="Wingdings" charset="0"/>
              <a:buNone/>
            </a:pPr>
            <a:r>
              <a:rPr lang="en-US" sz="2400">
                <a:solidFill>
                  <a:srgbClr val="00B050"/>
                </a:solidFill>
                <a:latin typeface="NimbusMonL-Regu-Extend_850" charset="0"/>
              </a:rPr>
              <a:t>omp_get_wtime</a:t>
            </a:r>
            <a:endParaRPr lang="en-US" sz="2400">
              <a:solidFill>
                <a:srgbClr val="00B050"/>
              </a:solidFill>
            </a:endParaRPr>
          </a:p>
        </p:txBody>
      </p:sp>
      <p:sp>
        <p:nvSpPr>
          <p:cNvPr id="149512" name="Freeform 9"/>
          <p:cNvSpPr>
            <a:spLocks noChangeArrowheads="1"/>
          </p:cNvSpPr>
          <p:nvPr/>
        </p:nvSpPr>
        <p:spPr bwMode="auto">
          <a:xfrm>
            <a:off x="1860550" y="2540000"/>
            <a:ext cx="1201738" cy="1800225"/>
          </a:xfrm>
          <a:custGeom>
            <a:avLst/>
            <a:gdLst>
              <a:gd name="T0" fmla="*/ 984552 w 1202266"/>
              <a:gd name="T1" fmla="*/ 0 h 1799771"/>
              <a:gd name="T2" fmla="*/ 26609 w 1202266"/>
              <a:gd name="T3" fmla="*/ 493486 h 1799771"/>
              <a:gd name="T4" fmla="*/ 1144209 w 1202266"/>
              <a:gd name="T5" fmla="*/ 551543 h 1799771"/>
              <a:gd name="T6" fmla="*/ 374952 w 1202266"/>
              <a:gd name="T7" fmla="*/ 1799771 h 1799771"/>
              <a:gd name="T8" fmla="*/ 0 60000 65536"/>
              <a:gd name="T9" fmla="*/ 0 60000 65536"/>
              <a:gd name="T10" fmla="*/ 0 60000 65536"/>
              <a:gd name="T11" fmla="*/ 0 60000 65536"/>
              <a:gd name="T12" fmla="*/ 0 w 1202266"/>
              <a:gd name="T13" fmla="*/ 0 h 1799771"/>
              <a:gd name="T14" fmla="*/ 1202266 w 1202266"/>
              <a:gd name="T15" fmla="*/ 1799771 h 1799771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202266" h="1799771">
                <a:moveTo>
                  <a:pt x="984552" y="0"/>
                </a:moveTo>
                <a:cubicBezTo>
                  <a:pt x="492276" y="200781"/>
                  <a:pt x="0" y="401562"/>
                  <a:pt x="26609" y="493486"/>
                </a:cubicBezTo>
                <a:cubicBezTo>
                  <a:pt x="53218" y="585410"/>
                  <a:pt x="1086152" y="333829"/>
                  <a:pt x="1144209" y="551543"/>
                </a:cubicBezTo>
                <a:cubicBezTo>
                  <a:pt x="1202266" y="769257"/>
                  <a:pt x="788609" y="1284514"/>
                  <a:pt x="374952" y="1799771"/>
                </a:cubicBezTo>
              </a:path>
            </a:pathLst>
          </a:custGeom>
          <a:noFill/>
          <a:ln w="9525">
            <a:solidFill>
              <a:srgbClr val="00B050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/>
          <a:p>
            <a:pPr>
              <a:spcBef>
                <a:spcPct val="20000"/>
              </a:spcBef>
              <a:buClr>
                <a:schemeClr val="tx1"/>
              </a:buClr>
              <a:buSzPct val="60000"/>
              <a:buFont typeface="Wingdings" charset="0"/>
              <a:buNone/>
            </a:pPr>
            <a:endParaRPr lang="en-GB"/>
          </a:p>
        </p:txBody>
      </p:sp>
      <p:sp>
        <p:nvSpPr>
          <p:cNvPr id="149513" name="Freeform 10"/>
          <p:cNvSpPr>
            <a:spLocks noChangeArrowheads="1"/>
          </p:cNvSpPr>
          <p:nvPr/>
        </p:nvSpPr>
        <p:spPr bwMode="auto">
          <a:xfrm>
            <a:off x="3686175" y="2540000"/>
            <a:ext cx="1263650" cy="1755775"/>
          </a:xfrm>
          <a:custGeom>
            <a:avLst/>
            <a:gdLst>
              <a:gd name="T0" fmla="*/ 0 w 1262742"/>
              <a:gd name="T1" fmla="*/ 0 h 1756229"/>
              <a:gd name="T2" fmla="*/ 1059542 w 1262742"/>
              <a:gd name="T3" fmla="*/ 377371 h 1756229"/>
              <a:gd name="T4" fmla="*/ 304800 w 1262742"/>
              <a:gd name="T5" fmla="*/ 580571 h 1756229"/>
              <a:gd name="T6" fmla="*/ 1262742 w 1262742"/>
              <a:gd name="T7" fmla="*/ 1756229 h 1756229"/>
              <a:gd name="T8" fmla="*/ 0 60000 65536"/>
              <a:gd name="T9" fmla="*/ 0 60000 65536"/>
              <a:gd name="T10" fmla="*/ 0 60000 65536"/>
              <a:gd name="T11" fmla="*/ 0 60000 65536"/>
              <a:gd name="T12" fmla="*/ 0 w 1262742"/>
              <a:gd name="T13" fmla="*/ 0 h 1756229"/>
              <a:gd name="T14" fmla="*/ 1262742 w 1262742"/>
              <a:gd name="T15" fmla="*/ 1756229 h 1756229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262742" h="1756229">
                <a:moveTo>
                  <a:pt x="0" y="0"/>
                </a:moveTo>
                <a:cubicBezTo>
                  <a:pt x="504371" y="140304"/>
                  <a:pt x="1008742" y="280609"/>
                  <a:pt x="1059542" y="377371"/>
                </a:cubicBezTo>
                <a:cubicBezTo>
                  <a:pt x="1110342" y="474133"/>
                  <a:pt x="270933" y="350761"/>
                  <a:pt x="304800" y="580571"/>
                </a:cubicBezTo>
                <a:cubicBezTo>
                  <a:pt x="338667" y="810381"/>
                  <a:pt x="800704" y="1283305"/>
                  <a:pt x="1262742" y="1756229"/>
                </a:cubicBezTo>
              </a:path>
            </a:pathLst>
          </a:custGeom>
          <a:noFill/>
          <a:ln w="9525">
            <a:solidFill>
              <a:srgbClr val="00B050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/>
          <a:p>
            <a:pPr>
              <a:spcBef>
                <a:spcPct val="20000"/>
              </a:spcBef>
              <a:buClr>
                <a:schemeClr val="tx1"/>
              </a:buClr>
              <a:buSzPct val="60000"/>
              <a:buFont typeface="Wingdings" charset="0"/>
              <a:buNone/>
            </a:pPr>
            <a:endParaRPr lang="en-GB"/>
          </a:p>
        </p:txBody>
      </p:sp>
      <p:cxnSp>
        <p:nvCxnSpPr>
          <p:cNvPr id="4" name="Straight Arrow Connector 3"/>
          <p:cNvCxnSpPr/>
          <p:nvPr/>
        </p:nvCxnSpPr>
        <p:spPr>
          <a:xfrm flipH="1">
            <a:off x="7016262" y="3974123"/>
            <a:ext cx="984738" cy="462940"/>
          </a:xfrm>
          <a:prstGeom prst="straightConnector1">
            <a:avLst/>
          </a:prstGeom>
          <a:ln w="762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6BE44D-6AB7-7747-A5B3-8E5957F8FC9E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645002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170" name="Content Placeholder 2"/>
          <p:cNvSpPr>
            <a:spLocks noGrp="1"/>
          </p:cNvSpPr>
          <p:nvPr>
            <p:ph idx="1"/>
          </p:nvPr>
        </p:nvSpPr>
        <p:spPr>
          <a:xfrm>
            <a:off x="684213" y="1125538"/>
            <a:ext cx="8270875" cy="1943100"/>
          </a:xfrm>
        </p:spPr>
        <p:txBody>
          <a:bodyPr/>
          <a:lstStyle/>
          <a:p>
            <a:r>
              <a:rPr lang="en-US" dirty="0">
                <a:latin typeface="Arial" charset="0"/>
              </a:rPr>
              <a:t>Number of threads = p</a:t>
            </a:r>
          </a:p>
          <a:p>
            <a:r>
              <a:rPr lang="en-US" dirty="0">
                <a:latin typeface="Arial" charset="0"/>
              </a:rPr>
              <a:t>Serial run-time = </a:t>
            </a:r>
            <a:r>
              <a:rPr lang="en-US" dirty="0" err="1">
                <a:latin typeface="Arial" charset="0"/>
              </a:rPr>
              <a:t>T</a:t>
            </a:r>
            <a:r>
              <a:rPr lang="en-US" baseline="-25000" dirty="0" err="1">
                <a:latin typeface="Arial" charset="0"/>
              </a:rPr>
              <a:t>serial</a:t>
            </a:r>
            <a:endParaRPr lang="en-US" baseline="-25000" dirty="0">
              <a:latin typeface="Arial" charset="0"/>
            </a:endParaRPr>
          </a:p>
          <a:p>
            <a:r>
              <a:rPr lang="en-US" dirty="0">
                <a:latin typeface="Arial" charset="0"/>
              </a:rPr>
              <a:t>Parallel run-time = </a:t>
            </a:r>
            <a:r>
              <a:rPr lang="en-US" dirty="0" err="1">
                <a:latin typeface="Arial" charset="0"/>
              </a:rPr>
              <a:t>T</a:t>
            </a:r>
            <a:r>
              <a:rPr lang="en-US" baseline="-25000" dirty="0" err="1">
                <a:latin typeface="Arial" charset="0"/>
              </a:rPr>
              <a:t>parallel</a:t>
            </a:r>
            <a:endParaRPr lang="en-US" baseline="-25000" dirty="0">
              <a:latin typeface="Arial" charset="0"/>
            </a:endParaRPr>
          </a:p>
          <a:p>
            <a:endParaRPr lang="en-US" dirty="0">
              <a:latin typeface="Arial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charset="0"/>
              <a:defRPr sz="32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charset="0"/>
              <a:defRPr sz="32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charset="0"/>
              <a:defRPr sz="32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charset="0"/>
              <a:defRPr sz="32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charset="0"/>
              <a:defRPr sz="32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charset="0"/>
              <a:defRPr sz="32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charset="0"/>
              <a:defRPr sz="32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charset="0"/>
              <a:defRPr sz="32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charset="0"/>
              <a:defRPr sz="32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sz="1200">
                <a:latin typeface="Arial" charset="0"/>
              </a:rPr>
              <a:t>Copyright © 2010, Elsevier Inc. All rights Reserved</a:t>
            </a:r>
          </a:p>
        </p:txBody>
      </p:sp>
      <p:sp>
        <p:nvSpPr>
          <p:cNvPr id="5" name="Rectangle 4"/>
          <p:cNvSpPr/>
          <p:nvPr/>
        </p:nvSpPr>
        <p:spPr>
          <a:xfrm>
            <a:off x="5382856" y="3446365"/>
            <a:ext cx="3572232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None/>
              <a:defRPr/>
            </a:pPr>
            <a:r>
              <a:rPr lang="en-US" sz="4000" kern="0" dirty="0">
                <a:solidFill>
                  <a:srgbClr val="003399"/>
                </a:solidFill>
                <a:latin typeface="Arial"/>
                <a:ea typeface="+mn-ea"/>
              </a:rPr>
              <a:t>T</a:t>
            </a:r>
            <a:r>
              <a:rPr lang="en-US" sz="4000" kern="0" baseline="-25000" dirty="0">
                <a:solidFill>
                  <a:srgbClr val="003399"/>
                </a:solidFill>
                <a:latin typeface="Arial"/>
                <a:ea typeface="+mn-ea"/>
              </a:rPr>
              <a:t>parallel </a:t>
            </a:r>
            <a:r>
              <a:rPr lang="en-US" sz="4000" kern="0" dirty="0">
                <a:solidFill>
                  <a:srgbClr val="003399"/>
                </a:solidFill>
                <a:latin typeface="Arial"/>
                <a:ea typeface="+mn-ea"/>
              </a:rPr>
              <a:t>= T</a:t>
            </a:r>
            <a:r>
              <a:rPr lang="en-US" sz="4000" kern="0" baseline="-25000" dirty="0">
                <a:solidFill>
                  <a:srgbClr val="003399"/>
                </a:solidFill>
                <a:latin typeface="Arial"/>
                <a:ea typeface="+mn-ea"/>
              </a:rPr>
              <a:t>serial </a:t>
            </a:r>
            <a:r>
              <a:rPr lang="en-US" sz="4000" kern="0" dirty="0">
                <a:solidFill>
                  <a:srgbClr val="003399"/>
                </a:solidFill>
                <a:latin typeface="Arial"/>
                <a:ea typeface="+mn-ea"/>
              </a:rPr>
              <a:t> / p</a:t>
            </a:r>
            <a:endParaRPr lang="en-US" sz="4000" dirty="0">
              <a:latin typeface="Arial Black" pitchFamily="34" charset="0"/>
              <a:ea typeface="+mn-ea"/>
            </a:endParaRPr>
          </a:p>
        </p:txBody>
      </p:sp>
      <p:pic>
        <p:nvPicPr>
          <p:cNvPr id="135174" name="Picture 2" descr="View Detail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64388" y="765175"/>
            <a:ext cx="1346200" cy="1346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5169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Arial" charset="0"/>
              </a:rPr>
              <a:t>Speedup</a:t>
            </a:r>
            <a:endParaRPr lang="en-US" dirty="0">
              <a:solidFill>
                <a:srgbClr val="FF0000"/>
              </a:solidFill>
              <a:latin typeface="Arial" charset="0"/>
            </a:endParaRPr>
          </a:p>
        </p:txBody>
      </p:sp>
      <p:pic>
        <p:nvPicPr>
          <p:cNvPr id="2" name="Picture 1" descr="AmdahlsLaw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000" y="2964634"/>
            <a:ext cx="4658387" cy="3639365"/>
          </a:xfrm>
          <a:prstGeom prst="rect">
            <a:avLst/>
          </a:prstGeom>
        </p:spPr>
      </p:pic>
      <p:grpSp>
        <p:nvGrpSpPr>
          <p:cNvPr id="9" name="Group 13"/>
          <p:cNvGrpSpPr>
            <a:grpSpLocks/>
          </p:cNvGrpSpPr>
          <p:nvPr/>
        </p:nvGrpSpPr>
        <p:grpSpPr bwMode="auto">
          <a:xfrm>
            <a:off x="5380038" y="5176837"/>
            <a:ext cx="2968625" cy="1427162"/>
            <a:chOff x="2411760" y="2204864"/>
            <a:chExt cx="2968270" cy="1427966"/>
          </a:xfrm>
        </p:grpSpPr>
        <p:sp>
          <p:nvSpPr>
            <p:cNvPr id="10" name="Rectangle 9"/>
            <p:cNvSpPr/>
            <p:nvPr/>
          </p:nvSpPr>
          <p:spPr>
            <a:xfrm>
              <a:off x="3708592" y="2204864"/>
              <a:ext cx="1407945" cy="70842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itchFamily="2" charset="2"/>
                <a:buNone/>
                <a:defRPr/>
              </a:pPr>
              <a:r>
                <a:rPr lang="en-US" sz="4000" kern="0" dirty="0">
                  <a:solidFill>
                    <a:srgbClr val="003399"/>
                  </a:solidFill>
                  <a:latin typeface="Arial"/>
                  <a:ea typeface="+mn-ea"/>
                </a:rPr>
                <a:t>T</a:t>
              </a:r>
              <a:r>
                <a:rPr lang="en-US" sz="4000" kern="0" baseline="-25000" dirty="0">
                  <a:solidFill>
                    <a:srgbClr val="003399"/>
                  </a:solidFill>
                  <a:latin typeface="Arial"/>
                  <a:ea typeface="+mn-ea"/>
                </a:rPr>
                <a:t>serial </a:t>
              </a:r>
              <a:endParaRPr lang="en-US" sz="4000" dirty="0">
                <a:latin typeface="Arial Black" pitchFamily="34" charset="0"/>
                <a:ea typeface="+mn-ea"/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780021" y="2924406"/>
              <a:ext cx="1600009" cy="70842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>
                <a:spcBef>
                  <a:spcPct val="20000"/>
                </a:spcBef>
                <a:buClr>
                  <a:srgbClr val="000000"/>
                </a:buClr>
                <a:buSzPct val="60000"/>
                <a:buFont typeface="Wingdings" pitchFamily="2" charset="2"/>
                <a:buNone/>
                <a:defRPr/>
              </a:pPr>
              <a:r>
                <a:rPr lang="en-US" sz="4000" kern="0" dirty="0">
                  <a:solidFill>
                    <a:srgbClr val="003399"/>
                  </a:solidFill>
                  <a:latin typeface="Arial"/>
                  <a:ea typeface="+mn-ea"/>
                </a:rPr>
                <a:t>T</a:t>
              </a:r>
              <a:r>
                <a:rPr lang="en-US" sz="4000" kern="0" baseline="-25000" dirty="0">
                  <a:solidFill>
                    <a:srgbClr val="003399"/>
                  </a:solidFill>
                  <a:latin typeface="Arial"/>
                  <a:ea typeface="+mn-ea"/>
                </a:rPr>
                <a:t>parallel</a:t>
              </a:r>
              <a:endParaRPr lang="en-US" sz="4000" dirty="0">
                <a:solidFill>
                  <a:srgbClr val="000000"/>
                </a:solidFill>
                <a:latin typeface="Arial Black" pitchFamily="34" charset="0"/>
                <a:ea typeface="+mn-ea"/>
              </a:endParaRP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2411760" y="2492363"/>
              <a:ext cx="1111117" cy="70842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itchFamily="2" charset="2"/>
                <a:buNone/>
                <a:defRPr/>
              </a:pPr>
              <a:r>
                <a:rPr lang="en-US" sz="4000" kern="0" dirty="0">
                  <a:solidFill>
                    <a:srgbClr val="003399"/>
                  </a:solidFill>
                  <a:latin typeface="Arial"/>
                  <a:ea typeface="+mn-ea"/>
                </a:rPr>
                <a:t>S = </a:t>
              </a:r>
              <a:endParaRPr lang="en-US" dirty="0">
                <a:latin typeface="Arial Black" pitchFamily="34" charset="0"/>
                <a:ea typeface="+mn-ea"/>
              </a:endParaRPr>
            </a:p>
          </p:txBody>
        </p:sp>
        <p:cxnSp>
          <p:nvCxnSpPr>
            <p:cNvPr id="13" name="Straight Connector 11"/>
            <p:cNvCxnSpPr>
              <a:cxnSpLocks noChangeShapeType="1"/>
            </p:cNvCxnSpPr>
            <p:nvPr/>
          </p:nvCxnSpPr>
          <p:spPr bwMode="auto">
            <a:xfrm>
              <a:off x="3635896" y="2924944"/>
              <a:ext cx="1656184" cy="0"/>
            </a:xfrm>
            <a:prstGeom prst="line">
              <a:avLst/>
            </a:prstGeom>
            <a:noFill/>
            <a:ln w="38100">
              <a:solidFill>
                <a:srgbClr val="0033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</p:cxnSp>
      </p:grp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6BE44D-6AB7-7747-A5B3-8E5957F8FC9E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79735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457" name="Title 1"/>
          <p:cNvSpPr>
            <a:spLocks noGrp="1"/>
          </p:cNvSpPr>
          <p:nvPr>
            <p:ph type="title"/>
          </p:nvPr>
        </p:nvSpPr>
        <p:spPr>
          <a:xfrm>
            <a:off x="457200" y="58188"/>
            <a:ext cx="8229600" cy="1143000"/>
          </a:xfrm>
        </p:spPr>
        <p:txBody>
          <a:bodyPr/>
          <a:lstStyle/>
          <a:p>
            <a:r>
              <a:rPr lang="en-US" dirty="0">
                <a:latin typeface="Arial" charset="0"/>
              </a:rPr>
              <a:t>Scalability</a:t>
            </a:r>
          </a:p>
        </p:txBody>
      </p:sp>
      <p:sp>
        <p:nvSpPr>
          <p:cNvPr id="147458" name="Content Placeholder 2"/>
          <p:cNvSpPr>
            <a:spLocks noGrp="1"/>
          </p:cNvSpPr>
          <p:nvPr>
            <p:ph idx="1"/>
          </p:nvPr>
        </p:nvSpPr>
        <p:spPr>
          <a:xfrm>
            <a:off x="611188" y="1558275"/>
            <a:ext cx="8270875" cy="5111750"/>
          </a:xfrm>
        </p:spPr>
        <p:txBody>
          <a:bodyPr/>
          <a:lstStyle/>
          <a:p>
            <a:r>
              <a:rPr lang="en-US" sz="2800" dirty="0">
                <a:latin typeface="Arial" charset="0"/>
              </a:rPr>
              <a:t>In general, a problem is </a:t>
            </a:r>
            <a:r>
              <a:rPr lang="en-US" sz="2800" i="1" dirty="0">
                <a:solidFill>
                  <a:srgbClr val="0066FF"/>
                </a:solidFill>
                <a:latin typeface="Arial" charset="0"/>
              </a:rPr>
              <a:t>scalable</a:t>
            </a:r>
            <a:r>
              <a:rPr lang="en-US" sz="2800" dirty="0">
                <a:latin typeface="Arial" charset="0"/>
              </a:rPr>
              <a:t> if it can handle ever increasing problem sizes.</a:t>
            </a:r>
          </a:p>
          <a:p>
            <a:r>
              <a:rPr lang="en-US" sz="2800" dirty="0">
                <a:latin typeface="Arial" charset="0"/>
              </a:rPr>
              <a:t>If we increase the number of processes/threads and keep the efficiency fixed without increasing problem size, the problem is </a:t>
            </a:r>
            <a:r>
              <a:rPr lang="en-US" sz="2800" i="1" dirty="0">
                <a:solidFill>
                  <a:srgbClr val="0066FF"/>
                </a:solidFill>
                <a:latin typeface="Arial" charset="0"/>
              </a:rPr>
              <a:t>strongly scalable</a:t>
            </a:r>
            <a:r>
              <a:rPr lang="en-US" sz="2800" dirty="0">
                <a:latin typeface="Arial" charset="0"/>
              </a:rPr>
              <a:t>.</a:t>
            </a:r>
          </a:p>
          <a:p>
            <a:r>
              <a:rPr lang="en-US" sz="2800" dirty="0">
                <a:latin typeface="Arial" charset="0"/>
              </a:rPr>
              <a:t>If we keep the efficiency fixed by increasing the problem size at the same rate as we increase the number of processes/threads, the problem is </a:t>
            </a:r>
            <a:r>
              <a:rPr lang="en-US" sz="2800" i="1" dirty="0">
                <a:solidFill>
                  <a:srgbClr val="0066FF"/>
                </a:solidFill>
                <a:latin typeface="Arial" charset="0"/>
              </a:rPr>
              <a:t>weakly scalable</a:t>
            </a:r>
            <a:r>
              <a:rPr lang="en-US" sz="2800" dirty="0">
                <a:latin typeface="Arial" charset="0"/>
              </a:rPr>
              <a:t>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charset="0"/>
              <a:defRPr sz="32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charset="0"/>
              <a:defRPr sz="32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charset="0"/>
              <a:defRPr sz="32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charset="0"/>
              <a:defRPr sz="32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charset="0"/>
              <a:defRPr sz="32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charset="0"/>
              <a:defRPr sz="32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charset="0"/>
              <a:defRPr sz="32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charset="0"/>
              <a:defRPr sz="32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charset="0"/>
              <a:defRPr sz="32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sz="1200" dirty="0">
                <a:latin typeface="Arial" charset="0"/>
              </a:rPr>
              <a:t>Copyright © 2010, Elsevier Inc. All rights Reserved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6BE44D-6AB7-7747-A5B3-8E5957F8FC9E}" type="slidenum">
              <a:rPr lang="en-US" smtClean="0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053724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5123" y="0"/>
            <a:ext cx="8229600" cy="1143000"/>
          </a:xfrm>
        </p:spPr>
        <p:txBody>
          <a:bodyPr/>
          <a:lstStyle/>
          <a:p>
            <a:r>
              <a:rPr lang="en-US" dirty="0"/>
              <a:t>Studying Scalability 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32637331"/>
              </p:ext>
            </p:extLst>
          </p:nvPr>
        </p:nvGraphicFramePr>
        <p:xfrm>
          <a:off x="354234" y="1523200"/>
          <a:ext cx="6096000" cy="2585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85420">
                <a:tc rowSpan="2">
                  <a:txBody>
                    <a:bodyPr/>
                    <a:lstStyle/>
                    <a:p>
                      <a:r>
                        <a:rPr lang="en-US" dirty="0"/>
                        <a:t>Input</a:t>
                      </a:r>
                      <a:r>
                        <a:rPr lang="en-US" baseline="0" dirty="0"/>
                        <a:t> size (n)</a:t>
                      </a:r>
                      <a:endParaRPr lang="en-US" dirty="0"/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pPr algn="ctr"/>
                      <a:r>
                        <a:rPr lang="en-US" dirty="0"/>
                        <a:t>Number</a:t>
                      </a:r>
                      <a:r>
                        <a:rPr lang="en-US" baseline="0" dirty="0"/>
                        <a:t> of threads (p)</a:t>
                      </a:r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5420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b="1" dirty="0"/>
                        <a:t>1,000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b="1" dirty="0"/>
                        <a:t>2,000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b="1" dirty="0"/>
                        <a:t>4,000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b="1" dirty="0"/>
                        <a:t>8,000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b="1" dirty="0"/>
                        <a:t>16,000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298938" y="1125415"/>
            <a:ext cx="72317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Table records the parallel runtime (in seconds) for varying values of n and p.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6BE44D-6AB7-7747-A5B3-8E5957F8FC9E}" type="slidenum">
              <a:rPr lang="en-US" smtClean="0"/>
              <a:t>45</a:t>
            </a:fld>
            <a:endParaRPr lang="en-US"/>
          </a:p>
        </p:txBody>
      </p:sp>
      <p:sp>
        <p:nvSpPr>
          <p:cNvPr id="13" name="TextBox 12"/>
          <p:cNvSpPr txBox="1"/>
          <p:nvPr/>
        </p:nvSpPr>
        <p:spPr>
          <a:xfrm>
            <a:off x="128379" y="5416062"/>
            <a:ext cx="74023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It is conventional to test scalability in powers of two (or by doubling n and p).</a:t>
            </a:r>
          </a:p>
        </p:txBody>
      </p:sp>
    </p:spTree>
    <p:extLst>
      <p:ext uri="{BB962C8B-B14F-4D97-AF65-F5344CB8AC3E}">
        <p14:creationId xmlns:p14="http://schemas.microsoft.com/office/powerpoint/2010/main" val="136784018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5123" y="0"/>
            <a:ext cx="8229600" cy="1143000"/>
          </a:xfrm>
        </p:spPr>
        <p:txBody>
          <a:bodyPr/>
          <a:lstStyle/>
          <a:p>
            <a:r>
              <a:rPr lang="en-US" dirty="0"/>
              <a:t>Studying Scalability 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/>
          </p:nvPr>
        </p:nvGraphicFramePr>
        <p:xfrm>
          <a:off x="354234" y="1523200"/>
          <a:ext cx="6096000" cy="2585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85420">
                <a:tc rowSpan="2">
                  <a:txBody>
                    <a:bodyPr/>
                    <a:lstStyle/>
                    <a:p>
                      <a:r>
                        <a:rPr lang="en-US" dirty="0"/>
                        <a:t>Input</a:t>
                      </a:r>
                      <a:r>
                        <a:rPr lang="en-US" baseline="0" dirty="0"/>
                        <a:t> size (n)</a:t>
                      </a:r>
                      <a:endParaRPr lang="en-US" dirty="0"/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pPr algn="ctr"/>
                      <a:r>
                        <a:rPr lang="en-US" dirty="0"/>
                        <a:t>Number</a:t>
                      </a:r>
                      <a:r>
                        <a:rPr lang="en-US" baseline="0" dirty="0"/>
                        <a:t> of threads (p)</a:t>
                      </a:r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5420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b="1" dirty="0"/>
                        <a:t>1,000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800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410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201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150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100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b="1" dirty="0"/>
                        <a:t>2,000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1,601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802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409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210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120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b="1" dirty="0"/>
                        <a:t>4,000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3,100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1,504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789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399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208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b="1" dirty="0"/>
                        <a:t>8,000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6,010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3,005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1,500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758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376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b="1" dirty="0"/>
                        <a:t>16,000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12,000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6,000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3,001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1,509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758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28379" y="5416062"/>
            <a:ext cx="74023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It is conventional to test scalability in powers of two (or by doubling n and p).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8938" y="1125415"/>
            <a:ext cx="72317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Table records the parallel runtime (in seconds) for varying values of n and p.</a:t>
            </a:r>
          </a:p>
        </p:txBody>
      </p:sp>
      <p:cxnSp>
        <p:nvCxnSpPr>
          <p:cNvPr id="8" name="Straight Arrow Connector 7"/>
          <p:cNvCxnSpPr/>
          <p:nvPr/>
        </p:nvCxnSpPr>
        <p:spPr>
          <a:xfrm>
            <a:off x="1652954" y="3657600"/>
            <a:ext cx="5715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981092" y="3358662"/>
            <a:ext cx="153522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Strong scaling </a:t>
            </a:r>
            <a:br>
              <a:rPr lang="en-US" dirty="0"/>
            </a:br>
            <a:r>
              <a:rPr lang="en-US" dirty="0"/>
              <a:t>behavior</a:t>
            </a:r>
          </a:p>
        </p:txBody>
      </p:sp>
      <p:cxnSp>
        <p:nvCxnSpPr>
          <p:cNvPr id="11" name="Straight Arrow Connector 10"/>
          <p:cNvCxnSpPr/>
          <p:nvPr/>
        </p:nvCxnSpPr>
        <p:spPr>
          <a:xfrm>
            <a:off x="1652954" y="2338754"/>
            <a:ext cx="5503984" cy="20574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646985" y="4325814"/>
            <a:ext cx="145046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Weak scaling </a:t>
            </a:r>
            <a:br>
              <a:rPr lang="en-US" dirty="0"/>
            </a:br>
            <a:r>
              <a:rPr lang="en-US" dirty="0"/>
              <a:t>behavior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6BE44D-6AB7-7747-A5B3-8E5957F8FC9E}" type="slidenum">
              <a:rPr lang="en-US" smtClean="0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92216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2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Studying Scalability </a:t>
            </a:r>
          </a:p>
        </p:txBody>
      </p:sp>
      <p:graphicFrame>
        <p:nvGraphicFramePr>
          <p:cNvPr id="4" name="Chart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993263938"/>
              </p:ext>
            </p:extLst>
          </p:nvPr>
        </p:nvGraphicFramePr>
        <p:xfrm>
          <a:off x="246186" y="1505562"/>
          <a:ext cx="4026876" cy="371706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2356339" y="5257801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</a:t>
            </a:r>
          </a:p>
        </p:txBody>
      </p:sp>
      <p:sp>
        <p:nvSpPr>
          <p:cNvPr id="6" name="TextBox 5"/>
          <p:cNvSpPr txBox="1"/>
          <p:nvPr/>
        </p:nvSpPr>
        <p:spPr>
          <a:xfrm rot="16200000">
            <a:off x="-379308" y="3546231"/>
            <a:ext cx="11464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Time (sec)</a:t>
            </a:r>
          </a:p>
        </p:txBody>
      </p:sp>
      <p:graphicFrame>
        <p:nvGraphicFramePr>
          <p:cNvPr id="7" name="Chart 6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31148403"/>
              </p:ext>
            </p:extLst>
          </p:nvPr>
        </p:nvGraphicFramePr>
        <p:xfrm>
          <a:off x="4747848" y="1507637"/>
          <a:ext cx="4396152" cy="39084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TextBox 7"/>
          <p:cNvSpPr txBox="1"/>
          <p:nvPr/>
        </p:nvSpPr>
        <p:spPr>
          <a:xfrm rot="16200000">
            <a:off x="4067696" y="3179430"/>
            <a:ext cx="10086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Speedup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00447" y="5442467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 2010, Elsevier Inc. All rights Reserved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6BE44D-6AB7-7747-A5B3-8E5957F8FC9E}" type="slidenum">
              <a:rPr lang="en-US" smtClean="0"/>
              <a:t>47</a:t>
            </a:fld>
            <a:endParaRPr lang="en-US"/>
          </a:p>
        </p:txBody>
      </p:sp>
      <p:cxnSp>
        <p:nvCxnSpPr>
          <p:cNvPr id="12" name="Straight Connector 11"/>
          <p:cNvCxnSpPr/>
          <p:nvPr/>
        </p:nvCxnSpPr>
        <p:spPr>
          <a:xfrm>
            <a:off x="4343396" y="1417638"/>
            <a:ext cx="52754" cy="4209495"/>
          </a:xfrm>
          <a:prstGeom prst="line">
            <a:avLst/>
          </a:prstGeom>
          <a:ln w="50800"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89363917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Timings with loop-</a:t>
            </a:r>
            <a:r>
              <a:rPr lang="en-US" dirty="0" err="1"/>
              <a:t>parallel.c</a:t>
            </a:r>
            <a:br>
              <a:rPr lang="en-US" dirty="0"/>
            </a:br>
            <a:r>
              <a:rPr lang="en-US" dirty="0"/>
              <a:t>(your code) or </a:t>
            </a:r>
            <a:r>
              <a:rPr lang="en-US" dirty="0" err="1"/>
              <a:t>loop.c</a:t>
            </a:r>
            <a:r>
              <a:rPr lang="en-US" dirty="0"/>
              <a:t> (our code)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 2010, Elsevier Inc. All rights Reserved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6BE44D-6AB7-7747-A5B3-8E5957F8FC9E}" type="slidenum">
              <a:rPr lang="en-US" smtClean="0"/>
              <a:t>48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1061182" y="2383122"/>
            <a:ext cx="188835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 dirty="0"/>
              <a:t>You try!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84376" y="3694922"/>
            <a:ext cx="287739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/>
              <a:t>&lt; 10 minutes</a:t>
            </a:r>
          </a:p>
        </p:txBody>
      </p:sp>
    </p:spTree>
    <p:extLst>
      <p:ext uri="{BB962C8B-B14F-4D97-AF65-F5344CB8AC3E}">
        <p14:creationId xmlns:p14="http://schemas.microsoft.com/office/powerpoint/2010/main" val="2054395205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71024" y="2287402"/>
            <a:ext cx="461738" cy="963011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800" dirty="0"/>
              <a:t>x</a:t>
            </a:r>
            <a:r>
              <a:rPr lang="en-US" sz="2800" baseline="-25000" dirty="0"/>
              <a:t>1</a:t>
            </a:r>
          </a:p>
        </p:txBody>
      </p:sp>
      <p:sp>
        <p:nvSpPr>
          <p:cNvPr id="5" name="Rectangle 4"/>
          <p:cNvSpPr/>
          <p:nvPr/>
        </p:nvSpPr>
        <p:spPr>
          <a:xfrm>
            <a:off x="749830" y="2287402"/>
            <a:ext cx="524492" cy="967529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800" dirty="0"/>
              <a:t>x</a:t>
            </a:r>
            <a:r>
              <a:rPr lang="en-US" sz="2800" baseline="-25000" dirty="0"/>
              <a:t>1+2</a:t>
            </a:r>
            <a:endParaRPr lang="en-US" sz="2800" dirty="0"/>
          </a:p>
        </p:txBody>
      </p:sp>
      <p:sp>
        <p:nvSpPr>
          <p:cNvPr id="6" name="Rectangle 5"/>
          <p:cNvSpPr/>
          <p:nvPr/>
        </p:nvSpPr>
        <p:spPr>
          <a:xfrm>
            <a:off x="1135457" y="3976560"/>
            <a:ext cx="516762" cy="562063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800" dirty="0"/>
              <a:t>x</a:t>
            </a:r>
            <a:r>
              <a:rPr lang="en-US" sz="2800" baseline="-25000" dirty="0"/>
              <a:t>3</a:t>
            </a:r>
            <a:endParaRPr lang="en-US" sz="2800" dirty="0"/>
          </a:p>
        </p:txBody>
      </p:sp>
      <p:sp>
        <p:nvSpPr>
          <p:cNvPr id="7" name="Rectangle 6"/>
          <p:cNvSpPr/>
          <p:nvPr/>
        </p:nvSpPr>
        <p:spPr>
          <a:xfrm>
            <a:off x="1951892" y="3976560"/>
            <a:ext cx="516762" cy="562063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800" dirty="0"/>
              <a:t>x</a:t>
            </a:r>
            <a:r>
              <a:rPr lang="en-US" sz="2800" baseline="-25000" dirty="0"/>
              <a:t>4</a:t>
            </a:r>
            <a:endParaRPr lang="en-US" sz="2800" dirty="0"/>
          </a:p>
        </p:txBody>
      </p:sp>
      <p:sp>
        <p:nvSpPr>
          <p:cNvPr id="8" name="Rectangle 7"/>
          <p:cNvSpPr/>
          <p:nvPr/>
        </p:nvSpPr>
        <p:spPr>
          <a:xfrm>
            <a:off x="2928161" y="3976560"/>
            <a:ext cx="516762" cy="562063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800" dirty="0"/>
              <a:t>x</a:t>
            </a:r>
            <a:r>
              <a:rPr lang="en-US" sz="2800" baseline="-25000" dirty="0"/>
              <a:t>5</a:t>
            </a:r>
            <a:endParaRPr lang="en-US" sz="2800" dirty="0"/>
          </a:p>
        </p:txBody>
      </p:sp>
      <p:sp>
        <p:nvSpPr>
          <p:cNvPr id="9" name="Rectangle 8"/>
          <p:cNvSpPr/>
          <p:nvPr/>
        </p:nvSpPr>
        <p:spPr>
          <a:xfrm>
            <a:off x="4114980" y="3976386"/>
            <a:ext cx="516762" cy="562063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800" dirty="0"/>
              <a:t>x</a:t>
            </a:r>
            <a:r>
              <a:rPr lang="en-US" sz="2800" baseline="-25000" dirty="0"/>
              <a:t>6</a:t>
            </a:r>
            <a:endParaRPr lang="en-US" sz="2800" dirty="0"/>
          </a:p>
        </p:txBody>
      </p:sp>
      <p:sp>
        <p:nvSpPr>
          <p:cNvPr id="10" name="Rectangle 9"/>
          <p:cNvSpPr/>
          <p:nvPr/>
        </p:nvSpPr>
        <p:spPr>
          <a:xfrm>
            <a:off x="5479463" y="3976386"/>
            <a:ext cx="516762" cy="562063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800" dirty="0"/>
              <a:t>x</a:t>
            </a:r>
            <a:r>
              <a:rPr lang="en-US" sz="2800" baseline="-25000" dirty="0"/>
              <a:t>7</a:t>
            </a:r>
            <a:endParaRPr lang="en-US" sz="2800" dirty="0"/>
          </a:p>
        </p:txBody>
      </p:sp>
      <p:sp>
        <p:nvSpPr>
          <p:cNvPr id="21" name="Arrow: Curved Up 20"/>
          <p:cNvSpPr/>
          <p:nvPr/>
        </p:nvSpPr>
        <p:spPr>
          <a:xfrm>
            <a:off x="1108919" y="3254929"/>
            <a:ext cx="667877" cy="704501"/>
          </a:xfrm>
          <a:prstGeom prst="curvedUpArrow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3" name="Arrow: Curved Up 22"/>
          <p:cNvSpPr/>
          <p:nvPr/>
        </p:nvSpPr>
        <p:spPr>
          <a:xfrm>
            <a:off x="302061" y="3254929"/>
            <a:ext cx="791645" cy="704501"/>
          </a:xfrm>
          <a:prstGeom prst="curvedUpArrow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4" name="Arrow: Curved Up 23"/>
          <p:cNvSpPr/>
          <p:nvPr/>
        </p:nvSpPr>
        <p:spPr>
          <a:xfrm>
            <a:off x="1863930" y="3254929"/>
            <a:ext cx="760059" cy="704501"/>
          </a:xfrm>
          <a:prstGeom prst="curvedUpArrow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5" name="Arrow: Curved Up 24"/>
          <p:cNvSpPr/>
          <p:nvPr/>
        </p:nvSpPr>
        <p:spPr>
          <a:xfrm>
            <a:off x="2831025" y="3254929"/>
            <a:ext cx="745397" cy="704501"/>
          </a:xfrm>
          <a:prstGeom prst="curvedUpArrow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6" name="Arrow: Curved Up 25"/>
          <p:cNvSpPr/>
          <p:nvPr/>
        </p:nvSpPr>
        <p:spPr>
          <a:xfrm>
            <a:off x="3923994" y="3258141"/>
            <a:ext cx="1003069" cy="704501"/>
          </a:xfrm>
          <a:prstGeom prst="curvedUpArrow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7" name="Arrow: Curved Up 26"/>
          <p:cNvSpPr/>
          <p:nvPr/>
        </p:nvSpPr>
        <p:spPr>
          <a:xfrm>
            <a:off x="5218067" y="3254929"/>
            <a:ext cx="1137577" cy="704501"/>
          </a:xfrm>
          <a:prstGeom prst="curvedUpArrow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487394" y="3201560"/>
            <a:ext cx="57880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/>
              <a:t>+</a:t>
            </a:r>
            <a:r>
              <a:rPr lang="en-US" sz="3200" baseline="-25000" dirty="0"/>
              <a:t>1</a:t>
            </a:r>
            <a:endParaRPr lang="en-US" sz="4000" baseline="-25000" dirty="0"/>
          </a:p>
        </p:txBody>
      </p:sp>
      <p:sp>
        <p:nvSpPr>
          <p:cNvPr id="30" name="TextBox 29"/>
          <p:cNvSpPr txBox="1"/>
          <p:nvPr/>
        </p:nvSpPr>
        <p:spPr>
          <a:xfrm>
            <a:off x="1152114" y="3219768"/>
            <a:ext cx="56467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/>
              <a:t>+</a:t>
            </a:r>
            <a:r>
              <a:rPr lang="en-US" sz="2800" baseline="-25000" dirty="0"/>
              <a:t>2</a:t>
            </a:r>
            <a:endParaRPr lang="en-US" sz="4000" dirty="0"/>
          </a:p>
        </p:txBody>
      </p:sp>
      <p:sp>
        <p:nvSpPr>
          <p:cNvPr id="31" name="TextBox 30"/>
          <p:cNvSpPr txBox="1"/>
          <p:nvPr/>
        </p:nvSpPr>
        <p:spPr>
          <a:xfrm>
            <a:off x="1981176" y="3197539"/>
            <a:ext cx="58546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/>
              <a:t>+</a:t>
            </a:r>
            <a:r>
              <a:rPr lang="en-US" sz="2800" baseline="-25000" dirty="0"/>
              <a:t>3</a:t>
            </a:r>
            <a:endParaRPr lang="en-US" sz="4000" dirty="0"/>
          </a:p>
        </p:txBody>
      </p:sp>
      <p:sp>
        <p:nvSpPr>
          <p:cNvPr id="32" name="TextBox 31"/>
          <p:cNvSpPr txBox="1"/>
          <p:nvPr/>
        </p:nvSpPr>
        <p:spPr>
          <a:xfrm>
            <a:off x="2948628" y="3202892"/>
            <a:ext cx="56938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/>
              <a:t>+</a:t>
            </a:r>
            <a:r>
              <a:rPr lang="en-US" sz="2800" baseline="-25000" dirty="0"/>
              <a:t>4</a:t>
            </a:r>
            <a:endParaRPr lang="en-US" sz="4000" dirty="0"/>
          </a:p>
        </p:txBody>
      </p:sp>
      <p:sp>
        <p:nvSpPr>
          <p:cNvPr id="33" name="TextBox 32"/>
          <p:cNvSpPr txBox="1"/>
          <p:nvPr/>
        </p:nvSpPr>
        <p:spPr>
          <a:xfrm>
            <a:off x="4101204" y="3191603"/>
            <a:ext cx="56147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/>
              <a:t>+</a:t>
            </a:r>
            <a:r>
              <a:rPr lang="en-US" sz="2800" baseline="-25000" dirty="0"/>
              <a:t>5</a:t>
            </a:r>
            <a:endParaRPr lang="en-US" sz="4000" dirty="0"/>
          </a:p>
        </p:txBody>
      </p:sp>
      <p:sp>
        <p:nvSpPr>
          <p:cNvPr id="34" name="TextBox 33"/>
          <p:cNvSpPr txBox="1"/>
          <p:nvPr/>
        </p:nvSpPr>
        <p:spPr>
          <a:xfrm>
            <a:off x="5469534" y="3186250"/>
            <a:ext cx="56147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/>
              <a:t>+</a:t>
            </a:r>
            <a:r>
              <a:rPr lang="en-US" sz="2800" baseline="-25000" dirty="0"/>
              <a:t>6</a:t>
            </a:r>
            <a:endParaRPr lang="en-US" sz="4000" dirty="0"/>
          </a:p>
        </p:txBody>
      </p:sp>
      <p:sp>
        <p:nvSpPr>
          <p:cNvPr id="78" name="Rectangle 77"/>
          <p:cNvSpPr/>
          <p:nvPr/>
        </p:nvSpPr>
        <p:spPr>
          <a:xfrm>
            <a:off x="469908" y="3976735"/>
            <a:ext cx="516762" cy="562063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800" dirty="0"/>
              <a:t>x</a:t>
            </a:r>
            <a:r>
              <a:rPr lang="en-US" sz="2800" baseline="-25000" dirty="0"/>
              <a:t>2</a:t>
            </a:r>
            <a:endParaRPr lang="en-US" sz="2800" dirty="0"/>
          </a:p>
        </p:txBody>
      </p:sp>
      <p:sp>
        <p:nvSpPr>
          <p:cNvPr id="81" name="Rectangle 80"/>
          <p:cNvSpPr/>
          <p:nvPr/>
        </p:nvSpPr>
        <p:spPr>
          <a:xfrm>
            <a:off x="1381259" y="2287402"/>
            <a:ext cx="709918" cy="959051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800" dirty="0"/>
              <a:t>x</a:t>
            </a:r>
            <a:r>
              <a:rPr lang="en-US" sz="2800" baseline="-25000" dirty="0"/>
              <a:t>1+2+3</a:t>
            </a:r>
            <a:endParaRPr lang="en-US" sz="2800" dirty="0"/>
          </a:p>
        </p:txBody>
      </p:sp>
      <p:sp>
        <p:nvSpPr>
          <p:cNvPr id="82" name="Rectangle 81"/>
          <p:cNvSpPr/>
          <p:nvPr/>
        </p:nvSpPr>
        <p:spPr>
          <a:xfrm>
            <a:off x="2197842" y="2287226"/>
            <a:ext cx="918106" cy="959227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800" dirty="0"/>
              <a:t>x</a:t>
            </a:r>
            <a:r>
              <a:rPr lang="en-US" sz="2800" baseline="-25000" dirty="0"/>
              <a:t>1+2+3+4</a:t>
            </a:r>
            <a:endParaRPr lang="en-US" sz="2800" dirty="0"/>
          </a:p>
        </p:txBody>
      </p:sp>
      <p:sp>
        <p:nvSpPr>
          <p:cNvPr id="84" name="Rectangle 83"/>
          <p:cNvSpPr/>
          <p:nvPr/>
        </p:nvSpPr>
        <p:spPr>
          <a:xfrm>
            <a:off x="3212364" y="2287402"/>
            <a:ext cx="1078240" cy="958963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800" dirty="0"/>
              <a:t>x</a:t>
            </a:r>
            <a:r>
              <a:rPr lang="en-US" sz="2800" baseline="-25000" dirty="0"/>
              <a:t>1+2+3+4+5</a:t>
            </a:r>
            <a:endParaRPr lang="en-US" sz="2800" dirty="0"/>
          </a:p>
        </p:txBody>
      </p:sp>
      <p:sp>
        <p:nvSpPr>
          <p:cNvPr id="85" name="Rectangle 84"/>
          <p:cNvSpPr/>
          <p:nvPr/>
        </p:nvSpPr>
        <p:spPr>
          <a:xfrm>
            <a:off x="4385286" y="2287402"/>
            <a:ext cx="1258020" cy="958963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800" dirty="0"/>
              <a:t>x</a:t>
            </a:r>
            <a:r>
              <a:rPr lang="en-US" sz="2800" baseline="-25000" dirty="0"/>
              <a:t>1+2+3+4+5+6</a:t>
            </a:r>
            <a:endParaRPr lang="en-US" sz="2800" dirty="0"/>
          </a:p>
        </p:txBody>
      </p:sp>
      <p:sp>
        <p:nvSpPr>
          <p:cNvPr id="87" name="Rectangle 86"/>
          <p:cNvSpPr/>
          <p:nvPr/>
        </p:nvSpPr>
        <p:spPr>
          <a:xfrm>
            <a:off x="5737991" y="2287402"/>
            <a:ext cx="1421465" cy="958963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800" dirty="0"/>
              <a:t>x</a:t>
            </a:r>
            <a:r>
              <a:rPr lang="en-US" sz="2800" baseline="-25000" dirty="0"/>
              <a:t>1+2+3+4+5+6+7</a:t>
            </a:r>
            <a:endParaRPr lang="en-US" sz="2800" dirty="0"/>
          </a:p>
        </p:txBody>
      </p:sp>
      <p:sp>
        <p:nvSpPr>
          <p:cNvPr id="88" name="Rectangle 87"/>
          <p:cNvSpPr/>
          <p:nvPr/>
        </p:nvSpPr>
        <p:spPr>
          <a:xfrm>
            <a:off x="7259806" y="2287402"/>
            <a:ext cx="1597135" cy="958875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800" dirty="0"/>
              <a:t>x</a:t>
            </a:r>
            <a:r>
              <a:rPr lang="en-US" sz="2800" baseline="-25000" dirty="0"/>
              <a:t>1+2+3+4+5+6+7+8</a:t>
            </a:r>
            <a:endParaRPr lang="en-US" sz="2800" dirty="0"/>
          </a:p>
        </p:txBody>
      </p:sp>
      <p:sp>
        <p:nvSpPr>
          <p:cNvPr id="89" name="Arrow: Curved Up 88"/>
          <p:cNvSpPr/>
          <p:nvPr/>
        </p:nvSpPr>
        <p:spPr>
          <a:xfrm>
            <a:off x="6789898" y="3255105"/>
            <a:ext cx="1191346" cy="704501"/>
          </a:xfrm>
          <a:prstGeom prst="curvedUpArrow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90" name="Rectangle 89"/>
          <p:cNvSpPr/>
          <p:nvPr/>
        </p:nvSpPr>
        <p:spPr>
          <a:xfrm>
            <a:off x="7073499" y="3976559"/>
            <a:ext cx="516762" cy="562063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800" dirty="0"/>
              <a:t>x</a:t>
            </a:r>
            <a:r>
              <a:rPr lang="en-US" sz="2800" baseline="-25000" dirty="0"/>
              <a:t>8</a:t>
            </a:r>
            <a:endParaRPr lang="en-US" sz="2800" dirty="0"/>
          </a:p>
        </p:txBody>
      </p:sp>
      <p:sp>
        <p:nvSpPr>
          <p:cNvPr id="91" name="TextBox 90"/>
          <p:cNvSpPr txBox="1"/>
          <p:nvPr/>
        </p:nvSpPr>
        <p:spPr>
          <a:xfrm>
            <a:off x="0" y="1295905"/>
            <a:ext cx="9144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/>
              <a:t>Serial Process (1 thread, 7 operations)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0" y="328202"/>
            <a:ext cx="9144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/>
              <a:t>Serial  vs. Parallel Reduction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6BE44D-6AB7-7747-A5B3-8E5957F8FC9E}" type="slidenum">
              <a:rPr lang="en-US" smtClean="0"/>
              <a:t>49</a:t>
            </a:fld>
            <a:endParaRPr lang="en-US"/>
          </a:p>
        </p:txBody>
      </p:sp>
      <p:sp>
        <p:nvSpPr>
          <p:cNvPr id="35" name="TextBox 34"/>
          <p:cNvSpPr txBox="1"/>
          <p:nvPr/>
        </p:nvSpPr>
        <p:spPr>
          <a:xfrm>
            <a:off x="7085234" y="3201560"/>
            <a:ext cx="56147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/>
              <a:t>+</a:t>
            </a:r>
            <a:r>
              <a:rPr lang="en-US" sz="2800" baseline="-25000" dirty="0"/>
              <a:t>7</a:t>
            </a: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36223336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21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9" grpId="0"/>
      <p:bldP spid="30" grpId="0"/>
      <p:bldP spid="31" grpId="0"/>
      <p:bldP spid="32" grpId="0"/>
      <p:bldP spid="33" grpId="0"/>
      <p:bldP spid="34" grpId="0"/>
      <p:bldP spid="81" grpId="0" animBg="1"/>
      <p:bldP spid="82" grpId="0" animBg="1"/>
      <p:bldP spid="84" grpId="0" animBg="1"/>
      <p:bldP spid="85" grpId="0" animBg="1"/>
      <p:bldP spid="87" grpId="0" animBg="1"/>
      <p:bldP spid="88" grpId="0" animBg="1"/>
      <p:bldP spid="89" grpId="0" animBg="1"/>
      <p:bldP spid="35" grpId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Rectangle 44"/>
          <p:cNvSpPr/>
          <p:nvPr/>
        </p:nvSpPr>
        <p:spPr>
          <a:xfrm>
            <a:off x="5912390" y="5170079"/>
            <a:ext cx="1627505" cy="83561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800" dirty="0"/>
              <a:t>x</a:t>
            </a:r>
            <a:r>
              <a:rPr lang="en-US" sz="2800" baseline="-25000" dirty="0"/>
              <a:t>1+2+3+4+5+6+7+8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993131" y="4159318"/>
            <a:ext cx="1265617" cy="581665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800" dirty="0"/>
              <a:t>x</a:t>
            </a:r>
            <a:r>
              <a:rPr lang="en-US" sz="2800" baseline="-25000" dirty="0"/>
              <a:t>5+6+7+8</a:t>
            </a:r>
            <a:endParaRPr lang="en-US" sz="2800" dirty="0"/>
          </a:p>
        </p:txBody>
      </p:sp>
      <p:sp>
        <p:nvSpPr>
          <p:cNvPr id="42" name="Rectangle 41"/>
          <p:cNvSpPr/>
          <p:nvPr/>
        </p:nvSpPr>
        <p:spPr>
          <a:xfrm>
            <a:off x="3135456" y="4159318"/>
            <a:ext cx="1265617" cy="581665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800" dirty="0"/>
              <a:t>x</a:t>
            </a:r>
            <a:r>
              <a:rPr lang="en-US" sz="2800" baseline="-25000" dirty="0"/>
              <a:t>1+2+3+4</a:t>
            </a:r>
            <a:endParaRPr lang="en-US" sz="2800" dirty="0"/>
          </a:p>
        </p:txBody>
      </p:sp>
      <p:sp>
        <p:nvSpPr>
          <p:cNvPr id="35" name="Arrow: Bent 34"/>
          <p:cNvSpPr/>
          <p:nvPr/>
        </p:nvSpPr>
        <p:spPr>
          <a:xfrm rot="5400000">
            <a:off x="5155891" y="3470455"/>
            <a:ext cx="553149" cy="2925660"/>
          </a:xfrm>
          <a:prstGeom prst="bentArrow">
            <a:avLst>
              <a:gd name="adj1" fmla="val 15439"/>
              <a:gd name="adj2" fmla="val 25000"/>
              <a:gd name="adj3" fmla="val 25000"/>
              <a:gd name="adj4" fmla="val 43750"/>
            </a:avLst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1" name="Rectangle 40"/>
          <p:cNvSpPr/>
          <p:nvPr/>
        </p:nvSpPr>
        <p:spPr>
          <a:xfrm>
            <a:off x="6276577" y="3150317"/>
            <a:ext cx="784657" cy="581665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800" dirty="0"/>
              <a:t>x</a:t>
            </a:r>
            <a:r>
              <a:rPr lang="en-US" sz="2800" baseline="-25000" dirty="0"/>
              <a:t>1+2</a:t>
            </a:r>
            <a:endParaRPr lang="en-US" sz="2800" dirty="0"/>
          </a:p>
        </p:txBody>
      </p:sp>
      <p:sp>
        <p:nvSpPr>
          <p:cNvPr id="40" name="Rectangle 39"/>
          <p:cNvSpPr/>
          <p:nvPr/>
        </p:nvSpPr>
        <p:spPr>
          <a:xfrm>
            <a:off x="4846965" y="3154862"/>
            <a:ext cx="784657" cy="581665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800" dirty="0"/>
              <a:t>x</a:t>
            </a:r>
            <a:r>
              <a:rPr lang="en-US" sz="2800" baseline="-25000" dirty="0"/>
              <a:t>1+2</a:t>
            </a:r>
            <a:endParaRPr lang="en-US" sz="2800" dirty="0"/>
          </a:p>
        </p:txBody>
      </p:sp>
      <p:sp>
        <p:nvSpPr>
          <p:cNvPr id="39" name="Rectangle 38"/>
          <p:cNvSpPr/>
          <p:nvPr/>
        </p:nvSpPr>
        <p:spPr>
          <a:xfrm>
            <a:off x="3426188" y="3139469"/>
            <a:ext cx="784657" cy="581665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800" dirty="0"/>
              <a:t>x</a:t>
            </a:r>
            <a:r>
              <a:rPr lang="en-US" sz="2800" baseline="-25000" dirty="0"/>
              <a:t>1+2</a:t>
            </a:r>
            <a:endParaRPr lang="en-US" sz="2800" dirty="0"/>
          </a:p>
        </p:txBody>
      </p:sp>
      <p:sp>
        <p:nvSpPr>
          <p:cNvPr id="4" name="Rectangle 3"/>
          <p:cNvSpPr/>
          <p:nvPr/>
        </p:nvSpPr>
        <p:spPr>
          <a:xfrm>
            <a:off x="1302724" y="2146786"/>
            <a:ext cx="476337" cy="581665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800" dirty="0"/>
              <a:t>x</a:t>
            </a:r>
            <a:r>
              <a:rPr lang="en-US" sz="2800" baseline="-25000" dirty="0"/>
              <a:t>1</a:t>
            </a:r>
          </a:p>
        </p:txBody>
      </p:sp>
      <p:sp>
        <p:nvSpPr>
          <p:cNvPr id="5" name="Rectangle 4"/>
          <p:cNvSpPr/>
          <p:nvPr/>
        </p:nvSpPr>
        <p:spPr>
          <a:xfrm>
            <a:off x="2014739" y="2146786"/>
            <a:ext cx="476337" cy="581665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800" dirty="0"/>
              <a:t>x</a:t>
            </a:r>
            <a:r>
              <a:rPr lang="en-US" sz="2800" baseline="-25000" dirty="0"/>
              <a:t>2</a:t>
            </a:r>
            <a:endParaRPr lang="en-US" sz="2800" dirty="0"/>
          </a:p>
        </p:txBody>
      </p:sp>
      <p:sp>
        <p:nvSpPr>
          <p:cNvPr id="6" name="Rectangle 5"/>
          <p:cNvSpPr/>
          <p:nvPr/>
        </p:nvSpPr>
        <p:spPr>
          <a:xfrm>
            <a:off x="2726755" y="2146786"/>
            <a:ext cx="476337" cy="581665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800" dirty="0"/>
              <a:t>x</a:t>
            </a:r>
            <a:r>
              <a:rPr lang="en-US" sz="2800" baseline="-25000" dirty="0"/>
              <a:t>3</a:t>
            </a:r>
            <a:endParaRPr lang="en-US" sz="2800" dirty="0"/>
          </a:p>
        </p:txBody>
      </p:sp>
      <p:sp>
        <p:nvSpPr>
          <p:cNvPr id="7" name="Rectangle 6"/>
          <p:cNvSpPr/>
          <p:nvPr/>
        </p:nvSpPr>
        <p:spPr>
          <a:xfrm>
            <a:off x="3438770" y="2146786"/>
            <a:ext cx="476337" cy="581665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800" dirty="0"/>
              <a:t>x</a:t>
            </a:r>
            <a:r>
              <a:rPr lang="en-US" sz="2800" baseline="-25000" dirty="0"/>
              <a:t>4</a:t>
            </a:r>
            <a:endParaRPr lang="en-US" sz="2800" dirty="0"/>
          </a:p>
        </p:txBody>
      </p:sp>
      <p:sp>
        <p:nvSpPr>
          <p:cNvPr id="8" name="Rectangle 7"/>
          <p:cNvSpPr/>
          <p:nvPr/>
        </p:nvSpPr>
        <p:spPr>
          <a:xfrm>
            <a:off x="4150786" y="2146786"/>
            <a:ext cx="476337" cy="581665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800" dirty="0"/>
              <a:t>x</a:t>
            </a:r>
            <a:r>
              <a:rPr lang="en-US" sz="2800" baseline="-25000" dirty="0"/>
              <a:t>5</a:t>
            </a:r>
            <a:endParaRPr lang="en-US" sz="2800" dirty="0"/>
          </a:p>
        </p:txBody>
      </p:sp>
      <p:sp>
        <p:nvSpPr>
          <p:cNvPr id="9" name="Rectangle 8"/>
          <p:cNvSpPr/>
          <p:nvPr/>
        </p:nvSpPr>
        <p:spPr>
          <a:xfrm>
            <a:off x="4862801" y="2146786"/>
            <a:ext cx="476337" cy="581665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800" dirty="0"/>
              <a:t>x</a:t>
            </a:r>
            <a:r>
              <a:rPr lang="en-US" sz="2800" baseline="-25000" dirty="0"/>
              <a:t>6</a:t>
            </a:r>
            <a:endParaRPr lang="en-US" sz="2800" dirty="0"/>
          </a:p>
        </p:txBody>
      </p:sp>
      <p:sp>
        <p:nvSpPr>
          <p:cNvPr id="10" name="Rectangle 9"/>
          <p:cNvSpPr/>
          <p:nvPr/>
        </p:nvSpPr>
        <p:spPr>
          <a:xfrm>
            <a:off x="5574817" y="2146786"/>
            <a:ext cx="476337" cy="581665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800" dirty="0"/>
              <a:t>x</a:t>
            </a:r>
            <a:r>
              <a:rPr lang="en-US" sz="2800" baseline="-25000" dirty="0"/>
              <a:t>7</a:t>
            </a:r>
            <a:endParaRPr lang="en-US" sz="2800" dirty="0"/>
          </a:p>
        </p:txBody>
      </p:sp>
      <p:sp>
        <p:nvSpPr>
          <p:cNvPr id="11" name="Rectangle 10"/>
          <p:cNvSpPr/>
          <p:nvPr/>
        </p:nvSpPr>
        <p:spPr>
          <a:xfrm>
            <a:off x="6286832" y="2146786"/>
            <a:ext cx="476337" cy="581665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800" dirty="0"/>
              <a:t>x</a:t>
            </a:r>
            <a:r>
              <a:rPr lang="en-US" sz="2800" baseline="-25000" dirty="0"/>
              <a:t>8</a:t>
            </a:r>
            <a:endParaRPr lang="en-US" sz="2800" dirty="0"/>
          </a:p>
        </p:txBody>
      </p:sp>
      <p:sp>
        <p:nvSpPr>
          <p:cNvPr id="13" name="TextBox 12"/>
          <p:cNvSpPr txBox="1"/>
          <p:nvPr/>
        </p:nvSpPr>
        <p:spPr>
          <a:xfrm>
            <a:off x="1434756" y="1495701"/>
            <a:ext cx="3917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t</a:t>
            </a:r>
            <a:r>
              <a:rPr lang="en-US" sz="2400" baseline="-25000" dirty="0"/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45006" y="1495701"/>
            <a:ext cx="3917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t</a:t>
            </a:r>
            <a:r>
              <a:rPr lang="en-US" sz="2400" baseline="-25000" dirty="0"/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52495" y="1487310"/>
            <a:ext cx="3917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t</a:t>
            </a:r>
            <a:r>
              <a:rPr lang="en-US" sz="2400" baseline="-25000" dirty="0"/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80570" y="1487310"/>
            <a:ext cx="3917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t</a:t>
            </a:r>
            <a:r>
              <a:rPr lang="en-US" sz="2400" baseline="-25000" dirty="0"/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86427" y="1487310"/>
            <a:ext cx="3917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t</a:t>
            </a:r>
            <a:r>
              <a:rPr lang="en-US" sz="2400" baseline="-25000" dirty="0"/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06445" y="1487310"/>
            <a:ext cx="3917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t</a:t>
            </a:r>
            <a:r>
              <a:rPr lang="en-US" sz="2400" baseline="-25000" dirty="0"/>
              <a:t>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21217" y="1487310"/>
            <a:ext cx="3917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t</a:t>
            </a:r>
            <a:r>
              <a:rPr lang="en-US" sz="2400" baseline="-25000" dirty="0"/>
              <a:t>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26048" y="1498157"/>
            <a:ext cx="3917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t</a:t>
            </a:r>
            <a:r>
              <a:rPr lang="en-US" sz="2400" baseline="-25000" dirty="0"/>
              <a:t>8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011703" y="3154862"/>
            <a:ext cx="784657" cy="581665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800" dirty="0"/>
              <a:t>x</a:t>
            </a:r>
            <a:r>
              <a:rPr lang="en-US" sz="2800" baseline="-25000" dirty="0"/>
              <a:t>1+2</a:t>
            </a:r>
            <a:endParaRPr lang="en-US" sz="2800" dirty="0"/>
          </a:p>
        </p:txBody>
      </p:sp>
      <p:sp>
        <p:nvSpPr>
          <p:cNvPr id="25" name="Arrow: Bent 24"/>
          <p:cNvSpPr/>
          <p:nvPr/>
        </p:nvSpPr>
        <p:spPr>
          <a:xfrm rot="5400000">
            <a:off x="1764460" y="2549090"/>
            <a:ext cx="553149" cy="734196"/>
          </a:xfrm>
          <a:prstGeom prst="bentArrow">
            <a:avLst>
              <a:gd name="adj1" fmla="val 15439"/>
              <a:gd name="adj2" fmla="val 25000"/>
              <a:gd name="adj3" fmla="val 25000"/>
              <a:gd name="adj4" fmla="val 43750"/>
            </a:avLst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6" name="Arrow: Bent 25"/>
          <p:cNvSpPr/>
          <p:nvPr/>
        </p:nvSpPr>
        <p:spPr>
          <a:xfrm rot="5400000">
            <a:off x="3181516" y="2549091"/>
            <a:ext cx="553149" cy="734196"/>
          </a:xfrm>
          <a:prstGeom prst="bentArrow">
            <a:avLst>
              <a:gd name="adj1" fmla="val 15439"/>
              <a:gd name="adj2" fmla="val 25000"/>
              <a:gd name="adj3" fmla="val 25000"/>
              <a:gd name="adj4" fmla="val 43750"/>
            </a:avLst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7" name="Arrow: Bent 26"/>
          <p:cNvSpPr/>
          <p:nvPr/>
        </p:nvSpPr>
        <p:spPr>
          <a:xfrm rot="5400000">
            <a:off x="4604836" y="2549090"/>
            <a:ext cx="553149" cy="734196"/>
          </a:xfrm>
          <a:prstGeom prst="bentArrow">
            <a:avLst>
              <a:gd name="adj1" fmla="val 15439"/>
              <a:gd name="adj2" fmla="val 25000"/>
              <a:gd name="adj3" fmla="val 25000"/>
              <a:gd name="adj4" fmla="val 43750"/>
            </a:avLst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8" name="Arrow: Bent 27"/>
          <p:cNvSpPr/>
          <p:nvPr/>
        </p:nvSpPr>
        <p:spPr>
          <a:xfrm rot="5400000">
            <a:off x="6041451" y="2549090"/>
            <a:ext cx="553149" cy="734196"/>
          </a:xfrm>
          <a:prstGeom prst="bentArrow">
            <a:avLst>
              <a:gd name="adj1" fmla="val 15439"/>
              <a:gd name="adj2" fmla="val 25000"/>
              <a:gd name="adj3" fmla="val 25000"/>
              <a:gd name="adj4" fmla="val 43750"/>
            </a:avLst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1" name="Arrow: Bent 30"/>
          <p:cNvSpPr/>
          <p:nvPr/>
        </p:nvSpPr>
        <p:spPr>
          <a:xfrm rot="5400000">
            <a:off x="2882738" y="3171251"/>
            <a:ext cx="553149" cy="1507921"/>
          </a:xfrm>
          <a:prstGeom prst="bentArrow">
            <a:avLst>
              <a:gd name="adj1" fmla="val 15439"/>
              <a:gd name="adj2" fmla="val 25000"/>
              <a:gd name="adj3" fmla="val 25000"/>
              <a:gd name="adj4" fmla="val 43750"/>
            </a:avLst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2" name="Arrow: Bent 31"/>
          <p:cNvSpPr/>
          <p:nvPr/>
        </p:nvSpPr>
        <p:spPr>
          <a:xfrm rot="5400000">
            <a:off x="5732635" y="3171251"/>
            <a:ext cx="553149" cy="1507921"/>
          </a:xfrm>
          <a:prstGeom prst="bentArrow">
            <a:avLst>
              <a:gd name="adj1" fmla="val 15439"/>
              <a:gd name="adj2" fmla="val 25000"/>
              <a:gd name="adj3" fmla="val 25000"/>
              <a:gd name="adj4" fmla="val 43750"/>
            </a:avLst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912202" y="2562245"/>
            <a:ext cx="57880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/>
              <a:t>+</a:t>
            </a:r>
            <a:r>
              <a:rPr lang="en-US" sz="3200" baseline="-25000" dirty="0"/>
              <a:t>1</a:t>
            </a:r>
            <a:endParaRPr lang="en-US" sz="4000" baseline="-25000" dirty="0"/>
          </a:p>
        </p:txBody>
      </p:sp>
      <p:sp>
        <p:nvSpPr>
          <p:cNvPr id="34" name="TextBox 33"/>
          <p:cNvSpPr txBox="1"/>
          <p:nvPr/>
        </p:nvSpPr>
        <p:spPr>
          <a:xfrm>
            <a:off x="912201" y="3546099"/>
            <a:ext cx="57880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/>
              <a:t>+</a:t>
            </a:r>
            <a:r>
              <a:rPr lang="en-US" sz="3200" baseline="-25000" dirty="0"/>
              <a:t>2</a:t>
            </a:r>
            <a:endParaRPr lang="en-US" sz="4000" baseline="-25000" dirty="0"/>
          </a:p>
        </p:txBody>
      </p:sp>
      <p:sp>
        <p:nvSpPr>
          <p:cNvPr id="38" name="TextBox 37"/>
          <p:cNvSpPr txBox="1"/>
          <p:nvPr/>
        </p:nvSpPr>
        <p:spPr>
          <a:xfrm>
            <a:off x="905599" y="4462192"/>
            <a:ext cx="57880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/>
              <a:t>+</a:t>
            </a:r>
            <a:r>
              <a:rPr lang="en-US" sz="3200" baseline="-25000" dirty="0"/>
              <a:t>3</a:t>
            </a:r>
            <a:endParaRPr lang="en-US" sz="4000" baseline="-25000" dirty="0"/>
          </a:p>
        </p:txBody>
      </p:sp>
      <p:sp>
        <p:nvSpPr>
          <p:cNvPr id="46" name="TextBox 45"/>
          <p:cNvSpPr txBox="1"/>
          <p:nvPr/>
        </p:nvSpPr>
        <p:spPr>
          <a:xfrm>
            <a:off x="0" y="401820"/>
            <a:ext cx="9144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/>
              <a:t>Parallel Process (8 threads, 3 operations)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6BE44D-6AB7-7747-A5B3-8E5957F8FC9E}" type="slidenum">
              <a:rPr lang="en-US" smtClean="0"/>
              <a:t>50</a:t>
            </a:fld>
            <a:endParaRPr lang="en-US"/>
          </a:p>
        </p:txBody>
      </p:sp>
      <p:cxnSp>
        <p:nvCxnSpPr>
          <p:cNvPr id="37" name="Straight Arrow Connector 36"/>
          <p:cNvCxnSpPr/>
          <p:nvPr/>
        </p:nvCxnSpPr>
        <p:spPr>
          <a:xfrm>
            <a:off x="7950850" y="1655362"/>
            <a:ext cx="0" cy="4376161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7977933" y="3537616"/>
            <a:ext cx="1098378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log</a:t>
            </a:r>
            <a:r>
              <a:rPr lang="en-US" sz="2800" baseline="-25000" dirty="0"/>
              <a:t>2</a:t>
            </a:r>
            <a:r>
              <a:rPr lang="en-US" sz="2800" dirty="0"/>
              <a:t> p </a:t>
            </a:r>
            <a:br>
              <a:rPr lang="en-US" sz="2800" dirty="0"/>
            </a:br>
            <a:r>
              <a:rPr lang="en-US" sz="2800" dirty="0"/>
              <a:t>stages</a:t>
            </a:r>
          </a:p>
        </p:txBody>
      </p:sp>
    </p:spTree>
    <p:extLst>
      <p:ext uri="{BB962C8B-B14F-4D97-AF65-F5344CB8AC3E}">
        <p14:creationId xmlns:p14="http://schemas.microsoft.com/office/powerpoint/2010/main" val="274543202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xmlns:p14="http://schemas.microsoft.com/office/powerpoint/2010/main"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0" animBg="1"/>
      <p:bldP spid="44" grpId="0" animBg="1"/>
      <p:bldP spid="42" grpId="0" animBg="1"/>
      <p:bldP spid="35" grpId="0" animBg="1"/>
      <p:bldP spid="41" grpId="0" animBg="1"/>
      <p:bldP spid="40" grpId="0" animBg="1"/>
      <p:bldP spid="39" grpId="0" animBg="1"/>
      <p:bldP spid="21" grpId="0" animBg="1"/>
      <p:bldP spid="25" grpId="0" animBg="1"/>
      <p:bldP spid="26" grpId="0" animBg="1"/>
      <p:bldP spid="27" grpId="0" animBg="1"/>
      <p:bldP spid="28" grpId="0" animBg="1"/>
      <p:bldP spid="31" grpId="0" animBg="1"/>
      <p:bldP spid="32" grpId="0" animBg="1"/>
      <p:bldP spid="33" grpId="0"/>
      <p:bldP spid="34" grpId="0"/>
      <p:bldP spid="38" grpId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5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rial" charset="0"/>
              </a:rPr>
              <a:t>Reduction operators</a:t>
            </a:r>
          </a:p>
        </p:txBody>
      </p:sp>
      <p:sp>
        <p:nvSpPr>
          <p:cNvPr id="52226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>
                <a:latin typeface="Arial" charset="0"/>
              </a:rPr>
              <a:t>A </a:t>
            </a:r>
            <a:r>
              <a:rPr lang="en-US">
                <a:solidFill>
                  <a:srgbClr val="C00000"/>
                </a:solidFill>
                <a:latin typeface="Arial" charset="0"/>
              </a:rPr>
              <a:t>reduction operator </a:t>
            </a:r>
            <a:r>
              <a:rPr lang="en-US">
                <a:latin typeface="Arial" charset="0"/>
              </a:rPr>
              <a:t>is a binary operation (such as addition or multiplication).</a:t>
            </a:r>
          </a:p>
          <a:p>
            <a:r>
              <a:rPr lang="en-US">
                <a:latin typeface="Arial" charset="0"/>
              </a:rPr>
              <a:t>A </a:t>
            </a:r>
            <a:r>
              <a:rPr lang="en-US">
                <a:solidFill>
                  <a:srgbClr val="C00000"/>
                </a:solidFill>
                <a:latin typeface="Arial" charset="0"/>
              </a:rPr>
              <a:t>reduction</a:t>
            </a:r>
            <a:r>
              <a:rPr lang="en-US">
                <a:latin typeface="Arial" charset="0"/>
              </a:rPr>
              <a:t> is a computation that repeatedly applies the same reduction operator to a sequence of operands in order to get a single result. </a:t>
            </a:r>
          </a:p>
          <a:p>
            <a:r>
              <a:rPr lang="en-US">
                <a:latin typeface="Arial" charset="0"/>
              </a:rPr>
              <a:t>All of the intermediate results of the operation should be stored in the same variable: the reduction variable.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charset="0"/>
              <a:defRPr sz="32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charset="0"/>
              <a:defRPr sz="32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charset="0"/>
              <a:defRPr sz="32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charset="0"/>
              <a:defRPr sz="32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charset="0"/>
              <a:defRPr sz="32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charset="0"/>
              <a:defRPr sz="32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charset="0"/>
              <a:defRPr sz="32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charset="0"/>
              <a:defRPr sz="32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charset="0"/>
              <a:defRPr sz="32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sz="1200">
                <a:latin typeface="Arial" charset="0"/>
              </a:rPr>
              <a:t>Copyright © 2010, Elsevier Inc. All rights Reserved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6BE44D-6AB7-7747-A5B3-8E5957F8FC9E}" type="slidenum">
              <a:rPr lang="en-US" smtClean="0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6403786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Computing a sum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Open </a:t>
            </a:r>
            <a:r>
              <a:rPr lang="en-US" b="1" dirty="0" err="1"/>
              <a:t>sumcompute-serial.c</a:t>
            </a:r>
            <a:endParaRPr lang="en-US" b="1" dirty="0"/>
          </a:p>
          <a:p>
            <a:r>
              <a:rPr lang="en-US" b="1" dirty="0"/>
              <a:t>Lets go over it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 2010, Elsevier Inc. All rights Reserved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6BE44D-6AB7-7747-A5B3-8E5957F8FC9E}" type="slidenum">
              <a:rPr lang="en-US" smtClean="0"/>
              <a:t>52</a:t>
            </a:fld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3284376" y="3694922"/>
            <a:ext cx="261770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/>
              <a:t>&lt; 5 minutes</a:t>
            </a:r>
          </a:p>
        </p:txBody>
      </p:sp>
    </p:spTree>
    <p:extLst>
      <p:ext uri="{BB962C8B-B14F-4D97-AF65-F5344CB8AC3E}">
        <p14:creationId xmlns:p14="http://schemas.microsoft.com/office/powerpoint/2010/main" val="349063126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1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rial" charset="0"/>
              </a:rPr>
              <a:t>Mutual exclusion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charset="0"/>
              <a:defRPr sz="32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charset="0"/>
              <a:defRPr sz="32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charset="0"/>
              <a:defRPr sz="32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charset="0"/>
              <a:defRPr sz="32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charset="0"/>
              <a:defRPr sz="32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charset="0"/>
              <a:defRPr sz="32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charset="0"/>
              <a:defRPr sz="32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charset="0"/>
              <a:defRPr sz="32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charset="0"/>
              <a:defRPr sz="32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sz="1200">
                <a:latin typeface="Arial" charset="0"/>
              </a:rPr>
              <a:t>Copyright © 2010, Elsevier Inc. All rights Reserved</a:t>
            </a:r>
          </a:p>
        </p:txBody>
      </p:sp>
      <p:sp>
        <p:nvSpPr>
          <p:cNvPr id="5" name="Rectangle 4"/>
          <p:cNvSpPr/>
          <p:nvPr/>
        </p:nvSpPr>
        <p:spPr>
          <a:xfrm>
            <a:off x="1187450" y="1628775"/>
            <a:ext cx="6175375" cy="1176338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None/>
              <a:defRPr/>
            </a:pPr>
            <a:r>
              <a:rPr lang="en-US" dirty="0">
                <a:latin typeface="+mn-lt"/>
                <a:ea typeface="+mn-ea"/>
              </a:rPr>
              <a:t># pragma omp critical</a:t>
            </a:r>
          </a:p>
          <a:p>
            <a:pPr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None/>
              <a:defRPr/>
            </a:pPr>
            <a:r>
              <a:rPr lang="en-US" dirty="0">
                <a:latin typeface="+mn-lt"/>
                <a:ea typeface="+mn-ea"/>
              </a:rPr>
              <a:t>   global_result += my_result ;</a:t>
            </a:r>
          </a:p>
        </p:txBody>
      </p:sp>
      <p:sp>
        <p:nvSpPr>
          <p:cNvPr id="6" name="Rectangle 5"/>
          <p:cNvSpPr/>
          <p:nvPr/>
        </p:nvSpPr>
        <p:spPr>
          <a:xfrm>
            <a:off x="3492500" y="3860800"/>
            <a:ext cx="4572000" cy="769938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None/>
              <a:defRPr/>
            </a:pPr>
            <a:r>
              <a:rPr lang="en-US" sz="2000" dirty="0">
                <a:solidFill>
                  <a:srgbClr val="C00000"/>
                </a:solidFill>
                <a:latin typeface="+mn-lt"/>
                <a:ea typeface="+mn-ea"/>
              </a:rPr>
              <a:t>only one thread can execute</a:t>
            </a:r>
          </a:p>
          <a:p>
            <a:pPr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None/>
              <a:defRPr/>
            </a:pPr>
            <a:r>
              <a:rPr lang="en-US" sz="2000" dirty="0">
                <a:solidFill>
                  <a:srgbClr val="C00000"/>
                </a:solidFill>
                <a:latin typeface="+mn-lt"/>
                <a:ea typeface="+mn-ea"/>
              </a:rPr>
              <a:t>the following structured block at a time</a:t>
            </a:r>
          </a:p>
        </p:txBody>
      </p:sp>
      <p:sp>
        <p:nvSpPr>
          <p:cNvPr id="40965" name="Freeform 6"/>
          <p:cNvSpPr>
            <a:spLocks noChangeArrowheads="1"/>
          </p:cNvSpPr>
          <p:nvPr/>
        </p:nvSpPr>
        <p:spPr bwMode="auto">
          <a:xfrm>
            <a:off x="5341938" y="1758950"/>
            <a:ext cx="2992437" cy="2189163"/>
          </a:xfrm>
          <a:custGeom>
            <a:avLst/>
            <a:gdLst>
              <a:gd name="T0" fmla="*/ 0 w 2992362"/>
              <a:gd name="T1" fmla="*/ 157238 h 2189238"/>
              <a:gd name="T2" fmla="*/ 2670628 w 2992362"/>
              <a:gd name="T3" fmla="*/ 157238 h 2189238"/>
              <a:gd name="T4" fmla="*/ 1930400 w 2992362"/>
              <a:gd name="T5" fmla="*/ 1100666 h 2189238"/>
              <a:gd name="T6" fmla="*/ 2815772 w 2992362"/>
              <a:gd name="T7" fmla="*/ 1347409 h 2189238"/>
              <a:gd name="T8" fmla="*/ 1756229 w 2992362"/>
              <a:gd name="T9" fmla="*/ 2189238 h 218923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992362"/>
              <a:gd name="T16" fmla="*/ 0 h 2189238"/>
              <a:gd name="T17" fmla="*/ 2992362 w 2992362"/>
              <a:gd name="T18" fmla="*/ 2189238 h 2189238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992362" h="2189238">
                <a:moveTo>
                  <a:pt x="0" y="157238"/>
                </a:moveTo>
                <a:cubicBezTo>
                  <a:pt x="1174448" y="78619"/>
                  <a:pt x="2348896" y="0"/>
                  <a:pt x="2670629" y="157238"/>
                </a:cubicBezTo>
                <a:cubicBezTo>
                  <a:pt x="2992362" y="314476"/>
                  <a:pt x="1906210" y="902304"/>
                  <a:pt x="1930400" y="1100666"/>
                </a:cubicBezTo>
                <a:cubicBezTo>
                  <a:pt x="1954591" y="1299028"/>
                  <a:pt x="2844800" y="1165980"/>
                  <a:pt x="2815772" y="1347409"/>
                </a:cubicBezTo>
                <a:cubicBezTo>
                  <a:pt x="2786744" y="1528838"/>
                  <a:pt x="2271486" y="1859038"/>
                  <a:pt x="1756229" y="2189238"/>
                </a:cubicBezTo>
              </a:path>
            </a:pathLst>
          </a:custGeom>
          <a:noFill/>
          <a:ln w="9525">
            <a:solidFill>
              <a:srgbClr val="C00000"/>
            </a:solidFill>
            <a:round/>
            <a:headEnd type="arrow" w="med" len="med"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/>
          <a:p>
            <a:pPr>
              <a:spcBef>
                <a:spcPct val="20000"/>
              </a:spcBef>
              <a:buClr>
                <a:schemeClr val="tx1"/>
              </a:buClr>
              <a:buSzPct val="60000"/>
              <a:buFont typeface="Wingdings" charset="0"/>
              <a:buNone/>
            </a:pPr>
            <a:endParaRPr lang="en-GB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6BE44D-6AB7-7747-A5B3-8E5957F8FC9E}" type="slidenum">
              <a:rPr lang="en-US" smtClean="0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4273972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Open </a:t>
            </a:r>
            <a:r>
              <a:rPr lang="en-US" b="1" dirty="0"/>
              <a:t>sync-</a:t>
            </a:r>
            <a:r>
              <a:rPr lang="en-US" b="1" dirty="0" err="1"/>
              <a:t>unsafe.c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 2010, Elsevier Inc. All rights Reserved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6BE44D-6AB7-7747-A5B3-8E5957F8FC9E}" type="slidenum">
              <a:rPr lang="en-US" smtClean="0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4828111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/>
                <a:cs typeface="Arial"/>
              </a:rPr>
              <a:t>Synchronization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>
                <a:latin typeface="Arial"/>
                <a:cs typeface="Arial"/>
              </a:rPr>
              <a:t>Synchronization imposes order constraints and is used to protect access to </a:t>
            </a:r>
            <a:r>
              <a:rPr lang="en-US" dirty="0">
                <a:solidFill>
                  <a:srgbClr val="0000FF"/>
                </a:solidFill>
                <a:latin typeface="Arial"/>
                <a:cs typeface="Arial"/>
              </a:rPr>
              <a:t>shared data </a:t>
            </a:r>
          </a:p>
          <a:p>
            <a:r>
              <a:rPr lang="en-US" dirty="0">
                <a:latin typeface="Arial"/>
                <a:cs typeface="Arial"/>
              </a:rPr>
              <a:t>Types of synchronization:</a:t>
            </a:r>
          </a:p>
          <a:p>
            <a:pPr lvl="1"/>
            <a:r>
              <a:rPr lang="en-US" i="1" dirty="0">
                <a:latin typeface="Arial"/>
                <a:cs typeface="Arial"/>
              </a:rPr>
              <a:t>critical</a:t>
            </a:r>
          </a:p>
          <a:p>
            <a:pPr lvl="1"/>
            <a:r>
              <a:rPr lang="en-US" i="1" dirty="0">
                <a:latin typeface="Arial"/>
                <a:cs typeface="Arial"/>
              </a:rPr>
              <a:t>atomic</a:t>
            </a:r>
          </a:p>
          <a:p>
            <a:pPr lvl="1"/>
            <a:r>
              <a:rPr lang="en-US" i="1" dirty="0">
                <a:latin typeface="Arial"/>
                <a:cs typeface="Arial"/>
              </a:rPr>
              <a:t>locks</a:t>
            </a:r>
          </a:p>
          <a:p>
            <a:pPr lvl="1"/>
            <a:r>
              <a:rPr lang="en-US" i="1" dirty="0">
                <a:latin typeface="Arial"/>
                <a:cs typeface="Arial"/>
              </a:rPr>
              <a:t>others (barrier, ordered, flush)</a:t>
            </a:r>
          </a:p>
          <a:p>
            <a:r>
              <a:rPr lang="en-US" dirty="0">
                <a:latin typeface="Arial"/>
                <a:cs typeface="Arial"/>
              </a:rPr>
              <a:t>We will work on an exercise involving </a:t>
            </a:r>
            <a:r>
              <a:rPr lang="en-US" i="1" dirty="0">
                <a:latin typeface="Arial"/>
                <a:cs typeface="Arial"/>
              </a:rPr>
              <a:t>critical, atomic, and locks</a:t>
            </a:r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 2010, Elsevier Inc. All rights Reserved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6BE44D-6AB7-7747-A5B3-8E5957F8FC9E}" type="slidenum">
              <a:rPr lang="en-US" smtClean="0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0047301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96729"/>
            <a:ext cx="8229600" cy="847262"/>
          </a:xfrm>
        </p:spPr>
        <p:txBody>
          <a:bodyPr/>
          <a:lstStyle/>
          <a:p>
            <a:r>
              <a:rPr lang="en-US" dirty="0">
                <a:latin typeface="Arial"/>
                <a:cs typeface="Arial"/>
              </a:rPr>
              <a:t>Critical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52745"/>
            <a:ext cx="8229600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/>
              <a:t>	</a:t>
            </a:r>
            <a:r>
              <a:rPr lang="en-US" sz="1600" dirty="0">
                <a:solidFill>
                  <a:srgbClr val="0000FF"/>
                </a:solidFill>
              </a:rPr>
              <a:t>#pragma </a:t>
            </a:r>
            <a:r>
              <a:rPr lang="en-US" sz="1600" dirty="0" err="1">
                <a:solidFill>
                  <a:srgbClr val="0000FF"/>
                </a:solidFill>
              </a:rPr>
              <a:t>omp</a:t>
            </a:r>
            <a:r>
              <a:rPr lang="en-US" sz="1600" dirty="0">
                <a:solidFill>
                  <a:srgbClr val="0000FF"/>
                </a:solidFill>
              </a:rPr>
              <a:t> parallel for schedule(static) shared(a)</a:t>
            </a:r>
            <a:r>
              <a:rPr lang="en-US" sz="1600" dirty="0"/>
              <a:t>	</a:t>
            </a:r>
          </a:p>
          <a:p>
            <a:pPr marL="0" indent="0">
              <a:buNone/>
            </a:pPr>
            <a:r>
              <a:rPr lang="de-DE" sz="1600" dirty="0"/>
              <a:t>	</a:t>
            </a:r>
            <a:r>
              <a:rPr lang="de-DE" sz="1600" dirty="0" err="1"/>
              <a:t>for</a:t>
            </a:r>
            <a:r>
              <a:rPr lang="de-DE" sz="1600" dirty="0"/>
              <a:t>(i = 0; i &lt; </a:t>
            </a:r>
            <a:r>
              <a:rPr lang="de-DE" sz="1600" dirty="0" err="1"/>
              <a:t>n</a:t>
            </a:r>
            <a:r>
              <a:rPr lang="de-DE" sz="1600" dirty="0"/>
              <a:t>; i++)  </a:t>
            </a:r>
          </a:p>
          <a:p>
            <a:pPr marL="0" indent="0">
              <a:buNone/>
            </a:pPr>
            <a:r>
              <a:rPr lang="de-DE" sz="1600" dirty="0"/>
              <a:t>	{	</a:t>
            </a:r>
          </a:p>
          <a:p>
            <a:pPr marL="0" indent="0">
              <a:buNone/>
            </a:pPr>
            <a:r>
              <a:rPr lang="de-DE" sz="1600" dirty="0"/>
              <a:t>		</a:t>
            </a:r>
            <a:r>
              <a:rPr lang="de-DE" sz="1600" dirty="0">
                <a:solidFill>
                  <a:srgbClr val="0000FF"/>
                </a:solidFill>
              </a:rPr>
              <a:t>#</a:t>
            </a:r>
            <a:r>
              <a:rPr lang="de-DE" sz="1600" dirty="0" err="1">
                <a:solidFill>
                  <a:srgbClr val="0000FF"/>
                </a:solidFill>
              </a:rPr>
              <a:t>pragma</a:t>
            </a:r>
            <a:r>
              <a:rPr lang="de-DE" sz="1600" dirty="0">
                <a:solidFill>
                  <a:srgbClr val="0000FF"/>
                </a:solidFill>
              </a:rPr>
              <a:t> </a:t>
            </a:r>
            <a:r>
              <a:rPr lang="de-DE" sz="1600" dirty="0" err="1">
                <a:solidFill>
                  <a:srgbClr val="0000FF"/>
                </a:solidFill>
              </a:rPr>
              <a:t>omp</a:t>
            </a:r>
            <a:r>
              <a:rPr lang="de-DE" sz="1600" dirty="0">
                <a:solidFill>
                  <a:srgbClr val="0000FF"/>
                </a:solidFill>
              </a:rPr>
              <a:t> </a:t>
            </a:r>
            <a:r>
              <a:rPr lang="de-DE" sz="1600" dirty="0" err="1">
                <a:solidFill>
                  <a:srgbClr val="0000FF"/>
                </a:solidFill>
              </a:rPr>
              <a:t>critical</a:t>
            </a:r>
            <a:endParaRPr lang="de-DE" sz="1600" dirty="0">
              <a:solidFill>
                <a:srgbClr val="0000FF"/>
              </a:solidFill>
            </a:endParaRPr>
          </a:p>
          <a:p>
            <a:pPr marL="0" indent="0">
              <a:buNone/>
            </a:pPr>
            <a:r>
              <a:rPr lang="de-DE" sz="1600" dirty="0"/>
              <a:t>		{</a:t>
            </a:r>
          </a:p>
          <a:p>
            <a:pPr marL="0" indent="0">
              <a:buNone/>
            </a:pPr>
            <a:r>
              <a:rPr lang="fi-FI" sz="1600" dirty="0"/>
              <a:t>			a = a+1;</a:t>
            </a:r>
          </a:p>
          <a:p>
            <a:pPr marL="0" indent="0">
              <a:buNone/>
            </a:pPr>
            <a:r>
              <a:rPr lang="fi-FI" sz="1600" dirty="0"/>
              <a:t>		}</a:t>
            </a:r>
          </a:p>
          <a:p>
            <a:pPr marL="0" indent="0">
              <a:buNone/>
            </a:pPr>
            <a:r>
              <a:rPr lang="fi-FI" sz="1600" dirty="0"/>
              <a:t>	}</a:t>
            </a:r>
            <a:endParaRPr lang="en-US" sz="16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97718" y="1286093"/>
            <a:ext cx="3189082" cy="135504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370889" y="3981185"/>
            <a:ext cx="3965744" cy="1200329"/>
          </a:xfrm>
          <a:prstGeom prst="rect">
            <a:avLst/>
          </a:prstGeom>
          <a:noFill/>
          <a:ln>
            <a:solidFill>
              <a:srgbClr val="0000FF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Threads wait here: only one thread at a time does the operation: “a = a+1”. So this is a piece of sequential code inside the for loop. </a:t>
            </a:r>
          </a:p>
        </p:txBody>
      </p:sp>
      <p:cxnSp>
        <p:nvCxnSpPr>
          <p:cNvPr id="8" name="Straight Arrow Connector 7"/>
          <p:cNvCxnSpPr/>
          <p:nvPr/>
        </p:nvCxnSpPr>
        <p:spPr>
          <a:xfrm flipH="1" flipV="1">
            <a:off x="3334654" y="3202088"/>
            <a:ext cx="1308928" cy="716769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 2010, Elsevier Inc. All rights Reserved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6BE44D-6AB7-7747-A5B3-8E5957F8FC9E}" type="slidenum">
              <a:rPr lang="en-US" smtClean="0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420854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9"/>
            <a:ext cx="8229600" cy="784934"/>
          </a:xfrm>
        </p:spPr>
        <p:txBody>
          <a:bodyPr/>
          <a:lstStyle/>
          <a:p>
            <a:r>
              <a:rPr lang="en-US" dirty="0">
                <a:latin typeface="Arial"/>
                <a:cs typeface="Arial"/>
              </a:rPr>
              <a:t>Atomic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58680"/>
            <a:ext cx="8229600" cy="5076660"/>
          </a:xfrm>
        </p:spPr>
        <p:txBody>
          <a:bodyPr>
            <a:normAutofit lnSpcReduction="10000"/>
          </a:bodyPr>
          <a:lstStyle/>
          <a:p>
            <a:r>
              <a:rPr lang="en-US" sz="1800" dirty="0">
                <a:latin typeface="Arial"/>
                <a:cs typeface="Arial"/>
              </a:rPr>
              <a:t>Atomic provides mutual exclusion but only applies to the load/update of a memory location </a:t>
            </a:r>
          </a:p>
          <a:p>
            <a:r>
              <a:rPr lang="en-US" sz="1800" dirty="0">
                <a:latin typeface="Arial"/>
                <a:cs typeface="Arial"/>
              </a:rPr>
              <a:t>It is applied only to the (single) assignment statement that immediately follows it </a:t>
            </a:r>
          </a:p>
          <a:p>
            <a:r>
              <a:rPr lang="en-US" sz="1800" dirty="0">
                <a:latin typeface="Arial"/>
                <a:cs typeface="Arial"/>
              </a:rPr>
              <a:t>Atomic construct may only be used together with an expression statement with one of operations: +, *, -, /, &amp;, ^, |, &lt;&lt;, &gt;&gt; </a:t>
            </a:r>
          </a:p>
          <a:p>
            <a:r>
              <a:rPr lang="en-US" sz="1800" dirty="0">
                <a:latin typeface="Arial"/>
                <a:cs typeface="Arial"/>
              </a:rPr>
              <a:t>Atomic construct does not prevent multiple threads from executing the function() at the same time (see the example below) </a:t>
            </a:r>
          </a:p>
          <a:p>
            <a:pPr marL="0" indent="0">
              <a:buNone/>
            </a:pPr>
            <a:endParaRPr lang="en-US" sz="1800" b="1" dirty="0">
              <a:latin typeface="Arial"/>
              <a:cs typeface="Arial"/>
            </a:endParaRPr>
          </a:p>
          <a:p>
            <a:pPr marL="0" indent="0">
              <a:buNone/>
            </a:pPr>
            <a:r>
              <a:rPr lang="en-US" sz="1800" b="1" dirty="0">
                <a:latin typeface="Arial"/>
                <a:cs typeface="Arial"/>
              </a:rPr>
              <a:t>Code example:</a:t>
            </a:r>
            <a:br>
              <a:rPr lang="en-US" sz="2000" dirty="0">
                <a:latin typeface="Arial"/>
                <a:cs typeface="Arial"/>
              </a:rPr>
            </a:br>
            <a:r>
              <a:rPr lang="en-US" sz="1600" dirty="0" err="1">
                <a:latin typeface="Tahoma"/>
                <a:cs typeface="Tahoma"/>
              </a:rPr>
              <a:t>int</a:t>
            </a:r>
            <a:r>
              <a:rPr lang="en-US" sz="1600" dirty="0">
                <a:latin typeface="Tahoma"/>
                <a:cs typeface="Tahoma"/>
              </a:rPr>
              <a:t> </a:t>
            </a:r>
            <a:r>
              <a:rPr lang="en-US" sz="1600" dirty="0" err="1">
                <a:latin typeface="Tahoma"/>
                <a:cs typeface="Tahoma"/>
              </a:rPr>
              <a:t>ic</a:t>
            </a:r>
            <a:r>
              <a:rPr lang="en-US" sz="1600" dirty="0">
                <a:latin typeface="Tahoma"/>
                <a:cs typeface="Tahoma"/>
              </a:rPr>
              <a:t>, </a:t>
            </a:r>
            <a:r>
              <a:rPr lang="en-US" sz="1600" dirty="0" err="1">
                <a:latin typeface="Tahoma"/>
                <a:cs typeface="Tahoma"/>
              </a:rPr>
              <a:t>i</a:t>
            </a:r>
            <a:r>
              <a:rPr lang="en-US" sz="1600" dirty="0">
                <a:latin typeface="Tahoma"/>
                <a:cs typeface="Tahoma"/>
              </a:rPr>
              <a:t>, n;</a:t>
            </a:r>
          </a:p>
          <a:p>
            <a:pPr marL="0" indent="0">
              <a:buNone/>
            </a:pPr>
            <a:r>
              <a:rPr lang="en-US" sz="1600" dirty="0" err="1">
                <a:latin typeface="Tahoma"/>
                <a:cs typeface="Tahoma"/>
              </a:rPr>
              <a:t>ic</a:t>
            </a:r>
            <a:r>
              <a:rPr lang="en-US" sz="1600" dirty="0">
                <a:latin typeface="Tahoma"/>
                <a:cs typeface="Tahoma"/>
              </a:rPr>
              <a:t> = 0;</a:t>
            </a:r>
          </a:p>
          <a:p>
            <a:pPr marL="0" indent="0">
              <a:buNone/>
            </a:pPr>
            <a:r>
              <a:rPr lang="en-US" sz="1600" dirty="0">
                <a:latin typeface="Tahoma"/>
                <a:cs typeface="Tahoma"/>
              </a:rPr>
              <a:t>#pragma </a:t>
            </a:r>
            <a:r>
              <a:rPr lang="en-US" sz="1600" dirty="0" err="1">
                <a:latin typeface="Tahoma"/>
                <a:cs typeface="Tahoma"/>
              </a:rPr>
              <a:t>omp</a:t>
            </a:r>
            <a:r>
              <a:rPr lang="en-US" sz="1600" dirty="0">
                <a:latin typeface="Tahoma"/>
                <a:cs typeface="Tahoma"/>
              </a:rPr>
              <a:t> parallel shared(</a:t>
            </a:r>
            <a:r>
              <a:rPr lang="en-US" sz="1600" dirty="0" err="1">
                <a:latin typeface="Tahoma"/>
                <a:cs typeface="Tahoma"/>
              </a:rPr>
              <a:t>n,ic</a:t>
            </a:r>
            <a:r>
              <a:rPr lang="en-US" sz="1600" dirty="0">
                <a:latin typeface="Tahoma"/>
                <a:cs typeface="Tahoma"/>
              </a:rPr>
              <a:t>) private(</a:t>
            </a:r>
            <a:r>
              <a:rPr lang="en-US" sz="1600" dirty="0" err="1">
                <a:latin typeface="Tahoma"/>
                <a:cs typeface="Tahoma"/>
              </a:rPr>
              <a:t>i</a:t>
            </a:r>
            <a:r>
              <a:rPr lang="en-US" sz="1600" dirty="0">
                <a:latin typeface="Tahoma"/>
                <a:cs typeface="Tahoma"/>
              </a:rPr>
              <a:t>)</a:t>
            </a:r>
          </a:p>
          <a:p>
            <a:pPr marL="0" indent="0">
              <a:buNone/>
            </a:pPr>
            <a:r>
              <a:rPr lang="en-US" sz="1600" dirty="0">
                <a:latin typeface="Tahoma"/>
                <a:cs typeface="Tahoma"/>
              </a:rPr>
              <a:t>    for (</a:t>
            </a:r>
            <a:r>
              <a:rPr lang="en-US" sz="1600" dirty="0" err="1">
                <a:latin typeface="Tahoma"/>
                <a:cs typeface="Tahoma"/>
              </a:rPr>
              <a:t>i</a:t>
            </a:r>
            <a:r>
              <a:rPr lang="en-US" sz="1600" dirty="0">
                <a:latin typeface="Tahoma"/>
                <a:cs typeface="Tahoma"/>
              </a:rPr>
              <a:t>=0; </a:t>
            </a:r>
            <a:r>
              <a:rPr lang="en-US" sz="1600" dirty="0" err="1">
                <a:latin typeface="Tahoma"/>
                <a:cs typeface="Tahoma"/>
              </a:rPr>
              <a:t>i</a:t>
            </a:r>
            <a:r>
              <a:rPr lang="en-US" sz="1600" dirty="0">
                <a:latin typeface="Tahoma"/>
                <a:cs typeface="Tahoma"/>
              </a:rPr>
              <a:t>++; </a:t>
            </a:r>
            <a:r>
              <a:rPr lang="en-US" sz="1600" dirty="0" err="1">
                <a:latin typeface="Tahoma"/>
                <a:cs typeface="Tahoma"/>
              </a:rPr>
              <a:t>i</a:t>
            </a:r>
            <a:r>
              <a:rPr lang="en-US" sz="1600" dirty="0">
                <a:latin typeface="Tahoma"/>
                <a:cs typeface="Tahoma"/>
              </a:rPr>
              <a:t>&lt;n)</a:t>
            </a:r>
          </a:p>
          <a:p>
            <a:pPr marL="0" indent="0">
              <a:buNone/>
            </a:pPr>
            <a:r>
              <a:rPr lang="en-US" sz="1600" dirty="0">
                <a:latin typeface="Tahoma"/>
                <a:cs typeface="Tahoma"/>
              </a:rPr>
              <a:t>        {</a:t>
            </a:r>
          </a:p>
          <a:p>
            <a:pPr marL="0" indent="0">
              <a:buNone/>
            </a:pPr>
            <a:r>
              <a:rPr lang="en-US" sz="1600" dirty="0">
                <a:latin typeface="Tahoma"/>
                <a:cs typeface="Tahoma"/>
              </a:rPr>
              <a:t>             #pragma </a:t>
            </a:r>
            <a:r>
              <a:rPr lang="en-US" sz="1600" dirty="0" err="1">
                <a:latin typeface="Tahoma"/>
                <a:cs typeface="Tahoma"/>
              </a:rPr>
              <a:t>omp</a:t>
            </a:r>
            <a:r>
              <a:rPr lang="en-US" sz="1600" dirty="0">
                <a:latin typeface="Tahoma"/>
                <a:cs typeface="Tahoma"/>
              </a:rPr>
              <a:t> atomic</a:t>
            </a:r>
          </a:p>
          <a:p>
            <a:pPr marL="0" indent="0">
              <a:buNone/>
            </a:pPr>
            <a:r>
              <a:rPr lang="en-US" sz="1600" dirty="0">
                <a:latin typeface="Tahoma"/>
                <a:cs typeface="Tahoma"/>
              </a:rPr>
              <a:t>                 </a:t>
            </a:r>
            <a:r>
              <a:rPr lang="en-US" sz="1600" dirty="0" err="1">
                <a:latin typeface="Tahoma"/>
                <a:cs typeface="Tahoma"/>
              </a:rPr>
              <a:t>ic</a:t>
            </a:r>
            <a:r>
              <a:rPr lang="en-US" sz="1600" dirty="0">
                <a:latin typeface="Tahoma"/>
                <a:cs typeface="Tahoma"/>
              </a:rPr>
              <a:t> = </a:t>
            </a:r>
            <a:r>
              <a:rPr lang="en-US" sz="1600" dirty="0" err="1">
                <a:latin typeface="Tahoma"/>
                <a:cs typeface="Tahoma"/>
              </a:rPr>
              <a:t>ic</a:t>
            </a:r>
            <a:r>
              <a:rPr lang="en-US" sz="1600" dirty="0">
                <a:latin typeface="Tahoma"/>
                <a:cs typeface="Tahoma"/>
              </a:rPr>
              <a:t> + function(c);</a:t>
            </a:r>
          </a:p>
          <a:p>
            <a:pPr marL="0" indent="0">
              <a:buNone/>
            </a:pPr>
            <a:r>
              <a:rPr lang="en-US" sz="1600" dirty="0">
                <a:latin typeface="Tahoma"/>
                <a:cs typeface="Tahoma"/>
              </a:rPr>
              <a:t>          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37001" y="5500423"/>
            <a:ext cx="2937301" cy="584776"/>
          </a:xfrm>
          <a:prstGeom prst="rect">
            <a:avLst/>
          </a:prstGeom>
          <a:noFill/>
          <a:ln>
            <a:solidFill>
              <a:srgbClr val="0000FF"/>
            </a:solidFill>
          </a:ln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Arial"/>
                <a:cs typeface="Arial"/>
              </a:rPr>
              <a:t>Atomic only protects the update of </a:t>
            </a:r>
            <a:r>
              <a:rPr lang="en-US" sz="1600" dirty="0" err="1">
                <a:latin typeface="Arial"/>
                <a:cs typeface="Arial"/>
              </a:rPr>
              <a:t>ic</a:t>
            </a:r>
            <a:r>
              <a:rPr lang="en-US" sz="1600" dirty="0">
                <a:latin typeface="Arial"/>
                <a:cs typeface="Arial"/>
              </a:rPr>
              <a:t> 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 2010, Elsevier Inc. All rights Reserved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6BE44D-6AB7-7747-A5B3-8E5957F8FC9E}" type="slidenum">
              <a:rPr lang="en-US" smtClean="0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2502263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7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47261"/>
          </a:xfrm>
        </p:spPr>
        <p:txBody>
          <a:bodyPr>
            <a:normAutofit/>
          </a:bodyPr>
          <a:lstStyle/>
          <a:p>
            <a:r>
              <a:rPr lang="en-US" dirty="0">
                <a:latin typeface="Arial" charset="0"/>
              </a:rPr>
              <a:t>Locks </a:t>
            </a:r>
            <a:endParaRPr lang="en-US" dirty="0">
              <a:solidFill>
                <a:srgbClr val="FF0000"/>
              </a:solidFill>
              <a:latin typeface="Arial" charset="0"/>
            </a:endParaRPr>
          </a:p>
        </p:txBody>
      </p:sp>
      <p:sp>
        <p:nvSpPr>
          <p:cNvPr id="101378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1182328"/>
          </a:xfrm>
        </p:spPr>
        <p:txBody>
          <a:bodyPr>
            <a:normAutofit fontScale="85000" lnSpcReduction="20000"/>
          </a:bodyPr>
          <a:lstStyle/>
          <a:p>
            <a:r>
              <a:rPr lang="en-US" dirty="0">
                <a:latin typeface="Arial" charset="0"/>
              </a:rPr>
              <a:t>A lock consists of a data structure and functions that allow the programmer to explicitly enforce mutual exclusion in a critical section.</a:t>
            </a:r>
          </a:p>
        </p:txBody>
      </p:sp>
      <p:pic>
        <p:nvPicPr>
          <p:cNvPr id="101380" name="Picture 2" descr="combination locks,households,locks,padlocks,securities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07" y="2651567"/>
            <a:ext cx="2555528" cy="25555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6BE44D-6AB7-7747-A5B3-8E5957F8FC9E}" type="slidenum">
              <a:rPr lang="en-US" smtClean="0"/>
              <a:t>58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3B6EE2E-C71D-4B91-94F9-867E1775600F}"/>
              </a:ext>
            </a:extLst>
          </p:cNvPr>
          <p:cNvSpPr txBox="1"/>
          <p:nvPr/>
        </p:nvSpPr>
        <p:spPr>
          <a:xfrm>
            <a:off x="2369575" y="3775587"/>
            <a:ext cx="1766509" cy="92333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b="1" dirty="0"/>
              <a:t>Acquire lock(</a:t>
            </a:r>
            <a:r>
              <a:rPr lang="en-US" b="1" dirty="0" err="1"/>
              <a:t>i</a:t>
            </a:r>
            <a:r>
              <a:rPr lang="en-US" b="1" dirty="0"/>
              <a:t>)</a:t>
            </a:r>
          </a:p>
          <a:p>
            <a:r>
              <a:rPr lang="en-US" dirty="0"/>
              <a:t>// critical section</a:t>
            </a:r>
          </a:p>
          <a:p>
            <a:r>
              <a:rPr lang="en-US" b="1" dirty="0"/>
              <a:t>Release lock(</a:t>
            </a:r>
            <a:r>
              <a:rPr lang="en-US" b="1" dirty="0" err="1"/>
              <a:t>i</a:t>
            </a:r>
            <a:r>
              <a:rPr lang="en-US" b="1" dirty="0"/>
              <a:t>)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7C34D535-6842-4768-BB2B-1A88DABC60A6}"/>
              </a:ext>
            </a:extLst>
          </p:cNvPr>
          <p:cNvCxnSpPr>
            <a:cxnSpLocks/>
          </p:cNvCxnSpPr>
          <p:nvPr/>
        </p:nvCxnSpPr>
        <p:spPr>
          <a:xfrm>
            <a:off x="3212119" y="3554362"/>
            <a:ext cx="0" cy="22122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DAB04BBD-BAE1-4832-A19E-837739E150F4}"/>
              </a:ext>
            </a:extLst>
          </p:cNvPr>
          <p:cNvSpPr txBox="1"/>
          <p:nvPr/>
        </p:nvSpPr>
        <p:spPr>
          <a:xfrm>
            <a:off x="2313213" y="3190762"/>
            <a:ext cx="18792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Threads queue up</a:t>
            </a:r>
          </a:p>
        </p:txBody>
      </p:sp>
      <p:sp>
        <p:nvSpPr>
          <p:cNvPr id="12" name="Freeform 57">
            <a:extLst>
              <a:ext uri="{FF2B5EF4-FFF2-40B4-BE49-F238E27FC236}">
                <a16:creationId xmlns:a16="http://schemas.microsoft.com/office/drawing/2014/main" id="{82801583-1D87-4F8C-9635-EFA036500C56}"/>
              </a:ext>
            </a:extLst>
          </p:cNvPr>
          <p:cNvSpPr/>
          <p:nvPr/>
        </p:nvSpPr>
        <p:spPr>
          <a:xfrm>
            <a:off x="4192445" y="4015052"/>
            <a:ext cx="301007" cy="444399"/>
          </a:xfrm>
          <a:custGeom>
            <a:avLst/>
            <a:gdLst>
              <a:gd name="connsiteX0" fmla="*/ 170352 w 301007"/>
              <a:gd name="connsiteY0" fmla="*/ 0 h 1007706"/>
              <a:gd name="connsiteX1" fmla="*/ 2401 w 301007"/>
              <a:gd name="connsiteY1" fmla="*/ 223934 h 1007706"/>
              <a:gd name="connsiteX2" fmla="*/ 282319 w 301007"/>
              <a:gd name="connsiteY2" fmla="*/ 335902 h 1007706"/>
              <a:gd name="connsiteX3" fmla="*/ 39723 w 301007"/>
              <a:gd name="connsiteY3" fmla="*/ 485192 h 1007706"/>
              <a:gd name="connsiteX4" fmla="*/ 300980 w 301007"/>
              <a:gd name="connsiteY4" fmla="*/ 597159 h 1007706"/>
              <a:gd name="connsiteX5" fmla="*/ 21062 w 301007"/>
              <a:gd name="connsiteY5" fmla="*/ 690465 h 1007706"/>
              <a:gd name="connsiteX6" fmla="*/ 207674 w 301007"/>
              <a:gd name="connsiteY6" fmla="*/ 821094 h 1007706"/>
              <a:gd name="connsiteX7" fmla="*/ 226336 w 301007"/>
              <a:gd name="connsiteY7" fmla="*/ 1007706 h 1007706"/>
              <a:gd name="connsiteX8" fmla="*/ 226336 w 301007"/>
              <a:gd name="connsiteY8" fmla="*/ 1007706 h 10077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01007" h="1007706">
                <a:moveTo>
                  <a:pt x="170352" y="0"/>
                </a:moveTo>
                <a:cubicBezTo>
                  <a:pt x="77046" y="83975"/>
                  <a:pt x="-16260" y="167950"/>
                  <a:pt x="2401" y="223934"/>
                </a:cubicBezTo>
                <a:cubicBezTo>
                  <a:pt x="21062" y="279918"/>
                  <a:pt x="276099" y="292359"/>
                  <a:pt x="282319" y="335902"/>
                </a:cubicBezTo>
                <a:cubicBezTo>
                  <a:pt x="288539" y="379445"/>
                  <a:pt x="36613" y="441649"/>
                  <a:pt x="39723" y="485192"/>
                </a:cubicBezTo>
                <a:cubicBezTo>
                  <a:pt x="42833" y="528735"/>
                  <a:pt x="304090" y="562947"/>
                  <a:pt x="300980" y="597159"/>
                </a:cubicBezTo>
                <a:cubicBezTo>
                  <a:pt x="297870" y="631371"/>
                  <a:pt x="36613" y="653143"/>
                  <a:pt x="21062" y="690465"/>
                </a:cubicBezTo>
                <a:cubicBezTo>
                  <a:pt x="5511" y="727788"/>
                  <a:pt x="173462" y="768221"/>
                  <a:pt x="207674" y="821094"/>
                </a:cubicBezTo>
                <a:cubicBezTo>
                  <a:pt x="241886" y="873968"/>
                  <a:pt x="226336" y="1007706"/>
                  <a:pt x="226336" y="1007706"/>
                </a:cubicBezTo>
                <a:lnTo>
                  <a:pt x="226336" y="1007706"/>
                </a:lnTo>
              </a:path>
            </a:pathLst>
          </a:custGeom>
          <a:noFill/>
          <a:ln>
            <a:tailEnd type="arrow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6FD9119-695A-4722-97AE-28E6A94D9CD2}"/>
              </a:ext>
            </a:extLst>
          </p:cNvPr>
          <p:cNvSpPr txBox="1"/>
          <p:nvPr/>
        </p:nvSpPr>
        <p:spPr>
          <a:xfrm>
            <a:off x="4420865" y="3935591"/>
            <a:ext cx="173412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Only one</a:t>
            </a:r>
            <a:br>
              <a:rPr lang="en-US" dirty="0"/>
            </a:br>
            <a:r>
              <a:rPr lang="en-US" dirty="0"/>
              <a:t> thread executes</a:t>
            </a:r>
          </a:p>
        </p:txBody>
      </p:sp>
      <p:sp>
        <p:nvSpPr>
          <p:cNvPr id="14" name="Freeform 57">
            <a:extLst>
              <a:ext uri="{FF2B5EF4-FFF2-40B4-BE49-F238E27FC236}">
                <a16:creationId xmlns:a16="http://schemas.microsoft.com/office/drawing/2014/main" id="{7CB81BF8-AF63-4FD8-970B-133CF3EAC7E4}"/>
              </a:ext>
            </a:extLst>
          </p:cNvPr>
          <p:cNvSpPr/>
          <p:nvPr/>
        </p:nvSpPr>
        <p:spPr>
          <a:xfrm>
            <a:off x="2332988" y="2805505"/>
            <a:ext cx="301007" cy="444399"/>
          </a:xfrm>
          <a:custGeom>
            <a:avLst/>
            <a:gdLst>
              <a:gd name="connsiteX0" fmla="*/ 170352 w 301007"/>
              <a:gd name="connsiteY0" fmla="*/ 0 h 1007706"/>
              <a:gd name="connsiteX1" fmla="*/ 2401 w 301007"/>
              <a:gd name="connsiteY1" fmla="*/ 223934 h 1007706"/>
              <a:gd name="connsiteX2" fmla="*/ 282319 w 301007"/>
              <a:gd name="connsiteY2" fmla="*/ 335902 h 1007706"/>
              <a:gd name="connsiteX3" fmla="*/ 39723 w 301007"/>
              <a:gd name="connsiteY3" fmla="*/ 485192 h 1007706"/>
              <a:gd name="connsiteX4" fmla="*/ 300980 w 301007"/>
              <a:gd name="connsiteY4" fmla="*/ 597159 h 1007706"/>
              <a:gd name="connsiteX5" fmla="*/ 21062 w 301007"/>
              <a:gd name="connsiteY5" fmla="*/ 690465 h 1007706"/>
              <a:gd name="connsiteX6" fmla="*/ 207674 w 301007"/>
              <a:gd name="connsiteY6" fmla="*/ 821094 h 1007706"/>
              <a:gd name="connsiteX7" fmla="*/ 226336 w 301007"/>
              <a:gd name="connsiteY7" fmla="*/ 1007706 h 1007706"/>
              <a:gd name="connsiteX8" fmla="*/ 226336 w 301007"/>
              <a:gd name="connsiteY8" fmla="*/ 1007706 h 10077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01007" h="1007706">
                <a:moveTo>
                  <a:pt x="170352" y="0"/>
                </a:moveTo>
                <a:cubicBezTo>
                  <a:pt x="77046" y="83975"/>
                  <a:pt x="-16260" y="167950"/>
                  <a:pt x="2401" y="223934"/>
                </a:cubicBezTo>
                <a:cubicBezTo>
                  <a:pt x="21062" y="279918"/>
                  <a:pt x="276099" y="292359"/>
                  <a:pt x="282319" y="335902"/>
                </a:cubicBezTo>
                <a:cubicBezTo>
                  <a:pt x="288539" y="379445"/>
                  <a:pt x="36613" y="441649"/>
                  <a:pt x="39723" y="485192"/>
                </a:cubicBezTo>
                <a:cubicBezTo>
                  <a:pt x="42833" y="528735"/>
                  <a:pt x="304090" y="562947"/>
                  <a:pt x="300980" y="597159"/>
                </a:cubicBezTo>
                <a:cubicBezTo>
                  <a:pt x="297870" y="631371"/>
                  <a:pt x="36613" y="653143"/>
                  <a:pt x="21062" y="690465"/>
                </a:cubicBezTo>
                <a:cubicBezTo>
                  <a:pt x="5511" y="727788"/>
                  <a:pt x="173462" y="768221"/>
                  <a:pt x="207674" y="821094"/>
                </a:cubicBezTo>
                <a:cubicBezTo>
                  <a:pt x="241886" y="873968"/>
                  <a:pt x="226336" y="1007706"/>
                  <a:pt x="226336" y="1007706"/>
                </a:cubicBezTo>
                <a:lnTo>
                  <a:pt x="226336" y="1007706"/>
                </a:lnTo>
              </a:path>
            </a:pathLst>
          </a:custGeom>
          <a:noFill/>
          <a:ln>
            <a:tailEnd type="arrow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reeform 57">
            <a:extLst>
              <a:ext uri="{FF2B5EF4-FFF2-40B4-BE49-F238E27FC236}">
                <a16:creationId xmlns:a16="http://schemas.microsoft.com/office/drawing/2014/main" id="{224D7EFF-E687-4A5B-AE03-6D99523DC7A9}"/>
              </a:ext>
            </a:extLst>
          </p:cNvPr>
          <p:cNvSpPr/>
          <p:nvPr/>
        </p:nvSpPr>
        <p:spPr>
          <a:xfrm>
            <a:off x="2785455" y="2823010"/>
            <a:ext cx="301007" cy="444399"/>
          </a:xfrm>
          <a:custGeom>
            <a:avLst/>
            <a:gdLst>
              <a:gd name="connsiteX0" fmla="*/ 170352 w 301007"/>
              <a:gd name="connsiteY0" fmla="*/ 0 h 1007706"/>
              <a:gd name="connsiteX1" fmla="*/ 2401 w 301007"/>
              <a:gd name="connsiteY1" fmla="*/ 223934 h 1007706"/>
              <a:gd name="connsiteX2" fmla="*/ 282319 w 301007"/>
              <a:gd name="connsiteY2" fmla="*/ 335902 h 1007706"/>
              <a:gd name="connsiteX3" fmla="*/ 39723 w 301007"/>
              <a:gd name="connsiteY3" fmla="*/ 485192 h 1007706"/>
              <a:gd name="connsiteX4" fmla="*/ 300980 w 301007"/>
              <a:gd name="connsiteY4" fmla="*/ 597159 h 1007706"/>
              <a:gd name="connsiteX5" fmla="*/ 21062 w 301007"/>
              <a:gd name="connsiteY5" fmla="*/ 690465 h 1007706"/>
              <a:gd name="connsiteX6" fmla="*/ 207674 w 301007"/>
              <a:gd name="connsiteY6" fmla="*/ 821094 h 1007706"/>
              <a:gd name="connsiteX7" fmla="*/ 226336 w 301007"/>
              <a:gd name="connsiteY7" fmla="*/ 1007706 h 1007706"/>
              <a:gd name="connsiteX8" fmla="*/ 226336 w 301007"/>
              <a:gd name="connsiteY8" fmla="*/ 1007706 h 10077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01007" h="1007706">
                <a:moveTo>
                  <a:pt x="170352" y="0"/>
                </a:moveTo>
                <a:cubicBezTo>
                  <a:pt x="77046" y="83975"/>
                  <a:pt x="-16260" y="167950"/>
                  <a:pt x="2401" y="223934"/>
                </a:cubicBezTo>
                <a:cubicBezTo>
                  <a:pt x="21062" y="279918"/>
                  <a:pt x="276099" y="292359"/>
                  <a:pt x="282319" y="335902"/>
                </a:cubicBezTo>
                <a:cubicBezTo>
                  <a:pt x="288539" y="379445"/>
                  <a:pt x="36613" y="441649"/>
                  <a:pt x="39723" y="485192"/>
                </a:cubicBezTo>
                <a:cubicBezTo>
                  <a:pt x="42833" y="528735"/>
                  <a:pt x="304090" y="562947"/>
                  <a:pt x="300980" y="597159"/>
                </a:cubicBezTo>
                <a:cubicBezTo>
                  <a:pt x="297870" y="631371"/>
                  <a:pt x="36613" y="653143"/>
                  <a:pt x="21062" y="690465"/>
                </a:cubicBezTo>
                <a:cubicBezTo>
                  <a:pt x="5511" y="727788"/>
                  <a:pt x="173462" y="768221"/>
                  <a:pt x="207674" y="821094"/>
                </a:cubicBezTo>
                <a:cubicBezTo>
                  <a:pt x="241886" y="873968"/>
                  <a:pt x="226336" y="1007706"/>
                  <a:pt x="226336" y="1007706"/>
                </a:cubicBezTo>
                <a:lnTo>
                  <a:pt x="226336" y="1007706"/>
                </a:lnTo>
              </a:path>
            </a:pathLst>
          </a:custGeom>
          <a:noFill/>
          <a:ln>
            <a:tailEnd type="arrow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 57">
            <a:extLst>
              <a:ext uri="{FF2B5EF4-FFF2-40B4-BE49-F238E27FC236}">
                <a16:creationId xmlns:a16="http://schemas.microsoft.com/office/drawing/2014/main" id="{40670D4E-6297-428B-A43A-1B584F07CA11}"/>
              </a:ext>
            </a:extLst>
          </p:cNvPr>
          <p:cNvSpPr/>
          <p:nvPr/>
        </p:nvSpPr>
        <p:spPr>
          <a:xfrm>
            <a:off x="3222404" y="2803769"/>
            <a:ext cx="301007" cy="444399"/>
          </a:xfrm>
          <a:custGeom>
            <a:avLst/>
            <a:gdLst>
              <a:gd name="connsiteX0" fmla="*/ 170352 w 301007"/>
              <a:gd name="connsiteY0" fmla="*/ 0 h 1007706"/>
              <a:gd name="connsiteX1" fmla="*/ 2401 w 301007"/>
              <a:gd name="connsiteY1" fmla="*/ 223934 h 1007706"/>
              <a:gd name="connsiteX2" fmla="*/ 282319 w 301007"/>
              <a:gd name="connsiteY2" fmla="*/ 335902 h 1007706"/>
              <a:gd name="connsiteX3" fmla="*/ 39723 w 301007"/>
              <a:gd name="connsiteY3" fmla="*/ 485192 h 1007706"/>
              <a:gd name="connsiteX4" fmla="*/ 300980 w 301007"/>
              <a:gd name="connsiteY4" fmla="*/ 597159 h 1007706"/>
              <a:gd name="connsiteX5" fmla="*/ 21062 w 301007"/>
              <a:gd name="connsiteY5" fmla="*/ 690465 h 1007706"/>
              <a:gd name="connsiteX6" fmla="*/ 207674 w 301007"/>
              <a:gd name="connsiteY6" fmla="*/ 821094 h 1007706"/>
              <a:gd name="connsiteX7" fmla="*/ 226336 w 301007"/>
              <a:gd name="connsiteY7" fmla="*/ 1007706 h 1007706"/>
              <a:gd name="connsiteX8" fmla="*/ 226336 w 301007"/>
              <a:gd name="connsiteY8" fmla="*/ 1007706 h 10077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01007" h="1007706">
                <a:moveTo>
                  <a:pt x="170352" y="0"/>
                </a:moveTo>
                <a:cubicBezTo>
                  <a:pt x="77046" y="83975"/>
                  <a:pt x="-16260" y="167950"/>
                  <a:pt x="2401" y="223934"/>
                </a:cubicBezTo>
                <a:cubicBezTo>
                  <a:pt x="21062" y="279918"/>
                  <a:pt x="276099" y="292359"/>
                  <a:pt x="282319" y="335902"/>
                </a:cubicBezTo>
                <a:cubicBezTo>
                  <a:pt x="288539" y="379445"/>
                  <a:pt x="36613" y="441649"/>
                  <a:pt x="39723" y="485192"/>
                </a:cubicBezTo>
                <a:cubicBezTo>
                  <a:pt x="42833" y="528735"/>
                  <a:pt x="304090" y="562947"/>
                  <a:pt x="300980" y="597159"/>
                </a:cubicBezTo>
                <a:cubicBezTo>
                  <a:pt x="297870" y="631371"/>
                  <a:pt x="36613" y="653143"/>
                  <a:pt x="21062" y="690465"/>
                </a:cubicBezTo>
                <a:cubicBezTo>
                  <a:pt x="5511" y="727788"/>
                  <a:pt x="173462" y="768221"/>
                  <a:pt x="207674" y="821094"/>
                </a:cubicBezTo>
                <a:cubicBezTo>
                  <a:pt x="241886" y="873968"/>
                  <a:pt x="226336" y="1007706"/>
                  <a:pt x="226336" y="1007706"/>
                </a:cubicBezTo>
                <a:lnTo>
                  <a:pt x="226336" y="1007706"/>
                </a:lnTo>
              </a:path>
            </a:pathLst>
          </a:custGeom>
          <a:noFill/>
          <a:ln>
            <a:tailEnd type="arrow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reeform 57">
            <a:extLst>
              <a:ext uri="{FF2B5EF4-FFF2-40B4-BE49-F238E27FC236}">
                <a16:creationId xmlns:a16="http://schemas.microsoft.com/office/drawing/2014/main" id="{6C414BDA-604A-4C4F-8D1B-D3E6F6172573}"/>
              </a:ext>
            </a:extLst>
          </p:cNvPr>
          <p:cNvSpPr/>
          <p:nvPr/>
        </p:nvSpPr>
        <p:spPr>
          <a:xfrm>
            <a:off x="3659354" y="2775740"/>
            <a:ext cx="301007" cy="444399"/>
          </a:xfrm>
          <a:custGeom>
            <a:avLst/>
            <a:gdLst>
              <a:gd name="connsiteX0" fmla="*/ 170352 w 301007"/>
              <a:gd name="connsiteY0" fmla="*/ 0 h 1007706"/>
              <a:gd name="connsiteX1" fmla="*/ 2401 w 301007"/>
              <a:gd name="connsiteY1" fmla="*/ 223934 h 1007706"/>
              <a:gd name="connsiteX2" fmla="*/ 282319 w 301007"/>
              <a:gd name="connsiteY2" fmla="*/ 335902 h 1007706"/>
              <a:gd name="connsiteX3" fmla="*/ 39723 w 301007"/>
              <a:gd name="connsiteY3" fmla="*/ 485192 h 1007706"/>
              <a:gd name="connsiteX4" fmla="*/ 300980 w 301007"/>
              <a:gd name="connsiteY4" fmla="*/ 597159 h 1007706"/>
              <a:gd name="connsiteX5" fmla="*/ 21062 w 301007"/>
              <a:gd name="connsiteY5" fmla="*/ 690465 h 1007706"/>
              <a:gd name="connsiteX6" fmla="*/ 207674 w 301007"/>
              <a:gd name="connsiteY6" fmla="*/ 821094 h 1007706"/>
              <a:gd name="connsiteX7" fmla="*/ 226336 w 301007"/>
              <a:gd name="connsiteY7" fmla="*/ 1007706 h 1007706"/>
              <a:gd name="connsiteX8" fmla="*/ 226336 w 301007"/>
              <a:gd name="connsiteY8" fmla="*/ 1007706 h 10077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01007" h="1007706">
                <a:moveTo>
                  <a:pt x="170352" y="0"/>
                </a:moveTo>
                <a:cubicBezTo>
                  <a:pt x="77046" y="83975"/>
                  <a:pt x="-16260" y="167950"/>
                  <a:pt x="2401" y="223934"/>
                </a:cubicBezTo>
                <a:cubicBezTo>
                  <a:pt x="21062" y="279918"/>
                  <a:pt x="276099" y="292359"/>
                  <a:pt x="282319" y="335902"/>
                </a:cubicBezTo>
                <a:cubicBezTo>
                  <a:pt x="288539" y="379445"/>
                  <a:pt x="36613" y="441649"/>
                  <a:pt x="39723" y="485192"/>
                </a:cubicBezTo>
                <a:cubicBezTo>
                  <a:pt x="42833" y="528735"/>
                  <a:pt x="304090" y="562947"/>
                  <a:pt x="300980" y="597159"/>
                </a:cubicBezTo>
                <a:cubicBezTo>
                  <a:pt x="297870" y="631371"/>
                  <a:pt x="36613" y="653143"/>
                  <a:pt x="21062" y="690465"/>
                </a:cubicBezTo>
                <a:cubicBezTo>
                  <a:pt x="5511" y="727788"/>
                  <a:pt x="173462" y="768221"/>
                  <a:pt x="207674" y="821094"/>
                </a:cubicBezTo>
                <a:cubicBezTo>
                  <a:pt x="241886" y="873968"/>
                  <a:pt x="226336" y="1007706"/>
                  <a:pt x="226336" y="1007706"/>
                </a:cubicBezTo>
                <a:lnTo>
                  <a:pt x="226336" y="1007706"/>
                </a:lnTo>
              </a:path>
            </a:pathLst>
          </a:custGeom>
          <a:noFill/>
          <a:ln>
            <a:tailEnd type="arrow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C876E2E-7D34-4FD4-BF68-592FEFD3C137}"/>
              </a:ext>
            </a:extLst>
          </p:cNvPr>
          <p:cNvSpPr txBox="1"/>
          <p:nvPr/>
        </p:nvSpPr>
        <p:spPr>
          <a:xfrm>
            <a:off x="6154994" y="3045209"/>
            <a:ext cx="2738314" cy="28623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u="sng" dirty="0"/>
              <a:t>Difference from critical</a:t>
            </a:r>
            <a:br>
              <a:rPr lang="en-US" u="sng" dirty="0"/>
            </a:br>
            <a:r>
              <a:rPr lang="en-US" u="sng" dirty="0"/>
              <a:t>section:</a:t>
            </a:r>
          </a:p>
          <a:p>
            <a:pPr marL="285750" indent="-285750">
              <a:buFontTx/>
              <a:buChar char="-"/>
            </a:pPr>
            <a:r>
              <a:rPr lang="en-US" dirty="0"/>
              <a:t>You can have multiple </a:t>
            </a:r>
            <a:br>
              <a:rPr lang="en-US" dirty="0"/>
            </a:br>
            <a:r>
              <a:rPr lang="en-US" dirty="0"/>
              <a:t>       locks</a:t>
            </a:r>
          </a:p>
          <a:p>
            <a:pPr marL="285750" indent="-285750">
              <a:buFontTx/>
              <a:buChar char="-"/>
            </a:pPr>
            <a:r>
              <a:rPr lang="en-US" dirty="0"/>
              <a:t>A thread can try for any </a:t>
            </a:r>
            <a:br>
              <a:rPr lang="en-US" dirty="0"/>
            </a:br>
            <a:r>
              <a:rPr lang="en-US" dirty="0"/>
              <a:t> specific lock </a:t>
            </a:r>
          </a:p>
          <a:p>
            <a:pPr marL="285750" indent="-285750">
              <a:buFontTx/>
              <a:buChar char="-"/>
            </a:pPr>
            <a:endParaRPr lang="en-US" dirty="0"/>
          </a:p>
          <a:p>
            <a:pPr marL="285750" indent="-285750">
              <a:buFontTx/>
              <a:buChar char="-"/>
            </a:pPr>
            <a:r>
              <a:rPr lang="en-US" dirty="0"/>
              <a:t>=&gt; we can use this to </a:t>
            </a:r>
            <a:br>
              <a:rPr lang="en-US" dirty="0"/>
            </a:br>
            <a:r>
              <a:rPr lang="en-US" dirty="0"/>
              <a:t>     acquire data-level </a:t>
            </a:r>
            <a:br>
              <a:rPr lang="en-US" dirty="0"/>
            </a:br>
            <a:r>
              <a:rPr lang="en-US" dirty="0"/>
              <a:t>      locks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7E3C48A-55B8-4045-9518-E183DAF2431D}"/>
              </a:ext>
            </a:extLst>
          </p:cNvPr>
          <p:cNvSpPr/>
          <p:nvPr/>
        </p:nvSpPr>
        <p:spPr>
          <a:xfrm>
            <a:off x="2682881" y="5928852"/>
            <a:ext cx="3870319" cy="427498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34210713-808E-42E5-B09F-8FBDE451B4BD}"/>
              </a:ext>
            </a:extLst>
          </p:cNvPr>
          <p:cNvCxnSpPr/>
          <p:nvPr/>
        </p:nvCxnSpPr>
        <p:spPr>
          <a:xfrm>
            <a:off x="3086462" y="5928852"/>
            <a:ext cx="0" cy="42749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15203D59-858D-491F-B048-9BB4CEF44DC3}"/>
              </a:ext>
            </a:extLst>
          </p:cNvPr>
          <p:cNvCxnSpPr/>
          <p:nvPr/>
        </p:nvCxnSpPr>
        <p:spPr>
          <a:xfrm>
            <a:off x="3523411" y="5928852"/>
            <a:ext cx="0" cy="42749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C75E7C5B-3479-4C27-A89C-60BF6323F983}"/>
              </a:ext>
            </a:extLst>
          </p:cNvPr>
          <p:cNvCxnSpPr/>
          <p:nvPr/>
        </p:nvCxnSpPr>
        <p:spPr>
          <a:xfrm>
            <a:off x="3957064" y="5928852"/>
            <a:ext cx="0" cy="42749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9ACD2721-A642-4DB0-B20D-AA30BFCB0DAC}"/>
              </a:ext>
            </a:extLst>
          </p:cNvPr>
          <p:cNvCxnSpPr/>
          <p:nvPr/>
        </p:nvCxnSpPr>
        <p:spPr>
          <a:xfrm>
            <a:off x="4493452" y="5928852"/>
            <a:ext cx="0" cy="42749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4D3D1561-9858-441A-A89D-69A181B07202}"/>
              </a:ext>
            </a:extLst>
          </p:cNvPr>
          <p:cNvCxnSpPr/>
          <p:nvPr/>
        </p:nvCxnSpPr>
        <p:spPr>
          <a:xfrm>
            <a:off x="5039143" y="5928852"/>
            <a:ext cx="0" cy="42749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9D3EC0A0-895A-4A83-8450-DB20143EE474}"/>
              </a:ext>
            </a:extLst>
          </p:cNvPr>
          <p:cNvCxnSpPr/>
          <p:nvPr/>
        </p:nvCxnSpPr>
        <p:spPr>
          <a:xfrm>
            <a:off x="5506175" y="5928852"/>
            <a:ext cx="0" cy="42749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7FFA3F17-C97B-44A7-817A-9D242B9CE8BD}"/>
              </a:ext>
            </a:extLst>
          </p:cNvPr>
          <p:cNvCxnSpPr/>
          <p:nvPr/>
        </p:nvCxnSpPr>
        <p:spPr>
          <a:xfrm>
            <a:off x="6002704" y="5928852"/>
            <a:ext cx="0" cy="42749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FBFD524B-57C3-4104-9F98-149D19D03E27}"/>
              </a:ext>
            </a:extLst>
          </p:cNvPr>
          <p:cNvCxnSpPr>
            <a:cxnSpLocks/>
          </p:cNvCxnSpPr>
          <p:nvPr/>
        </p:nvCxnSpPr>
        <p:spPr>
          <a:xfrm>
            <a:off x="6071528" y="2782529"/>
            <a:ext cx="26632" cy="218276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D2D5A9FE-22FE-4C3D-AF1E-688B70EBE836}"/>
              </a:ext>
            </a:extLst>
          </p:cNvPr>
          <p:cNvCxnSpPr/>
          <p:nvPr/>
        </p:nvCxnSpPr>
        <p:spPr>
          <a:xfrm flipV="1">
            <a:off x="765632" y="4886632"/>
            <a:ext cx="5445723" cy="7865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3" name="Picture 2" descr="combination locks,households,locks,padlocks,securities">
            <a:extLst>
              <a:ext uri="{FF2B5EF4-FFF2-40B4-BE49-F238E27FC236}">
                <a16:creationId xmlns:a16="http://schemas.microsoft.com/office/drawing/2014/main" id="{52FE2BDC-1129-495B-9BB1-C9452DFDED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74508" y="5563727"/>
            <a:ext cx="305714" cy="3057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4" name="Picture 2" descr="combination locks,households,locks,padlocks,securities">
            <a:extLst>
              <a:ext uri="{FF2B5EF4-FFF2-40B4-BE49-F238E27FC236}">
                <a16:creationId xmlns:a16="http://schemas.microsoft.com/office/drawing/2014/main" id="{7CF058A7-6E52-4B45-A3CB-86D3209C12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65864" y="5583911"/>
            <a:ext cx="305714" cy="3057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5" name="Picture 2" descr="combination locks,households,locks,padlocks,securities">
            <a:extLst>
              <a:ext uri="{FF2B5EF4-FFF2-40B4-BE49-F238E27FC236}">
                <a16:creationId xmlns:a16="http://schemas.microsoft.com/office/drawing/2014/main" id="{21FC07F1-9BE5-4A1B-AD3B-FE21785AD7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38498" y="5534190"/>
            <a:ext cx="305714" cy="3057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6" name="Picture 2" descr="combination locks,households,locks,padlocks,securities">
            <a:extLst>
              <a:ext uri="{FF2B5EF4-FFF2-40B4-BE49-F238E27FC236}">
                <a16:creationId xmlns:a16="http://schemas.microsoft.com/office/drawing/2014/main" id="{1B39B4C3-1938-47B8-8069-634C57C660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67148" y="5542279"/>
            <a:ext cx="305714" cy="3057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7" name="Picture 2" descr="combination locks,households,locks,padlocks,securities">
            <a:extLst>
              <a:ext uri="{FF2B5EF4-FFF2-40B4-BE49-F238E27FC236}">
                <a16:creationId xmlns:a16="http://schemas.microsoft.com/office/drawing/2014/main" id="{383A9C11-A51D-4BC9-9B07-F93593FDC0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28948" y="5572201"/>
            <a:ext cx="305714" cy="3057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8" name="Picture 2" descr="combination locks,households,locks,padlocks,securities">
            <a:extLst>
              <a:ext uri="{FF2B5EF4-FFF2-40B4-BE49-F238E27FC236}">
                <a16:creationId xmlns:a16="http://schemas.microsoft.com/office/drawing/2014/main" id="{AA612D3C-1583-4507-B2E9-F0628D4282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70945" y="5534190"/>
            <a:ext cx="305714" cy="3057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9" name="Picture 2" descr="combination locks,households,locks,padlocks,securities">
            <a:extLst>
              <a:ext uri="{FF2B5EF4-FFF2-40B4-BE49-F238E27FC236}">
                <a16:creationId xmlns:a16="http://schemas.microsoft.com/office/drawing/2014/main" id="{7FDFFCDB-8D53-4F5C-9680-FF0096B6D1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30250" y="5533174"/>
            <a:ext cx="305714" cy="3057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0" name="Picture 2" descr="combination locks,households,locks,padlocks,securities">
            <a:extLst>
              <a:ext uri="{FF2B5EF4-FFF2-40B4-BE49-F238E27FC236}">
                <a16:creationId xmlns:a16="http://schemas.microsoft.com/office/drawing/2014/main" id="{95AEEEBD-DB18-4485-BED7-71D2C1431C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08241" y="5563270"/>
            <a:ext cx="305714" cy="3057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1" name="Freeform 57">
            <a:extLst>
              <a:ext uri="{FF2B5EF4-FFF2-40B4-BE49-F238E27FC236}">
                <a16:creationId xmlns:a16="http://schemas.microsoft.com/office/drawing/2014/main" id="{368D4907-CDB4-4E18-B42E-9A2C82428D04}"/>
              </a:ext>
            </a:extLst>
          </p:cNvPr>
          <p:cNvSpPr/>
          <p:nvPr/>
        </p:nvSpPr>
        <p:spPr>
          <a:xfrm>
            <a:off x="3437624" y="5170271"/>
            <a:ext cx="301007" cy="444399"/>
          </a:xfrm>
          <a:custGeom>
            <a:avLst/>
            <a:gdLst>
              <a:gd name="connsiteX0" fmla="*/ 170352 w 301007"/>
              <a:gd name="connsiteY0" fmla="*/ 0 h 1007706"/>
              <a:gd name="connsiteX1" fmla="*/ 2401 w 301007"/>
              <a:gd name="connsiteY1" fmla="*/ 223934 h 1007706"/>
              <a:gd name="connsiteX2" fmla="*/ 282319 w 301007"/>
              <a:gd name="connsiteY2" fmla="*/ 335902 h 1007706"/>
              <a:gd name="connsiteX3" fmla="*/ 39723 w 301007"/>
              <a:gd name="connsiteY3" fmla="*/ 485192 h 1007706"/>
              <a:gd name="connsiteX4" fmla="*/ 300980 w 301007"/>
              <a:gd name="connsiteY4" fmla="*/ 597159 h 1007706"/>
              <a:gd name="connsiteX5" fmla="*/ 21062 w 301007"/>
              <a:gd name="connsiteY5" fmla="*/ 690465 h 1007706"/>
              <a:gd name="connsiteX6" fmla="*/ 207674 w 301007"/>
              <a:gd name="connsiteY6" fmla="*/ 821094 h 1007706"/>
              <a:gd name="connsiteX7" fmla="*/ 226336 w 301007"/>
              <a:gd name="connsiteY7" fmla="*/ 1007706 h 1007706"/>
              <a:gd name="connsiteX8" fmla="*/ 226336 w 301007"/>
              <a:gd name="connsiteY8" fmla="*/ 1007706 h 10077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01007" h="1007706">
                <a:moveTo>
                  <a:pt x="170352" y="0"/>
                </a:moveTo>
                <a:cubicBezTo>
                  <a:pt x="77046" y="83975"/>
                  <a:pt x="-16260" y="167950"/>
                  <a:pt x="2401" y="223934"/>
                </a:cubicBezTo>
                <a:cubicBezTo>
                  <a:pt x="21062" y="279918"/>
                  <a:pt x="276099" y="292359"/>
                  <a:pt x="282319" y="335902"/>
                </a:cubicBezTo>
                <a:cubicBezTo>
                  <a:pt x="288539" y="379445"/>
                  <a:pt x="36613" y="441649"/>
                  <a:pt x="39723" y="485192"/>
                </a:cubicBezTo>
                <a:cubicBezTo>
                  <a:pt x="42833" y="528735"/>
                  <a:pt x="304090" y="562947"/>
                  <a:pt x="300980" y="597159"/>
                </a:cubicBezTo>
                <a:cubicBezTo>
                  <a:pt x="297870" y="631371"/>
                  <a:pt x="36613" y="653143"/>
                  <a:pt x="21062" y="690465"/>
                </a:cubicBezTo>
                <a:cubicBezTo>
                  <a:pt x="5511" y="727788"/>
                  <a:pt x="173462" y="768221"/>
                  <a:pt x="207674" y="821094"/>
                </a:cubicBezTo>
                <a:cubicBezTo>
                  <a:pt x="241886" y="873968"/>
                  <a:pt x="226336" y="1007706"/>
                  <a:pt x="226336" y="1007706"/>
                </a:cubicBezTo>
                <a:lnTo>
                  <a:pt x="226336" y="1007706"/>
                </a:lnTo>
              </a:path>
            </a:pathLst>
          </a:custGeom>
          <a:noFill/>
          <a:ln>
            <a:tailEnd type="arrow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Freeform 57">
            <a:extLst>
              <a:ext uri="{FF2B5EF4-FFF2-40B4-BE49-F238E27FC236}">
                <a16:creationId xmlns:a16="http://schemas.microsoft.com/office/drawing/2014/main" id="{D1D154AB-F1A1-46BA-89B7-2516690FF5C0}"/>
              </a:ext>
            </a:extLst>
          </p:cNvPr>
          <p:cNvSpPr/>
          <p:nvPr/>
        </p:nvSpPr>
        <p:spPr>
          <a:xfrm>
            <a:off x="5093968" y="5124695"/>
            <a:ext cx="301007" cy="444399"/>
          </a:xfrm>
          <a:custGeom>
            <a:avLst/>
            <a:gdLst>
              <a:gd name="connsiteX0" fmla="*/ 170352 w 301007"/>
              <a:gd name="connsiteY0" fmla="*/ 0 h 1007706"/>
              <a:gd name="connsiteX1" fmla="*/ 2401 w 301007"/>
              <a:gd name="connsiteY1" fmla="*/ 223934 h 1007706"/>
              <a:gd name="connsiteX2" fmla="*/ 282319 w 301007"/>
              <a:gd name="connsiteY2" fmla="*/ 335902 h 1007706"/>
              <a:gd name="connsiteX3" fmla="*/ 39723 w 301007"/>
              <a:gd name="connsiteY3" fmla="*/ 485192 h 1007706"/>
              <a:gd name="connsiteX4" fmla="*/ 300980 w 301007"/>
              <a:gd name="connsiteY4" fmla="*/ 597159 h 1007706"/>
              <a:gd name="connsiteX5" fmla="*/ 21062 w 301007"/>
              <a:gd name="connsiteY5" fmla="*/ 690465 h 1007706"/>
              <a:gd name="connsiteX6" fmla="*/ 207674 w 301007"/>
              <a:gd name="connsiteY6" fmla="*/ 821094 h 1007706"/>
              <a:gd name="connsiteX7" fmla="*/ 226336 w 301007"/>
              <a:gd name="connsiteY7" fmla="*/ 1007706 h 1007706"/>
              <a:gd name="connsiteX8" fmla="*/ 226336 w 301007"/>
              <a:gd name="connsiteY8" fmla="*/ 1007706 h 10077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01007" h="1007706">
                <a:moveTo>
                  <a:pt x="170352" y="0"/>
                </a:moveTo>
                <a:cubicBezTo>
                  <a:pt x="77046" y="83975"/>
                  <a:pt x="-16260" y="167950"/>
                  <a:pt x="2401" y="223934"/>
                </a:cubicBezTo>
                <a:cubicBezTo>
                  <a:pt x="21062" y="279918"/>
                  <a:pt x="276099" y="292359"/>
                  <a:pt x="282319" y="335902"/>
                </a:cubicBezTo>
                <a:cubicBezTo>
                  <a:pt x="288539" y="379445"/>
                  <a:pt x="36613" y="441649"/>
                  <a:pt x="39723" y="485192"/>
                </a:cubicBezTo>
                <a:cubicBezTo>
                  <a:pt x="42833" y="528735"/>
                  <a:pt x="304090" y="562947"/>
                  <a:pt x="300980" y="597159"/>
                </a:cubicBezTo>
                <a:cubicBezTo>
                  <a:pt x="297870" y="631371"/>
                  <a:pt x="36613" y="653143"/>
                  <a:pt x="21062" y="690465"/>
                </a:cubicBezTo>
                <a:cubicBezTo>
                  <a:pt x="5511" y="727788"/>
                  <a:pt x="173462" y="768221"/>
                  <a:pt x="207674" y="821094"/>
                </a:cubicBezTo>
                <a:cubicBezTo>
                  <a:pt x="241886" y="873968"/>
                  <a:pt x="226336" y="1007706"/>
                  <a:pt x="226336" y="1007706"/>
                </a:cubicBezTo>
                <a:lnTo>
                  <a:pt x="226336" y="1007706"/>
                </a:lnTo>
              </a:path>
            </a:pathLst>
          </a:custGeom>
          <a:noFill/>
          <a:ln>
            <a:tailEnd type="arrow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0B67B37-F277-49F3-A4F2-A2371B9C4125}"/>
              </a:ext>
            </a:extLst>
          </p:cNvPr>
          <p:cNvSpPr txBox="1"/>
          <p:nvPr/>
        </p:nvSpPr>
        <p:spPr>
          <a:xfrm>
            <a:off x="2313213" y="6423686"/>
            <a:ext cx="6514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e.g., two threads can access different array indices without waiting.</a:t>
            </a:r>
          </a:p>
        </p:txBody>
      </p:sp>
    </p:spTree>
    <p:extLst>
      <p:ext uri="{BB962C8B-B14F-4D97-AF65-F5344CB8AC3E}">
        <p14:creationId xmlns:p14="http://schemas.microsoft.com/office/powerpoint/2010/main" val="223274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9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5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8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1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0" grpId="0"/>
      <p:bldP spid="11" grpId="0" animBg="1"/>
      <p:bldP spid="41" grpId="0" animBg="1"/>
      <p:bldP spid="42" grpId="0" animBg="1"/>
      <p:bldP spid="30" grpId="0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Illustration of Locking Operation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3900931" y="1600200"/>
            <a:ext cx="4591527" cy="3869060"/>
          </a:xfrm>
        </p:spPr>
        <p:txBody>
          <a:bodyPr>
            <a:normAutofit/>
          </a:bodyPr>
          <a:lstStyle/>
          <a:p>
            <a:pPr>
              <a:spcAft>
                <a:spcPts val="500"/>
              </a:spcAft>
            </a:pPr>
            <a:r>
              <a:rPr lang="en-US" sz="2000" dirty="0">
                <a:latin typeface="Arial"/>
                <a:cs typeface="Arial"/>
              </a:rPr>
              <a:t>The protected region contains the update of a shared variable </a:t>
            </a:r>
          </a:p>
          <a:p>
            <a:pPr>
              <a:spcAft>
                <a:spcPts val="500"/>
              </a:spcAft>
            </a:pPr>
            <a:r>
              <a:rPr lang="en-US" sz="2000" dirty="0">
                <a:latin typeface="Arial"/>
                <a:cs typeface="Arial"/>
              </a:rPr>
              <a:t>One thread acquires the lock and performs the update </a:t>
            </a:r>
          </a:p>
          <a:p>
            <a:pPr>
              <a:spcAft>
                <a:spcPts val="500"/>
              </a:spcAft>
            </a:pPr>
            <a:r>
              <a:rPr lang="en-US" sz="2000" dirty="0">
                <a:latin typeface="Arial"/>
                <a:cs typeface="Arial"/>
              </a:rPr>
              <a:t>Meanwhile, other threads perform some other work </a:t>
            </a:r>
          </a:p>
          <a:p>
            <a:pPr>
              <a:spcAft>
                <a:spcPts val="500"/>
              </a:spcAft>
            </a:pPr>
            <a:r>
              <a:rPr lang="en-US" sz="2000" dirty="0">
                <a:latin typeface="Arial"/>
                <a:cs typeface="Arial"/>
              </a:rPr>
              <a:t>When the lock is released again, the other threads perform the update </a:t>
            </a:r>
          </a:p>
          <a:p>
            <a:endParaRPr lang="en-US" dirty="0"/>
          </a:p>
          <a:p>
            <a:endParaRPr lang="en-US" dirty="0"/>
          </a:p>
          <a:p>
            <a:endParaRPr lang="en-US" dirty="0">
              <a:solidFill>
                <a:prstClr val="black"/>
              </a:solidFill>
              <a:latin typeface="Helvetica"/>
            </a:endParaRPr>
          </a:p>
          <a:p>
            <a:endParaRPr lang="en-US" dirty="0">
              <a:solidFill>
                <a:prstClr val="black"/>
              </a:solidFill>
              <a:latin typeface="Helvetica"/>
            </a:endParaRPr>
          </a:p>
          <a:p>
            <a:endParaRPr lang="en-US" dirty="0">
              <a:solidFill>
                <a:prstClr val="black"/>
              </a:solidFill>
              <a:latin typeface="Helvetica"/>
            </a:endParaRPr>
          </a:p>
          <a:p>
            <a:endParaRPr lang="en-US" dirty="0">
              <a:solidFill>
                <a:prstClr val="black"/>
              </a:solidFill>
              <a:latin typeface="Helvetica"/>
            </a:endParaRPr>
          </a:p>
          <a:p>
            <a:endParaRPr lang="en-US" dirty="0">
              <a:solidFill>
                <a:prstClr val="black"/>
              </a:solidFill>
              <a:latin typeface="Helvetica"/>
            </a:endParaRPr>
          </a:p>
          <a:p>
            <a:endParaRPr lang="en-US" dirty="0">
              <a:solidFill>
                <a:prstClr val="black"/>
              </a:solidFill>
              <a:latin typeface="Helvetica"/>
            </a:endParaRPr>
          </a:p>
          <a:p>
            <a:endParaRPr lang="en-US" dirty="0">
              <a:solidFill>
                <a:prstClr val="black"/>
              </a:solidFill>
              <a:latin typeface="Helvetica"/>
            </a:endParaRPr>
          </a:p>
          <a:p>
            <a:endParaRPr lang="en-US" dirty="0">
              <a:solidFill>
                <a:prstClr val="black"/>
              </a:solidFill>
              <a:latin typeface="Helvetica"/>
            </a:endParaRPr>
          </a:p>
          <a:p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2286000" y="2828836"/>
            <a:ext cx="4572000" cy="2308324"/>
          </a:xfrm>
          <a:prstGeom prst="rect">
            <a:avLst/>
          </a:prstGeom>
        </p:spPr>
        <p:txBody>
          <a:bodyPr>
            <a:spAutoFit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>
              <a:solidFill>
                <a:prstClr val="black"/>
              </a:solidFill>
              <a:latin typeface="Helvetica"/>
            </a:endParaRPr>
          </a:p>
          <a:p>
            <a:endParaRPr lang="en-US" dirty="0">
              <a:solidFill>
                <a:prstClr val="black"/>
              </a:solidFill>
              <a:latin typeface="Helvetica"/>
            </a:endParaRPr>
          </a:p>
          <a:p>
            <a:endParaRPr lang="en-US" dirty="0">
              <a:solidFill>
                <a:prstClr val="black"/>
              </a:solidFill>
              <a:latin typeface="Helvetica"/>
            </a:endParaRPr>
          </a:p>
          <a:p>
            <a:endParaRPr lang="en-US" dirty="0">
              <a:solidFill>
                <a:prstClr val="black"/>
              </a:solidFill>
              <a:latin typeface="Helvetica"/>
            </a:endParaRPr>
          </a:p>
          <a:p>
            <a:endParaRPr lang="en-US"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840" y="1600200"/>
            <a:ext cx="2783133" cy="3036145"/>
          </a:xfrm>
          <a:prstGeom prst="rect">
            <a:avLst/>
          </a:prstGeom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 2010, Elsevier Inc. All rights Reserved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6BE44D-6AB7-7747-A5B3-8E5957F8FC9E}" type="slidenum">
              <a:rPr lang="en-US" smtClean="0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6950906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61561"/>
          </a:xfrm>
        </p:spPr>
        <p:txBody>
          <a:bodyPr>
            <a:normAutofit fontScale="90000"/>
          </a:bodyPr>
          <a:lstStyle/>
          <a:p>
            <a:r>
              <a:rPr lang="en-US" dirty="0"/>
              <a:t>A Locks Code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8561"/>
            <a:ext cx="5020045" cy="431314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600" dirty="0">
                <a:latin typeface="Tahoma"/>
                <a:cs typeface="Tahoma"/>
              </a:rPr>
              <a:t>long long </a:t>
            </a:r>
            <a:r>
              <a:rPr lang="en-US" sz="1600" dirty="0" err="1">
                <a:latin typeface="Tahoma"/>
                <a:cs typeface="Tahoma"/>
              </a:rPr>
              <a:t>int</a:t>
            </a:r>
            <a:r>
              <a:rPr lang="en-US" sz="1600" dirty="0">
                <a:latin typeface="Tahoma"/>
                <a:cs typeface="Tahoma"/>
              </a:rPr>
              <a:t> a=0;</a:t>
            </a:r>
          </a:p>
          <a:p>
            <a:pPr marL="0" indent="0">
              <a:buNone/>
            </a:pPr>
            <a:r>
              <a:rPr lang="en-US" sz="1600" dirty="0">
                <a:latin typeface="Tahoma"/>
                <a:cs typeface="Tahoma"/>
              </a:rPr>
              <a:t>long long </a:t>
            </a:r>
            <a:r>
              <a:rPr lang="en-US" sz="1600" dirty="0" err="1">
                <a:latin typeface="Tahoma"/>
                <a:cs typeface="Tahoma"/>
              </a:rPr>
              <a:t>int</a:t>
            </a:r>
            <a:r>
              <a:rPr lang="en-US" sz="1600" dirty="0">
                <a:latin typeface="Tahoma"/>
                <a:cs typeface="Tahoma"/>
              </a:rPr>
              <a:t> </a:t>
            </a:r>
            <a:r>
              <a:rPr lang="en-US" sz="1600" dirty="0" err="1">
                <a:latin typeface="Tahoma"/>
                <a:cs typeface="Tahoma"/>
              </a:rPr>
              <a:t>i</a:t>
            </a:r>
            <a:r>
              <a:rPr lang="en-US" sz="1600" dirty="0">
                <a:latin typeface="Tahoma"/>
                <a:cs typeface="Tahoma"/>
              </a:rPr>
              <a:t>;</a:t>
            </a:r>
          </a:p>
          <a:p>
            <a:pPr marL="0" indent="0">
              <a:buNone/>
            </a:pPr>
            <a:endParaRPr lang="en-US" sz="1600" dirty="0">
              <a:latin typeface="Tahoma"/>
              <a:cs typeface="Tahoma"/>
            </a:endParaRPr>
          </a:p>
          <a:p>
            <a:pPr marL="0" indent="0">
              <a:buNone/>
            </a:pPr>
            <a:r>
              <a:rPr lang="en-US" sz="1600" dirty="0" err="1">
                <a:solidFill>
                  <a:srgbClr val="0000FF"/>
                </a:solidFill>
                <a:latin typeface="Tahoma"/>
                <a:cs typeface="Tahoma"/>
              </a:rPr>
              <a:t>omp_lock_t</a:t>
            </a:r>
            <a:r>
              <a:rPr lang="en-US" sz="1600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lang="en-US" sz="1600" dirty="0" err="1">
                <a:solidFill>
                  <a:srgbClr val="0000FF"/>
                </a:solidFill>
                <a:latin typeface="Tahoma"/>
                <a:cs typeface="Tahoma"/>
              </a:rPr>
              <a:t>my_lock</a:t>
            </a:r>
            <a:r>
              <a:rPr lang="en-US" sz="1600" dirty="0">
                <a:solidFill>
                  <a:srgbClr val="0000FF"/>
                </a:solidFill>
                <a:latin typeface="Tahoma"/>
                <a:cs typeface="Tahoma"/>
              </a:rPr>
              <a:t>;</a:t>
            </a:r>
            <a:endParaRPr lang="en-US" sz="1600" dirty="0">
              <a:latin typeface="Tahoma"/>
              <a:cs typeface="Tahoma"/>
            </a:endParaRPr>
          </a:p>
          <a:p>
            <a:pPr marL="0" indent="0">
              <a:buNone/>
            </a:pPr>
            <a:r>
              <a:rPr lang="en-US" sz="1600" dirty="0">
                <a:latin typeface="Tahoma"/>
                <a:cs typeface="Tahoma"/>
              </a:rPr>
              <a:t>// </a:t>
            </a:r>
            <a:r>
              <a:rPr lang="en-US" sz="1600" dirty="0" err="1">
                <a:latin typeface="Tahoma"/>
                <a:cs typeface="Tahoma"/>
              </a:rPr>
              <a:t>init</a:t>
            </a:r>
            <a:r>
              <a:rPr lang="en-US" sz="1600" dirty="0">
                <a:latin typeface="Tahoma"/>
                <a:cs typeface="Tahoma"/>
              </a:rPr>
              <a:t> lock</a:t>
            </a:r>
          </a:p>
          <a:p>
            <a:pPr marL="0" indent="0">
              <a:buNone/>
            </a:pPr>
            <a:r>
              <a:rPr lang="en-US" sz="1600" dirty="0" err="1">
                <a:solidFill>
                  <a:srgbClr val="0000FF"/>
                </a:solidFill>
                <a:latin typeface="Tahoma"/>
                <a:cs typeface="Tahoma"/>
              </a:rPr>
              <a:t>omp_init_lock</a:t>
            </a:r>
            <a:r>
              <a:rPr lang="en-US" sz="1600" dirty="0">
                <a:solidFill>
                  <a:srgbClr val="0000FF"/>
                </a:solidFill>
                <a:latin typeface="Tahoma"/>
                <a:cs typeface="Tahoma"/>
              </a:rPr>
              <a:t>(&amp;</a:t>
            </a:r>
            <a:r>
              <a:rPr lang="en-US" sz="1600" dirty="0" err="1">
                <a:solidFill>
                  <a:srgbClr val="0000FF"/>
                </a:solidFill>
                <a:latin typeface="Tahoma"/>
                <a:cs typeface="Tahoma"/>
              </a:rPr>
              <a:t>my_lock</a:t>
            </a:r>
            <a:r>
              <a:rPr lang="en-US" sz="1600" dirty="0">
                <a:solidFill>
                  <a:srgbClr val="0000FF"/>
                </a:solidFill>
                <a:latin typeface="Tahoma"/>
                <a:cs typeface="Tahoma"/>
              </a:rPr>
              <a:t>);</a:t>
            </a:r>
            <a:endParaRPr lang="en-US" sz="1600" dirty="0">
              <a:latin typeface="Tahoma"/>
              <a:cs typeface="Tahoma"/>
            </a:endParaRPr>
          </a:p>
          <a:p>
            <a:pPr marL="0" indent="0">
              <a:buNone/>
            </a:pPr>
            <a:r>
              <a:rPr lang="en-US" sz="1600" dirty="0">
                <a:solidFill>
                  <a:srgbClr val="0000FF"/>
                </a:solidFill>
                <a:latin typeface="Tahoma"/>
                <a:cs typeface="Tahoma"/>
              </a:rPr>
              <a:t>#pragma </a:t>
            </a:r>
            <a:r>
              <a:rPr lang="en-US" sz="1600" dirty="0" err="1">
                <a:solidFill>
                  <a:srgbClr val="0000FF"/>
                </a:solidFill>
                <a:latin typeface="Tahoma"/>
                <a:cs typeface="Tahoma"/>
              </a:rPr>
              <a:t>omp</a:t>
            </a:r>
            <a:r>
              <a:rPr lang="en-US" sz="1600" dirty="0">
                <a:solidFill>
                  <a:srgbClr val="0000FF"/>
                </a:solidFill>
                <a:latin typeface="Tahoma"/>
                <a:cs typeface="Tahoma"/>
              </a:rPr>
              <a:t> parallel for </a:t>
            </a:r>
            <a:r>
              <a:rPr lang="en-US" sz="1600" dirty="0">
                <a:latin typeface="Tahoma"/>
                <a:cs typeface="Tahoma"/>
              </a:rPr>
              <a:t>	</a:t>
            </a:r>
          </a:p>
          <a:p>
            <a:pPr marL="0" indent="0">
              <a:buNone/>
            </a:pPr>
            <a:r>
              <a:rPr lang="en-US" sz="1600" dirty="0">
                <a:latin typeface="Tahoma"/>
                <a:cs typeface="Tahoma"/>
              </a:rPr>
              <a:t>for(</a:t>
            </a:r>
            <a:r>
              <a:rPr lang="en-US" sz="1600" dirty="0" err="1">
                <a:latin typeface="Tahoma"/>
                <a:cs typeface="Tahoma"/>
              </a:rPr>
              <a:t>i</a:t>
            </a:r>
            <a:r>
              <a:rPr lang="en-US" sz="1600" dirty="0">
                <a:latin typeface="Tahoma"/>
                <a:cs typeface="Tahoma"/>
              </a:rPr>
              <a:t> = 0; </a:t>
            </a:r>
            <a:r>
              <a:rPr lang="en-US" sz="1600" dirty="0" err="1">
                <a:latin typeface="Tahoma"/>
                <a:cs typeface="Tahoma"/>
              </a:rPr>
              <a:t>i</a:t>
            </a:r>
            <a:r>
              <a:rPr lang="en-US" sz="1600" dirty="0">
                <a:latin typeface="Tahoma"/>
                <a:cs typeface="Tahoma"/>
              </a:rPr>
              <a:t> &lt; n; </a:t>
            </a:r>
            <a:r>
              <a:rPr lang="en-US" sz="1600" dirty="0" err="1">
                <a:latin typeface="Tahoma"/>
                <a:cs typeface="Tahoma"/>
              </a:rPr>
              <a:t>i</a:t>
            </a:r>
            <a:r>
              <a:rPr lang="en-US" sz="1600" dirty="0">
                <a:latin typeface="Tahoma"/>
                <a:cs typeface="Tahoma"/>
              </a:rPr>
              <a:t>++) </a:t>
            </a:r>
          </a:p>
          <a:p>
            <a:pPr marL="0" indent="0">
              <a:buNone/>
            </a:pPr>
            <a:r>
              <a:rPr lang="en-US" sz="1600" dirty="0">
                <a:latin typeface="Tahoma"/>
                <a:cs typeface="Tahoma"/>
              </a:rPr>
              <a:t>{	</a:t>
            </a:r>
          </a:p>
          <a:p>
            <a:pPr marL="0" indent="0">
              <a:buNone/>
            </a:pPr>
            <a:r>
              <a:rPr lang="en-US" sz="1600" dirty="0">
                <a:latin typeface="Tahoma"/>
                <a:cs typeface="Tahoma"/>
              </a:rPr>
              <a:t>	</a:t>
            </a:r>
            <a:r>
              <a:rPr lang="en-US" sz="1600" dirty="0" err="1">
                <a:solidFill>
                  <a:srgbClr val="0000FF"/>
                </a:solidFill>
                <a:latin typeface="Tahoma"/>
                <a:cs typeface="Tahoma"/>
              </a:rPr>
              <a:t>omp_set_lock</a:t>
            </a:r>
            <a:r>
              <a:rPr lang="en-US" sz="1600" dirty="0">
                <a:solidFill>
                  <a:srgbClr val="0000FF"/>
                </a:solidFill>
                <a:latin typeface="Tahoma"/>
                <a:cs typeface="Tahoma"/>
              </a:rPr>
              <a:t>(&amp;</a:t>
            </a:r>
            <a:r>
              <a:rPr lang="en-US" sz="1600" dirty="0" err="1">
                <a:solidFill>
                  <a:srgbClr val="0000FF"/>
                </a:solidFill>
                <a:latin typeface="Tahoma"/>
                <a:cs typeface="Tahoma"/>
              </a:rPr>
              <a:t>my_lock</a:t>
            </a:r>
            <a:r>
              <a:rPr lang="en-US" sz="1600" dirty="0">
                <a:solidFill>
                  <a:srgbClr val="0000FF"/>
                </a:solidFill>
                <a:latin typeface="Tahoma"/>
                <a:cs typeface="Tahoma"/>
              </a:rPr>
              <a:t>);</a:t>
            </a:r>
          </a:p>
          <a:p>
            <a:pPr marL="0" indent="0">
              <a:buNone/>
            </a:pPr>
            <a:r>
              <a:rPr lang="uk-UA" sz="1600" dirty="0">
                <a:latin typeface="Tahoma"/>
                <a:cs typeface="Tahoma"/>
              </a:rPr>
              <a:t>	a+=1;</a:t>
            </a:r>
          </a:p>
          <a:p>
            <a:pPr marL="0" indent="0">
              <a:buNone/>
            </a:pPr>
            <a:r>
              <a:rPr lang="en-US" sz="1600" dirty="0">
                <a:latin typeface="Tahoma"/>
                <a:cs typeface="Tahoma"/>
              </a:rPr>
              <a:t>	</a:t>
            </a:r>
            <a:r>
              <a:rPr lang="en-US" sz="1600" dirty="0" err="1">
                <a:solidFill>
                  <a:srgbClr val="0000FF"/>
                </a:solidFill>
                <a:latin typeface="Tahoma"/>
                <a:cs typeface="Tahoma"/>
              </a:rPr>
              <a:t>omp_unset_lock</a:t>
            </a:r>
            <a:r>
              <a:rPr lang="en-US" sz="1600" dirty="0">
                <a:solidFill>
                  <a:srgbClr val="0000FF"/>
                </a:solidFill>
                <a:latin typeface="Tahoma"/>
                <a:cs typeface="Tahoma"/>
              </a:rPr>
              <a:t>(&amp;</a:t>
            </a:r>
            <a:r>
              <a:rPr lang="en-US" sz="1600" dirty="0" err="1">
                <a:solidFill>
                  <a:srgbClr val="0000FF"/>
                </a:solidFill>
                <a:latin typeface="Tahoma"/>
                <a:cs typeface="Tahoma"/>
              </a:rPr>
              <a:t>my_lock</a:t>
            </a:r>
            <a:r>
              <a:rPr lang="en-US" sz="1600" dirty="0">
                <a:solidFill>
                  <a:srgbClr val="0000FF"/>
                </a:solidFill>
                <a:latin typeface="Tahoma"/>
                <a:cs typeface="Tahoma"/>
              </a:rPr>
              <a:t>);</a:t>
            </a:r>
          </a:p>
          <a:p>
            <a:pPr marL="0" indent="0">
              <a:buNone/>
            </a:pPr>
            <a:r>
              <a:rPr lang="en-US" sz="1600" dirty="0">
                <a:latin typeface="Tahoma"/>
                <a:cs typeface="Tahoma"/>
              </a:rPr>
              <a:t>}</a:t>
            </a:r>
          </a:p>
          <a:p>
            <a:pPr marL="0" indent="0">
              <a:buNone/>
            </a:pPr>
            <a:r>
              <a:rPr lang="en-US" sz="1600" dirty="0" err="1">
                <a:solidFill>
                  <a:srgbClr val="0000FF"/>
                </a:solidFill>
                <a:latin typeface="Tahoma"/>
                <a:cs typeface="Tahoma"/>
              </a:rPr>
              <a:t>omp_destroy_lock</a:t>
            </a:r>
            <a:r>
              <a:rPr lang="en-US" sz="1600" dirty="0">
                <a:solidFill>
                  <a:srgbClr val="0000FF"/>
                </a:solidFill>
                <a:latin typeface="Tahoma"/>
                <a:cs typeface="Tahoma"/>
              </a:rPr>
              <a:t>(&amp;</a:t>
            </a:r>
            <a:r>
              <a:rPr lang="en-US" sz="1600" dirty="0" err="1">
                <a:solidFill>
                  <a:srgbClr val="0000FF"/>
                </a:solidFill>
                <a:latin typeface="Tahoma"/>
                <a:cs typeface="Tahoma"/>
              </a:rPr>
              <a:t>my_lock</a:t>
            </a:r>
            <a:r>
              <a:rPr lang="en-US" sz="1600" dirty="0">
                <a:solidFill>
                  <a:srgbClr val="0000FF"/>
                </a:solidFill>
                <a:latin typeface="Tahoma"/>
                <a:cs typeface="Tahoma"/>
              </a:rPr>
              <a:t>);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08336" y="2150308"/>
            <a:ext cx="2251670" cy="369332"/>
          </a:xfrm>
          <a:prstGeom prst="rect">
            <a:avLst/>
          </a:prstGeom>
          <a:noFill/>
          <a:ln>
            <a:solidFill>
              <a:srgbClr val="0000FF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1. Define lock variable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08335" y="2723684"/>
            <a:ext cx="2002351" cy="369332"/>
          </a:xfrm>
          <a:prstGeom prst="rect">
            <a:avLst/>
          </a:prstGeom>
          <a:noFill/>
          <a:ln>
            <a:solidFill>
              <a:srgbClr val="0000FF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2. Initialize lock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08337" y="3895484"/>
            <a:ext cx="2002350" cy="369332"/>
          </a:xfrm>
          <a:prstGeom prst="rect">
            <a:avLst/>
          </a:prstGeom>
          <a:noFill/>
          <a:ln>
            <a:solidFill>
              <a:srgbClr val="0000FF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3. Set lock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08336" y="4518762"/>
            <a:ext cx="2002350" cy="369332"/>
          </a:xfrm>
          <a:prstGeom prst="rect">
            <a:avLst/>
          </a:prstGeom>
          <a:noFill/>
          <a:ln>
            <a:solidFill>
              <a:srgbClr val="0000FF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4. Unset lock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08337" y="5110036"/>
            <a:ext cx="1572704" cy="369332"/>
          </a:xfrm>
          <a:prstGeom prst="rect">
            <a:avLst/>
          </a:prstGeom>
          <a:noFill/>
          <a:ln>
            <a:solidFill>
              <a:srgbClr val="0000FF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5. Destroy lock</a:t>
            </a:r>
          </a:p>
        </p:txBody>
      </p:sp>
      <p:cxnSp>
        <p:nvCxnSpPr>
          <p:cNvPr id="13" name="Straight Arrow Connector 12"/>
          <p:cNvCxnSpPr>
            <a:stCxn id="5" idx="1"/>
          </p:cNvCxnSpPr>
          <p:nvPr/>
        </p:nvCxnSpPr>
        <p:spPr>
          <a:xfrm flipH="1">
            <a:off x="2664606" y="2334974"/>
            <a:ext cx="3443730" cy="3347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>
            <a:stCxn id="6" idx="1"/>
          </p:cNvCxnSpPr>
          <p:nvPr/>
        </p:nvCxnSpPr>
        <p:spPr>
          <a:xfrm flipH="1">
            <a:off x="3023002" y="2908350"/>
            <a:ext cx="3085333" cy="38954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>
            <a:stCxn id="7" idx="1"/>
          </p:cNvCxnSpPr>
          <p:nvPr/>
        </p:nvCxnSpPr>
        <p:spPr>
          <a:xfrm flipH="1">
            <a:off x="3552808" y="4080150"/>
            <a:ext cx="2555529" cy="17899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>
            <a:stCxn id="8" idx="1"/>
          </p:cNvCxnSpPr>
          <p:nvPr/>
        </p:nvCxnSpPr>
        <p:spPr>
          <a:xfrm flipH="1">
            <a:off x="3661885" y="4703428"/>
            <a:ext cx="2446451" cy="231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>
            <a:stCxn id="9" idx="1"/>
          </p:cNvCxnSpPr>
          <p:nvPr/>
        </p:nvCxnSpPr>
        <p:spPr>
          <a:xfrm flipH="1" flipV="1">
            <a:off x="3365819" y="5290067"/>
            <a:ext cx="2742518" cy="463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5636026"/>
            <a:ext cx="451266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Compiling and running </a:t>
            </a:r>
            <a:r>
              <a:rPr lang="en-US" b="1" dirty="0" err="1"/>
              <a:t>sync.c</a:t>
            </a:r>
            <a:r>
              <a:rPr lang="en-US" b="1" dirty="0"/>
              <a:t>:</a:t>
            </a:r>
          </a:p>
          <a:p>
            <a:r>
              <a:rPr lang="en-US" dirty="0" err="1">
                <a:latin typeface="Arial" charset="0"/>
              </a:rPr>
              <a:t>gcc</a:t>
            </a:r>
            <a:r>
              <a:rPr lang="en-US" dirty="0">
                <a:latin typeface="Arial" charset="0"/>
              </a:rPr>
              <a:t>  −g  −Wall  −</a:t>
            </a:r>
            <a:r>
              <a:rPr lang="en-US" dirty="0" err="1">
                <a:latin typeface="Arial" charset="0"/>
              </a:rPr>
              <a:t>fopenmp</a:t>
            </a:r>
            <a:r>
              <a:rPr lang="en-US" dirty="0">
                <a:latin typeface="Arial" charset="0"/>
              </a:rPr>
              <a:t>  −o  sync </a:t>
            </a:r>
            <a:r>
              <a:rPr lang="en-US" dirty="0" err="1">
                <a:latin typeface="Arial" charset="0"/>
              </a:rPr>
              <a:t>sync.c</a:t>
            </a:r>
            <a:endParaRPr lang="en-US" dirty="0">
              <a:latin typeface="Arial" charset="0"/>
            </a:endParaRPr>
          </a:p>
          <a:p>
            <a:r>
              <a:rPr lang="en-US" dirty="0"/>
              <a:t>./sync #of-iteration #of-threads</a:t>
            </a:r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 2010, Elsevier Inc. All rights Reserved</a:t>
            </a:r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6BE44D-6AB7-7747-A5B3-8E5957F8FC9E}" type="slidenum">
              <a:rPr lang="en-US" smtClean="0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3068145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3" name="Title 1"/>
          <p:cNvSpPr>
            <a:spLocks noGrp="1"/>
          </p:cNvSpPr>
          <p:nvPr>
            <p:ph type="title"/>
          </p:nvPr>
        </p:nvSpPr>
        <p:spPr>
          <a:xfrm>
            <a:off x="611188" y="109538"/>
            <a:ext cx="8281987" cy="708025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Arial" charset="0"/>
              </a:rPr>
              <a:t>Some Caveats</a:t>
            </a:r>
          </a:p>
        </p:txBody>
      </p:sp>
      <p:sp>
        <p:nvSpPr>
          <p:cNvPr id="105474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SzPct val="100000"/>
              <a:buFont typeface="Arial" charset="0"/>
              <a:buAutoNum type="arabicPeriod"/>
            </a:pPr>
            <a:r>
              <a:rPr lang="en-US" dirty="0">
                <a:latin typeface="Arial" charset="0"/>
              </a:rPr>
              <a:t>You </a:t>
            </a:r>
            <a:r>
              <a:rPr lang="en-US" dirty="0" err="1">
                <a:latin typeface="Arial" charset="0"/>
              </a:rPr>
              <a:t>shouldn</a:t>
            </a:r>
            <a:r>
              <a:rPr lang="ja-JP" altLang="en-US" dirty="0">
                <a:latin typeface="Arial" charset="0"/>
              </a:rPr>
              <a:t>’</a:t>
            </a:r>
            <a:r>
              <a:rPr lang="en-US" dirty="0">
                <a:latin typeface="Arial" charset="0"/>
              </a:rPr>
              <a:t>t mix the different types of mutual exclusion for a single critical section.</a:t>
            </a:r>
          </a:p>
          <a:p>
            <a:pPr marL="514350" indent="-514350">
              <a:buSzPct val="100000"/>
              <a:buFont typeface="Arial" charset="0"/>
              <a:buAutoNum type="arabicPeriod"/>
            </a:pPr>
            <a:r>
              <a:rPr lang="en-US" dirty="0">
                <a:latin typeface="Arial" charset="0"/>
              </a:rPr>
              <a:t>There is no guarantee of fairness in mutual exclusion constructs.</a:t>
            </a:r>
          </a:p>
          <a:p>
            <a:pPr marL="514350" indent="-514350">
              <a:buSzPct val="100000"/>
              <a:buFont typeface="Arial" charset="0"/>
              <a:buAutoNum type="arabicPeriod"/>
            </a:pPr>
            <a:r>
              <a:rPr lang="en-US" dirty="0">
                <a:latin typeface="Arial" charset="0"/>
              </a:rPr>
              <a:t>It can be dangerous to </a:t>
            </a:r>
            <a:r>
              <a:rPr lang="ja-JP" altLang="en-US" dirty="0">
                <a:latin typeface="Arial" charset="0"/>
              </a:rPr>
              <a:t>“</a:t>
            </a:r>
            <a:r>
              <a:rPr lang="en-US" dirty="0">
                <a:latin typeface="Arial" charset="0"/>
              </a:rPr>
              <a:t>nest</a:t>
            </a:r>
            <a:r>
              <a:rPr lang="ja-JP" altLang="en-US" dirty="0">
                <a:latin typeface="Arial" charset="0"/>
              </a:rPr>
              <a:t>”</a:t>
            </a:r>
            <a:r>
              <a:rPr lang="en-US" dirty="0">
                <a:latin typeface="Arial" charset="0"/>
              </a:rPr>
              <a:t> mutual exclusion constructs.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charset="0"/>
              <a:defRPr sz="32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charset="0"/>
              <a:defRPr sz="32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charset="0"/>
              <a:defRPr sz="32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charset="0"/>
              <a:defRPr sz="32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charset="0"/>
              <a:defRPr sz="32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charset="0"/>
              <a:defRPr sz="32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charset="0"/>
              <a:defRPr sz="32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charset="0"/>
              <a:defRPr sz="32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charset="0"/>
              <a:defRPr sz="32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sz="1200">
                <a:latin typeface="Arial" charset="0"/>
              </a:rPr>
              <a:t>Copyright © 2010, Elsevier Inc. All rights Reserved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6BE44D-6AB7-7747-A5B3-8E5957F8FC9E}" type="slidenum">
              <a:rPr lang="en-US" smtClean="0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6316664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Content Placeholder 2"/>
          <p:cNvSpPr>
            <a:spLocks noGrp="1"/>
          </p:cNvSpPr>
          <p:nvPr>
            <p:ph idx="1"/>
          </p:nvPr>
        </p:nvSpPr>
        <p:spPr>
          <a:xfrm>
            <a:off x="146737" y="1158832"/>
            <a:ext cx="7886700" cy="4760055"/>
          </a:xfrm>
        </p:spPr>
        <p:txBody>
          <a:bodyPr/>
          <a:lstStyle/>
          <a:p>
            <a:r>
              <a:rPr lang="en-US" dirty="0">
                <a:latin typeface="Arial" charset="0"/>
              </a:rPr>
              <a:t>Default schedule:</a:t>
            </a:r>
            <a:br>
              <a:rPr lang="en-US" dirty="0">
                <a:latin typeface="Arial" charset="0"/>
              </a:rPr>
            </a:br>
            <a:br>
              <a:rPr lang="en-US" dirty="0">
                <a:latin typeface="Arial" charset="0"/>
              </a:rPr>
            </a:br>
            <a:br>
              <a:rPr lang="en-US" dirty="0">
                <a:latin typeface="Arial" charset="0"/>
              </a:rPr>
            </a:br>
            <a:br>
              <a:rPr lang="en-US" dirty="0">
                <a:latin typeface="Arial" charset="0"/>
              </a:rPr>
            </a:br>
            <a:endParaRPr lang="en-US" dirty="0">
              <a:latin typeface="Arial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charset="0"/>
              <a:defRPr sz="32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charset="0"/>
              <a:defRPr sz="32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charset="0"/>
              <a:defRPr sz="32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charset="0"/>
              <a:defRPr sz="32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charset="0"/>
              <a:defRPr sz="32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charset="0"/>
              <a:defRPr sz="32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charset="0"/>
              <a:defRPr sz="32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charset="0"/>
              <a:defRPr sz="32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charset="0"/>
              <a:defRPr sz="32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sz="1200">
                <a:latin typeface="Arial" charset="0"/>
              </a:rPr>
              <a:t>Copyright © 2010, Elsevier Inc. All rights Reserved</a:t>
            </a:r>
          </a:p>
        </p:txBody>
      </p:sp>
      <p:sp>
        <p:nvSpPr>
          <p:cNvPr id="79873" name="Title 1"/>
          <p:cNvSpPr>
            <a:spLocks noGrp="1"/>
          </p:cNvSpPr>
          <p:nvPr>
            <p:ph type="title"/>
          </p:nvPr>
        </p:nvSpPr>
        <p:spPr>
          <a:xfrm>
            <a:off x="0" y="-101610"/>
            <a:ext cx="9144000" cy="1414462"/>
          </a:xfrm>
        </p:spPr>
        <p:txBody>
          <a:bodyPr>
            <a:normAutofit/>
          </a:bodyPr>
          <a:lstStyle/>
          <a:p>
            <a:pPr algn="ctr"/>
            <a:r>
              <a:rPr lang="en-US" dirty="0" err="1">
                <a:latin typeface="Arial" charset="0"/>
              </a:rPr>
              <a:t>Loop.c</a:t>
            </a:r>
            <a:r>
              <a:rPr lang="en-US" dirty="0">
                <a:latin typeface="Arial" charset="0"/>
              </a:rPr>
              <a:t> example</a:t>
            </a:r>
            <a:endParaRPr lang="en-US" dirty="0">
              <a:solidFill>
                <a:srgbClr val="FF0000"/>
              </a:solidFill>
              <a:latin typeface="Arial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309691" y="2172343"/>
            <a:ext cx="8279028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latin typeface="Courier New" panose="02070309020205020404" pitchFamily="49" charset="0"/>
              </a:rPr>
              <a:t>#pragma </a:t>
            </a:r>
            <a:r>
              <a:rPr lang="en-US" sz="2400" dirty="0" err="1">
                <a:latin typeface="Courier New" panose="02070309020205020404" pitchFamily="49" charset="0"/>
              </a:rPr>
              <a:t>omp</a:t>
            </a:r>
            <a:r>
              <a:rPr lang="en-US" sz="2400" dirty="0">
                <a:latin typeface="Courier New" panose="02070309020205020404" pitchFamily="49" charset="0"/>
              </a:rPr>
              <a:t> parallel for schedule(static) private(a)	//creates N threads to run the next enclosed block </a:t>
            </a:r>
          </a:p>
          <a:p>
            <a:r>
              <a:rPr lang="en-US" sz="2400" dirty="0">
                <a:latin typeface="Courier New" panose="02070309020205020404" pitchFamily="49" charset="0"/>
              </a:rPr>
              <a:t>	for(</a:t>
            </a:r>
            <a:r>
              <a:rPr lang="en-US" sz="2400" dirty="0" err="1">
                <a:latin typeface="Courier New" panose="02070309020205020404" pitchFamily="49" charset="0"/>
              </a:rPr>
              <a:t>i</a:t>
            </a:r>
            <a:r>
              <a:rPr lang="en-US" sz="2400" dirty="0">
                <a:latin typeface="Courier New" panose="02070309020205020404" pitchFamily="49" charset="0"/>
              </a:rPr>
              <a:t> = 0; </a:t>
            </a:r>
            <a:r>
              <a:rPr lang="en-US" sz="2400" dirty="0" err="1">
                <a:latin typeface="Courier New" panose="02070309020205020404" pitchFamily="49" charset="0"/>
              </a:rPr>
              <a:t>i</a:t>
            </a:r>
            <a:r>
              <a:rPr lang="en-US" sz="2400" dirty="0">
                <a:latin typeface="Courier New" panose="02070309020205020404" pitchFamily="49" charset="0"/>
              </a:rPr>
              <a:t> &lt; loops; </a:t>
            </a:r>
            <a:r>
              <a:rPr lang="en-US" sz="2400" dirty="0" err="1">
                <a:latin typeface="Courier New" panose="02070309020205020404" pitchFamily="49" charset="0"/>
              </a:rPr>
              <a:t>i</a:t>
            </a:r>
            <a:r>
              <a:rPr lang="en-US" sz="2400" dirty="0">
                <a:latin typeface="Courier New" panose="02070309020205020404" pitchFamily="49" charset="0"/>
              </a:rPr>
              <a:t>++)</a:t>
            </a:r>
          </a:p>
          <a:p>
            <a:r>
              <a:rPr lang="en-US" sz="2400" dirty="0">
                <a:latin typeface="Courier New" panose="02070309020205020404" pitchFamily="49" charset="0"/>
              </a:rPr>
              <a:t>	{	</a:t>
            </a:r>
          </a:p>
          <a:p>
            <a:r>
              <a:rPr lang="en-US" sz="2400" dirty="0">
                <a:latin typeface="Courier New" panose="02070309020205020404" pitchFamily="49" charset="0"/>
              </a:rPr>
              <a:t>		a = 6+7*8;</a:t>
            </a:r>
          </a:p>
          <a:p>
            <a:r>
              <a:rPr lang="en-US" sz="2400" dirty="0">
                <a:latin typeface="Courier New" panose="02070309020205020404" pitchFamily="49" charset="0"/>
              </a:rPr>
              <a:t>	}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6BE44D-6AB7-7747-A5B3-8E5957F8FC9E}" type="slidenum">
              <a:rPr lang="en-US" smtClean="0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7184709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5" name="Title 1"/>
          <p:cNvSpPr>
            <a:spLocks noGrp="1"/>
          </p:cNvSpPr>
          <p:nvPr>
            <p:ph type="title"/>
          </p:nvPr>
        </p:nvSpPr>
        <p:spPr>
          <a:xfrm>
            <a:off x="611188" y="109538"/>
            <a:ext cx="8281987" cy="708025"/>
          </a:xfrm>
        </p:spPr>
        <p:txBody>
          <a:bodyPr>
            <a:normAutofit fontScale="90000"/>
          </a:bodyPr>
          <a:lstStyle/>
          <a:p>
            <a:r>
              <a:rPr lang="en-US">
                <a:latin typeface="Arial" charset="0"/>
              </a:rPr>
              <a:t>The Runtime Schedule Type</a:t>
            </a:r>
          </a:p>
        </p:txBody>
      </p:sp>
      <p:sp>
        <p:nvSpPr>
          <p:cNvPr id="88066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>
                <a:latin typeface="Arial" charset="0"/>
              </a:rPr>
              <a:t>The system uses the environment variable </a:t>
            </a:r>
            <a:r>
              <a:rPr lang="en-US">
                <a:solidFill>
                  <a:srgbClr val="0066FF"/>
                </a:solidFill>
                <a:latin typeface="Arial" charset="0"/>
              </a:rPr>
              <a:t>OMP_SCHEDULE </a:t>
            </a:r>
            <a:r>
              <a:rPr lang="en-US">
                <a:latin typeface="Arial" charset="0"/>
              </a:rPr>
              <a:t>to determine at run-time how to schedule the loop. </a:t>
            </a:r>
          </a:p>
          <a:p>
            <a:r>
              <a:rPr lang="en-US">
                <a:latin typeface="Arial" charset="0"/>
              </a:rPr>
              <a:t>The </a:t>
            </a:r>
            <a:r>
              <a:rPr lang="en-US">
                <a:solidFill>
                  <a:srgbClr val="0066FF"/>
                </a:solidFill>
                <a:latin typeface="Arial" charset="0"/>
              </a:rPr>
              <a:t>OMP_SCHEDULE</a:t>
            </a:r>
            <a:r>
              <a:rPr lang="en-US">
                <a:latin typeface="Arial" charset="0"/>
              </a:rPr>
              <a:t> environment variable can take on any of the values that can be used for a static, dynamic, or guided schedule.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charset="0"/>
              <a:defRPr sz="32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charset="0"/>
              <a:defRPr sz="32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charset="0"/>
              <a:defRPr sz="32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charset="0"/>
              <a:defRPr sz="32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charset="0"/>
              <a:defRPr sz="32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charset="0"/>
              <a:defRPr sz="32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charset="0"/>
              <a:defRPr sz="32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charset="0"/>
              <a:defRPr sz="32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charset="0"/>
              <a:defRPr sz="32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sz="1200">
                <a:latin typeface="Arial" charset="0"/>
              </a:rPr>
              <a:t>Copyright © 2010, Elsevier Inc. All rights Reserved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6BE44D-6AB7-7747-A5B3-8E5957F8FC9E}" type="slidenum">
              <a:rPr lang="en-US" smtClean="0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5088389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7" name="Title 1"/>
          <p:cNvSpPr>
            <a:spLocks noGrp="1"/>
          </p:cNvSpPr>
          <p:nvPr>
            <p:ph type="title"/>
          </p:nvPr>
        </p:nvSpPr>
        <p:spPr>
          <a:xfrm>
            <a:off x="628650" y="207120"/>
            <a:ext cx="7486649" cy="708025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Arial" charset="0"/>
              </a:rPr>
              <a:t>schedule ( type , </a:t>
            </a:r>
            <a:r>
              <a:rPr lang="en-US" dirty="0" err="1">
                <a:latin typeface="Arial" charset="0"/>
              </a:rPr>
              <a:t>chunksize</a:t>
            </a:r>
            <a:r>
              <a:rPr lang="en-US" dirty="0">
                <a:latin typeface="Arial" charset="0"/>
              </a:rPr>
              <a:t> )</a:t>
            </a:r>
          </a:p>
        </p:txBody>
      </p:sp>
      <p:sp>
        <p:nvSpPr>
          <p:cNvPr id="80898" name="Content Placeholder 2"/>
          <p:cNvSpPr>
            <a:spLocks noGrp="1"/>
          </p:cNvSpPr>
          <p:nvPr>
            <p:ph idx="1"/>
          </p:nvPr>
        </p:nvSpPr>
        <p:spPr>
          <a:xfrm>
            <a:off x="-171450" y="2190026"/>
            <a:ext cx="9315450" cy="3883059"/>
          </a:xfrm>
        </p:spPr>
        <p:txBody>
          <a:bodyPr>
            <a:normAutofit/>
          </a:bodyPr>
          <a:lstStyle/>
          <a:p>
            <a:pPr lvl="1"/>
            <a:r>
              <a:rPr lang="en-US" sz="2800" dirty="0">
                <a:solidFill>
                  <a:srgbClr val="C00000"/>
                </a:solidFill>
                <a:latin typeface="Arial" charset="0"/>
              </a:rPr>
              <a:t>Static</a:t>
            </a:r>
            <a:r>
              <a:rPr lang="en-US" sz="2800" dirty="0">
                <a:latin typeface="Arial" charset="0"/>
              </a:rPr>
              <a:t>: Assigned before the loop is executed.</a:t>
            </a:r>
          </a:p>
          <a:p>
            <a:pPr lvl="1"/>
            <a:r>
              <a:rPr lang="en-US" sz="2800" dirty="0">
                <a:solidFill>
                  <a:srgbClr val="C00000"/>
                </a:solidFill>
                <a:latin typeface="Arial" charset="0"/>
              </a:rPr>
              <a:t>dynamic</a:t>
            </a:r>
            <a:r>
              <a:rPr lang="en-US" sz="2800" dirty="0">
                <a:latin typeface="Arial" charset="0"/>
              </a:rPr>
              <a:t> or </a:t>
            </a:r>
            <a:r>
              <a:rPr lang="en-US" sz="2800" dirty="0">
                <a:solidFill>
                  <a:srgbClr val="C00000"/>
                </a:solidFill>
                <a:latin typeface="Arial" charset="0"/>
              </a:rPr>
              <a:t>guided</a:t>
            </a:r>
            <a:r>
              <a:rPr lang="en-US" sz="2800" dirty="0">
                <a:latin typeface="Arial" charset="0"/>
              </a:rPr>
              <a:t>: Assigned while the loop is executing.</a:t>
            </a:r>
          </a:p>
          <a:p>
            <a:pPr lvl="1"/>
            <a:r>
              <a:rPr lang="en-US" sz="2800" dirty="0">
                <a:solidFill>
                  <a:srgbClr val="C00000"/>
                </a:solidFill>
                <a:latin typeface="Arial" charset="0"/>
              </a:rPr>
              <a:t>auto/ runtime</a:t>
            </a:r>
            <a:r>
              <a:rPr lang="en-US" sz="2800" dirty="0">
                <a:latin typeface="Arial" charset="0"/>
              </a:rPr>
              <a:t>: Determined by the compiler and/or the run-time system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>
          <a:xfrm>
            <a:off x="628650" y="6390986"/>
            <a:ext cx="2057400" cy="365125"/>
          </a:xfrm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charset="0"/>
              <a:defRPr sz="32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charset="0"/>
              <a:defRPr sz="32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charset="0"/>
              <a:defRPr sz="32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charset="0"/>
              <a:defRPr sz="32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charset="0"/>
              <a:defRPr sz="32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charset="0"/>
              <a:defRPr sz="32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charset="0"/>
              <a:defRPr sz="32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charset="0"/>
              <a:defRPr sz="32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charset="0"/>
              <a:defRPr sz="32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sz="1200">
                <a:latin typeface="Arial" charset="0"/>
              </a:rPr>
              <a:t>Copyright © 2010, Elsevier Inc. All rights Reserved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129571" y="1017777"/>
            <a:ext cx="916090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Controls how loop iterations are assigned</a:t>
            </a:r>
          </a:p>
        </p:txBody>
      </p:sp>
      <p:sp>
        <p:nvSpPr>
          <p:cNvPr id="8" name="Content Placeholder 2"/>
          <p:cNvSpPr txBox="1">
            <a:spLocks/>
          </p:cNvSpPr>
          <p:nvPr/>
        </p:nvSpPr>
        <p:spPr>
          <a:xfrm>
            <a:off x="-171450" y="4420582"/>
            <a:ext cx="8918156" cy="3510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en-US" sz="2800" dirty="0">
                <a:latin typeface="Arial" charset="0"/>
              </a:rPr>
              <a:t>Consecutive iterations are broken into </a:t>
            </a:r>
            <a:r>
              <a:rPr lang="en-US" sz="2800" dirty="0">
                <a:solidFill>
                  <a:srgbClr val="C00000"/>
                </a:solidFill>
                <a:latin typeface="Arial" charset="0"/>
              </a:rPr>
              <a:t>chunks</a:t>
            </a:r>
          </a:p>
          <a:p>
            <a:pPr lvl="1"/>
            <a:r>
              <a:rPr lang="en-US" sz="2800" dirty="0">
                <a:latin typeface="Arial" charset="0"/>
              </a:rPr>
              <a:t>Total number = </a:t>
            </a:r>
            <a:r>
              <a:rPr lang="en-US" sz="2800" dirty="0" err="1">
                <a:latin typeface="Arial" charset="0"/>
              </a:rPr>
              <a:t>chunksize</a:t>
            </a:r>
            <a:r>
              <a:rPr lang="en-US" sz="2800" dirty="0">
                <a:latin typeface="Arial" charset="0"/>
              </a:rPr>
              <a:t> </a:t>
            </a:r>
          </a:p>
          <a:p>
            <a:pPr lvl="1"/>
            <a:r>
              <a:rPr lang="en-US" sz="2800" dirty="0">
                <a:solidFill>
                  <a:srgbClr val="C00000"/>
                </a:solidFill>
                <a:latin typeface="Arial" charset="0"/>
              </a:rPr>
              <a:t>Positive integer</a:t>
            </a:r>
            <a:endParaRPr lang="en-US" sz="2800" dirty="0">
              <a:latin typeface="Arial" charset="0"/>
            </a:endParaRPr>
          </a:p>
          <a:p>
            <a:pPr lvl="1"/>
            <a:r>
              <a:rPr lang="en-US" sz="2800" dirty="0">
                <a:latin typeface="Arial" charset="0"/>
              </a:rPr>
              <a:t>Default is </a:t>
            </a:r>
            <a:r>
              <a:rPr lang="en-US" sz="2800" dirty="0">
                <a:solidFill>
                  <a:srgbClr val="C00000"/>
                </a:solidFill>
                <a:latin typeface="Arial" charset="0"/>
              </a:rPr>
              <a:t>1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6BE44D-6AB7-7747-A5B3-8E5957F8FC9E}" type="slidenum">
              <a:rPr lang="en-US" smtClean="0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7422227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7" name="Title 1"/>
          <p:cNvSpPr>
            <a:spLocks noGrp="1"/>
          </p:cNvSpPr>
          <p:nvPr>
            <p:ph type="title"/>
          </p:nvPr>
        </p:nvSpPr>
        <p:spPr>
          <a:xfrm>
            <a:off x="129571" y="258436"/>
            <a:ext cx="8535458" cy="708025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Arial" charset="0"/>
              </a:rPr>
              <a:t>schedule types can prevent load imbalance</a:t>
            </a:r>
          </a:p>
        </p:txBody>
      </p:sp>
      <p:sp>
        <p:nvSpPr>
          <p:cNvPr id="22" name="Rectangle 21"/>
          <p:cNvSpPr/>
          <p:nvPr/>
        </p:nvSpPr>
        <p:spPr>
          <a:xfrm rot="16200000">
            <a:off x="-149331" y="4472348"/>
            <a:ext cx="150554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>
                <a:latin typeface="Arial" charset="0"/>
              </a:rPr>
              <a:t>Threads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025150" y="5678125"/>
            <a:ext cx="96926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>
                <a:latin typeface="Arial" charset="0"/>
              </a:rPr>
              <a:t>Time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47769" y="1689199"/>
            <a:ext cx="3315556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600" dirty="0">
                <a:latin typeface="Arial" charset="0"/>
              </a:rPr>
              <a:t>Static schedule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708372" y="1689199"/>
            <a:ext cx="3956657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600" dirty="0">
                <a:latin typeface="Arial" charset="0"/>
              </a:rPr>
              <a:t>Dynamic schedule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573943" y="1661920"/>
            <a:ext cx="646331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600" dirty="0">
                <a:latin typeface="Arial" charset="0"/>
              </a:rPr>
              <a:t>vs</a:t>
            </a:r>
          </a:p>
        </p:txBody>
      </p:sp>
      <p:grpSp>
        <p:nvGrpSpPr>
          <p:cNvPr id="21" name="Group 20"/>
          <p:cNvGrpSpPr/>
          <p:nvPr/>
        </p:nvGrpSpPr>
        <p:grpSpPr>
          <a:xfrm>
            <a:off x="876853" y="3037562"/>
            <a:ext cx="4213994" cy="2648215"/>
            <a:chOff x="1139939" y="1269363"/>
            <a:chExt cx="5988889" cy="2822713"/>
          </a:xfrm>
        </p:grpSpPr>
        <p:cxnSp>
          <p:nvCxnSpPr>
            <p:cNvPr id="17" name="Straight Connector 16"/>
            <p:cNvCxnSpPr/>
            <p:nvPr/>
          </p:nvCxnSpPr>
          <p:spPr>
            <a:xfrm>
              <a:off x="1161040" y="1269363"/>
              <a:ext cx="0" cy="2822713"/>
            </a:xfrm>
            <a:prstGeom prst="line">
              <a:avLst/>
            </a:prstGeom>
            <a:ln w="66675">
              <a:solidFill>
                <a:schemeClr val="tx1"/>
              </a:solidFill>
              <a:head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>
              <a:cxnSpLocks/>
            </p:cNvCxnSpPr>
            <p:nvPr/>
          </p:nvCxnSpPr>
          <p:spPr>
            <a:xfrm flipH="1" flipV="1">
              <a:off x="1139939" y="4083921"/>
              <a:ext cx="4990155" cy="8155"/>
            </a:xfrm>
            <a:prstGeom prst="line">
              <a:avLst/>
            </a:prstGeom>
            <a:ln w="66675">
              <a:solidFill>
                <a:schemeClr val="tx1"/>
              </a:solidFill>
              <a:head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Rectangle: Rounded Corners 26"/>
            <p:cNvSpPr/>
            <p:nvPr/>
          </p:nvSpPr>
          <p:spPr>
            <a:xfrm>
              <a:off x="1318698" y="3523928"/>
              <a:ext cx="2898776" cy="432287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</a:t>
              </a:r>
            </a:p>
          </p:txBody>
        </p:sp>
        <p:sp>
          <p:nvSpPr>
            <p:cNvPr id="28" name="Rectangle: Rounded Corners 27"/>
            <p:cNvSpPr/>
            <p:nvPr/>
          </p:nvSpPr>
          <p:spPr>
            <a:xfrm>
              <a:off x="1318698" y="3024084"/>
              <a:ext cx="2380616" cy="432287"/>
            </a:xfrm>
            <a:prstGeom prst="roundRect">
              <a:avLst/>
            </a:prstGeom>
            <a:solidFill>
              <a:schemeClr val="accent6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</a:p>
          </p:txBody>
        </p:sp>
        <p:sp>
          <p:nvSpPr>
            <p:cNvPr id="29" name="Rectangle: Rounded Corners 28"/>
            <p:cNvSpPr/>
            <p:nvPr/>
          </p:nvSpPr>
          <p:spPr>
            <a:xfrm>
              <a:off x="1318698" y="2531648"/>
              <a:ext cx="2085751" cy="432287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</a:p>
          </p:txBody>
        </p:sp>
        <p:sp>
          <p:nvSpPr>
            <p:cNvPr id="30" name="Rectangle: Rounded Corners 29"/>
            <p:cNvSpPr/>
            <p:nvPr/>
          </p:nvSpPr>
          <p:spPr>
            <a:xfrm>
              <a:off x="1318698" y="2001730"/>
              <a:ext cx="1580516" cy="432287"/>
            </a:xfrm>
            <a:prstGeom prst="roundRect">
              <a:avLst/>
            </a:prstGeom>
            <a:solidFill>
              <a:schemeClr val="accent6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3</a:t>
              </a:r>
            </a:p>
          </p:txBody>
        </p:sp>
        <p:sp>
          <p:nvSpPr>
            <p:cNvPr id="36" name="Rectangle: Rounded Corners 35"/>
            <p:cNvSpPr/>
            <p:nvPr/>
          </p:nvSpPr>
          <p:spPr>
            <a:xfrm>
              <a:off x="4305305" y="3523928"/>
              <a:ext cx="2823523" cy="432287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4</a:t>
              </a:r>
            </a:p>
          </p:txBody>
        </p:sp>
        <p:sp>
          <p:nvSpPr>
            <p:cNvPr id="37" name="Rectangle: Rounded Corners 36"/>
            <p:cNvSpPr/>
            <p:nvPr/>
          </p:nvSpPr>
          <p:spPr>
            <a:xfrm>
              <a:off x="3773487" y="3013146"/>
              <a:ext cx="2305364" cy="432287"/>
            </a:xfrm>
            <a:prstGeom prst="roundRect">
              <a:avLst/>
            </a:prstGeom>
            <a:solidFill>
              <a:schemeClr val="accent6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5</a:t>
              </a:r>
            </a:p>
          </p:txBody>
        </p:sp>
        <p:sp>
          <p:nvSpPr>
            <p:cNvPr id="38" name="Rectangle: Rounded Corners 37"/>
            <p:cNvSpPr/>
            <p:nvPr/>
          </p:nvSpPr>
          <p:spPr>
            <a:xfrm>
              <a:off x="3485117" y="2524626"/>
              <a:ext cx="2023422" cy="432287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6</a:t>
              </a:r>
            </a:p>
          </p:txBody>
        </p:sp>
        <p:sp>
          <p:nvSpPr>
            <p:cNvPr id="39" name="Rectangle: Rounded Corners 38"/>
            <p:cNvSpPr/>
            <p:nvPr/>
          </p:nvSpPr>
          <p:spPr>
            <a:xfrm>
              <a:off x="2958820" y="2001730"/>
              <a:ext cx="1480987" cy="432287"/>
            </a:xfrm>
            <a:prstGeom prst="roundRect">
              <a:avLst/>
            </a:prstGeom>
            <a:solidFill>
              <a:schemeClr val="accent6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7</a:t>
              </a:r>
            </a:p>
          </p:txBody>
        </p:sp>
      </p:grpSp>
      <p:grpSp>
        <p:nvGrpSpPr>
          <p:cNvPr id="31" name="Group 30"/>
          <p:cNvGrpSpPr/>
          <p:nvPr/>
        </p:nvGrpSpPr>
        <p:grpSpPr>
          <a:xfrm>
            <a:off x="5632750" y="3037562"/>
            <a:ext cx="3511250" cy="2648214"/>
            <a:chOff x="8085235" y="3223848"/>
            <a:chExt cx="4990155" cy="2822713"/>
          </a:xfrm>
        </p:grpSpPr>
        <p:cxnSp>
          <p:nvCxnSpPr>
            <p:cNvPr id="40" name="Straight Connector 39"/>
            <p:cNvCxnSpPr/>
            <p:nvPr/>
          </p:nvCxnSpPr>
          <p:spPr>
            <a:xfrm>
              <a:off x="8106336" y="3223848"/>
              <a:ext cx="0" cy="2822713"/>
            </a:xfrm>
            <a:prstGeom prst="line">
              <a:avLst/>
            </a:prstGeom>
            <a:ln w="66675">
              <a:solidFill>
                <a:schemeClr val="tx1"/>
              </a:solidFill>
              <a:head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/>
            <p:cNvCxnSpPr>
              <a:cxnSpLocks/>
            </p:cNvCxnSpPr>
            <p:nvPr/>
          </p:nvCxnSpPr>
          <p:spPr>
            <a:xfrm flipH="1" flipV="1">
              <a:off x="8085235" y="6038406"/>
              <a:ext cx="4990155" cy="8155"/>
            </a:xfrm>
            <a:prstGeom prst="line">
              <a:avLst/>
            </a:prstGeom>
            <a:ln w="66675">
              <a:solidFill>
                <a:schemeClr val="tx1"/>
              </a:solidFill>
              <a:head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3" name="Rectangle: Rounded Corners 42"/>
            <p:cNvSpPr/>
            <p:nvPr/>
          </p:nvSpPr>
          <p:spPr>
            <a:xfrm>
              <a:off x="8263994" y="5478413"/>
              <a:ext cx="2898776" cy="432287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</a:t>
              </a:r>
            </a:p>
          </p:txBody>
        </p:sp>
        <p:sp>
          <p:nvSpPr>
            <p:cNvPr id="44" name="Rectangle: Rounded Corners 43"/>
            <p:cNvSpPr/>
            <p:nvPr/>
          </p:nvSpPr>
          <p:spPr>
            <a:xfrm>
              <a:off x="8263994" y="4978569"/>
              <a:ext cx="2380616" cy="432287"/>
            </a:xfrm>
            <a:prstGeom prst="roundRect">
              <a:avLst/>
            </a:prstGeom>
            <a:solidFill>
              <a:schemeClr val="accent6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</a:p>
          </p:txBody>
        </p:sp>
        <p:sp>
          <p:nvSpPr>
            <p:cNvPr id="45" name="Rectangle: Rounded Corners 44"/>
            <p:cNvSpPr/>
            <p:nvPr/>
          </p:nvSpPr>
          <p:spPr>
            <a:xfrm>
              <a:off x="8263994" y="4486133"/>
              <a:ext cx="2085751" cy="432287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</a:p>
          </p:txBody>
        </p:sp>
        <p:sp>
          <p:nvSpPr>
            <p:cNvPr id="46" name="Rectangle: Rounded Corners 45"/>
            <p:cNvSpPr/>
            <p:nvPr/>
          </p:nvSpPr>
          <p:spPr>
            <a:xfrm>
              <a:off x="8263994" y="3956215"/>
              <a:ext cx="1580516" cy="432287"/>
            </a:xfrm>
            <a:prstGeom prst="roundRect">
              <a:avLst/>
            </a:prstGeom>
            <a:solidFill>
              <a:schemeClr val="accent6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3</a:t>
              </a:r>
            </a:p>
          </p:txBody>
        </p:sp>
        <p:sp>
          <p:nvSpPr>
            <p:cNvPr id="47" name="Rectangle: Rounded Corners 46"/>
            <p:cNvSpPr/>
            <p:nvPr/>
          </p:nvSpPr>
          <p:spPr>
            <a:xfrm>
              <a:off x="9885156" y="3961469"/>
              <a:ext cx="2823523" cy="432287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4</a:t>
              </a:r>
            </a:p>
          </p:txBody>
        </p:sp>
        <p:sp>
          <p:nvSpPr>
            <p:cNvPr id="48" name="Rectangle: Rounded Corners 47"/>
            <p:cNvSpPr/>
            <p:nvPr/>
          </p:nvSpPr>
          <p:spPr>
            <a:xfrm>
              <a:off x="10403315" y="4481217"/>
              <a:ext cx="2305364" cy="432287"/>
            </a:xfrm>
            <a:prstGeom prst="roundRect">
              <a:avLst/>
            </a:prstGeom>
            <a:solidFill>
              <a:schemeClr val="accent6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5</a:t>
              </a:r>
            </a:p>
          </p:txBody>
        </p:sp>
        <p:sp>
          <p:nvSpPr>
            <p:cNvPr id="49" name="Rectangle: Rounded Corners 48"/>
            <p:cNvSpPr/>
            <p:nvPr/>
          </p:nvSpPr>
          <p:spPr>
            <a:xfrm>
              <a:off x="10685257" y="4989069"/>
              <a:ext cx="2023422" cy="432287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6</a:t>
              </a:r>
            </a:p>
          </p:txBody>
        </p:sp>
        <p:sp>
          <p:nvSpPr>
            <p:cNvPr id="50" name="Rectangle: Rounded Corners 49"/>
            <p:cNvSpPr/>
            <p:nvPr/>
          </p:nvSpPr>
          <p:spPr>
            <a:xfrm>
              <a:off x="11227692" y="5480419"/>
              <a:ext cx="1480987" cy="432287"/>
            </a:xfrm>
            <a:prstGeom prst="roundRect">
              <a:avLst/>
            </a:prstGeom>
            <a:solidFill>
              <a:schemeClr val="accent6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7</a:t>
              </a:r>
            </a:p>
          </p:txBody>
        </p:sp>
      </p:grpSp>
      <p:sp>
        <p:nvSpPr>
          <p:cNvPr id="53" name="Rectangle 52"/>
          <p:cNvSpPr/>
          <p:nvPr/>
        </p:nvSpPr>
        <p:spPr>
          <a:xfrm>
            <a:off x="6962241" y="5760033"/>
            <a:ext cx="96926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>
                <a:latin typeface="Arial" charset="0"/>
              </a:rPr>
              <a:t>Time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 2010, Elsevier Inc. All rights Reserved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6BE44D-6AB7-7747-A5B3-8E5957F8FC9E}" type="slidenum">
              <a:rPr lang="en-US" smtClean="0"/>
              <a:t>65</a:t>
            </a:fld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2708366" y="2761861"/>
            <a:ext cx="178606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i="1"/>
              <a:t>Thread finishing </a:t>
            </a:r>
            <a:br>
              <a:rPr lang="en-US" b="1" i="1"/>
            </a:br>
            <a:r>
              <a:rPr lang="en-US" b="1" i="1"/>
              <a:t>first</a:t>
            </a:r>
          </a:p>
        </p:txBody>
      </p:sp>
      <p:cxnSp>
        <p:nvCxnSpPr>
          <p:cNvPr id="6" name="Straight Arrow Connector 5"/>
          <p:cNvCxnSpPr/>
          <p:nvPr/>
        </p:nvCxnSpPr>
        <p:spPr>
          <a:xfrm flipH="1">
            <a:off x="3198757" y="3408192"/>
            <a:ext cx="197586" cy="31646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3860785" y="5828787"/>
            <a:ext cx="171938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i="1" dirty="0"/>
              <a:t>Thread finishing</a:t>
            </a:r>
            <a:br>
              <a:rPr lang="en-US" b="1" i="1" dirty="0"/>
            </a:br>
            <a:r>
              <a:rPr lang="en-US" b="1" i="1" dirty="0"/>
              <a:t>last</a:t>
            </a:r>
          </a:p>
        </p:txBody>
      </p:sp>
      <p:cxnSp>
        <p:nvCxnSpPr>
          <p:cNvPr id="9" name="Straight Arrow Connector 8"/>
          <p:cNvCxnSpPr>
            <a:stCxn id="7" idx="0"/>
          </p:cNvCxnSpPr>
          <p:nvPr/>
        </p:nvCxnSpPr>
        <p:spPr>
          <a:xfrm flipV="1">
            <a:off x="4720476" y="5565399"/>
            <a:ext cx="192292" cy="26338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3477290" y="3734319"/>
            <a:ext cx="10150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Idle time</a:t>
            </a:r>
          </a:p>
        </p:txBody>
      </p:sp>
      <p:cxnSp>
        <p:nvCxnSpPr>
          <p:cNvPr id="15" name="Straight Connector 14"/>
          <p:cNvCxnSpPr>
            <a:stCxn id="39" idx="3"/>
            <a:endCxn id="11" idx="1"/>
          </p:cNvCxnSpPr>
          <p:nvPr/>
        </p:nvCxnSpPr>
        <p:spPr>
          <a:xfrm flipV="1">
            <a:off x="3198757" y="3918985"/>
            <a:ext cx="278533" cy="845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>
            <a:stCxn id="11" idx="3"/>
          </p:cNvCxnSpPr>
          <p:nvPr/>
        </p:nvCxnSpPr>
        <p:spPr>
          <a:xfrm>
            <a:off x="4492311" y="3918985"/>
            <a:ext cx="50113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/>
          <p:cNvCxnSpPr/>
          <p:nvPr/>
        </p:nvCxnSpPr>
        <p:spPr>
          <a:xfrm>
            <a:off x="5090847" y="3734319"/>
            <a:ext cx="0" cy="1418432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194128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  <p:bldP spid="53" grpId="0"/>
      <p:bldP spid="4" grpId="0"/>
      <p:bldP spid="7" grpId="0"/>
      <p:bldP spid="11" grpId="0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TextBox 39"/>
          <p:cNvSpPr txBox="1"/>
          <p:nvPr/>
        </p:nvSpPr>
        <p:spPr>
          <a:xfrm>
            <a:off x="76642" y="21901"/>
            <a:ext cx="279032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/>
              <a:t>Static: default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4773" y="516400"/>
            <a:ext cx="441561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/>
              <a:t>Static, n: set </a:t>
            </a:r>
            <a:r>
              <a:rPr lang="en-US" sz="3600" dirty="0" err="1"/>
              <a:t>chunksize</a:t>
            </a:r>
            <a:endParaRPr lang="en-US" sz="3600" dirty="0"/>
          </a:p>
        </p:txBody>
      </p:sp>
      <p:grpSp>
        <p:nvGrpSpPr>
          <p:cNvPr id="134" name="Group 133"/>
          <p:cNvGrpSpPr/>
          <p:nvPr/>
        </p:nvGrpSpPr>
        <p:grpSpPr>
          <a:xfrm>
            <a:off x="67343" y="1295010"/>
            <a:ext cx="9272213" cy="5562991"/>
            <a:chOff x="89791" y="1295009"/>
            <a:chExt cx="12362950" cy="5562991"/>
          </a:xfrm>
        </p:grpSpPr>
        <p:sp>
          <p:nvSpPr>
            <p:cNvPr id="4" name="Rectangle 3"/>
            <p:cNvSpPr/>
            <p:nvPr/>
          </p:nvSpPr>
          <p:spPr>
            <a:xfrm>
              <a:off x="351691" y="1807120"/>
              <a:ext cx="11462083" cy="787791"/>
            </a:xfrm>
            <a:prstGeom prst="rect">
              <a:avLst/>
            </a:prstGeom>
            <a:noFill/>
            <a:ln w="254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" name="Rectangle 5"/>
            <p:cNvSpPr/>
            <p:nvPr/>
          </p:nvSpPr>
          <p:spPr>
            <a:xfrm>
              <a:off x="805807" y="1295009"/>
              <a:ext cx="1443597" cy="5232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2800" dirty="0">
                  <a:highlight>
                    <a:srgbClr val="FFFF00"/>
                  </a:highlight>
                  <a:latin typeface="Arial" charset="0"/>
                </a:rPr>
                <a:t>Static</a:t>
              </a:r>
            </a:p>
          </p:txBody>
        </p:sp>
        <p:sp>
          <p:nvSpPr>
            <p:cNvPr id="7" name="Rectangle 6"/>
            <p:cNvSpPr/>
            <p:nvPr/>
          </p:nvSpPr>
          <p:spPr>
            <a:xfrm>
              <a:off x="351691" y="3067536"/>
              <a:ext cx="11462083" cy="787791"/>
            </a:xfrm>
            <a:prstGeom prst="rect">
              <a:avLst/>
            </a:prstGeom>
            <a:noFill/>
            <a:ln w="254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" name="Rectangle 7"/>
            <p:cNvSpPr/>
            <p:nvPr/>
          </p:nvSpPr>
          <p:spPr>
            <a:xfrm>
              <a:off x="805807" y="2558384"/>
              <a:ext cx="1975895" cy="5232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2800" dirty="0">
                  <a:highlight>
                    <a:srgbClr val="FFFF00"/>
                  </a:highlight>
                  <a:latin typeface="Arial" charset="0"/>
                </a:rPr>
                <a:t>Static, n</a:t>
              </a:r>
            </a:p>
          </p:txBody>
        </p:sp>
        <p:sp>
          <p:nvSpPr>
            <p:cNvPr id="13" name="Rectangle 12"/>
            <p:cNvSpPr/>
            <p:nvPr/>
          </p:nvSpPr>
          <p:spPr>
            <a:xfrm>
              <a:off x="333676" y="4294139"/>
              <a:ext cx="11462083" cy="787791"/>
            </a:xfrm>
            <a:prstGeom prst="rect">
              <a:avLst/>
            </a:prstGeom>
            <a:noFill/>
            <a:ln w="254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787792" y="3852368"/>
              <a:ext cx="2108443" cy="5232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2800" dirty="0">
                  <a:latin typeface="Arial" charset="0"/>
                </a:rPr>
                <a:t>Dynamic</a:t>
              </a: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333676" y="5554555"/>
              <a:ext cx="11462083" cy="787791"/>
            </a:xfrm>
            <a:prstGeom prst="rect">
              <a:avLst/>
            </a:prstGeom>
            <a:noFill/>
            <a:ln w="254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Rectangle 15"/>
            <p:cNvSpPr/>
            <p:nvPr/>
          </p:nvSpPr>
          <p:spPr>
            <a:xfrm>
              <a:off x="787792" y="5115743"/>
              <a:ext cx="1790047" cy="5232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2800" dirty="0">
                  <a:latin typeface="Arial" charset="0"/>
                </a:rPr>
                <a:t>Guided</a:t>
              </a:r>
            </a:p>
          </p:txBody>
        </p:sp>
        <p:cxnSp>
          <p:nvCxnSpPr>
            <p:cNvPr id="18" name="Straight Arrow Connector 17"/>
            <p:cNvCxnSpPr/>
            <p:nvPr/>
          </p:nvCxnSpPr>
          <p:spPr>
            <a:xfrm>
              <a:off x="2603214" y="6457890"/>
              <a:ext cx="8053754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Rectangle 18"/>
            <p:cNvSpPr/>
            <p:nvPr/>
          </p:nvSpPr>
          <p:spPr>
            <a:xfrm>
              <a:off x="5263609" y="6457890"/>
              <a:ext cx="2725532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2000" dirty="0">
                  <a:latin typeface="Arial" charset="0"/>
                </a:rPr>
                <a:t>iteration number</a:t>
              </a: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89791" y="1383689"/>
              <a:ext cx="488876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/>
                <a:t>0</a:t>
              </a: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89791" y="2628724"/>
              <a:ext cx="488876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/>
                <a:t>0</a:t>
              </a: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89791" y="3852368"/>
              <a:ext cx="488876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/>
                <a:t>0</a:t>
              </a: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89791" y="5115743"/>
              <a:ext cx="488876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/>
                <a:t>0</a:t>
              </a: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11481549" y="1348646"/>
              <a:ext cx="944496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/>
                <a:t>N-1</a:t>
              </a: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11481549" y="2628724"/>
              <a:ext cx="944496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/>
                <a:t>N-1</a:t>
              </a:r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11507384" y="3830030"/>
              <a:ext cx="944496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/>
                <a:t>N-1</a:t>
              </a:r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11508245" y="5105416"/>
              <a:ext cx="944496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/>
                <a:t>N-1</a:t>
              </a:r>
            </a:p>
          </p:txBody>
        </p:sp>
        <p:sp>
          <p:nvSpPr>
            <p:cNvPr id="35" name="Rectangle: Rounded Corners 34"/>
            <p:cNvSpPr/>
            <p:nvPr/>
          </p:nvSpPr>
          <p:spPr>
            <a:xfrm>
              <a:off x="480611" y="1844740"/>
              <a:ext cx="2663518" cy="717839"/>
            </a:xfrm>
            <a:prstGeom prst="roundRect">
              <a:avLst/>
            </a:prstGeom>
            <a:solidFill>
              <a:srgbClr val="0070C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Thread 0</a:t>
              </a:r>
            </a:p>
          </p:txBody>
        </p:sp>
        <p:sp>
          <p:nvSpPr>
            <p:cNvPr id="37" name="Rectangle: Rounded Corners 36"/>
            <p:cNvSpPr/>
            <p:nvPr/>
          </p:nvSpPr>
          <p:spPr>
            <a:xfrm>
              <a:off x="3299710" y="1849129"/>
              <a:ext cx="2663518" cy="717839"/>
            </a:xfrm>
            <a:prstGeom prst="round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Thread 1</a:t>
              </a:r>
            </a:p>
          </p:txBody>
        </p:sp>
        <p:sp>
          <p:nvSpPr>
            <p:cNvPr id="38" name="Rectangle: Rounded Corners 37"/>
            <p:cNvSpPr/>
            <p:nvPr/>
          </p:nvSpPr>
          <p:spPr>
            <a:xfrm>
              <a:off x="6142091" y="1843535"/>
              <a:ext cx="2663518" cy="717839"/>
            </a:xfrm>
            <a:prstGeom prst="roundRect">
              <a:avLst/>
            </a:prstGeom>
            <a:solidFill>
              <a:srgbClr val="7030A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Thread 2</a:t>
              </a:r>
            </a:p>
          </p:txBody>
        </p:sp>
        <p:sp>
          <p:nvSpPr>
            <p:cNvPr id="39" name="Rectangle: Rounded Corners 38"/>
            <p:cNvSpPr/>
            <p:nvPr/>
          </p:nvSpPr>
          <p:spPr>
            <a:xfrm>
              <a:off x="9020428" y="1839299"/>
              <a:ext cx="2663518" cy="717839"/>
            </a:xfrm>
            <a:prstGeom prst="round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Thread 3</a:t>
              </a:r>
            </a:p>
          </p:txBody>
        </p:sp>
        <p:sp>
          <p:nvSpPr>
            <p:cNvPr id="42" name="Rectangle: Rounded Corners 41"/>
            <p:cNvSpPr/>
            <p:nvPr/>
          </p:nvSpPr>
          <p:spPr>
            <a:xfrm>
              <a:off x="407961" y="3108261"/>
              <a:ext cx="1016400" cy="717839"/>
            </a:xfrm>
            <a:prstGeom prst="roundRect">
              <a:avLst/>
            </a:prstGeom>
            <a:solidFill>
              <a:srgbClr val="0070C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Thread 0</a:t>
              </a:r>
            </a:p>
          </p:txBody>
        </p:sp>
        <p:sp>
          <p:nvSpPr>
            <p:cNvPr id="43" name="Rectangle: Rounded Corners 42"/>
            <p:cNvSpPr/>
            <p:nvPr/>
          </p:nvSpPr>
          <p:spPr>
            <a:xfrm>
              <a:off x="1478917" y="3108261"/>
              <a:ext cx="1016400" cy="717839"/>
            </a:xfrm>
            <a:prstGeom prst="round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Thread 1</a:t>
              </a:r>
            </a:p>
          </p:txBody>
        </p:sp>
        <p:sp>
          <p:nvSpPr>
            <p:cNvPr id="44" name="Rectangle: Rounded Corners 43"/>
            <p:cNvSpPr/>
            <p:nvPr/>
          </p:nvSpPr>
          <p:spPr>
            <a:xfrm>
              <a:off x="2557883" y="3105157"/>
              <a:ext cx="1016400" cy="717839"/>
            </a:xfrm>
            <a:prstGeom prst="roundRect">
              <a:avLst/>
            </a:prstGeom>
            <a:solidFill>
              <a:srgbClr val="7030A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Thread 2</a:t>
              </a:r>
            </a:p>
          </p:txBody>
        </p:sp>
        <p:sp>
          <p:nvSpPr>
            <p:cNvPr id="45" name="Rectangle: Rounded Corners 44"/>
            <p:cNvSpPr/>
            <p:nvPr/>
          </p:nvSpPr>
          <p:spPr>
            <a:xfrm>
              <a:off x="3636849" y="3110876"/>
              <a:ext cx="1016400" cy="717839"/>
            </a:xfrm>
            <a:prstGeom prst="round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Thread 3</a:t>
              </a:r>
            </a:p>
          </p:txBody>
        </p:sp>
        <p:sp>
          <p:nvSpPr>
            <p:cNvPr id="59" name="Rectangle: Rounded Corners 58"/>
            <p:cNvSpPr/>
            <p:nvPr/>
          </p:nvSpPr>
          <p:spPr>
            <a:xfrm>
              <a:off x="4707805" y="3102506"/>
              <a:ext cx="1016400" cy="717839"/>
            </a:xfrm>
            <a:prstGeom prst="roundRect">
              <a:avLst/>
            </a:prstGeom>
            <a:solidFill>
              <a:srgbClr val="0070C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Thread 0</a:t>
              </a:r>
            </a:p>
          </p:txBody>
        </p:sp>
        <p:sp>
          <p:nvSpPr>
            <p:cNvPr id="60" name="Rectangle: Rounded Corners 59"/>
            <p:cNvSpPr/>
            <p:nvPr/>
          </p:nvSpPr>
          <p:spPr>
            <a:xfrm>
              <a:off x="5778761" y="3102506"/>
              <a:ext cx="1016400" cy="717839"/>
            </a:xfrm>
            <a:prstGeom prst="round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Thread 1</a:t>
              </a:r>
            </a:p>
          </p:txBody>
        </p:sp>
        <p:sp>
          <p:nvSpPr>
            <p:cNvPr id="61" name="Rectangle: Rounded Corners 60"/>
            <p:cNvSpPr/>
            <p:nvPr/>
          </p:nvSpPr>
          <p:spPr>
            <a:xfrm>
              <a:off x="6857727" y="3099402"/>
              <a:ext cx="1016400" cy="717839"/>
            </a:xfrm>
            <a:prstGeom prst="roundRect">
              <a:avLst/>
            </a:prstGeom>
            <a:solidFill>
              <a:srgbClr val="7030A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Thread 2</a:t>
              </a:r>
            </a:p>
          </p:txBody>
        </p:sp>
        <p:sp>
          <p:nvSpPr>
            <p:cNvPr id="62" name="Rectangle: Rounded Corners 61"/>
            <p:cNvSpPr/>
            <p:nvPr/>
          </p:nvSpPr>
          <p:spPr>
            <a:xfrm>
              <a:off x="7936693" y="3105121"/>
              <a:ext cx="1016400" cy="717839"/>
            </a:xfrm>
            <a:prstGeom prst="round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Thread 3</a:t>
              </a:r>
            </a:p>
          </p:txBody>
        </p:sp>
        <p:sp>
          <p:nvSpPr>
            <p:cNvPr id="63" name="Rectangle: Rounded Corners 62"/>
            <p:cNvSpPr/>
            <p:nvPr/>
          </p:nvSpPr>
          <p:spPr>
            <a:xfrm>
              <a:off x="9015659" y="3107779"/>
              <a:ext cx="1016400" cy="717839"/>
            </a:xfrm>
            <a:prstGeom prst="roundRect">
              <a:avLst/>
            </a:prstGeom>
            <a:solidFill>
              <a:srgbClr val="0070C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Thread 0</a:t>
              </a:r>
            </a:p>
          </p:txBody>
        </p:sp>
        <p:sp>
          <p:nvSpPr>
            <p:cNvPr id="64" name="Rectangle: Rounded Corners 63"/>
            <p:cNvSpPr/>
            <p:nvPr/>
          </p:nvSpPr>
          <p:spPr>
            <a:xfrm>
              <a:off x="10086615" y="3107779"/>
              <a:ext cx="1016400" cy="717839"/>
            </a:xfrm>
            <a:prstGeom prst="round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Thread 1</a:t>
              </a:r>
            </a:p>
          </p:txBody>
        </p:sp>
        <p:sp>
          <p:nvSpPr>
            <p:cNvPr id="65" name="Rectangle: Rounded Corners 64"/>
            <p:cNvSpPr/>
            <p:nvPr/>
          </p:nvSpPr>
          <p:spPr>
            <a:xfrm>
              <a:off x="11157571" y="3104675"/>
              <a:ext cx="582647" cy="717839"/>
            </a:xfrm>
            <a:prstGeom prst="roundRect">
              <a:avLst/>
            </a:prstGeom>
            <a:solidFill>
              <a:srgbClr val="7030A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T2</a:t>
              </a:r>
            </a:p>
          </p:txBody>
        </p:sp>
        <p:sp>
          <p:nvSpPr>
            <p:cNvPr id="92" name="Rectangle: Rounded Corners 91"/>
            <p:cNvSpPr/>
            <p:nvPr/>
          </p:nvSpPr>
          <p:spPr>
            <a:xfrm>
              <a:off x="407961" y="4327952"/>
              <a:ext cx="1016400" cy="717839"/>
            </a:xfrm>
            <a:prstGeom prst="roundRect">
              <a:avLst/>
            </a:prstGeom>
            <a:solidFill>
              <a:srgbClr val="0070C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Thread 0</a:t>
              </a:r>
            </a:p>
          </p:txBody>
        </p:sp>
        <p:sp>
          <p:nvSpPr>
            <p:cNvPr id="93" name="Rectangle: Rounded Corners 92"/>
            <p:cNvSpPr/>
            <p:nvPr/>
          </p:nvSpPr>
          <p:spPr>
            <a:xfrm>
              <a:off x="1478917" y="4327952"/>
              <a:ext cx="1016400" cy="717839"/>
            </a:xfrm>
            <a:prstGeom prst="round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Thread 1</a:t>
              </a:r>
            </a:p>
          </p:txBody>
        </p:sp>
        <p:sp>
          <p:nvSpPr>
            <p:cNvPr id="94" name="Rectangle: Rounded Corners 93"/>
            <p:cNvSpPr/>
            <p:nvPr/>
          </p:nvSpPr>
          <p:spPr>
            <a:xfrm>
              <a:off x="2557883" y="4324848"/>
              <a:ext cx="1016400" cy="717839"/>
            </a:xfrm>
            <a:prstGeom prst="roundRect">
              <a:avLst/>
            </a:prstGeom>
            <a:solidFill>
              <a:srgbClr val="7030A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Thread 2</a:t>
              </a:r>
            </a:p>
          </p:txBody>
        </p:sp>
        <p:sp>
          <p:nvSpPr>
            <p:cNvPr id="95" name="Rectangle: Rounded Corners 94"/>
            <p:cNvSpPr/>
            <p:nvPr/>
          </p:nvSpPr>
          <p:spPr>
            <a:xfrm>
              <a:off x="3636849" y="4330567"/>
              <a:ext cx="1016400" cy="717839"/>
            </a:xfrm>
            <a:prstGeom prst="round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Thread 3</a:t>
              </a:r>
            </a:p>
          </p:txBody>
        </p:sp>
        <p:sp>
          <p:nvSpPr>
            <p:cNvPr id="96" name="Rectangle: Rounded Corners 95"/>
            <p:cNvSpPr/>
            <p:nvPr/>
          </p:nvSpPr>
          <p:spPr>
            <a:xfrm>
              <a:off x="5804039" y="4326127"/>
              <a:ext cx="1016400" cy="717839"/>
            </a:xfrm>
            <a:prstGeom prst="roundRect">
              <a:avLst/>
            </a:prstGeom>
            <a:solidFill>
              <a:srgbClr val="0070C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Thread 0</a:t>
              </a:r>
            </a:p>
          </p:txBody>
        </p:sp>
        <p:sp>
          <p:nvSpPr>
            <p:cNvPr id="97" name="Rectangle: Rounded Corners 96"/>
            <p:cNvSpPr/>
            <p:nvPr/>
          </p:nvSpPr>
          <p:spPr>
            <a:xfrm>
              <a:off x="4738595" y="4323655"/>
              <a:ext cx="1016400" cy="717839"/>
            </a:xfrm>
            <a:prstGeom prst="round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Thread 1</a:t>
              </a:r>
            </a:p>
          </p:txBody>
        </p:sp>
        <p:sp>
          <p:nvSpPr>
            <p:cNvPr id="98" name="Rectangle: Rounded Corners 97"/>
            <p:cNvSpPr/>
            <p:nvPr/>
          </p:nvSpPr>
          <p:spPr>
            <a:xfrm>
              <a:off x="6865737" y="4323654"/>
              <a:ext cx="1016400" cy="717839"/>
            </a:xfrm>
            <a:prstGeom prst="roundRect">
              <a:avLst/>
            </a:prstGeom>
            <a:solidFill>
              <a:srgbClr val="7030A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Thread 2</a:t>
              </a:r>
            </a:p>
          </p:txBody>
        </p:sp>
        <p:sp>
          <p:nvSpPr>
            <p:cNvPr id="99" name="Rectangle: Rounded Corners 98"/>
            <p:cNvSpPr/>
            <p:nvPr/>
          </p:nvSpPr>
          <p:spPr>
            <a:xfrm>
              <a:off x="9014674" y="4335049"/>
              <a:ext cx="1016400" cy="717839"/>
            </a:xfrm>
            <a:prstGeom prst="round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Thread 3</a:t>
              </a:r>
            </a:p>
          </p:txBody>
        </p:sp>
        <p:sp>
          <p:nvSpPr>
            <p:cNvPr id="100" name="Rectangle: Rounded Corners 99"/>
            <p:cNvSpPr/>
            <p:nvPr/>
          </p:nvSpPr>
          <p:spPr>
            <a:xfrm>
              <a:off x="11157571" y="4329114"/>
              <a:ext cx="582647" cy="717839"/>
            </a:xfrm>
            <a:prstGeom prst="roundRect">
              <a:avLst/>
            </a:prstGeom>
            <a:solidFill>
              <a:srgbClr val="0070C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T0</a:t>
              </a:r>
            </a:p>
          </p:txBody>
        </p:sp>
        <p:sp>
          <p:nvSpPr>
            <p:cNvPr id="101" name="Rectangle: Rounded Corners 100"/>
            <p:cNvSpPr/>
            <p:nvPr/>
          </p:nvSpPr>
          <p:spPr>
            <a:xfrm>
              <a:off x="10086615" y="4327470"/>
              <a:ext cx="1016400" cy="717839"/>
            </a:xfrm>
            <a:prstGeom prst="round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Thread 1</a:t>
              </a:r>
            </a:p>
          </p:txBody>
        </p:sp>
        <p:sp>
          <p:nvSpPr>
            <p:cNvPr id="103" name="Rectangle: Rounded Corners 102"/>
            <p:cNvSpPr/>
            <p:nvPr/>
          </p:nvSpPr>
          <p:spPr>
            <a:xfrm>
              <a:off x="7939799" y="4321639"/>
              <a:ext cx="1016400" cy="717839"/>
            </a:xfrm>
            <a:prstGeom prst="round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Thread 1</a:t>
              </a:r>
            </a:p>
          </p:txBody>
        </p:sp>
        <p:sp>
          <p:nvSpPr>
            <p:cNvPr id="104" name="Rectangle: Rounded Corners 103"/>
            <p:cNvSpPr/>
            <p:nvPr/>
          </p:nvSpPr>
          <p:spPr>
            <a:xfrm>
              <a:off x="407961" y="5598285"/>
              <a:ext cx="1016400" cy="717839"/>
            </a:xfrm>
            <a:prstGeom prst="roundRect">
              <a:avLst/>
            </a:prstGeom>
            <a:solidFill>
              <a:srgbClr val="0070C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Thread 0</a:t>
              </a:r>
            </a:p>
          </p:txBody>
        </p:sp>
        <p:sp>
          <p:nvSpPr>
            <p:cNvPr id="105" name="Rectangle: Rounded Corners 104"/>
            <p:cNvSpPr/>
            <p:nvPr/>
          </p:nvSpPr>
          <p:spPr>
            <a:xfrm>
              <a:off x="1478917" y="5598285"/>
              <a:ext cx="1016400" cy="717839"/>
            </a:xfrm>
            <a:prstGeom prst="round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Thread 1</a:t>
              </a:r>
            </a:p>
          </p:txBody>
        </p:sp>
        <p:sp>
          <p:nvSpPr>
            <p:cNvPr id="106" name="Rectangle: Rounded Corners 105"/>
            <p:cNvSpPr/>
            <p:nvPr/>
          </p:nvSpPr>
          <p:spPr>
            <a:xfrm>
              <a:off x="2557883" y="5595181"/>
              <a:ext cx="1016400" cy="717839"/>
            </a:xfrm>
            <a:prstGeom prst="roundRect">
              <a:avLst/>
            </a:prstGeom>
            <a:solidFill>
              <a:srgbClr val="7030A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Thread 2</a:t>
              </a:r>
            </a:p>
          </p:txBody>
        </p:sp>
        <p:sp>
          <p:nvSpPr>
            <p:cNvPr id="107" name="Rectangle: Rounded Corners 106"/>
            <p:cNvSpPr/>
            <p:nvPr/>
          </p:nvSpPr>
          <p:spPr>
            <a:xfrm>
              <a:off x="3636849" y="5600900"/>
              <a:ext cx="1016400" cy="717839"/>
            </a:xfrm>
            <a:prstGeom prst="round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Thread 3</a:t>
              </a:r>
            </a:p>
          </p:txBody>
        </p:sp>
        <p:sp>
          <p:nvSpPr>
            <p:cNvPr id="118" name="Rectangle: Rounded Corners 117"/>
            <p:cNvSpPr/>
            <p:nvPr/>
          </p:nvSpPr>
          <p:spPr>
            <a:xfrm>
              <a:off x="4721984" y="5592566"/>
              <a:ext cx="728894" cy="717839"/>
            </a:xfrm>
            <a:prstGeom prst="roundRect">
              <a:avLst/>
            </a:prstGeom>
            <a:solidFill>
              <a:srgbClr val="0070C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Thr0</a:t>
              </a:r>
            </a:p>
          </p:txBody>
        </p:sp>
        <p:sp>
          <p:nvSpPr>
            <p:cNvPr id="119" name="Rectangle: Rounded Corners 118"/>
            <p:cNvSpPr/>
            <p:nvPr/>
          </p:nvSpPr>
          <p:spPr>
            <a:xfrm>
              <a:off x="5504551" y="5592566"/>
              <a:ext cx="728894" cy="717839"/>
            </a:xfrm>
            <a:prstGeom prst="round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Thr1</a:t>
              </a:r>
            </a:p>
          </p:txBody>
        </p:sp>
        <p:sp>
          <p:nvSpPr>
            <p:cNvPr id="120" name="Rectangle: Rounded Corners 119"/>
            <p:cNvSpPr/>
            <p:nvPr/>
          </p:nvSpPr>
          <p:spPr>
            <a:xfrm>
              <a:off x="6288089" y="5589462"/>
              <a:ext cx="728894" cy="717839"/>
            </a:xfrm>
            <a:prstGeom prst="roundRect">
              <a:avLst/>
            </a:prstGeom>
            <a:solidFill>
              <a:srgbClr val="7030A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Thr2</a:t>
              </a:r>
            </a:p>
          </p:txBody>
        </p:sp>
        <p:sp>
          <p:nvSpPr>
            <p:cNvPr id="121" name="Rectangle: Rounded Corners 120"/>
            <p:cNvSpPr/>
            <p:nvPr/>
          </p:nvSpPr>
          <p:spPr>
            <a:xfrm>
              <a:off x="7078662" y="5595181"/>
              <a:ext cx="728894" cy="717839"/>
            </a:xfrm>
            <a:prstGeom prst="round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Thr3</a:t>
              </a:r>
            </a:p>
          </p:txBody>
        </p:sp>
        <p:sp>
          <p:nvSpPr>
            <p:cNvPr id="122" name="Rectangle: Rounded Corners 121"/>
            <p:cNvSpPr/>
            <p:nvPr/>
          </p:nvSpPr>
          <p:spPr>
            <a:xfrm>
              <a:off x="7861021" y="5586847"/>
              <a:ext cx="585949" cy="717839"/>
            </a:xfrm>
            <a:prstGeom prst="roundRect">
              <a:avLst/>
            </a:prstGeom>
            <a:solidFill>
              <a:srgbClr val="0070C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T 0</a:t>
              </a:r>
            </a:p>
          </p:txBody>
        </p:sp>
        <p:sp>
          <p:nvSpPr>
            <p:cNvPr id="123" name="Rectangle: Rounded Corners 122"/>
            <p:cNvSpPr/>
            <p:nvPr/>
          </p:nvSpPr>
          <p:spPr>
            <a:xfrm>
              <a:off x="8502913" y="5586847"/>
              <a:ext cx="585949" cy="717839"/>
            </a:xfrm>
            <a:prstGeom prst="round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T 1</a:t>
              </a:r>
            </a:p>
          </p:txBody>
        </p:sp>
        <p:sp>
          <p:nvSpPr>
            <p:cNvPr id="124" name="Rectangle: Rounded Corners 123"/>
            <p:cNvSpPr/>
            <p:nvPr/>
          </p:nvSpPr>
          <p:spPr>
            <a:xfrm>
              <a:off x="9131706" y="5583743"/>
              <a:ext cx="585949" cy="717839"/>
            </a:xfrm>
            <a:prstGeom prst="roundRect">
              <a:avLst/>
            </a:prstGeom>
            <a:solidFill>
              <a:srgbClr val="7030A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T 2</a:t>
              </a:r>
            </a:p>
          </p:txBody>
        </p:sp>
        <p:sp>
          <p:nvSpPr>
            <p:cNvPr id="125" name="Rectangle: Rounded Corners 124"/>
            <p:cNvSpPr/>
            <p:nvPr/>
          </p:nvSpPr>
          <p:spPr>
            <a:xfrm>
              <a:off x="9774571" y="5589462"/>
              <a:ext cx="585949" cy="717839"/>
            </a:xfrm>
            <a:prstGeom prst="round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T 3</a:t>
              </a:r>
            </a:p>
          </p:txBody>
        </p:sp>
        <p:sp>
          <p:nvSpPr>
            <p:cNvPr id="130" name="Rectangle: Rounded Corners 129"/>
            <p:cNvSpPr/>
            <p:nvPr/>
          </p:nvSpPr>
          <p:spPr>
            <a:xfrm>
              <a:off x="10411877" y="5589936"/>
              <a:ext cx="487369" cy="717839"/>
            </a:xfrm>
            <a:prstGeom prst="roundRect">
              <a:avLst/>
            </a:prstGeom>
            <a:solidFill>
              <a:srgbClr val="0070C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T0</a:t>
              </a:r>
            </a:p>
          </p:txBody>
        </p:sp>
        <p:sp>
          <p:nvSpPr>
            <p:cNvPr id="131" name="Rectangle: Rounded Corners 130"/>
            <p:cNvSpPr/>
            <p:nvPr/>
          </p:nvSpPr>
          <p:spPr>
            <a:xfrm>
              <a:off x="10927157" y="5589936"/>
              <a:ext cx="487369" cy="717839"/>
            </a:xfrm>
            <a:prstGeom prst="round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T1</a:t>
              </a:r>
            </a:p>
          </p:txBody>
        </p:sp>
        <p:sp>
          <p:nvSpPr>
            <p:cNvPr id="132" name="Rectangle: Rounded Corners 131"/>
            <p:cNvSpPr/>
            <p:nvPr/>
          </p:nvSpPr>
          <p:spPr>
            <a:xfrm>
              <a:off x="11443407" y="5586832"/>
              <a:ext cx="296812" cy="717839"/>
            </a:xfrm>
            <a:prstGeom prst="roundRect">
              <a:avLst/>
            </a:prstGeom>
            <a:solidFill>
              <a:srgbClr val="7030A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2</a:t>
              </a:r>
            </a:p>
          </p:txBody>
        </p:sp>
      </p:grpSp>
      <p:sp>
        <p:nvSpPr>
          <p:cNvPr id="66" name="Right Brace 65"/>
          <p:cNvSpPr/>
          <p:nvPr/>
        </p:nvSpPr>
        <p:spPr>
          <a:xfrm rot="16200000">
            <a:off x="7532022" y="652653"/>
            <a:ext cx="429121" cy="1906826"/>
          </a:xfrm>
          <a:prstGeom prst="rightBrace">
            <a:avLst>
              <a:gd name="adj1" fmla="val 103355"/>
              <a:gd name="adj2" fmla="val 49206"/>
            </a:avLst>
          </a:prstGeom>
          <a:ln w="635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8" name="Rectangle 67"/>
          <p:cNvSpPr/>
          <p:nvPr/>
        </p:nvSpPr>
        <p:spPr>
          <a:xfrm>
            <a:off x="6988869" y="715886"/>
            <a:ext cx="178138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 err="1">
                <a:latin typeface="Arial" charset="0"/>
              </a:rPr>
              <a:t>chunksize</a:t>
            </a:r>
            <a:endParaRPr lang="en-US" sz="2800" dirty="0">
              <a:latin typeface="Arial" charset="0"/>
            </a:endParaRPr>
          </a:p>
        </p:txBody>
      </p:sp>
      <p:sp>
        <p:nvSpPr>
          <p:cNvPr id="69" name="Footer Placeholder 3"/>
          <p:cNvSpPr>
            <a:spLocks noGrp="1"/>
          </p:cNvSpPr>
          <p:nvPr>
            <p:ph type="ftr" sz="quarter" idx="10"/>
          </p:nvPr>
        </p:nvSpPr>
        <p:spPr>
          <a:xfrm>
            <a:off x="628650" y="6489997"/>
            <a:ext cx="2057400" cy="365125"/>
          </a:xfrm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charset="0"/>
              <a:defRPr sz="32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charset="0"/>
              <a:defRPr sz="32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charset="0"/>
              <a:defRPr sz="32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charset="0"/>
              <a:defRPr sz="32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charset="0"/>
              <a:defRPr sz="32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charset="0"/>
              <a:defRPr sz="32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charset="0"/>
              <a:defRPr sz="32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charset="0"/>
              <a:defRPr sz="32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charset="0"/>
              <a:defRPr sz="32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sz="1200">
                <a:latin typeface="Arial" charset="0"/>
              </a:rPr>
              <a:t>Copyright © 2010, Elsevier Inc. All rights Reserved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6BE44D-6AB7-7747-A5B3-8E5957F8FC9E}" type="slidenum">
              <a:rPr lang="en-US" smtClean="0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5357426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TextBox 39"/>
          <p:cNvSpPr txBox="1"/>
          <p:nvPr/>
        </p:nvSpPr>
        <p:spPr>
          <a:xfrm>
            <a:off x="76642" y="21900"/>
            <a:ext cx="906735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Dynamic</a:t>
            </a:r>
            <a:r>
              <a:rPr lang="en-US" sz="3200" dirty="0"/>
              <a:t>:</a:t>
            </a:r>
            <a:r>
              <a:rPr lang="en-US" sz="3200" dirty="0">
                <a:latin typeface="Arial" charset="0"/>
              </a:rPr>
              <a:t> thread executes a chunk</a:t>
            </a:r>
          </a:p>
          <a:p>
            <a:r>
              <a:rPr lang="en-US" sz="3200" dirty="0">
                <a:latin typeface="Arial" charset="0"/>
              </a:rPr>
              <a:t>	        when done, it requests another one</a:t>
            </a:r>
          </a:p>
          <a:p>
            <a:r>
              <a:rPr lang="en-US" sz="3200" dirty="0">
                <a:latin typeface="Arial" charset="0"/>
              </a:rPr>
              <a:t>              </a:t>
            </a:r>
            <a:endParaRPr lang="en-US" sz="3200" dirty="0"/>
          </a:p>
        </p:txBody>
      </p:sp>
      <p:grpSp>
        <p:nvGrpSpPr>
          <p:cNvPr id="134" name="Group 133"/>
          <p:cNvGrpSpPr/>
          <p:nvPr/>
        </p:nvGrpSpPr>
        <p:grpSpPr>
          <a:xfrm>
            <a:off x="67343" y="1348646"/>
            <a:ext cx="9272213" cy="5509354"/>
            <a:chOff x="89791" y="1348646"/>
            <a:chExt cx="12362950" cy="5509354"/>
          </a:xfrm>
        </p:grpSpPr>
        <p:sp>
          <p:nvSpPr>
            <p:cNvPr id="4" name="Rectangle 3"/>
            <p:cNvSpPr/>
            <p:nvPr/>
          </p:nvSpPr>
          <p:spPr>
            <a:xfrm>
              <a:off x="351691" y="1807120"/>
              <a:ext cx="11462083" cy="787791"/>
            </a:xfrm>
            <a:prstGeom prst="rect">
              <a:avLst/>
            </a:prstGeom>
            <a:noFill/>
            <a:ln w="254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" name="Rectangle 5"/>
            <p:cNvSpPr/>
            <p:nvPr/>
          </p:nvSpPr>
          <p:spPr>
            <a:xfrm>
              <a:off x="805807" y="1365349"/>
              <a:ext cx="1443597" cy="5232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2800" dirty="0">
                  <a:latin typeface="Arial" charset="0"/>
                </a:rPr>
                <a:t>Static</a:t>
              </a:r>
            </a:p>
          </p:txBody>
        </p:sp>
        <p:sp>
          <p:nvSpPr>
            <p:cNvPr id="7" name="Rectangle 6"/>
            <p:cNvSpPr/>
            <p:nvPr/>
          </p:nvSpPr>
          <p:spPr>
            <a:xfrm>
              <a:off x="351691" y="3067536"/>
              <a:ext cx="11462083" cy="787791"/>
            </a:xfrm>
            <a:prstGeom prst="rect">
              <a:avLst/>
            </a:prstGeom>
            <a:noFill/>
            <a:ln w="254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" name="Rectangle 7"/>
            <p:cNvSpPr/>
            <p:nvPr/>
          </p:nvSpPr>
          <p:spPr>
            <a:xfrm>
              <a:off x="805807" y="2628724"/>
              <a:ext cx="1975895" cy="5232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2800" dirty="0">
                  <a:latin typeface="Arial" charset="0"/>
                </a:rPr>
                <a:t>Static, n</a:t>
              </a:r>
            </a:p>
          </p:txBody>
        </p:sp>
        <p:sp>
          <p:nvSpPr>
            <p:cNvPr id="13" name="Rectangle 12"/>
            <p:cNvSpPr/>
            <p:nvPr/>
          </p:nvSpPr>
          <p:spPr>
            <a:xfrm>
              <a:off x="333676" y="4294139"/>
              <a:ext cx="11462083" cy="787791"/>
            </a:xfrm>
            <a:prstGeom prst="rect">
              <a:avLst/>
            </a:prstGeom>
            <a:noFill/>
            <a:ln w="254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787792" y="3796096"/>
              <a:ext cx="2108443" cy="5232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2800" dirty="0">
                  <a:highlight>
                    <a:srgbClr val="FFFF00"/>
                  </a:highlight>
                  <a:latin typeface="Arial" charset="0"/>
                </a:rPr>
                <a:t>Dynamic</a:t>
              </a: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333676" y="5554555"/>
              <a:ext cx="11462083" cy="787791"/>
            </a:xfrm>
            <a:prstGeom prst="rect">
              <a:avLst/>
            </a:prstGeom>
            <a:noFill/>
            <a:ln w="254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Rectangle 15"/>
            <p:cNvSpPr/>
            <p:nvPr/>
          </p:nvSpPr>
          <p:spPr>
            <a:xfrm>
              <a:off x="787792" y="5115743"/>
              <a:ext cx="1790047" cy="5232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2800" dirty="0">
                  <a:latin typeface="Arial" charset="0"/>
                </a:rPr>
                <a:t>Guided</a:t>
              </a:r>
            </a:p>
          </p:txBody>
        </p:sp>
        <p:cxnSp>
          <p:nvCxnSpPr>
            <p:cNvPr id="18" name="Straight Arrow Connector 17"/>
            <p:cNvCxnSpPr/>
            <p:nvPr/>
          </p:nvCxnSpPr>
          <p:spPr>
            <a:xfrm>
              <a:off x="2603214" y="6457890"/>
              <a:ext cx="8053754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Rectangle 18"/>
            <p:cNvSpPr/>
            <p:nvPr/>
          </p:nvSpPr>
          <p:spPr>
            <a:xfrm>
              <a:off x="5263609" y="6457890"/>
              <a:ext cx="2725532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2000" dirty="0">
                  <a:latin typeface="Arial" charset="0"/>
                </a:rPr>
                <a:t>iteration number</a:t>
              </a: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89791" y="1383689"/>
              <a:ext cx="488876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/>
                <a:t>0</a:t>
              </a: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89791" y="2628724"/>
              <a:ext cx="488876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/>
                <a:t>0</a:t>
              </a: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89791" y="3852368"/>
              <a:ext cx="488876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/>
                <a:t>0</a:t>
              </a: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89791" y="5115743"/>
              <a:ext cx="488876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/>
                <a:t>0</a:t>
              </a: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11481549" y="1348646"/>
              <a:ext cx="944496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/>
                <a:t>N-1</a:t>
              </a: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11481549" y="2628724"/>
              <a:ext cx="944496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/>
                <a:t>N-1</a:t>
              </a:r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11507384" y="3830030"/>
              <a:ext cx="944496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/>
                <a:t>N-1</a:t>
              </a:r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11508245" y="5105416"/>
              <a:ext cx="944496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/>
                <a:t>N-1</a:t>
              </a:r>
            </a:p>
          </p:txBody>
        </p:sp>
        <p:sp>
          <p:nvSpPr>
            <p:cNvPr id="35" name="Rectangle: Rounded Corners 34"/>
            <p:cNvSpPr/>
            <p:nvPr/>
          </p:nvSpPr>
          <p:spPr>
            <a:xfrm>
              <a:off x="480611" y="1844740"/>
              <a:ext cx="2663518" cy="717839"/>
            </a:xfrm>
            <a:prstGeom prst="roundRect">
              <a:avLst/>
            </a:prstGeom>
            <a:solidFill>
              <a:srgbClr val="0070C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Thread 0</a:t>
              </a:r>
            </a:p>
          </p:txBody>
        </p:sp>
        <p:sp>
          <p:nvSpPr>
            <p:cNvPr id="37" name="Rectangle: Rounded Corners 36"/>
            <p:cNvSpPr/>
            <p:nvPr/>
          </p:nvSpPr>
          <p:spPr>
            <a:xfrm>
              <a:off x="3299710" y="1849129"/>
              <a:ext cx="2663518" cy="717839"/>
            </a:xfrm>
            <a:prstGeom prst="round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Thread 1</a:t>
              </a:r>
            </a:p>
          </p:txBody>
        </p:sp>
        <p:sp>
          <p:nvSpPr>
            <p:cNvPr id="38" name="Rectangle: Rounded Corners 37"/>
            <p:cNvSpPr/>
            <p:nvPr/>
          </p:nvSpPr>
          <p:spPr>
            <a:xfrm>
              <a:off x="6142091" y="1843535"/>
              <a:ext cx="2663518" cy="717839"/>
            </a:xfrm>
            <a:prstGeom prst="roundRect">
              <a:avLst/>
            </a:prstGeom>
            <a:solidFill>
              <a:srgbClr val="7030A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Thread 2</a:t>
              </a:r>
            </a:p>
          </p:txBody>
        </p:sp>
        <p:sp>
          <p:nvSpPr>
            <p:cNvPr id="39" name="Rectangle: Rounded Corners 38"/>
            <p:cNvSpPr/>
            <p:nvPr/>
          </p:nvSpPr>
          <p:spPr>
            <a:xfrm>
              <a:off x="9020428" y="1839299"/>
              <a:ext cx="2663518" cy="717839"/>
            </a:xfrm>
            <a:prstGeom prst="round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Thread 3</a:t>
              </a:r>
            </a:p>
          </p:txBody>
        </p:sp>
        <p:sp>
          <p:nvSpPr>
            <p:cNvPr id="42" name="Rectangle: Rounded Corners 41"/>
            <p:cNvSpPr/>
            <p:nvPr/>
          </p:nvSpPr>
          <p:spPr>
            <a:xfrm>
              <a:off x="407961" y="3108261"/>
              <a:ext cx="1016400" cy="717839"/>
            </a:xfrm>
            <a:prstGeom prst="roundRect">
              <a:avLst/>
            </a:prstGeom>
            <a:solidFill>
              <a:srgbClr val="0070C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Thread 0</a:t>
              </a:r>
            </a:p>
          </p:txBody>
        </p:sp>
        <p:sp>
          <p:nvSpPr>
            <p:cNvPr id="43" name="Rectangle: Rounded Corners 42"/>
            <p:cNvSpPr/>
            <p:nvPr/>
          </p:nvSpPr>
          <p:spPr>
            <a:xfrm>
              <a:off x="1478917" y="3108261"/>
              <a:ext cx="1016400" cy="717839"/>
            </a:xfrm>
            <a:prstGeom prst="round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Thread 1</a:t>
              </a:r>
            </a:p>
          </p:txBody>
        </p:sp>
        <p:sp>
          <p:nvSpPr>
            <p:cNvPr id="44" name="Rectangle: Rounded Corners 43"/>
            <p:cNvSpPr/>
            <p:nvPr/>
          </p:nvSpPr>
          <p:spPr>
            <a:xfrm>
              <a:off x="2557883" y="3105157"/>
              <a:ext cx="1016400" cy="717839"/>
            </a:xfrm>
            <a:prstGeom prst="roundRect">
              <a:avLst/>
            </a:prstGeom>
            <a:solidFill>
              <a:srgbClr val="7030A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Thread 2</a:t>
              </a:r>
            </a:p>
          </p:txBody>
        </p:sp>
        <p:sp>
          <p:nvSpPr>
            <p:cNvPr id="45" name="Rectangle: Rounded Corners 44"/>
            <p:cNvSpPr/>
            <p:nvPr/>
          </p:nvSpPr>
          <p:spPr>
            <a:xfrm>
              <a:off x="3636849" y="3110876"/>
              <a:ext cx="1016400" cy="717839"/>
            </a:xfrm>
            <a:prstGeom prst="round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Thread 3</a:t>
              </a:r>
            </a:p>
          </p:txBody>
        </p:sp>
        <p:sp>
          <p:nvSpPr>
            <p:cNvPr id="59" name="Rectangle: Rounded Corners 58"/>
            <p:cNvSpPr/>
            <p:nvPr/>
          </p:nvSpPr>
          <p:spPr>
            <a:xfrm>
              <a:off x="4707805" y="3102506"/>
              <a:ext cx="1016400" cy="717839"/>
            </a:xfrm>
            <a:prstGeom prst="roundRect">
              <a:avLst/>
            </a:prstGeom>
            <a:solidFill>
              <a:srgbClr val="0070C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Thread 0</a:t>
              </a:r>
            </a:p>
          </p:txBody>
        </p:sp>
        <p:sp>
          <p:nvSpPr>
            <p:cNvPr id="60" name="Rectangle: Rounded Corners 59"/>
            <p:cNvSpPr/>
            <p:nvPr/>
          </p:nvSpPr>
          <p:spPr>
            <a:xfrm>
              <a:off x="5778761" y="3102506"/>
              <a:ext cx="1016400" cy="717839"/>
            </a:xfrm>
            <a:prstGeom prst="round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Thread 1</a:t>
              </a:r>
            </a:p>
          </p:txBody>
        </p:sp>
        <p:sp>
          <p:nvSpPr>
            <p:cNvPr id="61" name="Rectangle: Rounded Corners 60"/>
            <p:cNvSpPr/>
            <p:nvPr/>
          </p:nvSpPr>
          <p:spPr>
            <a:xfrm>
              <a:off x="6857727" y="3099402"/>
              <a:ext cx="1016400" cy="717839"/>
            </a:xfrm>
            <a:prstGeom prst="roundRect">
              <a:avLst/>
            </a:prstGeom>
            <a:solidFill>
              <a:srgbClr val="7030A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Thread 2</a:t>
              </a:r>
            </a:p>
          </p:txBody>
        </p:sp>
        <p:sp>
          <p:nvSpPr>
            <p:cNvPr id="62" name="Rectangle: Rounded Corners 61"/>
            <p:cNvSpPr/>
            <p:nvPr/>
          </p:nvSpPr>
          <p:spPr>
            <a:xfrm>
              <a:off x="7936693" y="3105121"/>
              <a:ext cx="1016400" cy="717839"/>
            </a:xfrm>
            <a:prstGeom prst="round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Thread 3</a:t>
              </a:r>
            </a:p>
          </p:txBody>
        </p:sp>
        <p:sp>
          <p:nvSpPr>
            <p:cNvPr id="63" name="Rectangle: Rounded Corners 62"/>
            <p:cNvSpPr/>
            <p:nvPr/>
          </p:nvSpPr>
          <p:spPr>
            <a:xfrm>
              <a:off x="9015659" y="3107779"/>
              <a:ext cx="1016400" cy="717839"/>
            </a:xfrm>
            <a:prstGeom prst="roundRect">
              <a:avLst/>
            </a:prstGeom>
            <a:solidFill>
              <a:srgbClr val="0070C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Thread 0</a:t>
              </a:r>
            </a:p>
          </p:txBody>
        </p:sp>
        <p:sp>
          <p:nvSpPr>
            <p:cNvPr id="64" name="Rectangle: Rounded Corners 63"/>
            <p:cNvSpPr/>
            <p:nvPr/>
          </p:nvSpPr>
          <p:spPr>
            <a:xfrm>
              <a:off x="10086615" y="3107779"/>
              <a:ext cx="1016400" cy="717839"/>
            </a:xfrm>
            <a:prstGeom prst="round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Thread 1</a:t>
              </a:r>
            </a:p>
          </p:txBody>
        </p:sp>
        <p:sp>
          <p:nvSpPr>
            <p:cNvPr id="65" name="Rectangle: Rounded Corners 64"/>
            <p:cNvSpPr/>
            <p:nvPr/>
          </p:nvSpPr>
          <p:spPr>
            <a:xfrm>
              <a:off x="11157571" y="3104675"/>
              <a:ext cx="582647" cy="717839"/>
            </a:xfrm>
            <a:prstGeom prst="roundRect">
              <a:avLst/>
            </a:prstGeom>
            <a:solidFill>
              <a:srgbClr val="7030A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T2</a:t>
              </a:r>
            </a:p>
          </p:txBody>
        </p:sp>
        <p:sp>
          <p:nvSpPr>
            <p:cNvPr id="92" name="Rectangle: Rounded Corners 91"/>
            <p:cNvSpPr/>
            <p:nvPr/>
          </p:nvSpPr>
          <p:spPr>
            <a:xfrm>
              <a:off x="407961" y="4327952"/>
              <a:ext cx="1016400" cy="717839"/>
            </a:xfrm>
            <a:prstGeom prst="roundRect">
              <a:avLst/>
            </a:prstGeom>
            <a:solidFill>
              <a:srgbClr val="0070C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Thread 0</a:t>
              </a:r>
            </a:p>
          </p:txBody>
        </p:sp>
        <p:sp>
          <p:nvSpPr>
            <p:cNvPr id="93" name="Rectangle: Rounded Corners 92"/>
            <p:cNvSpPr/>
            <p:nvPr/>
          </p:nvSpPr>
          <p:spPr>
            <a:xfrm>
              <a:off x="1478917" y="4327952"/>
              <a:ext cx="1016400" cy="717839"/>
            </a:xfrm>
            <a:prstGeom prst="round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Thread 1</a:t>
              </a:r>
            </a:p>
          </p:txBody>
        </p:sp>
        <p:sp>
          <p:nvSpPr>
            <p:cNvPr id="94" name="Rectangle: Rounded Corners 93"/>
            <p:cNvSpPr/>
            <p:nvPr/>
          </p:nvSpPr>
          <p:spPr>
            <a:xfrm>
              <a:off x="2557883" y="4324848"/>
              <a:ext cx="1016400" cy="717839"/>
            </a:xfrm>
            <a:prstGeom prst="roundRect">
              <a:avLst/>
            </a:prstGeom>
            <a:solidFill>
              <a:srgbClr val="7030A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Thread 2</a:t>
              </a:r>
            </a:p>
          </p:txBody>
        </p:sp>
        <p:sp>
          <p:nvSpPr>
            <p:cNvPr id="95" name="Rectangle: Rounded Corners 94"/>
            <p:cNvSpPr/>
            <p:nvPr/>
          </p:nvSpPr>
          <p:spPr>
            <a:xfrm>
              <a:off x="3636849" y="4330567"/>
              <a:ext cx="1016400" cy="717839"/>
            </a:xfrm>
            <a:prstGeom prst="round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Thread 3</a:t>
              </a:r>
            </a:p>
          </p:txBody>
        </p:sp>
        <p:sp>
          <p:nvSpPr>
            <p:cNvPr id="96" name="Rectangle: Rounded Corners 95"/>
            <p:cNvSpPr/>
            <p:nvPr/>
          </p:nvSpPr>
          <p:spPr>
            <a:xfrm>
              <a:off x="5804039" y="4326127"/>
              <a:ext cx="1016400" cy="717839"/>
            </a:xfrm>
            <a:prstGeom prst="roundRect">
              <a:avLst/>
            </a:prstGeom>
            <a:solidFill>
              <a:srgbClr val="0070C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Thread 0</a:t>
              </a:r>
            </a:p>
          </p:txBody>
        </p:sp>
        <p:sp>
          <p:nvSpPr>
            <p:cNvPr id="97" name="Rectangle: Rounded Corners 96"/>
            <p:cNvSpPr/>
            <p:nvPr/>
          </p:nvSpPr>
          <p:spPr>
            <a:xfrm>
              <a:off x="4738595" y="4323655"/>
              <a:ext cx="1016400" cy="717839"/>
            </a:xfrm>
            <a:prstGeom prst="round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Thread 1</a:t>
              </a:r>
            </a:p>
          </p:txBody>
        </p:sp>
        <p:sp>
          <p:nvSpPr>
            <p:cNvPr id="98" name="Rectangle: Rounded Corners 97"/>
            <p:cNvSpPr/>
            <p:nvPr/>
          </p:nvSpPr>
          <p:spPr>
            <a:xfrm>
              <a:off x="6865737" y="4323654"/>
              <a:ext cx="1016400" cy="717839"/>
            </a:xfrm>
            <a:prstGeom prst="roundRect">
              <a:avLst/>
            </a:prstGeom>
            <a:solidFill>
              <a:srgbClr val="7030A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Thread 2</a:t>
              </a:r>
            </a:p>
          </p:txBody>
        </p:sp>
        <p:sp>
          <p:nvSpPr>
            <p:cNvPr id="99" name="Rectangle: Rounded Corners 98"/>
            <p:cNvSpPr/>
            <p:nvPr/>
          </p:nvSpPr>
          <p:spPr>
            <a:xfrm>
              <a:off x="9014674" y="4335049"/>
              <a:ext cx="1016400" cy="717839"/>
            </a:xfrm>
            <a:prstGeom prst="round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Thread 3</a:t>
              </a:r>
            </a:p>
          </p:txBody>
        </p:sp>
        <p:sp>
          <p:nvSpPr>
            <p:cNvPr id="100" name="Rectangle: Rounded Corners 99"/>
            <p:cNvSpPr/>
            <p:nvPr/>
          </p:nvSpPr>
          <p:spPr>
            <a:xfrm>
              <a:off x="11157571" y="4329114"/>
              <a:ext cx="582647" cy="717839"/>
            </a:xfrm>
            <a:prstGeom prst="roundRect">
              <a:avLst/>
            </a:prstGeom>
            <a:solidFill>
              <a:srgbClr val="0070C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T0</a:t>
              </a:r>
            </a:p>
          </p:txBody>
        </p:sp>
        <p:sp>
          <p:nvSpPr>
            <p:cNvPr id="101" name="Rectangle: Rounded Corners 100"/>
            <p:cNvSpPr/>
            <p:nvPr/>
          </p:nvSpPr>
          <p:spPr>
            <a:xfrm>
              <a:off x="10086615" y="4327470"/>
              <a:ext cx="1016400" cy="717839"/>
            </a:xfrm>
            <a:prstGeom prst="round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Thread 1</a:t>
              </a:r>
            </a:p>
          </p:txBody>
        </p:sp>
        <p:sp>
          <p:nvSpPr>
            <p:cNvPr id="103" name="Rectangle: Rounded Corners 102"/>
            <p:cNvSpPr/>
            <p:nvPr/>
          </p:nvSpPr>
          <p:spPr>
            <a:xfrm>
              <a:off x="7939799" y="4321639"/>
              <a:ext cx="1016400" cy="717839"/>
            </a:xfrm>
            <a:prstGeom prst="round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Thread 1</a:t>
              </a:r>
            </a:p>
          </p:txBody>
        </p:sp>
        <p:sp>
          <p:nvSpPr>
            <p:cNvPr id="104" name="Rectangle: Rounded Corners 103"/>
            <p:cNvSpPr/>
            <p:nvPr/>
          </p:nvSpPr>
          <p:spPr>
            <a:xfrm>
              <a:off x="407961" y="5598285"/>
              <a:ext cx="1016400" cy="717839"/>
            </a:xfrm>
            <a:prstGeom prst="roundRect">
              <a:avLst/>
            </a:prstGeom>
            <a:solidFill>
              <a:srgbClr val="0070C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Thread 0</a:t>
              </a:r>
            </a:p>
          </p:txBody>
        </p:sp>
        <p:sp>
          <p:nvSpPr>
            <p:cNvPr id="105" name="Rectangle: Rounded Corners 104"/>
            <p:cNvSpPr/>
            <p:nvPr/>
          </p:nvSpPr>
          <p:spPr>
            <a:xfrm>
              <a:off x="1478917" y="5598285"/>
              <a:ext cx="1016400" cy="717839"/>
            </a:xfrm>
            <a:prstGeom prst="round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Thread 1</a:t>
              </a:r>
            </a:p>
          </p:txBody>
        </p:sp>
        <p:sp>
          <p:nvSpPr>
            <p:cNvPr id="106" name="Rectangle: Rounded Corners 105"/>
            <p:cNvSpPr/>
            <p:nvPr/>
          </p:nvSpPr>
          <p:spPr>
            <a:xfrm>
              <a:off x="2557883" y="5595181"/>
              <a:ext cx="1016400" cy="717839"/>
            </a:xfrm>
            <a:prstGeom prst="roundRect">
              <a:avLst/>
            </a:prstGeom>
            <a:solidFill>
              <a:srgbClr val="7030A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Thread 2</a:t>
              </a:r>
            </a:p>
          </p:txBody>
        </p:sp>
        <p:sp>
          <p:nvSpPr>
            <p:cNvPr id="107" name="Rectangle: Rounded Corners 106"/>
            <p:cNvSpPr/>
            <p:nvPr/>
          </p:nvSpPr>
          <p:spPr>
            <a:xfrm>
              <a:off x="3636849" y="5600900"/>
              <a:ext cx="1016400" cy="717839"/>
            </a:xfrm>
            <a:prstGeom prst="round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Thread 3</a:t>
              </a:r>
            </a:p>
          </p:txBody>
        </p:sp>
        <p:sp>
          <p:nvSpPr>
            <p:cNvPr id="118" name="Rectangle: Rounded Corners 117"/>
            <p:cNvSpPr/>
            <p:nvPr/>
          </p:nvSpPr>
          <p:spPr>
            <a:xfrm>
              <a:off x="4721984" y="5592566"/>
              <a:ext cx="728894" cy="717839"/>
            </a:xfrm>
            <a:prstGeom prst="roundRect">
              <a:avLst/>
            </a:prstGeom>
            <a:solidFill>
              <a:srgbClr val="0070C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Thr0</a:t>
              </a:r>
            </a:p>
          </p:txBody>
        </p:sp>
        <p:sp>
          <p:nvSpPr>
            <p:cNvPr id="119" name="Rectangle: Rounded Corners 118"/>
            <p:cNvSpPr/>
            <p:nvPr/>
          </p:nvSpPr>
          <p:spPr>
            <a:xfrm>
              <a:off x="5504551" y="5592566"/>
              <a:ext cx="728894" cy="717839"/>
            </a:xfrm>
            <a:prstGeom prst="round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Thr1</a:t>
              </a:r>
            </a:p>
          </p:txBody>
        </p:sp>
        <p:sp>
          <p:nvSpPr>
            <p:cNvPr id="120" name="Rectangle: Rounded Corners 119"/>
            <p:cNvSpPr/>
            <p:nvPr/>
          </p:nvSpPr>
          <p:spPr>
            <a:xfrm>
              <a:off x="6288089" y="5589462"/>
              <a:ext cx="728894" cy="717839"/>
            </a:xfrm>
            <a:prstGeom prst="roundRect">
              <a:avLst/>
            </a:prstGeom>
            <a:solidFill>
              <a:srgbClr val="7030A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Thr2</a:t>
              </a:r>
            </a:p>
          </p:txBody>
        </p:sp>
        <p:sp>
          <p:nvSpPr>
            <p:cNvPr id="121" name="Rectangle: Rounded Corners 120"/>
            <p:cNvSpPr/>
            <p:nvPr/>
          </p:nvSpPr>
          <p:spPr>
            <a:xfrm>
              <a:off x="7078662" y="5595181"/>
              <a:ext cx="728894" cy="717839"/>
            </a:xfrm>
            <a:prstGeom prst="round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Thr3</a:t>
              </a:r>
            </a:p>
          </p:txBody>
        </p:sp>
        <p:sp>
          <p:nvSpPr>
            <p:cNvPr id="122" name="Rectangle: Rounded Corners 121"/>
            <p:cNvSpPr/>
            <p:nvPr/>
          </p:nvSpPr>
          <p:spPr>
            <a:xfrm>
              <a:off x="7861021" y="5586847"/>
              <a:ext cx="585949" cy="717839"/>
            </a:xfrm>
            <a:prstGeom prst="roundRect">
              <a:avLst/>
            </a:prstGeom>
            <a:solidFill>
              <a:srgbClr val="0070C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T 0</a:t>
              </a:r>
            </a:p>
          </p:txBody>
        </p:sp>
        <p:sp>
          <p:nvSpPr>
            <p:cNvPr id="123" name="Rectangle: Rounded Corners 122"/>
            <p:cNvSpPr/>
            <p:nvPr/>
          </p:nvSpPr>
          <p:spPr>
            <a:xfrm>
              <a:off x="8502913" y="5586847"/>
              <a:ext cx="585949" cy="717839"/>
            </a:xfrm>
            <a:prstGeom prst="round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T 1</a:t>
              </a:r>
            </a:p>
          </p:txBody>
        </p:sp>
        <p:sp>
          <p:nvSpPr>
            <p:cNvPr id="124" name="Rectangle: Rounded Corners 123"/>
            <p:cNvSpPr/>
            <p:nvPr/>
          </p:nvSpPr>
          <p:spPr>
            <a:xfrm>
              <a:off x="9131706" y="5583743"/>
              <a:ext cx="585949" cy="717839"/>
            </a:xfrm>
            <a:prstGeom prst="roundRect">
              <a:avLst/>
            </a:prstGeom>
            <a:solidFill>
              <a:srgbClr val="7030A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T 2</a:t>
              </a:r>
            </a:p>
          </p:txBody>
        </p:sp>
        <p:sp>
          <p:nvSpPr>
            <p:cNvPr id="125" name="Rectangle: Rounded Corners 124"/>
            <p:cNvSpPr/>
            <p:nvPr/>
          </p:nvSpPr>
          <p:spPr>
            <a:xfrm>
              <a:off x="9774571" y="5589462"/>
              <a:ext cx="585949" cy="717839"/>
            </a:xfrm>
            <a:prstGeom prst="round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T 3</a:t>
              </a:r>
            </a:p>
          </p:txBody>
        </p:sp>
        <p:sp>
          <p:nvSpPr>
            <p:cNvPr id="130" name="Rectangle: Rounded Corners 129"/>
            <p:cNvSpPr/>
            <p:nvPr/>
          </p:nvSpPr>
          <p:spPr>
            <a:xfrm>
              <a:off x="10411877" y="5589936"/>
              <a:ext cx="487369" cy="717839"/>
            </a:xfrm>
            <a:prstGeom prst="roundRect">
              <a:avLst/>
            </a:prstGeom>
            <a:solidFill>
              <a:srgbClr val="0070C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T0</a:t>
              </a:r>
            </a:p>
          </p:txBody>
        </p:sp>
        <p:sp>
          <p:nvSpPr>
            <p:cNvPr id="131" name="Rectangle: Rounded Corners 130"/>
            <p:cNvSpPr/>
            <p:nvPr/>
          </p:nvSpPr>
          <p:spPr>
            <a:xfrm>
              <a:off x="10927157" y="5589936"/>
              <a:ext cx="487369" cy="717839"/>
            </a:xfrm>
            <a:prstGeom prst="round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T1</a:t>
              </a:r>
            </a:p>
          </p:txBody>
        </p:sp>
        <p:sp>
          <p:nvSpPr>
            <p:cNvPr id="132" name="Rectangle: Rounded Corners 131"/>
            <p:cNvSpPr/>
            <p:nvPr/>
          </p:nvSpPr>
          <p:spPr>
            <a:xfrm>
              <a:off x="11443407" y="5586832"/>
              <a:ext cx="296812" cy="717839"/>
            </a:xfrm>
            <a:prstGeom prst="roundRect">
              <a:avLst/>
            </a:prstGeom>
            <a:solidFill>
              <a:srgbClr val="7030A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2</a:t>
              </a:r>
            </a:p>
          </p:txBody>
        </p:sp>
      </p:grpSp>
      <p:sp>
        <p:nvSpPr>
          <p:cNvPr id="66" name="Footer Placeholder 3"/>
          <p:cNvSpPr>
            <a:spLocks noGrp="1"/>
          </p:cNvSpPr>
          <p:nvPr>
            <p:ph type="ftr" sz="quarter" idx="10"/>
          </p:nvPr>
        </p:nvSpPr>
        <p:spPr>
          <a:xfrm>
            <a:off x="628650" y="6489997"/>
            <a:ext cx="2057400" cy="365125"/>
          </a:xfrm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charset="0"/>
              <a:defRPr sz="32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charset="0"/>
              <a:defRPr sz="32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charset="0"/>
              <a:defRPr sz="32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charset="0"/>
              <a:defRPr sz="32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charset="0"/>
              <a:defRPr sz="32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charset="0"/>
              <a:defRPr sz="32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charset="0"/>
              <a:defRPr sz="32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charset="0"/>
              <a:defRPr sz="32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charset="0"/>
              <a:defRPr sz="32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sz="1200">
                <a:latin typeface="Arial" charset="0"/>
              </a:rPr>
              <a:t>Copyright © 2010, Elsevier Inc. All rights Reserved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6BE44D-6AB7-7747-A5B3-8E5957F8FC9E}" type="slidenum">
              <a:rPr lang="en-US" smtClean="0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1574230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TextBox 39"/>
          <p:cNvSpPr txBox="1"/>
          <p:nvPr/>
        </p:nvSpPr>
        <p:spPr>
          <a:xfrm>
            <a:off x="76642" y="21900"/>
            <a:ext cx="9067358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Guided</a:t>
            </a:r>
            <a:r>
              <a:rPr lang="en-US" sz="3200" dirty="0"/>
              <a:t>:</a:t>
            </a:r>
            <a:r>
              <a:rPr lang="en-US" sz="3200" dirty="0">
                <a:latin typeface="Arial" charset="0"/>
              </a:rPr>
              <a:t> thread executes a chunk</a:t>
            </a:r>
          </a:p>
          <a:p>
            <a:r>
              <a:rPr lang="en-US" sz="3200" dirty="0">
                <a:latin typeface="Arial" charset="0"/>
              </a:rPr>
              <a:t>	      when done, it requests another one</a:t>
            </a:r>
          </a:p>
          <a:p>
            <a:r>
              <a:rPr lang="en-US" sz="3200" dirty="0">
                <a:latin typeface="Arial" charset="0"/>
              </a:rPr>
              <a:t>              new chunks decrease in size (until </a:t>
            </a:r>
            <a:r>
              <a:rPr lang="en-US" sz="3200" dirty="0" err="1">
                <a:latin typeface="Arial" charset="0"/>
              </a:rPr>
              <a:t>chunksize</a:t>
            </a:r>
            <a:r>
              <a:rPr lang="en-US" sz="3200" dirty="0">
                <a:latin typeface="Arial" charset="0"/>
              </a:rPr>
              <a:t> is met)</a:t>
            </a:r>
            <a:endParaRPr lang="en-US" sz="3200" dirty="0"/>
          </a:p>
        </p:txBody>
      </p:sp>
      <p:grpSp>
        <p:nvGrpSpPr>
          <p:cNvPr id="134" name="Group 133"/>
          <p:cNvGrpSpPr/>
          <p:nvPr/>
        </p:nvGrpSpPr>
        <p:grpSpPr>
          <a:xfrm>
            <a:off x="67343" y="1348646"/>
            <a:ext cx="9272213" cy="5509354"/>
            <a:chOff x="89791" y="1348646"/>
            <a:chExt cx="12362950" cy="5509354"/>
          </a:xfrm>
        </p:grpSpPr>
        <p:sp>
          <p:nvSpPr>
            <p:cNvPr id="4" name="Rectangle 3"/>
            <p:cNvSpPr/>
            <p:nvPr/>
          </p:nvSpPr>
          <p:spPr>
            <a:xfrm>
              <a:off x="351691" y="1807120"/>
              <a:ext cx="11462083" cy="787791"/>
            </a:xfrm>
            <a:prstGeom prst="rect">
              <a:avLst/>
            </a:prstGeom>
            <a:noFill/>
            <a:ln w="254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" name="Rectangle 5"/>
            <p:cNvSpPr/>
            <p:nvPr/>
          </p:nvSpPr>
          <p:spPr>
            <a:xfrm>
              <a:off x="805807" y="1365349"/>
              <a:ext cx="1443597" cy="5232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2800" dirty="0">
                  <a:latin typeface="Arial" charset="0"/>
                </a:rPr>
                <a:t>Static</a:t>
              </a:r>
            </a:p>
          </p:txBody>
        </p:sp>
        <p:sp>
          <p:nvSpPr>
            <p:cNvPr id="7" name="Rectangle 6"/>
            <p:cNvSpPr/>
            <p:nvPr/>
          </p:nvSpPr>
          <p:spPr>
            <a:xfrm>
              <a:off x="351691" y="3067536"/>
              <a:ext cx="11462083" cy="787791"/>
            </a:xfrm>
            <a:prstGeom prst="rect">
              <a:avLst/>
            </a:prstGeom>
            <a:noFill/>
            <a:ln w="254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" name="Rectangle 7"/>
            <p:cNvSpPr/>
            <p:nvPr/>
          </p:nvSpPr>
          <p:spPr>
            <a:xfrm>
              <a:off x="805807" y="2628724"/>
              <a:ext cx="1975895" cy="5232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2800" dirty="0">
                  <a:latin typeface="Arial" charset="0"/>
                </a:rPr>
                <a:t>Static, n</a:t>
              </a:r>
            </a:p>
          </p:txBody>
        </p:sp>
        <p:sp>
          <p:nvSpPr>
            <p:cNvPr id="13" name="Rectangle 12"/>
            <p:cNvSpPr/>
            <p:nvPr/>
          </p:nvSpPr>
          <p:spPr>
            <a:xfrm>
              <a:off x="333676" y="4294139"/>
              <a:ext cx="11462083" cy="787791"/>
            </a:xfrm>
            <a:prstGeom prst="rect">
              <a:avLst/>
            </a:prstGeom>
            <a:noFill/>
            <a:ln w="254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787792" y="3852368"/>
              <a:ext cx="2108443" cy="5232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2800" dirty="0">
                  <a:latin typeface="Arial" charset="0"/>
                </a:rPr>
                <a:t>Dynamic</a:t>
              </a: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333676" y="5554555"/>
              <a:ext cx="11462083" cy="787791"/>
            </a:xfrm>
            <a:prstGeom prst="rect">
              <a:avLst/>
            </a:prstGeom>
            <a:noFill/>
            <a:ln w="254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Rectangle 15"/>
            <p:cNvSpPr/>
            <p:nvPr/>
          </p:nvSpPr>
          <p:spPr>
            <a:xfrm>
              <a:off x="787792" y="5059471"/>
              <a:ext cx="1790047" cy="5232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2800" dirty="0">
                  <a:highlight>
                    <a:srgbClr val="FFFF00"/>
                  </a:highlight>
                  <a:latin typeface="Arial" charset="0"/>
                </a:rPr>
                <a:t>Guided</a:t>
              </a:r>
            </a:p>
          </p:txBody>
        </p:sp>
        <p:cxnSp>
          <p:nvCxnSpPr>
            <p:cNvPr id="18" name="Straight Arrow Connector 17"/>
            <p:cNvCxnSpPr/>
            <p:nvPr/>
          </p:nvCxnSpPr>
          <p:spPr>
            <a:xfrm>
              <a:off x="2603214" y="6457890"/>
              <a:ext cx="8053754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Rectangle 18"/>
            <p:cNvSpPr/>
            <p:nvPr/>
          </p:nvSpPr>
          <p:spPr>
            <a:xfrm>
              <a:off x="5263609" y="6457890"/>
              <a:ext cx="2725532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2000" dirty="0">
                  <a:latin typeface="Arial" charset="0"/>
                </a:rPr>
                <a:t>iteration number</a:t>
              </a: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89791" y="1383689"/>
              <a:ext cx="488876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/>
                <a:t>0</a:t>
              </a: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89791" y="2628724"/>
              <a:ext cx="488876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/>
                <a:t>0</a:t>
              </a: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89791" y="3852368"/>
              <a:ext cx="488876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/>
                <a:t>0</a:t>
              </a: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89791" y="5115743"/>
              <a:ext cx="488876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/>
                <a:t>0</a:t>
              </a: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11481549" y="1348646"/>
              <a:ext cx="944496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/>
                <a:t>N-1</a:t>
              </a: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11481549" y="2628724"/>
              <a:ext cx="944496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/>
                <a:t>N-1</a:t>
              </a:r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11507384" y="3830030"/>
              <a:ext cx="944496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/>
                <a:t>N-1</a:t>
              </a:r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11508245" y="5105416"/>
              <a:ext cx="944496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/>
                <a:t>N-1</a:t>
              </a:r>
            </a:p>
          </p:txBody>
        </p:sp>
        <p:sp>
          <p:nvSpPr>
            <p:cNvPr id="35" name="Rectangle: Rounded Corners 34"/>
            <p:cNvSpPr/>
            <p:nvPr/>
          </p:nvSpPr>
          <p:spPr>
            <a:xfrm>
              <a:off x="480611" y="1844740"/>
              <a:ext cx="2663518" cy="717839"/>
            </a:xfrm>
            <a:prstGeom prst="roundRect">
              <a:avLst/>
            </a:prstGeom>
            <a:solidFill>
              <a:srgbClr val="0070C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Thread 0</a:t>
              </a:r>
            </a:p>
          </p:txBody>
        </p:sp>
        <p:sp>
          <p:nvSpPr>
            <p:cNvPr id="37" name="Rectangle: Rounded Corners 36"/>
            <p:cNvSpPr/>
            <p:nvPr/>
          </p:nvSpPr>
          <p:spPr>
            <a:xfrm>
              <a:off x="3299710" y="1849129"/>
              <a:ext cx="2663518" cy="717839"/>
            </a:xfrm>
            <a:prstGeom prst="round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Thread 1</a:t>
              </a:r>
            </a:p>
          </p:txBody>
        </p:sp>
        <p:sp>
          <p:nvSpPr>
            <p:cNvPr id="38" name="Rectangle: Rounded Corners 37"/>
            <p:cNvSpPr/>
            <p:nvPr/>
          </p:nvSpPr>
          <p:spPr>
            <a:xfrm>
              <a:off x="6142091" y="1843535"/>
              <a:ext cx="2663518" cy="717839"/>
            </a:xfrm>
            <a:prstGeom prst="roundRect">
              <a:avLst/>
            </a:prstGeom>
            <a:solidFill>
              <a:srgbClr val="7030A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Thread 2</a:t>
              </a:r>
            </a:p>
          </p:txBody>
        </p:sp>
        <p:sp>
          <p:nvSpPr>
            <p:cNvPr id="39" name="Rectangle: Rounded Corners 38"/>
            <p:cNvSpPr/>
            <p:nvPr/>
          </p:nvSpPr>
          <p:spPr>
            <a:xfrm>
              <a:off x="9020428" y="1839299"/>
              <a:ext cx="2663518" cy="717839"/>
            </a:xfrm>
            <a:prstGeom prst="round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Thread 3</a:t>
              </a:r>
            </a:p>
          </p:txBody>
        </p:sp>
        <p:sp>
          <p:nvSpPr>
            <p:cNvPr id="42" name="Rectangle: Rounded Corners 41"/>
            <p:cNvSpPr/>
            <p:nvPr/>
          </p:nvSpPr>
          <p:spPr>
            <a:xfrm>
              <a:off x="407961" y="3108261"/>
              <a:ext cx="1016400" cy="717839"/>
            </a:xfrm>
            <a:prstGeom prst="roundRect">
              <a:avLst/>
            </a:prstGeom>
            <a:solidFill>
              <a:srgbClr val="0070C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Thread 0</a:t>
              </a:r>
            </a:p>
          </p:txBody>
        </p:sp>
        <p:sp>
          <p:nvSpPr>
            <p:cNvPr id="43" name="Rectangle: Rounded Corners 42"/>
            <p:cNvSpPr/>
            <p:nvPr/>
          </p:nvSpPr>
          <p:spPr>
            <a:xfrm>
              <a:off x="1478917" y="3108261"/>
              <a:ext cx="1016400" cy="717839"/>
            </a:xfrm>
            <a:prstGeom prst="round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Thread 1</a:t>
              </a:r>
            </a:p>
          </p:txBody>
        </p:sp>
        <p:sp>
          <p:nvSpPr>
            <p:cNvPr id="44" name="Rectangle: Rounded Corners 43"/>
            <p:cNvSpPr/>
            <p:nvPr/>
          </p:nvSpPr>
          <p:spPr>
            <a:xfrm>
              <a:off x="2557883" y="3105157"/>
              <a:ext cx="1016400" cy="717839"/>
            </a:xfrm>
            <a:prstGeom prst="roundRect">
              <a:avLst/>
            </a:prstGeom>
            <a:solidFill>
              <a:srgbClr val="7030A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Thread 2</a:t>
              </a:r>
            </a:p>
          </p:txBody>
        </p:sp>
        <p:sp>
          <p:nvSpPr>
            <p:cNvPr id="45" name="Rectangle: Rounded Corners 44"/>
            <p:cNvSpPr/>
            <p:nvPr/>
          </p:nvSpPr>
          <p:spPr>
            <a:xfrm>
              <a:off x="3636849" y="3110876"/>
              <a:ext cx="1016400" cy="717839"/>
            </a:xfrm>
            <a:prstGeom prst="round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Thread 3</a:t>
              </a:r>
            </a:p>
          </p:txBody>
        </p:sp>
        <p:sp>
          <p:nvSpPr>
            <p:cNvPr id="59" name="Rectangle: Rounded Corners 58"/>
            <p:cNvSpPr/>
            <p:nvPr/>
          </p:nvSpPr>
          <p:spPr>
            <a:xfrm>
              <a:off x="4707805" y="3102506"/>
              <a:ext cx="1016400" cy="717839"/>
            </a:xfrm>
            <a:prstGeom prst="roundRect">
              <a:avLst/>
            </a:prstGeom>
            <a:solidFill>
              <a:srgbClr val="0070C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Thread 0</a:t>
              </a:r>
            </a:p>
          </p:txBody>
        </p:sp>
        <p:sp>
          <p:nvSpPr>
            <p:cNvPr id="60" name="Rectangle: Rounded Corners 59"/>
            <p:cNvSpPr/>
            <p:nvPr/>
          </p:nvSpPr>
          <p:spPr>
            <a:xfrm>
              <a:off x="5778761" y="3102506"/>
              <a:ext cx="1016400" cy="717839"/>
            </a:xfrm>
            <a:prstGeom prst="round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Thread 1</a:t>
              </a:r>
            </a:p>
          </p:txBody>
        </p:sp>
        <p:sp>
          <p:nvSpPr>
            <p:cNvPr id="61" name="Rectangle: Rounded Corners 60"/>
            <p:cNvSpPr/>
            <p:nvPr/>
          </p:nvSpPr>
          <p:spPr>
            <a:xfrm>
              <a:off x="6857727" y="3099402"/>
              <a:ext cx="1016400" cy="717839"/>
            </a:xfrm>
            <a:prstGeom prst="roundRect">
              <a:avLst/>
            </a:prstGeom>
            <a:solidFill>
              <a:srgbClr val="7030A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Thread 2</a:t>
              </a:r>
            </a:p>
          </p:txBody>
        </p:sp>
        <p:sp>
          <p:nvSpPr>
            <p:cNvPr id="62" name="Rectangle: Rounded Corners 61"/>
            <p:cNvSpPr/>
            <p:nvPr/>
          </p:nvSpPr>
          <p:spPr>
            <a:xfrm>
              <a:off x="7936693" y="3105121"/>
              <a:ext cx="1016400" cy="717839"/>
            </a:xfrm>
            <a:prstGeom prst="round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Thread 3</a:t>
              </a:r>
            </a:p>
          </p:txBody>
        </p:sp>
        <p:sp>
          <p:nvSpPr>
            <p:cNvPr id="63" name="Rectangle: Rounded Corners 62"/>
            <p:cNvSpPr/>
            <p:nvPr/>
          </p:nvSpPr>
          <p:spPr>
            <a:xfrm>
              <a:off x="9015659" y="3107779"/>
              <a:ext cx="1016400" cy="717839"/>
            </a:xfrm>
            <a:prstGeom prst="roundRect">
              <a:avLst/>
            </a:prstGeom>
            <a:solidFill>
              <a:srgbClr val="0070C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Thread 0</a:t>
              </a:r>
            </a:p>
          </p:txBody>
        </p:sp>
        <p:sp>
          <p:nvSpPr>
            <p:cNvPr id="64" name="Rectangle: Rounded Corners 63"/>
            <p:cNvSpPr/>
            <p:nvPr/>
          </p:nvSpPr>
          <p:spPr>
            <a:xfrm>
              <a:off x="10086615" y="3107779"/>
              <a:ext cx="1016400" cy="717839"/>
            </a:xfrm>
            <a:prstGeom prst="round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Thread 1</a:t>
              </a:r>
            </a:p>
          </p:txBody>
        </p:sp>
        <p:sp>
          <p:nvSpPr>
            <p:cNvPr id="65" name="Rectangle: Rounded Corners 64"/>
            <p:cNvSpPr/>
            <p:nvPr/>
          </p:nvSpPr>
          <p:spPr>
            <a:xfrm>
              <a:off x="11157571" y="3104675"/>
              <a:ext cx="582647" cy="717839"/>
            </a:xfrm>
            <a:prstGeom prst="roundRect">
              <a:avLst/>
            </a:prstGeom>
            <a:solidFill>
              <a:srgbClr val="7030A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T2</a:t>
              </a:r>
            </a:p>
          </p:txBody>
        </p:sp>
        <p:sp>
          <p:nvSpPr>
            <p:cNvPr id="92" name="Rectangle: Rounded Corners 91"/>
            <p:cNvSpPr/>
            <p:nvPr/>
          </p:nvSpPr>
          <p:spPr>
            <a:xfrm>
              <a:off x="407961" y="4327952"/>
              <a:ext cx="1016400" cy="717839"/>
            </a:xfrm>
            <a:prstGeom prst="roundRect">
              <a:avLst/>
            </a:prstGeom>
            <a:solidFill>
              <a:srgbClr val="0070C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Thread 0</a:t>
              </a:r>
            </a:p>
          </p:txBody>
        </p:sp>
        <p:sp>
          <p:nvSpPr>
            <p:cNvPr id="93" name="Rectangle: Rounded Corners 92"/>
            <p:cNvSpPr/>
            <p:nvPr/>
          </p:nvSpPr>
          <p:spPr>
            <a:xfrm>
              <a:off x="1478917" y="4327952"/>
              <a:ext cx="1016400" cy="717839"/>
            </a:xfrm>
            <a:prstGeom prst="round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Thread 1</a:t>
              </a:r>
            </a:p>
          </p:txBody>
        </p:sp>
        <p:sp>
          <p:nvSpPr>
            <p:cNvPr id="94" name="Rectangle: Rounded Corners 93"/>
            <p:cNvSpPr/>
            <p:nvPr/>
          </p:nvSpPr>
          <p:spPr>
            <a:xfrm>
              <a:off x="2557883" y="4324848"/>
              <a:ext cx="1016400" cy="717839"/>
            </a:xfrm>
            <a:prstGeom prst="roundRect">
              <a:avLst/>
            </a:prstGeom>
            <a:solidFill>
              <a:srgbClr val="7030A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Thread 2</a:t>
              </a:r>
            </a:p>
          </p:txBody>
        </p:sp>
        <p:sp>
          <p:nvSpPr>
            <p:cNvPr id="95" name="Rectangle: Rounded Corners 94"/>
            <p:cNvSpPr/>
            <p:nvPr/>
          </p:nvSpPr>
          <p:spPr>
            <a:xfrm>
              <a:off x="3636849" y="4330567"/>
              <a:ext cx="1016400" cy="717839"/>
            </a:xfrm>
            <a:prstGeom prst="round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Thread 3</a:t>
              </a:r>
            </a:p>
          </p:txBody>
        </p:sp>
        <p:sp>
          <p:nvSpPr>
            <p:cNvPr id="96" name="Rectangle: Rounded Corners 95"/>
            <p:cNvSpPr/>
            <p:nvPr/>
          </p:nvSpPr>
          <p:spPr>
            <a:xfrm>
              <a:off x="5804039" y="4326127"/>
              <a:ext cx="1016400" cy="717839"/>
            </a:xfrm>
            <a:prstGeom prst="roundRect">
              <a:avLst/>
            </a:prstGeom>
            <a:solidFill>
              <a:srgbClr val="0070C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Thread 0</a:t>
              </a:r>
            </a:p>
          </p:txBody>
        </p:sp>
        <p:sp>
          <p:nvSpPr>
            <p:cNvPr id="97" name="Rectangle: Rounded Corners 96"/>
            <p:cNvSpPr/>
            <p:nvPr/>
          </p:nvSpPr>
          <p:spPr>
            <a:xfrm>
              <a:off x="4738595" y="4323655"/>
              <a:ext cx="1016400" cy="717839"/>
            </a:xfrm>
            <a:prstGeom prst="round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Thread 1</a:t>
              </a:r>
            </a:p>
          </p:txBody>
        </p:sp>
        <p:sp>
          <p:nvSpPr>
            <p:cNvPr id="98" name="Rectangle: Rounded Corners 97"/>
            <p:cNvSpPr/>
            <p:nvPr/>
          </p:nvSpPr>
          <p:spPr>
            <a:xfrm>
              <a:off x="6865737" y="4323654"/>
              <a:ext cx="1016400" cy="717839"/>
            </a:xfrm>
            <a:prstGeom prst="roundRect">
              <a:avLst/>
            </a:prstGeom>
            <a:solidFill>
              <a:srgbClr val="7030A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Thread 2</a:t>
              </a:r>
            </a:p>
          </p:txBody>
        </p:sp>
        <p:sp>
          <p:nvSpPr>
            <p:cNvPr id="99" name="Rectangle: Rounded Corners 98"/>
            <p:cNvSpPr/>
            <p:nvPr/>
          </p:nvSpPr>
          <p:spPr>
            <a:xfrm>
              <a:off x="9014674" y="4335049"/>
              <a:ext cx="1016400" cy="717839"/>
            </a:xfrm>
            <a:prstGeom prst="round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Thread 3</a:t>
              </a:r>
            </a:p>
          </p:txBody>
        </p:sp>
        <p:sp>
          <p:nvSpPr>
            <p:cNvPr id="100" name="Rectangle: Rounded Corners 99"/>
            <p:cNvSpPr/>
            <p:nvPr/>
          </p:nvSpPr>
          <p:spPr>
            <a:xfrm>
              <a:off x="11157571" y="4329114"/>
              <a:ext cx="582647" cy="717839"/>
            </a:xfrm>
            <a:prstGeom prst="roundRect">
              <a:avLst/>
            </a:prstGeom>
            <a:solidFill>
              <a:srgbClr val="0070C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T0</a:t>
              </a:r>
            </a:p>
          </p:txBody>
        </p:sp>
        <p:sp>
          <p:nvSpPr>
            <p:cNvPr id="101" name="Rectangle: Rounded Corners 100"/>
            <p:cNvSpPr/>
            <p:nvPr/>
          </p:nvSpPr>
          <p:spPr>
            <a:xfrm>
              <a:off x="10086615" y="4327470"/>
              <a:ext cx="1016400" cy="717839"/>
            </a:xfrm>
            <a:prstGeom prst="round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Thread 1</a:t>
              </a:r>
            </a:p>
          </p:txBody>
        </p:sp>
        <p:sp>
          <p:nvSpPr>
            <p:cNvPr id="103" name="Rectangle: Rounded Corners 102"/>
            <p:cNvSpPr/>
            <p:nvPr/>
          </p:nvSpPr>
          <p:spPr>
            <a:xfrm>
              <a:off x="7939799" y="4321639"/>
              <a:ext cx="1016400" cy="717839"/>
            </a:xfrm>
            <a:prstGeom prst="round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Thread 1</a:t>
              </a:r>
            </a:p>
          </p:txBody>
        </p:sp>
        <p:sp>
          <p:nvSpPr>
            <p:cNvPr id="104" name="Rectangle: Rounded Corners 103"/>
            <p:cNvSpPr/>
            <p:nvPr/>
          </p:nvSpPr>
          <p:spPr>
            <a:xfrm>
              <a:off x="407961" y="5598285"/>
              <a:ext cx="1016400" cy="717839"/>
            </a:xfrm>
            <a:prstGeom prst="roundRect">
              <a:avLst/>
            </a:prstGeom>
            <a:solidFill>
              <a:srgbClr val="0070C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Thread 0</a:t>
              </a:r>
            </a:p>
          </p:txBody>
        </p:sp>
        <p:sp>
          <p:nvSpPr>
            <p:cNvPr id="105" name="Rectangle: Rounded Corners 104"/>
            <p:cNvSpPr/>
            <p:nvPr/>
          </p:nvSpPr>
          <p:spPr>
            <a:xfrm>
              <a:off x="1478917" y="5598285"/>
              <a:ext cx="1016400" cy="717839"/>
            </a:xfrm>
            <a:prstGeom prst="round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Thread 1</a:t>
              </a:r>
            </a:p>
          </p:txBody>
        </p:sp>
        <p:sp>
          <p:nvSpPr>
            <p:cNvPr id="106" name="Rectangle: Rounded Corners 105"/>
            <p:cNvSpPr/>
            <p:nvPr/>
          </p:nvSpPr>
          <p:spPr>
            <a:xfrm>
              <a:off x="2557883" y="5595181"/>
              <a:ext cx="1016400" cy="717839"/>
            </a:xfrm>
            <a:prstGeom prst="roundRect">
              <a:avLst/>
            </a:prstGeom>
            <a:solidFill>
              <a:srgbClr val="7030A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Thread 2</a:t>
              </a:r>
            </a:p>
          </p:txBody>
        </p:sp>
        <p:sp>
          <p:nvSpPr>
            <p:cNvPr id="107" name="Rectangle: Rounded Corners 106"/>
            <p:cNvSpPr/>
            <p:nvPr/>
          </p:nvSpPr>
          <p:spPr>
            <a:xfrm>
              <a:off x="3636849" y="5600900"/>
              <a:ext cx="1016400" cy="717839"/>
            </a:xfrm>
            <a:prstGeom prst="round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Thread 3</a:t>
              </a:r>
            </a:p>
          </p:txBody>
        </p:sp>
        <p:sp>
          <p:nvSpPr>
            <p:cNvPr id="118" name="Rectangle: Rounded Corners 117"/>
            <p:cNvSpPr/>
            <p:nvPr/>
          </p:nvSpPr>
          <p:spPr>
            <a:xfrm>
              <a:off x="4721984" y="5592566"/>
              <a:ext cx="728894" cy="717839"/>
            </a:xfrm>
            <a:prstGeom prst="roundRect">
              <a:avLst/>
            </a:prstGeom>
            <a:solidFill>
              <a:srgbClr val="0070C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Thr0</a:t>
              </a:r>
            </a:p>
          </p:txBody>
        </p:sp>
        <p:sp>
          <p:nvSpPr>
            <p:cNvPr id="119" name="Rectangle: Rounded Corners 118"/>
            <p:cNvSpPr/>
            <p:nvPr/>
          </p:nvSpPr>
          <p:spPr>
            <a:xfrm>
              <a:off x="5504551" y="5592566"/>
              <a:ext cx="728894" cy="717839"/>
            </a:xfrm>
            <a:prstGeom prst="round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Thr1</a:t>
              </a:r>
            </a:p>
          </p:txBody>
        </p:sp>
        <p:sp>
          <p:nvSpPr>
            <p:cNvPr id="120" name="Rectangle: Rounded Corners 119"/>
            <p:cNvSpPr/>
            <p:nvPr/>
          </p:nvSpPr>
          <p:spPr>
            <a:xfrm>
              <a:off x="6288089" y="5589462"/>
              <a:ext cx="728894" cy="717839"/>
            </a:xfrm>
            <a:prstGeom prst="roundRect">
              <a:avLst/>
            </a:prstGeom>
            <a:solidFill>
              <a:srgbClr val="7030A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Thr2</a:t>
              </a:r>
            </a:p>
          </p:txBody>
        </p:sp>
        <p:sp>
          <p:nvSpPr>
            <p:cNvPr id="121" name="Rectangle: Rounded Corners 120"/>
            <p:cNvSpPr/>
            <p:nvPr/>
          </p:nvSpPr>
          <p:spPr>
            <a:xfrm>
              <a:off x="7078662" y="5595181"/>
              <a:ext cx="728894" cy="717839"/>
            </a:xfrm>
            <a:prstGeom prst="round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Thr3</a:t>
              </a:r>
            </a:p>
          </p:txBody>
        </p:sp>
        <p:sp>
          <p:nvSpPr>
            <p:cNvPr id="122" name="Rectangle: Rounded Corners 121"/>
            <p:cNvSpPr/>
            <p:nvPr/>
          </p:nvSpPr>
          <p:spPr>
            <a:xfrm>
              <a:off x="7861021" y="5586847"/>
              <a:ext cx="585949" cy="717839"/>
            </a:xfrm>
            <a:prstGeom prst="roundRect">
              <a:avLst/>
            </a:prstGeom>
            <a:solidFill>
              <a:srgbClr val="0070C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T 0</a:t>
              </a:r>
            </a:p>
          </p:txBody>
        </p:sp>
        <p:sp>
          <p:nvSpPr>
            <p:cNvPr id="123" name="Rectangle: Rounded Corners 122"/>
            <p:cNvSpPr/>
            <p:nvPr/>
          </p:nvSpPr>
          <p:spPr>
            <a:xfrm>
              <a:off x="8502913" y="5586847"/>
              <a:ext cx="585949" cy="717839"/>
            </a:xfrm>
            <a:prstGeom prst="round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T 1</a:t>
              </a:r>
            </a:p>
          </p:txBody>
        </p:sp>
        <p:sp>
          <p:nvSpPr>
            <p:cNvPr id="124" name="Rectangle: Rounded Corners 123"/>
            <p:cNvSpPr/>
            <p:nvPr/>
          </p:nvSpPr>
          <p:spPr>
            <a:xfrm>
              <a:off x="9131706" y="5583743"/>
              <a:ext cx="585949" cy="717839"/>
            </a:xfrm>
            <a:prstGeom prst="roundRect">
              <a:avLst/>
            </a:prstGeom>
            <a:solidFill>
              <a:srgbClr val="7030A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T 2</a:t>
              </a:r>
            </a:p>
          </p:txBody>
        </p:sp>
        <p:sp>
          <p:nvSpPr>
            <p:cNvPr id="125" name="Rectangle: Rounded Corners 124"/>
            <p:cNvSpPr/>
            <p:nvPr/>
          </p:nvSpPr>
          <p:spPr>
            <a:xfrm>
              <a:off x="9774571" y="5589462"/>
              <a:ext cx="585949" cy="717839"/>
            </a:xfrm>
            <a:prstGeom prst="round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T 3</a:t>
              </a:r>
            </a:p>
          </p:txBody>
        </p:sp>
        <p:sp>
          <p:nvSpPr>
            <p:cNvPr id="130" name="Rectangle: Rounded Corners 129"/>
            <p:cNvSpPr/>
            <p:nvPr/>
          </p:nvSpPr>
          <p:spPr>
            <a:xfrm>
              <a:off x="10411877" y="5589936"/>
              <a:ext cx="487369" cy="717839"/>
            </a:xfrm>
            <a:prstGeom prst="roundRect">
              <a:avLst/>
            </a:prstGeom>
            <a:solidFill>
              <a:srgbClr val="0070C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T0</a:t>
              </a:r>
            </a:p>
          </p:txBody>
        </p:sp>
        <p:sp>
          <p:nvSpPr>
            <p:cNvPr id="131" name="Rectangle: Rounded Corners 130"/>
            <p:cNvSpPr/>
            <p:nvPr/>
          </p:nvSpPr>
          <p:spPr>
            <a:xfrm>
              <a:off x="10927157" y="5589936"/>
              <a:ext cx="487369" cy="717839"/>
            </a:xfrm>
            <a:prstGeom prst="round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T1</a:t>
              </a:r>
            </a:p>
          </p:txBody>
        </p:sp>
        <p:sp>
          <p:nvSpPr>
            <p:cNvPr id="132" name="Rectangle: Rounded Corners 131"/>
            <p:cNvSpPr/>
            <p:nvPr/>
          </p:nvSpPr>
          <p:spPr>
            <a:xfrm>
              <a:off x="11443407" y="5586832"/>
              <a:ext cx="296812" cy="717839"/>
            </a:xfrm>
            <a:prstGeom prst="roundRect">
              <a:avLst/>
            </a:prstGeom>
            <a:solidFill>
              <a:srgbClr val="7030A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2</a:t>
              </a:r>
            </a:p>
          </p:txBody>
        </p:sp>
      </p:grpSp>
      <p:sp>
        <p:nvSpPr>
          <p:cNvPr id="66" name="Footer Placeholder 3"/>
          <p:cNvSpPr>
            <a:spLocks noGrp="1"/>
          </p:cNvSpPr>
          <p:nvPr>
            <p:ph type="ftr" sz="quarter" idx="10"/>
          </p:nvPr>
        </p:nvSpPr>
        <p:spPr>
          <a:xfrm>
            <a:off x="628650" y="6489997"/>
            <a:ext cx="2057400" cy="365125"/>
          </a:xfrm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charset="0"/>
              <a:defRPr sz="32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charset="0"/>
              <a:defRPr sz="32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charset="0"/>
              <a:defRPr sz="32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charset="0"/>
              <a:defRPr sz="32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charset="0"/>
              <a:defRPr sz="32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charset="0"/>
              <a:defRPr sz="32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charset="0"/>
              <a:defRPr sz="32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charset="0"/>
              <a:defRPr sz="32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charset="0"/>
              <a:defRPr sz="32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sz="1200">
                <a:latin typeface="Arial" charset="0"/>
              </a:rPr>
              <a:t>Copyright © 2010, Elsevier Inc. All rights Reserved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6BE44D-6AB7-7747-A5B3-8E5957F8FC9E}" type="slidenum">
              <a:rPr lang="en-US" smtClean="0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0962091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1143000"/>
          </a:xfrm>
        </p:spPr>
        <p:txBody>
          <a:bodyPr/>
          <a:lstStyle/>
          <a:p>
            <a:r>
              <a:rPr lang="en-US" dirty="0" err="1"/>
              <a:t>multiplication.c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Go over this code at a conceptual level </a:t>
            </a:r>
            <a:r>
              <a:rPr lang="mr-IN" dirty="0">
                <a:solidFill>
                  <a:srgbClr val="FF0000"/>
                </a:solidFill>
              </a:rPr>
              <a:t>–</a:t>
            </a:r>
            <a:r>
              <a:rPr lang="en-US" dirty="0">
                <a:solidFill>
                  <a:srgbClr val="FF0000"/>
                </a:solidFill>
              </a:rPr>
              <a:t> show where and how to parallelize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 2010, Elsevier Inc. All rights Reserved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6BE44D-6AB7-7747-A5B3-8E5957F8FC9E}" type="slidenum">
              <a:rPr lang="en-US" smtClean="0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5856268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7" name="Title 4"/>
          <p:cNvSpPr>
            <a:spLocks noGrp="1"/>
          </p:cNvSpPr>
          <p:nvPr>
            <p:ph type="title"/>
          </p:nvPr>
        </p:nvSpPr>
        <p:spPr>
          <a:xfrm>
            <a:off x="611188" y="109538"/>
            <a:ext cx="8281987" cy="708025"/>
          </a:xfrm>
        </p:spPr>
        <p:txBody>
          <a:bodyPr>
            <a:normAutofit fontScale="90000"/>
          </a:bodyPr>
          <a:lstStyle/>
          <a:p>
            <a:r>
              <a:rPr lang="en-US">
                <a:latin typeface="Arial" charset="0"/>
              </a:rPr>
              <a:t>Matrix-vector multiplication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charset="0"/>
              <a:defRPr sz="32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charset="0"/>
              <a:defRPr sz="32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charset="0"/>
              <a:defRPr sz="32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charset="0"/>
              <a:defRPr sz="32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charset="0"/>
              <a:defRPr sz="32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charset="0"/>
              <a:defRPr sz="32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charset="0"/>
              <a:defRPr sz="32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charset="0"/>
              <a:defRPr sz="32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charset="0"/>
              <a:defRPr sz="32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sz="1200">
                <a:latin typeface="Arial" charset="0"/>
              </a:rPr>
              <a:t>Copyright © 2010, Elsevier Inc. All rights Reserved</a:t>
            </a:r>
          </a:p>
        </p:txBody>
      </p:sp>
      <p:pic>
        <p:nvPicPr>
          <p:cNvPr id="106499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850" y="1628775"/>
            <a:ext cx="8513763" cy="2371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6500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27313" y="1196975"/>
            <a:ext cx="3800475" cy="390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6501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1050" y="4365625"/>
            <a:ext cx="3981450" cy="1695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6BE44D-6AB7-7747-A5B3-8E5957F8FC9E}" type="slidenum">
              <a:rPr lang="en-US" smtClean="0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7280423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M x V = X: Parallelization Strategies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6BE44D-6AB7-7747-A5B3-8E5957F8FC9E}" type="slidenum">
              <a:rPr lang="en-US" smtClean="0"/>
              <a:t>71</a:t>
            </a:fld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660797" y="2456780"/>
            <a:ext cx="3331029" cy="2656396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 rot="5400000">
            <a:off x="3334912" y="3792118"/>
            <a:ext cx="3331029" cy="636036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6221185" y="2444619"/>
            <a:ext cx="664029" cy="2736725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5542381" y="3359020"/>
            <a:ext cx="43954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/>
              <a:t>=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2123" y="3352347"/>
            <a:ext cx="40748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/>
              <a:t>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306" y="1399591"/>
            <a:ext cx="274908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u="sng" dirty="0"/>
              <a:t>Row Decomposition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5248" y="2478553"/>
            <a:ext cx="3331029" cy="675194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</a:rPr>
              <a:t>Thread 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8439" y="3153747"/>
            <a:ext cx="3331029" cy="675194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Thread 1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69126" y="3811515"/>
            <a:ext cx="3331029" cy="67519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Thread 2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4128" y="4506151"/>
            <a:ext cx="3331029" cy="675194"/>
          </a:xfrm>
          <a:prstGeom prst="rect">
            <a:avLst/>
          </a:prstGeom>
          <a:solidFill>
            <a:srgbClr val="E6E06D"/>
          </a:solidFill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Thread 3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21185" y="2444619"/>
            <a:ext cx="664029" cy="675194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Thread 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21185" y="3109784"/>
            <a:ext cx="664029" cy="675194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Thread 1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21185" y="3830957"/>
            <a:ext cx="664029" cy="67519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Thread 2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21185" y="4529140"/>
            <a:ext cx="664029" cy="675194"/>
          </a:xfrm>
          <a:prstGeom prst="rect">
            <a:avLst/>
          </a:prstGeom>
          <a:solidFill>
            <a:srgbClr val="E6E06D"/>
          </a:solidFill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Thread 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3306" y="2060578"/>
            <a:ext cx="7489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m x n 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22749" y="2019623"/>
            <a:ext cx="6815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 x 1 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571669" y="2026296"/>
            <a:ext cx="7441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 x 1 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5617029"/>
            <a:ext cx="592726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charset="2"/>
              <a:buChar char="Ø"/>
            </a:pPr>
            <a:r>
              <a:rPr lang="en-US" dirty="0"/>
              <a:t>Each thread gets m/p rows</a:t>
            </a:r>
          </a:p>
          <a:p>
            <a:pPr marL="285750" indent="-285750">
              <a:buFont typeface="Wingdings" charset="2"/>
              <a:buChar char="Ø"/>
            </a:pPr>
            <a:r>
              <a:rPr lang="en-US" dirty="0"/>
              <a:t>Time taken is proportional to: (</a:t>
            </a:r>
            <a:r>
              <a:rPr lang="en-US" dirty="0" err="1"/>
              <a:t>mn</a:t>
            </a:r>
            <a:r>
              <a:rPr lang="en-US" dirty="0"/>
              <a:t>)/p : per thread</a:t>
            </a:r>
          </a:p>
          <a:p>
            <a:pPr marL="285750" indent="-285750">
              <a:buFont typeface="Wingdings" charset="2"/>
              <a:buChar char="Ø"/>
            </a:pPr>
            <a:r>
              <a:rPr lang="en-US" dirty="0"/>
              <a:t>No need for any synchronization (static scheduling will do)</a:t>
            </a:r>
          </a:p>
        </p:txBody>
      </p:sp>
    </p:spTree>
    <p:extLst>
      <p:ext uri="{BB962C8B-B14F-4D97-AF65-F5344CB8AC3E}">
        <p14:creationId xmlns:p14="http://schemas.microsoft.com/office/powerpoint/2010/main" val="18976516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4" grpId="0" animBg="1"/>
      <p:bldP spid="25" grpId="0" animBg="1"/>
      <p:bldP spid="33" grpId="0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M x V = X: Parallelization Strategies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6BE44D-6AB7-7747-A5B3-8E5957F8FC9E}" type="slidenum">
              <a:rPr lang="en-US" smtClean="0"/>
              <a:t>72</a:t>
            </a:fld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667385" y="2497672"/>
            <a:ext cx="3331029" cy="2656396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 rot="5400000">
            <a:off x="3334912" y="3792118"/>
            <a:ext cx="3331029" cy="636036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6221185" y="2444619"/>
            <a:ext cx="664029" cy="2736725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5542381" y="3359020"/>
            <a:ext cx="43954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/>
              <a:t>=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2123" y="3352347"/>
            <a:ext cx="40748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/>
              <a:t>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306" y="1399591"/>
            <a:ext cx="317144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u="sng" dirty="0"/>
              <a:t>Column Decomposition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5249" y="2475148"/>
            <a:ext cx="823432" cy="2694633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Thread 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468682" y="2475148"/>
            <a:ext cx="849763" cy="2694633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Thread 1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318446" y="2478552"/>
            <a:ext cx="842084" cy="267551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Thread 2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160529" y="2478552"/>
            <a:ext cx="849765" cy="2675515"/>
          </a:xfrm>
          <a:prstGeom prst="rect">
            <a:avLst/>
          </a:prstGeom>
          <a:solidFill>
            <a:srgbClr val="E6E06D"/>
          </a:solidFill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Thread 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3306" y="2060578"/>
            <a:ext cx="7489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m x n 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22749" y="2019623"/>
            <a:ext cx="6815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 x 1 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571669" y="2026296"/>
            <a:ext cx="7441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 x 1 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5617029"/>
            <a:ext cx="705744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charset="2"/>
              <a:buChar char="Ø"/>
            </a:pPr>
            <a:r>
              <a:rPr lang="en-US" dirty="0"/>
              <a:t>Each thread gets n/p columns</a:t>
            </a:r>
          </a:p>
          <a:p>
            <a:pPr marL="285750" indent="-285750">
              <a:buFont typeface="Wingdings" charset="2"/>
              <a:buChar char="Ø"/>
            </a:pPr>
            <a:r>
              <a:rPr lang="en-US" dirty="0"/>
              <a:t>Time taken is proportional to: (</a:t>
            </a:r>
            <a:r>
              <a:rPr lang="en-US" dirty="0" err="1"/>
              <a:t>mn</a:t>
            </a:r>
            <a:r>
              <a:rPr lang="en-US" dirty="0"/>
              <a:t>)/p + time for reduction : per thread</a:t>
            </a:r>
          </a:p>
        </p:txBody>
      </p:sp>
      <p:grpSp>
        <p:nvGrpSpPr>
          <p:cNvPr id="28" name="Group 27"/>
          <p:cNvGrpSpPr/>
          <p:nvPr/>
        </p:nvGrpSpPr>
        <p:grpSpPr>
          <a:xfrm>
            <a:off x="1045029" y="1181114"/>
            <a:ext cx="7755466" cy="1300829"/>
            <a:chOff x="1045029" y="1181114"/>
            <a:chExt cx="7755466" cy="1300829"/>
          </a:xfrm>
        </p:grpSpPr>
        <p:sp>
          <p:nvSpPr>
            <p:cNvPr id="3" name="TextBox 2"/>
            <p:cNvSpPr txBox="1"/>
            <p:nvPr/>
          </p:nvSpPr>
          <p:spPr>
            <a:xfrm>
              <a:off x="6885214" y="1746462"/>
              <a:ext cx="173477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x0 + x1 + x2 + x3</a:t>
              </a:r>
            </a:p>
          </p:txBody>
        </p:sp>
        <p:sp>
          <p:nvSpPr>
            <p:cNvPr id="6" name="Freeform 5"/>
            <p:cNvSpPr/>
            <p:nvPr/>
          </p:nvSpPr>
          <p:spPr>
            <a:xfrm>
              <a:off x="1045029" y="1343920"/>
              <a:ext cx="5990253" cy="1100700"/>
            </a:xfrm>
            <a:custGeom>
              <a:avLst/>
              <a:gdLst>
                <a:gd name="connsiteX0" fmla="*/ 0 w 5990253"/>
                <a:gd name="connsiteY0" fmla="*/ 1100700 h 1100700"/>
                <a:gd name="connsiteX1" fmla="*/ 3769567 w 5990253"/>
                <a:gd name="connsiteY1" fmla="*/ 18349 h 1100700"/>
                <a:gd name="connsiteX2" fmla="*/ 5990253 w 5990253"/>
                <a:gd name="connsiteY2" fmla="*/ 391574 h 1100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990253" h="1100700">
                  <a:moveTo>
                    <a:pt x="0" y="1100700"/>
                  </a:moveTo>
                  <a:cubicBezTo>
                    <a:pt x="1385596" y="618618"/>
                    <a:pt x="2771192" y="136537"/>
                    <a:pt x="3769567" y="18349"/>
                  </a:cubicBezTo>
                  <a:cubicBezTo>
                    <a:pt x="4767942" y="-99839"/>
                    <a:pt x="5990253" y="391574"/>
                    <a:pt x="5990253" y="391574"/>
                  </a:cubicBezTo>
                </a:path>
              </a:pathLst>
            </a:custGeom>
            <a:noFill/>
            <a:ln>
              <a:tailEnd type="arrow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Freeform 12"/>
            <p:cNvSpPr/>
            <p:nvPr/>
          </p:nvSpPr>
          <p:spPr>
            <a:xfrm>
              <a:off x="1996751" y="1181114"/>
              <a:ext cx="5505326" cy="1263506"/>
            </a:xfrm>
            <a:custGeom>
              <a:avLst/>
              <a:gdLst>
                <a:gd name="connsiteX0" fmla="*/ 0 w 5505326"/>
                <a:gd name="connsiteY0" fmla="*/ 1263506 h 1263506"/>
                <a:gd name="connsiteX1" fmla="*/ 4627984 w 5505326"/>
                <a:gd name="connsiteY1" fmla="*/ 13204 h 1263506"/>
                <a:gd name="connsiteX2" fmla="*/ 5505061 w 5505326"/>
                <a:gd name="connsiteY2" fmla="*/ 573041 h 12635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505326" h="1263506">
                  <a:moveTo>
                    <a:pt x="0" y="1263506"/>
                  </a:moveTo>
                  <a:cubicBezTo>
                    <a:pt x="1855237" y="695893"/>
                    <a:pt x="3710474" y="128281"/>
                    <a:pt x="4627984" y="13204"/>
                  </a:cubicBezTo>
                  <a:cubicBezTo>
                    <a:pt x="5545494" y="-101873"/>
                    <a:pt x="5505061" y="573041"/>
                    <a:pt x="5505061" y="573041"/>
                  </a:cubicBezTo>
                </a:path>
              </a:pathLst>
            </a:custGeom>
            <a:noFill/>
            <a:ln>
              <a:tailEnd type="arrow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Freeform 13"/>
            <p:cNvSpPr/>
            <p:nvPr/>
          </p:nvSpPr>
          <p:spPr>
            <a:xfrm>
              <a:off x="2911151" y="1329904"/>
              <a:ext cx="5192804" cy="1133378"/>
            </a:xfrm>
            <a:custGeom>
              <a:avLst/>
              <a:gdLst>
                <a:gd name="connsiteX0" fmla="*/ 0 w 5192804"/>
                <a:gd name="connsiteY0" fmla="*/ 1133378 h 1133378"/>
                <a:gd name="connsiteX1" fmla="*/ 4739951 w 5192804"/>
                <a:gd name="connsiteY1" fmla="*/ 13704 h 1133378"/>
                <a:gd name="connsiteX2" fmla="*/ 5001208 w 5192804"/>
                <a:gd name="connsiteY2" fmla="*/ 480235 h 11333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192804" h="1133378">
                  <a:moveTo>
                    <a:pt x="0" y="1133378"/>
                  </a:moveTo>
                  <a:cubicBezTo>
                    <a:pt x="1953208" y="627969"/>
                    <a:pt x="3906416" y="122561"/>
                    <a:pt x="4739951" y="13704"/>
                  </a:cubicBezTo>
                  <a:cubicBezTo>
                    <a:pt x="5573486" y="-95153"/>
                    <a:pt x="5001208" y="480235"/>
                    <a:pt x="5001208" y="480235"/>
                  </a:cubicBezTo>
                </a:path>
              </a:pathLst>
            </a:custGeom>
            <a:noFill/>
            <a:ln>
              <a:tailEnd type="arrow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 15"/>
            <p:cNvSpPr/>
            <p:nvPr/>
          </p:nvSpPr>
          <p:spPr>
            <a:xfrm>
              <a:off x="3769567" y="1343717"/>
              <a:ext cx="5030928" cy="1138226"/>
            </a:xfrm>
            <a:custGeom>
              <a:avLst/>
              <a:gdLst>
                <a:gd name="connsiteX0" fmla="*/ 0 w 5030928"/>
                <a:gd name="connsiteY0" fmla="*/ 1138226 h 1138226"/>
                <a:gd name="connsiteX1" fmla="*/ 4683968 w 5030928"/>
                <a:gd name="connsiteY1" fmla="*/ 18552 h 1138226"/>
                <a:gd name="connsiteX2" fmla="*/ 4683968 w 5030928"/>
                <a:gd name="connsiteY2" fmla="*/ 410438 h 1138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030928" h="1138226">
                  <a:moveTo>
                    <a:pt x="0" y="1138226"/>
                  </a:moveTo>
                  <a:cubicBezTo>
                    <a:pt x="1951653" y="639038"/>
                    <a:pt x="3903307" y="139850"/>
                    <a:pt x="4683968" y="18552"/>
                  </a:cubicBezTo>
                  <a:cubicBezTo>
                    <a:pt x="5464629" y="-102746"/>
                    <a:pt x="4683968" y="410438"/>
                    <a:pt x="4683968" y="410438"/>
                  </a:cubicBezTo>
                </a:path>
              </a:pathLst>
            </a:custGeom>
            <a:noFill/>
            <a:ln>
              <a:tailEnd type="arrow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7" name="TextBox 16"/>
          <p:cNvSpPr txBox="1"/>
          <p:nvPr/>
        </p:nvSpPr>
        <p:spPr>
          <a:xfrm>
            <a:off x="6288569" y="3521624"/>
            <a:ext cx="5517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X [</a:t>
            </a:r>
            <a:r>
              <a:rPr lang="en-US" dirty="0" err="1"/>
              <a:t>i</a:t>
            </a:r>
            <a:r>
              <a:rPr lang="en-US" dirty="0"/>
              <a:t>]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74782" y="2495756"/>
            <a:ext cx="11528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/>
              <a:t>Reduction</a:t>
            </a:r>
          </a:p>
        </p:txBody>
      </p:sp>
      <p:sp>
        <p:nvSpPr>
          <p:cNvPr id="26" name="Down Arrow 25"/>
          <p:cNvSpPr/>
          <p:nvPr/>
        </p:nvSpPr>
        <p:spPr>
          <a:xfrm>
            <a:off x="7620000" y="2060578"/>
            <a:ext cx="336884" cy="391782"/>
          </a:xfrm>
          <a:prstGeom prst="down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Bent-Up Arrow 26"/>
          <p:cNvSpPr/>
          <p:nvPr/>
        </p:nvSpPr>
        <p:spPr>
          <a:xfrm rot="16200000" flipH="1">
            <a:off x="7070180" y="3031846"/>
            <a:ext cx="933422" cy="791861"/>
          </a:xfrm>
          <a:prstGeom prst="bentUp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20156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8" grpId="0" animBg="1"/>
      <p:bldP spid="19" grpId="0" animBg="1"/>
      <p:bldP spid="20" grpId="0" animBg="1"/>
      <p:bldP spid="17" grpId="0"/>
      <p:bldP spid="23" grpId="0"/>
      <p:bldP spid="26" grpId="0" animBg="1"/>
      <p:bldP spid="27" grpId="0" animBg="1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Extra slides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 2010, Elsevier Inc. All rights Reserved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6BE44D-6AB7-7747-A5B3-8E5957F8FC9E}" type="slidenum">
              <a:rPr lang="en-US" smtClean="0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5338490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1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rial" charset="0"/>
              </a:rPr>
              <a:t>What happened?</a:t>
            </a:r>
          </a:p>
        </p:txBody>
      </p:sp>
      <p:sp>
        <p:nvSpPr>
          <p:cNvPr id="61442" name="Content Placeholder 4"/>
          <p:cNvSpPr>
            <a:spLocks noGrp="1"/>
          </p:cNvSpPr>
          <p:nvPr>
            <p:ph idx="1"/>
          </p:nvPr>
        </p:nvSpPr>
        <p:spPr>
          <a:xfrm>
            <a:off x="3779838" y="1125538"/>
            <a:ext cx="5175250" cy="5111750"/>
          </a:xfrm>
        </p:spPr>
        <p:txBody>
          <a:bodyPr/>
          <a:lstStyle/>
          <a:p>
            <a:pPr marL="514350" indent="-514350">
              <a:buSzPct val="100000"/>
              <a:buFont typeface="Arial" charset="0"/>
              <a:buAutoNum type="arabicPeriod"/>
            </a:pPr>
            <a:r>
              <a:rPr lang="en-US" sz="2800">
                <a:latin typeface="Arial" charset="0"/>
              </a:rPr>
              <a:t>OpenMP compilers don</a:t>
            </a:r>
            <a:r>
              <a:rPr lang="ja-JP" altLang="en-US" sz="2800">
                <a:latin typeface="Arial" charset="0"/>
              </a:rPr>
              <a:t>’</a:t>
            </a:r>
            <a:r>
              <a:rPr lang="en-US" sz="2800">
                <a:latin typeface="Arial" charset="0"/>
              </a:rPr>
              <a:t>t check for dependences among iterations in a loop that</a:t>
            </a:r>
            <a:r>
              <a:rPr lang="ja-JP" altLang="en-US" sz="2800">
                <a:latin typeface="Arial" charset="0"/>
              </a:rPr>
              <a:t>’</a:t>
            </a:r>
            <a:r>
              <a:rPr lang="en-US" sz="2800">
                <a:latin typeface="Arial" charset="0"/>
              </a:rPr>
              <a:t>s being parallelized with a parallel for directive.</a:t>
            </a:r>
          </a:p>
          <a:p>
            <a:pPr marL="514350" indent="-514350">
              <a:buSzPct val="100000"/>
              <a:buFont typeface="Arial" charset="0"/>
              <a:buAutoNum type="arabicPeriod"/>
            </a:pPr>
            <a:r>
              <a:rPr lang="en-US" sz="2800">
                <a:latin typeface="Arial" charset="0"/>
              </a:rPr>
              <a:t>A loop in which the results of one or more iterations depend on other iterations cannot, in general, be correctly parallelized by OpenMP.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charset="0"/>
              <a:defRPr sz="32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charset="0"/>
              <a:defRPr sz="32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charset="0"/>
              <a:defRPr sz="32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charset="0"/>
              <a:defRPr sz="32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charset="0"/>
              <a:defRPr sz="32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charset="0"/>
              <a:defRPr sz="32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charset="0"/>
              <a:defRPr sz="32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charset="0"/>
              <a:defRPr sz="32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charset="0"/>
              <a:defRPr sz="32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sz="1200">
                <a:latin typeface="Arial" charset="0"/>
              </a:rPr>
              <a:t>Copyright © 2010, Elsevier Inc. All rights Reserved</a:t>
            </a:r>
          </a:p>
        </p:txBody>
      </p:sp>
      <p:pic>
        <p:nvPicPr>
          <p:cNvPr id="61444" name="Picture 2" descr="bewilderment,businesses,businessmen,confused,confusion,emotions,men,metaphors,persons,vanishing,vanishing into thin air,wonder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8313" y="2349500"/>
            <a:ext cx="3095625" cy="3095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6BE44D-6AB7-7747-A5B3-8E5957F8FC9E}" type="slidenum">
              <a:rPr lang="en-US" smtClean="0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6420429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5" name="Title 1"/>
          <p:cNvSpPr>
            <a:spLocks noGrp="1"/>
          </p:cNvSpPr>
          <p:nvPr>
            <p:ph type="title"/>
          </p:nvPr>
        </p:nvSpPr>
        <p:spPr>
          <a:xfrm>
            <a:off x="611188" y="109538"/>
            <a:ext cx="8281987" cy="708025"/>
          </a:xfrm>
        </p:spPr>
        <p:txBody>
          <a:bodyPr>
            <a:normAutofit fontScale="90000"/>
          </a:bodyPr>
          <a:lstStyle/>
          <a:p>
            <a:r>
              <a:rPr lang="en-US">
                <a:latin typeface="NimbusRomNo9L-Medi" charset="0"/>
              </a:rPr>
              <a:t>Estimating </a:t>
            </a:r>
            <a:r>
              <a:rPr lang="el-GR">
                <a:latin typeface="Arial" charset="0"/>
                <a:cs typeface="Arial" charset="0"/>
              </a:rPr>
              <a:t>π</a:t>
            </a:r>
            <a:endParaRPr lang="en-US">
              <a:latin typeface="Arial" charset="0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charset="0"/>
              <a:defRPr sz="32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charset="0"/>
              <a:defRPr sz="32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charset="0"/>
              <a:defRPr sz="32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charset="0"/>
              <a:defRPr sz="32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charset="0"/>
              <a:defRPr sz="32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charset="0"/>
              <a:defRPr sz="32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charset="0"/>
              <a:defRPr sz="32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charset="0"/>
              <a:defRPr sz="32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charset="0"/>
              <a:defRPr sz="32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sz="1200">
                <a:latin typeface="Arial" charset="0"/>
              </a:rPr>
              <a:t>Copyright © 2010, Elsevier Inc. All rights Reserved</a:t>
            </a:r>
          </a:p>
        </p:txBody>
      </p:sp>
      <p:pic>
        <p:nvPicPr>
          <p:cNvPr id="62467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6375" y="1196975"/>
            <a:ext cx="6115050" cy="1304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2468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1050" y="2565400"/>
            <a:ext cx="5124450" cy="3067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6BE44D-6AB7-7747-A5B3-8E5957F8FC9E}" type="slidenum">
              <a:rPr lang="en-US" smtClean="0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1217087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8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rial" charset="0"/>
              </a:rPr>
              <a:t>OpenMP solution #1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charset="0"/>
              <a:defRPr sz="32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charset="0"/>
              <a:defRPr sz="32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charset="0"/>
              <a:defRPr sz="32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charset="0"/>
              <a:defRPr sz="32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charset="0"/>
              <a:defRPr sz="32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charset="0"/>
              <a:defRPr sz="32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charset="0"/>
              <a:defRPr sz="32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charset="0"/>
              <a:defRPr sz="32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charset="0"/>
              <a:defRPr sz="32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sz="1200">
                <a:latin typeface="Arial" charset="0"/>
              </a:rPr>
              <a:t>Copyright © 2010, Elsevier Inc. All rights Reserved</a:t>
            </a:r>
          </a:p>
        </p:txBody>
      </p:sp>
      <p:pic>
        <p:nvPicPr>
          <p:cNvPr id="63491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6238" y="1990725"/>
            <a:ext cx="8389937" cy="287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3492" name="Freeform 4"/>
          <p:cNvSpPr>
            <a:spLocks noChangeArrowheads="1"/>
          </p:cNvSpPr>
          <p:nvPr/>
        </p:nvSpPr>
        <p:spPr bwMode="auto">
          <a:xfrm>
            <a:off x="160338" y="1514475"/>
            <a:ext cx="4221162" cy="3001963"/>
          </a:xfrm>
          <a:custGeom>
            <a:avLst/>
            <a:gdLst>
              <a:gd name="T0" fmla="*/ 1611087 w 4221238"/>
              <a:gd name="T1" fmla="*/ 2607735 h 3002039"/>
              <a:gd name="T2" fmla="*/ 493486 w 4221238"/>
              <a:gd name="T3" fmla="*/ 2636763 h 3002039"/>
              <a:gd name="T4" fmla="*/ 551543 w 4221238"/>
              <a:gd name="T5" fmla="*/ 416077 h 3002039"/>
              <a:gd name="T6" fmla="*/ 3802743 w 4221238"/>
              <a:gd name="T7" fmla="*/ 285448 h 3002039"/>
              <a:gd name="T8" fmla="*/ 3062515 w 4221238"/>
              <a:gd name="T9" fmla="*/ 2128763 h 3002039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4221238"/>
              <a:gd name="T16" fmla="*/ 0 h 3002039"/>
              <a:gd name="T17" fmla="*/ 4221238 w 4221238"/>
              <a:gd name="T18" fmla="*/ 3002039 h 3002039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4221238" h="3002039">
                <a:moveTo>
                  <a:pt x="1611086" y="2607734"/>
                </a:moveTo>
                <a:cubicBezTo>
                  <a:pt x="1140581" y="2804886"/>
                  <a:pt x="670076" y="3002039"/>
                  <a:pt x="493486" y="2636763"/>
                </a:cubicBezTo>
                <a:cubicBezTo>
                  <a:pt x="316896" y="2271487"/>
                  <a:pt x="0" y="807963"/>
                  <a:pt x="551543" y="416077"/>
                </a:cubicBezTo>
                <a:cubicBezTo>
                  <a:pt x="1103086" y="24191"/>
                  <a:pt x="3384248" y="0"/>
                  <a:pt x="3802743" y="285448"/>
                </a:cubicBezTo>
                <a:cubicBezTo>
                  <a:pt x="4221238" y="570896"/>
                  <a:pt x="3641876" y="1349829"/>
                  <a:pt x="3062514" y="2128763"/>
                </a:cubicBezTo>
              </a:path>
            </a:pathLst>
          </a:custGeom>
          <a:noFill/>
          <a:ln w="9525">
            <a:solidFill>
              <a:srgbClr val="C00000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/>
          <a:p>
            <a:pPr>
              <a:spcBef>
                <a:spcPct val="20000"/>
              </a:spcBef>
              <a:buClr>
                <a:schemeClr val="tx1"/>
              </a:buClr>
              <a:buSzPct val="60000"/>
              <a:buFont typeface="Wingdings" charset="0"/>
              <a:buNone/>
            </a:pPr>
            <a:endParaRPr lang="en-GB"/>
          </a:p>
        </p:txBody>
      </p:sp>
      <p:sp>
        <p:nvSpPr>
          <p:cNvPr id="6" name="TextBox 5"/>
          <p:cNvSpPr txBox="1"/>
          <p:nvPr/>
        </p:nvSpPr>
        <p:spPr>
          <a:xfrm>
            <a:off x="4211638" y="1484313"/>
            <a:ext cx="2138362" cy="4000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None/>
              <a:defRPr/>
            </a:pPr>
            <a:r>
              <a:rPr lang="en-US" sz="2000" dirty="0">
                <a:solidFill>
                  <a:srgbClr val="C00000"/>
                </a:solidFill>
                <a:latin typeface="+mn-lt"/>
                <a:ea typeface="+mn-ea"/>
              </a:rPr>
              <a:t>loop dependency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6BE44D-6AB7-7747-A5B3-8E5957F8FC9E}" type="slidenum">
              <a:rPr lang="en-US" smtClean="0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5332563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513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288" y="1268413"/>
            <a:ext cx="8485187" cy="3067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451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rial" charset="0"/>
              </a:rPr>
              <a:t>OpenMP solution #2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charset="0"/>
              <a:defRPr sz="32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charset="0"/>
              <a:defRPr sz="32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charset="0"/>
              <a:defRPr sz="32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charset="0"/>
              <a:defRPr sz="32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charset="0"/>
              <a:defRPr sz="32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charset="0"/>
              <a:defRPr sz="32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charset="0"/>
              <a:defRPr sz="32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charset="0"/>
              <a:defRPr sz="32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charset="0"/>
              <a:defRPr sz="32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sz="1200">
                <a:latin typeface="Arial" charset="0"/>
              </a:rPr>
              <a:t>Copyright © 2010, Elsevier Inc. All rights Reserved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0425" y="2924175"/>
            <a:ext cx="2289175" cy="70802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None/>
              <a:defRPr/>
            </a:pPr>
            <a:r>
              <a:rPr lang="en-US" sz="2000" dirty="0">
                <a:solidFill>
                  <a:srgbClr val="C00000"/>
                </a:solidFill>
                <a:latin typeface="+mn-lt"/>
                <a:ea typeface="+mn-ea"/>
              </a:rPr>
              <a:t>Insures factor has </a:t>
            </a:r>
            <a:br>
              <a:rPr lang="en-US" sz="2000" dirty="0">
                <a:solidFill>
                  <a:srgbClr val="C00000"/>
                </a:solidFill>
                <a:latin typeface="+mn-lt"/>
                <a:ea typeface="+mn-ea"/>
              </a:rPr>
            </a:br>
            <a:r>
              <a:rPr lang="en-US" sz="2000" dirty="0">
                <a:solidFill>
                  <a:srgbClr val="C00000"/>
                </a:solidFill>
                <a:latin typeface="+mn-lt"/>
                <a:ea typeface="+mn-ea"/>
              </a:rPr>
              <a:t>private scope.</a:t>
            </a:r>
          </a:p>
        </p:txBody>
      </p:sp>
      <p:sp>
        <p:nvSpPr>
          <p:cNvPr id="64517" name="Freeform 7"/>
          <p:cNvSpPr>
            <a:spLocks noChangeArrowheads="1"/>
          </p:cNvSpPr>
          <p:nvPr/>
        </p:nvSpPr>
        <p:spPr bwMode="auto">
          <a:xfrm>
            <a:off x="5102225" y="2249488"/>
            <a:ext cx="1492250" cy="682625"/>
          </a:xfrm>
          <a:custGeom>
            <a:avLst/>
            <a:gdLst>
              <a:gd name="T0" fmla="*/ 50799 w 1492551"/>
              <a:gd name="T1" fmla="*/ 0 h 682172"/>
              <a:gd name="T2" fmla="*/ 210457 w 1492551"/>
              <a:gd name="T3" fmla="*/ 391886 h 682172"/>
              <a:gd name="T4" fmla="*/ 1313542 w 1492551"/>
              <a:gd name="T5" fmla="*/ 246743 h 682172"/>
              <a:gd name="T6" fmla="*/ 1284514 w 1492551"/>
              <a:gd name="T7" fmla="*/ 682172 h 682172"/>
              <a:gd name="T8" fmla="*/ 0 60000 65536"/>
              <a:gd name="T9" fmla="*/ 0 60000 65536"/>
              <a:gd name="T10" fmla="*/ 0 60000 65536"/>
              <a:gd name="T11" fmla="*/ 0 60000 65536"/>
              <a:gd name="T12" fmla="*/ 0 w 1492551"/>
              <a:gd name="T13" fmla="*/ 0 h 682172"/>
              <a:gd name="T14" fmla="*/ 1492551 w 1492551"/>
              <a:gd name="T15" fmla="*/ 682172 h 68217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492551" h="682172">
                <a:moveTo>
                  <a:pt x="50799" y="0"/>
                </a:moveTo>
                <a:cubicBezTo>
                  <a:pt x="25399" y="175381"/>
                  <a:pt x="0" y="350762"/>
                  <a:pt x="210457" y="391886"/>
                </a:cubicBezTo>
                <a:cubicBezTo>
                  <a:pt x="420914" y="433010"/>
                  <a:pt x="1134533" y="198362"/>
                  <a:pt x="1313542" y="246743"/>
                </a:cubicBezTo>
                <a:cubicBezTo>
                  <a:pt x="1492551" y="295124"/>
                  <a:pt x="1388532" y="488648"/>
                  <a:pt x="1284514" y="682172"/>
                </a:cubicBezTo>
              </a:path>
            </a:pathLst>
          </a:custGeom>
          <a:noFill/>
          <a:ln w="9525">
            <a:solidFill>
              <a:srgbClr val="C00000"/>
            </a:solidFill>
            <a:round/>
            <a:headEnd type="arrow" w="med" len="med"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/>
          <a:p>
            <a:pPr>
              <a:spcBef>
                <a:spcPct val="20000"/>
              </a:spcBef>
              <a:buClr>
                <a:schemeClr val="tx1"/>
              </a:buClr>
              <a:buSzPct val="60000"/>
              <a:buFont typeface="Wingdings" charset="0"/>
              <a:buNone/>
            </a:pPr>
            <a:endParaRPr lang="en-GB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6BE44D-6AB7-7747-A5B3-8E5957F8FC9E}" type="slidenum">
              <a:rPr lang="en-US" smtClean="0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6684534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charset="0"/>
              <a:defRPr sz="32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charset="0"/>
              <a:defRPr sz="32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charset="0"/>
              <a:defRPr sz="32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charset="0"/>
              <a:defRPr sz="32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charset="0"/>
              <a:defRPr sz="32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charset="0"/>
              <a:defRPr sz="32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charset="0"/>
              <a:defRPr sz="32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charset="0"/>
              <a:defRPr sz="32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charset="0"/>
              <a:defRPr sz="32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sz="1200">
                <a:latin typeface="Arial" charset="0"/>
              </a:rPr>
              <a:t>Copyright © 2010, Elsevier Inc. All rights Reserved</a:t>
            </a:r>
          </a:p>
        </p:txBody>
      </p:sp>
      <p:pic>
        <p:nvPicPr>
          <p:cNvPr id="11059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4213" y="260350"/>
            <a:ext cx="7937500" cy="6008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0595" name="Rectangle 4"/>
          <p:cNvSpPr>
            <a:spLocks noChangeArrowheads="1"/>
          </p:cNvSpPr>
          <p:nvPr/>
        </p:nvSpPr>
        <p:spPr bwMode="auto">
          <a:xfrm>
            <a:off x="5508625" y="260350"/>
            <a:ext cx="3344863" cy="585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20000"/>
              </a:spcBef>
              <a:buClr>
                <a:schemeClr val="tx1"/>
              </a:buClr>
              <a:buSzPct val="60000"/>
              <a:buFont typeface="Wingdings" charset="0"/>
              <a:buNone/>
            </a:pPr>
            <a:r>
              <a:rPr lang="en-US">
                <a:solidFill>
                  <a:srgbClr val="0066FF"/>
                </a:solidFill>
              </a:rPr>
              <a:t>Thread-Safety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6BE44D-6AB7-7747-A5B3-8E5957F8FC9E}" type="slidenum">
              <a:rPr lang="en-US" smtClean="0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7086278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rial" charset="0"/>
              </a:rPr>
              <a:t>An operating system </a:t>
            </a:r>
            <a:r>
              <a:rPr lang="ja-JP" altLang="en-US">
                <a:latin typeface="Arial" charset="0"/>
              </a:rPr>
              <a:t>“</a:t>
            </a:r>
            <a:r>
              <a:rPr lang="en-US">
                <a:latin typeface="Arial" charset="0"/>
              </a:rPr>
              <a:t>process</a:t>
            </a:r>
            <a:r>
              <a:rPr lang="ja-JP" altLang="en-US">
                <a:latin typeface="Arial" charset="0"/>
              </a:rPr>
              <a:t>”</a:t>
            </a:r>
            <a:endParaRPr lang="en-US">
              <a:latin typeface="Arial" charset="0"/>
            </a:endParaRPr>
          </a:p>
        </p:txBody>
      </p:sp>
      <p:sp>
        <p:nvSpPr>
          <p:cNvPr id="30722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>
                <a:latin typeface="Arial" charset="0"/>
              </a:rPr>
              <a:t>An instance of a computer program that is being executed.</a:t>
            </a:r>
          </a:p>
          <a:p>
            <a:r>
              <a:rPr lang="en-US">
                <a:latin typeface="Arial" charset="0"/>
              </a:rPr>
              <a:t>Components of a process:</a:t>
            </a:r>
          </a:p>
          <a:p>
            <a:pPr lvl="1"/>
            <a:r>
              <a:rPr lang="en-US">
                <a:latin typeface="Arial" charset="0"/>
              </a:rPr>
              <a:t>The executable machine language program.</a:t>
            </a:r>
          </a:p>
          <a:p>
            <a:pPr lvl="1"/>
            <a:r>
              <a:rPr lang="en-US">
                <a:latin typeface="Arial" charset="0"/>
              </a:rPr>
              <a:t>A block of memory.</a:t>
            </a:r>
          </a:p>
          <a:p>
            <a:pPr lvl="1"/>
            <a:r>
              <a:rPr lang="en-US">
                <a:latin typeface="Arial" charset="0"/>
              </a:rPr>
              <a:t>Descriptors of resources the OS has allocated to the process.</a:t>
            </a:r>
          </a:p>
          <a:p>
            <a:pPr lvl="1"/>
            <a:r>
              <a:rPr lang="en-US">
                <a:latin typeface="Arial" charset="0"/>
              </a:rPr>
              <a:t>Security information.</a:t>
            </a:r>
          </a:p>
          <a:p>
            <a:pPr lvl="1"/>
            <a:r>
              <a:rPr lang="en-US">
                <a:latin typeface="Arial" charset="0"/>
              </a:rPr>
              <a:t>Information about the state of the process.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charset="0"/>
              <a:defRPr sz="32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charset="0"/>
              <a:defRPr sz="32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charset="0"/>
              <a:defRPr sz="32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charset="0"/>
              <a:defRPr sz="32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charset="0"/>
              <a:defRPr sz="32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charset="0"/>
              <a:defRPr sz="32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charset="0"/>
              <a:defRPr sz="32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charset="0"/>
              <a:defRPr sz="32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charset="0"/>
              <a:defRPr sz="32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sz="1200">
                <a:latin typeface="Arial" charset="0"/>
              </a:rPr>
              <a:t>Copyright © 2010, Elsevier Inc. All rights Reserved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6BE44D-6AB7-7747-A5B3-8E5957F8FC9E}" type="slidenum">
              <a:rPr lang="en-US" smtClean="0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6112866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1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charset="0"/>
              </a:rPr>
              <a:t>Shared Memory System</a:t>
            </a:r>
          </a:p>
        </p:txBody>
      </p:sp>
      <p:sp>
        <p:nvSpPr>
          <p:cNvPr id="87042" name="Content Placeholder 2"/>
          <p:cNvSpPr>
            <a:spLocks noGrp="1"/>
          </p:cNvSpPr>
          <p:nvPr>
            <p:ph idx="1"/>
          </p:nvPr>
        </p:nvSpPr>
        <p:spPr>
          <a:xfrm>
            <a:off x="457200" y="1417638"/>
            <a:ext cx="8229600" cy="4525963"/>
          </a:xfrm>
        </p:spPr>
        <p:txBody>
          <a:bodyPr>
            <a:normAutofit/>
          </a:bodyPr>
          <a:lstStyle/>
          <a:p>
            <a:r>
              <a:rPr lang="en-US" dirty="0">
                <a:latin typeface="Arial" charset="0"/>
              </a:rPr>
              <a:t>Each processor can access each memory location. </a:t>
            </a:r>
          </a:p>
          <a:p>
            <a:r>
              <a:rPr lang="en-US" dirty="0">
                <a:latin typeface="Arial" charset="0"/>
              </a:rPr>
              <a:t>The processors usually communicate implicitly by accessing shared data structures.</a:t>
            </a:r>
          </a:p>
          <a:p>
            <a:r>
              <a:rPr lang="en-US" dirty="0">
                <a:latin typeface="Arial" charset="0"/>
              </a:rPr>
              <a:t>Example: Multiple CPU cores on a single chip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charset="0"/>
              <a:defRPr sz="32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charset="0"/>
              <a:defRPr sz="32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charset="0"/>
              <a:defRPr sz="32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charset="0"/>
              <a:defRPr sz="32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charset="0"/>
              <a:defRPr sz="32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charset="0"/>
              <a:defRPr sz="32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charset="0"/>
              <a:defRPr sz="32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charset="0"/>
              <a:defRPr sz="32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charset="0"/>
              <a:defRPr sz="32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sz="1200">
                <a:latin typeface="Arial" charset="0"/>
              </a:rPr>
              <a:t>Copyright © 2010, Elsevier Inc. All rights Reserved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80560" y="4945712"/>
            <a:ext cx="4206240" cy="826935"/>
          </a:xfrm>
          <a:prstGeom prst="round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tx1"/>
                </a:solidFill>
              </a:rPr>
              <a:t>Kamiak</a:t>
            </a:r>
            <a:r>
              <a:rPr lang="en-US" dirty="0">
                <a:solidFill>
                  <a:schemeClr val="tx1"/>
                </a:solidFill>
              </a:rPr>
              <a:t> compute nodes have multiple CPUs each with multiple cores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6BE44D-6AB7-7747-A5B3-8E5957F8FC9E}" type="slidenum">
              <a:rPr lang="en-US" smtClean="0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1492429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113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5150" y="1052513"/>
            <a:ext cx="6216650" cy="3517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011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rial" charset="0"/>
              </a:rPr>
              <a:t>UMA multicore system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charset="0"/>
              <a:defRPr sz="32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charset="0"/>
              <a:defRPr sz="32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charset="0"/>
              <a:defRPr sz="32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charset="0"/>
              <a:defRPr sz="32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charset="0"/>
              <a:defRPr sz="32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charset="0"/>
              <a:defRPr sz="32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charset="0"/>
              <a:defRPr sz="32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charset="0"/>
              <a:defRPr sz="32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charset="0"/>
              <a:defRPr sz="32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sz="1200">
                <a:latin typeface="Arial" charset="0"/>
              </a:rPr>
              <a:t>Copyright © 2010, Elsevier Inc. All rights Reserved</a:t>
            </a:r>
          </a:p>
        </p:txBody>
      </p:sp>
      <p:sp>
        <p:nvSpPr>
          <p:cNvPr id="90116" name="Text Box 8"/>
          <p:cNvSpPr txBox="1">
            <a:spLocks noChangeArrowheads="1"/>
          </p:cNvSpPr>
          <p:nvPr/>
        </p:nvSpPr>
        <p:spPr bwMode="auto">
          <a:xfrm>
            <a:off x="4284663" y="4724400"/>
            <a:ext cx="1338262" cy="401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charset="0"/>
              <a:defRPr sz="32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charset="0"/>
              <a:defRPr sz="32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charset="0"/>
              <a:defRPr sz="32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charset="0"/>
              <a:defRPr sz="32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charset="0"/>
              <a:defRPr sz="32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charset="0"/>
              <a:defRPr sz="32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charset="0"/>
              <a:defRPr sz="32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charset="0"/>
              <a:defRPr sz="32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charset="0"/>
              <a:defRPr sz="32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9pPr>
          </a:lstStyle>
          <a:p>
            <a:r>
              <a:rPr lang="en-US" sz="2000">
                <a:solidFill>
                  <a:srgbClr val="000066"/>
                </a:solidFill>
                <a:latin typeface="Arial" charset="0"/>
              </a:rPr>
              <a:t>Figure 2.5</a:t>
            </a:r>
            <a:endParaRPr lang="en-GB" sz="2000">
              <a:solidFill>
                <a:srgbClr val="000066"/>
              </a:solidFill>
              <a:latin typeface="Arial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323850" y="3933825"/>
            <a:ext cx="2619375" cy="150812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None/>
              <a:defRPr/>
            </a:pPr>
            <a:r>
              <a:rPr lang="en-US" sz="2000" kern="0" dirty="0">
                <a:solidFill>
                  <a:srgbClr val="00B050"/>
                </a:solidFill>
                <a:latin typeface="Arial"/>
                <a:ea typeface="+mn-ea"/>
              </a:rPr>
              <a:t>Time to access all</a:t>
            </a:r>
          </a:p>
          <a:p>
            <a:pPr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None/>
              <a:defRPr/>
            </a:pPr>
            <a:r>
              <a:rPr lang="en-US" sz="2000" kern="0" dirty="0">
                <a:solidFill>
                  <a:srgbClr val="00B050"/>
                </a:solidFill>
                <a:latin typeface="Arial"/>
                <a:ea typeface="+mn-ea"/>
              </a:rPr>
              <a:t>the memory locations</a:t>
            </a:r>
          </a:p>
          <a:p>
            <a:pPr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None/>
              <a:defRPr/>
            </a:pPr>
            <a:r>
              <a:rPr lang="en-US" sz="2000" kern="0" dirty="0">
                <a:solidFill>
                  <a:srgbClr val="00B050"/>
                </a:solidFill>
                <a:latin typeface="Arial"/>
                <a:ea typeface="+mn-ea"/>
              </a:rPr>
              <a:t>will be the same for</a:t>
            </a:r>
          </a:p>
          <a:p>
            <a:pPr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None/>
              <a:defRPr/>
            </a:pPr>
            <a:r>
              <a:rPr lang="en-US" sz="2000" kern="0" dirty="0">
                <a:solidFill>
                  <a:srgbClr val="00B050"/>
                </a:solidFill>
                <a:latin typeface="Arial"/>
                <a:ea typeface="+mn-ea"/>
              </a:rPr>
              <a:t>all the cores.</a:t>
            </a:r>
            <a:endParaRPr lang="en-US" sz="2000" dirty="0">
              <a:solidFill>
                <a:srgbClr val="00B050"/>
              </a:solidFill>
              <a:latin typeface="Arial Black" pitchFamily="34" charset="0"/>
              <a:ea typeface="+mn-ea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6BE44D-6AB7-7747-A5B3-8E5957F8FC9E}" type="slidenum">
              <a:rPr lang="en-US" smtClean="0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834744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137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95513" y="908050"/>
            <a:ext cx="6310312" cy="3492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113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rial" charset="0"/>
              </a:rPr>
              <a:t>NUMA multicore system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charset="0"/>
              <a:defRPr sz="32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charset="0"/>
              <a:defRPr sz="32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charset="0"/>
              <a:defRPr sz="32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charset="0"/>
              <a:defRPr sz="32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charset="0"/>
              <a:defRPr sz="32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charset="0"/>
              <a:defRPr sz="32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charset="0"/>
              <a:defRPr sz="32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charset="0"/>
              <a:defRPr sz="32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charset="0"/>
              <a:defRPr sz="32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sz="1200">
                <a:latin typeface="Arial" charset="0"/>
              </a:rPr>
              <a:t>Copyright © 2010, Elsevier Inc. All rights Reserved</a:t>
            </a:r>
          </a:p>
        </p:txBody>
      </p:sp>
      <p:sp>
        <p:nvSpPr>
          <p:cNvPr id="91140" name="Text Box 8"/>
          <p:cNvSpPr txBox="1">
            <a:spLocks noChangeArrowheads="1"/>
          </p:cNvSpPr>
          <p:nvPr/>
        </p:nvSpPr>
        <p:spPr bwMode="auto">
          <a:xfrm>
            <a:off x="4787900" y="4437063"/>
            <a:ext cx="1338263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charset="0"/>
              <a:defRPr sz="32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charset="0"/>
              <a:defRPr sz="32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charset="0"/>
              <a:defRPr sz="32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charset="0"/>
              <a:defRPr sz="32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charset="0"/>
              <a:defRPr sz="32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charset="0"/>
              <a:defRPr sz="32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charset="0"/>
              <a:defRPr sz="32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charset="0"/>
              <a:defRPr sz="32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charset="0"/>
              <a:defRPr sz="32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9pPr>
          </a:lstStyle>
          <a:p>
            <a:r>
              <a:rPr lang="en-US" sz="2000">
                <a:solidFill>
                  <a:srgbClr val="000066"/>
                </a:solidFill>
                <a:latin typeface="Arial" charset="0"/>
              </a:rPr>
              <a:t>Figure 2.6</a:t>
            </a:r>
            <a:endParaRPr lang="en-GB" sz="2000">
              <a:solidFill>
                <a:srgbClr val="000066"/>
              </a:solidFill>
              <a:latin typeface="Arial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250825" y="4292600"/>
            <a:ext cx="3889375" cy="163195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None/>
              <a:defRPr/>
            </a:pPr>
            <a:r>
              <a:rPr lang="en-US" sz="2000" dirty="0">
                <a:solidFill>
                  <a:srgbClr val="00B050"/>
                </a:solidFill>
                <a:latin typeface="NimbusRomNo9L-Regu"/>
                <a:ea typeface="+mn-ea"/>
              </a:rPr>
              <a:t>A memory location a core is directly connected to can be accessed faster than a memory location that must be accessed through another chip</a:t>
            </a:r>
            <a:r>
              <a:rPr lang="en-US" sz="2000" kern="0" dirty="0">
                <a:solidFill>
                  <a:srgbClr val="00B050"/>
                </a:solidFill>
                <a:latin typeface="Arial"/>
                <a:ea typeface="+mn-ea"/>
              </a:rPr>
              <a:t>.</a:t>
            </a:r>
            <a:endParaRPr lang="en-US" sz="2000" dirty="0">
              <a:solidFill>
                <a:srgbClr val="00B050"/>
              </a:solidFill>
              <a:latin typeface="Arial Black" pitchFamily="34" charset="0"/>
              <a:ea typeface="+mn-ea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6BE44D-6AB7-7747-A5B3-8E5957F8FC9E}" type="slidenum">
              <a:rPr lang="en-US" smtClean="0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2680946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97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rial" charset="0"/>
              </a:rPr>
              <a:t>Input and Output</a:t>
            </a:r>
          </a:p>
        </p:txBody>
      </p:sp>
      <p:sp>
        <p:nvSpPr>
          <p:cNvPr id="132098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>
                <a:latin typeface="Arial" charset="0"/>
              </a:rPr>
              <a:t>However, because of the indeterminacy of the order of output to </a:t>
            </a:r>
            <a:r>
              <a:rPr lang="en-US" i="1">
                <a:solidFill>
                  <a:srgbClr val="00B0F0"/>
                </a:solidFill>
                <a:latin typeface="Arial" charset="0"/>
              </a:rPr>
              <a:t>stdout</a:t>
            </a:r>
            <a:r>
              <a:rPr lang="en-US">
                <a:latin typeface="Arial" charset="0"/>
              </a:rPr>
              <a:t>, in most cases only a single process/thread will be used for all output to </a:t>
            </a:r>
            <a:r>
              <a:rPr lang="en-US" i="1">
                <a:solidFill>
                  <a:srgbClr val="00B0F0"/>
                </a:solidFill>
                <a:latin typeface="Arial" charset="0"/>
              </a:rPr>
              <a:t>stdout</a:t>
            </a:r>
            <a:r>
              <a:rPr lang="en-US">
                <a:latin typeface="Arial" charset="0"/>
              </a:rPr>
              <a:t> other than debugging output.</a:t>
            </a:r>
          </a:p>
          <a:p>
            <a:endParaRPr lang="en-US">
              <a:latin typeface="Arial" charset="0"/>
            </a:endParaRPr>
          </a:p>
          <a:p>
            <a:r>
              <a:rPr lang="en-US">
                <a:latin typeface="Arial" charset="0"/>
              </a:rPr>
              <a:t>Debug output should always include the rank or id of the process/thread that</a:t>
            </a:r>
            <a:r>
              <a:rPr lang="ja-JP" altLang="en-US">
                <a:latin typeface="Arial" charset="0"/>
              </a:rPr>
              <a:t>’</a:t>
            </a:r>
            <a:r>
              <a:rPr lang="en-US">
                <a:latin typeface="Arial" charset="0"/>
              </a:rPr>
              <a:t>s generating the output.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charset="0"/>
              <a:defRPr sz="32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charset="0"/>
              <a:defRPr sz="32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charset="0"/>
              <a:defRPr sz="32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charset="0"/>
              <a:defRPr sz="32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charset="0"/>
              <a:defRPr sz="32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charset="0"/>
              <a:defRPr sz="32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charset="0"/>
              <a:defRPr sz="32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charset="0"/>
              <a:defRPr sz="32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charset="0"/>
              <a:defRPr sz="32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sz="1200">
                <a:latin typeface="Arial" charset="0"/>
              </a:rPr>
              <a:t>Copyright © 2010, Elsevier Inc. All rights Reserved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6BE44D-6AB7-7747-A5B3-8E5957F8FC9E}" type="slidenum">
              <a:rPr lang="en-US" smtClean="0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6049035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21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rial" charset="0"/>
              </a:rPr>
              <a:t>Input and Output</a:t>
            </a:r>
          </a:p>
        </p:txBody>
      </p:sp>
      <p:sp>
        <p:nvSpPr>
          <p:cNvPr id="133122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>
                <a:latin typeface="Arial" charset="0"/>
              </a:rPr>
              <a:t>Only a single process/thread will attempt to access any single file other than </a:t>
            </a:r>
            <a:r>
              <a:rPr lang="en-US" i="1">
                <a:solidFill>
                  <a:srgbClr val="00B0F0"/>
                </a:solidFill>
                <a:latin typeface="Arial" charset="0"/>
              </a:rPr>
              <a:t>stdin</a:t>
            </a:r>
            <a:r>
              <a:rPr lang="en-US">
                <a:latin typeface="Arial" charset="0"/>
              </a:rPr>
              <a:t>, </a:t>
            </a:r>
            <a:r>
              <a:rPr lang="en-US" i="1">
                <a:solidFill>
                  <a:srgbClr val="00B0F0"/>
                </a:solidFill>
                <a:latin typeface="Arial" charset="0"/>
              </a:rPr>
              <a:t>stdout</a:t>
            </a:r>
            <a:r>
              <a:rPr lang="en-US">
                <a:latin typeface="Arial" charset="0"/>
              </a:rPr>
              <a:t>, or </a:t>
            </a:r>
            <a:r>
              <a:rPr lang="en-US" i="1">
                <a:solidFill>
                  <a:srgbClr val="00B0F0"/>
                </a:solidFill>
                <a:latin typeface="Arial" charset="0"/>
              </a:rPr>
              <a:t>stderr</a:t>
            </a:r>
            <a:r>
              <a:rPr lang="en-US">
                <a:latin typeface="Arial" charset="0"/>
              </a:rPr>
              <a:t>. So, for example, each process/thread can open its own, private file for reading or writing, but no two processes/threads will open the same file.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charset="0"/>
              <a:defRPr sz="32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charset="0"/>
              <a:defRPr sz="32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charset="0"/>
              <a:defRPr sz="32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charset="0"/>
              <a:defRPr sz="32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charset="0"/>
              <a:defRPr sz="32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charset="0"/>
              <a:defRPr sz="32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charset="0"/>
              <a:defRPr sz="32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charset="0"/>
              <a:defRPr sz="32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charset="0"/>
              <a:defRPr sz="32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sz="1200">
                <a:latin typeface="Arial" charset="0"/>
              </a:rPr>
              <a:t>Copyright © 2010, Elsevier Inc. All rights Reserved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6BE44D-6AB7-7747-A5B3-8E5957F8FC9E}" type="slidenum">
              <a:rPr lang="en-US" smtClean="0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8583894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3" name="Title 1"/>
          <p:cNvSpPr>
            <a:spLocks noGrp="1"/>
          </p:cNvSpPr>
          <p:nvPr>
            <p:ph type="title"/>
          </p:nvPr>
        </p:nvSpPr>
        <p:spPr>
          <a:xfrm>
            <a:off x="611188" y="0"/>
            <a:ext cx="8281987" cy="1323975"/>
          </a:xfrm>
        </p:spPr>
        <p:txBody>
          <a:bodyPr>
            <a:normAutofit fontScale="90000"/>
          </a:bodyPr>
          <a:lstStyle/>
          <a:p>
            <a:r>
              <a:rPr lang="en-US">
                <a:latin typeface="Arial" charset="0"/>
              </a:rPr>
              <a:t>Division of work – </a:t>
            </a:r>
            <a:br>
              <a:rPr lang="en-US">
                <a:latin typeface="Arial" charset="0"/>
              </a:rPr>
            </a:br>
            <a:r>
              <a:rPr lang="en-US">
                <a:latin typeface="Arial" charset="0"/>
              </a:rPr>
              <a:t>data parallelism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charset="0"/>
              <a:defRPr sz="32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charset="0"/>
              <a:defRPr sz="32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charset="0"/>
              <a:defRPr sz="32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charset="0"/>
              <a:defRPr sz="32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charset="0"/>
              <a:defRPr sz="32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charset="0"/>
              <a:defRPr sz="32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charset="0"/>
              <a:defRPr sz="32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charset="0"/>
              <a:defRPr sz="32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charset="0"/>
              <a:defRPr sz="32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sz="1200">
                <a:latin typeface="Arial" charset="0"/>
              </a:rPr>
              <a:t>Copyright © 2010, Elsevier Inc. All rights Reserved</a:t>
            </a:r>
          </a:p>
        </p:txBody>
      </p:sp>
      <p:pic>
        <p:nvPicPr>
          <p:cNvPr id="54275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6375" y="2060575"/>
            <a:ext cx="6040438" cy="1944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6BE44D-6AB7-7747-A5B3-8E5957F8FC9E}" type="slidenum">
              <a:rPr lang="en-US" smtClean="0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4730749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7" name="Title 1"/>
          <p:cNvSpPr>
            <a:spLocks noGrp="1"/>
          </p:cNvSpPr>
          <p:nvPr>
            <p:ph type="title"/>
          </p:nvPr>
        </p:nvSpPr>
        <p:spPr>
          <a:xfrm>
            <a:off x="611188" y="0"/>
            <a:ext cx="8281987" cy="1323975"/>
          </a:xfrm>
        </p:spPr>
        <p:txBody>
          <a:bodyPr>
            <a:normAutofit fontScale="90000"/>
          </a:bodyPr>
          <a:lstStyle/>
          <a:p>
            <a:r>
              <a:rPr lang="en-US">
                <a:latin typeface="Arial" charset="0"/>
              </a:rPr>
              <a:t>Division of work – </a:t>
            </a:r>
            <a:br>
              <a:rPr lang="en-US">
                <a:latin typeface="Arial" charset="0"/>
              </a:rPr>
            </a:br>
            <a:r>
              <a:rPr lang="en-US">
                <a:latin typeface="Arial" charset="0"/>
              </a:rPr>
              <a:t>task parallelism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charset="0"/>
              <a:defRPr sz="32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charset="0"/>
              <a:defRPr sz="32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charset="0"/>
              <a:defRPr sz="32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charset="0"/>
              <a:defRPr sz="32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charset="0"/>
              <a:defRPr sz="32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charset="0"/>
              <a:defRPr sz="32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charset="0"/>
              <a:defRPr sz="32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charset="0"/>
              <a:defRPr sz="32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charset="0"/>
              <a:defRPr sz="32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sz="1200">
                <a:latin typeface="Arial" charset="0"/>
              </a:rPr>
              <a:t>Copyright © 2010, Elsevier Inc. All rights Reserved</a:t>
            </a:r>
          </a:p>
        </p:txBody>
      </p:sp>
      <p:pic>
        <p:nvPicPr>
          <p:cNvPr id="55299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850" y="1628775"/>
            <a:ext cx="7505700" cy="3744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" name="TextBox 17"/>
          <p:cNvSpPr txBox="1"/>
          <p:nvPr/>
        </p:nvSpPr>
        <p:spPr>
          <a:xfrm>
            <a:off x="6227763" y="3933825"/>
            <a:ext cx="2284412" cy="155733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None/>
              <a:defRPr/>
            </a:pPr>
            <a:r>
              <a:rPr lang="en-US" sz="2800" u="sng" dirty="0">
                <a:solidFill>
                  <a:srgbClr val="0066FF"/>
                </a:solidFill>
                <a:latin typeface="+mj-lt"/>
                <a:ea typeface="+mn-ea"/>
              </a:rPr>
              <a:t>Tasks</a:t>
            </a:r>
          </a:p>
          <a:p>
            <a:pPr marL="514350" indent="-51435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AutoNum type="arabicParenR"/>
              <a:defRPr/>
            </a:pPr>
            <a:r>
              <a:rPr lang="en-US" sz="2800" dirty="0">
                <a:solidFill>
                  <a:srgbClr val="0066FF"/>
                </a:solidFill>
                <a:latin typeface="+mj-lt"/>
                <a:ea typeface="+mn-ea"/>
              </a:rPr>
              <a:t>Receiving</a:t>
            </a:r>
          </a:p>
          <a:p>
            <a:pPr marL="514350" indent="-51435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AutoNum type="arabicParenR"/>
              <a:defRPr/>
            </a:pPr>
            <a:r>
              <a:rPr lang="en-US" sz="2800" dirty="0">
                <a:solidFill>
                  <a:srgbClr val="0066FF"/>
                </a:solidFill>
                <a:latin typeface="+mj-lt"/>
                <a:ea typeface="+mn-ea"/>
              </a:rPr>
              <a:t>Addition 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6BE44D-6AB7-7747-A5B3-8E5957F8FC9E}" type="slidenum">
              <a:rPr lang="en-US" smtClean="0"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9475159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5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charset="0"/>
              </a:rPr>
              <a:t>Distributed Memory on </a:t>
            </a:r>
            <a:r>
              <a:rPr lang="en-US" dirty="0" err="1">
                <a:latin typeface="Arial" charset="0"/>
              </a:rPr>
              <a:t>Kamiak</a:t>
            </a:r>
            <a:endParaRPr lang="en-US" dirty="0">
              <a:latin typeface="Arial" charset="0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charset="0"/>
              <a:defRPr sz="32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charset="0"/>
              <a:defRPr sz="32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charset="0"/>
              <a:defRPr sz="32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charset="0"/>
              <a:defRPr sz="32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charset="0"/>
              <a:defRPr sz="32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charset="0"/>
              <a:defRPr sz="32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charset="0"/>
              <a:defRPr sz="32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charset="0"/>
              <a:defRPr sz="32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charset="0"/>
              <a:defRPr sz="32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sz="1200">
                <a:latin typeface="Arial" charset="0"/>
              </a:rPr>
              <a:t>Copyright © 2010, Elsevier Inc. All rights Reserved</a:t>
            </a:r>
          </a:p>
        </p:txBody>
      </p:sp>
      <p:sp>
        <p:nvSpPr>
          <p:cNvPr id="93187" name="Text Box 8"/>
          <p:cNvSpPr txBox="1">
            <a:spLocks noChangeArrowheads="1"/>
          </p:cNvSpPr>
          <p:nvPr/>
        </p:nvSpPr>
        <p:spPr bwMode="auto">
          <a:xfrm>
            <a:off x="3902868" y="5484656"/>
            <a:ext cx="1338263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charset="0"/>
              <a:defRPr sz="32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charset="0"/>
              <a:defRPr sz="32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charset="0"/>
              <a:defRPr sz="32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charset="0"/>
              <a:defRPr sz="32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charset="0"/>
              <a:defRPr sz="32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charset="0"/>
              <a:defRPr sz="32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charset="0"/>
              <a:defRPr sz="32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charset="0"/>
              <a:defRPr sz="32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charset="0"/>
              <a:defRPr sz="32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9pPr>
          </a:lstStyle>
          <a:p>
            <a:r>
              <a:rPr lang="en-US" sz="2000" dirty="0">
                <a:solidFill>
                  <a:srgbClr val="000066"/>
                </a:solidFill>
                <a:latin typeface="Arial" charset="0"/>
              </a:rPr>
              <a:t>Figure 2.4</a:t>
            </a:r>
            <a:endParaRPr lang="en-GB" sz="2000" dirty="0">
              <a:solidFill>
                <a:srgbClr val="000066"/>
              </a:solidFill>
              <a:latin typeface="Arial" charset="0"/>
            </a:endParaRPr>
          </a:p>
        </p:txBody>
      </p:sp>
      <p:pic>
        <p:nvPicPr>
          <p:cNvPr id="9318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1319" y="1886379"/>
            <a:ext cx="8361362" cy="3429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5"/>
          <p:cNvSpPr/>
          <p:nvPr/>
        </p:nvSpPr>
        <p:spPr>
          <a:xfrm>
            <a:off x="643962" y="1717102"/>
            <a:ext cx="1566500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None/>
              <a:defRPr/>
            </a:pPr>
            <a:r>
              <a:rPr lang="en-US" sz="1600" dirty="0">
                <a:latin typeface="+mj-lt"/>
              </a:rPr>
              <a:t>compute node 1</a:t>
            </a:r>
          </a:p>
        </p:txBody>
      </p:sp>
      <p:sp>
        <p:nvSpPr>
          <p:cNvPr id="7" name="Rectangle 6"/>
          <p:cNvSpPr/>
          <p:nvPr/>
        </p:nvSpPr>
        <p:spPr>
          <a:xfrm>
            <a:off x="6958623" y="1728232"/>
            <a:ext cx="1566500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None/>
              <a:defRPr/>
            </a:pPr>
            <a:r>
              <a:rPr lang="en-US" sz="1600" dirty="0">
                <a:latin typeface="+mj-lt"/>
              </a:rPr>
              <a:t>compute node N</a:t>
            </a:r>
          </a:p>
        </p:txBody>
      </p:sp>
      <p:sp>
        <p:nvSpPr>
          <p:cNvPr id="8" name="Rectangle 7"/>
          <p:cNvSpPr/>
          <p:nvPr/>
        </p:nvSpPr>
        <p:spPr>
          <a:xfrm>
            <a:off x="4375774" y="1738454"/>
            <a:ext cx="1566500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None/>
              <a:defRPr/>
            </a:pPr>
            <a:r>
              <a:rPr lang="en-US" sz="1600" dirty="0">
                <a:latin typeface="+mj-lt"/>
              </a:rPr>
              <a:t>compute node 3</a:t>
            </a:r>
          </a:p>
        </p:txBody>
      </p:sp>
      <p:sp>
        <p:nvSpPr>
          <p:cNvPr id="9" name="Rectangle 8"/>
          <p:cNvSpPr/>
          <p:nvPr/>
        </p:nvSpPr>
        <p:spPr>
          <a:xfrm>
            <a:off x="2472381" y="1728232"/>
            <a:ext cx="1566500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None/>
              <a:defRPr/>
            </a:pPr>
            <a:r>
              <a:rPr lang="en-US" sz="1600" dirty="0">
                <a:latin typeface="+mj-lt"/>
              </a:rPr>
              <a:t>compute node 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2274" y="5359179"/>
            <a:ext cx="3083616" cy="826935"/>
          </a:xfrm>
          <a:prstGeom prst="round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Each compute node has 1-2 CPUs each with 10-14 cores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6BE44D-6AB7-7747-A5B3-8E5957F8FC9E}" type="slidenum">
              <a:rPr lang="en-US" smtClean="0"/>
              <a:t>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9362150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3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Arial" charset="0"/>
              </a:rPr>
              <a:t>On an Individual Node</a:t>
            </a:r>
            <a:endParaRPr lang="en-US" dirty="0">
              <a:solidFill>
                <a:srgbClr val="FF0000"/>
              </a:solidFill>
              <a:latin typeface="Arial" charset="0"/>
            </a:endParaRPr>
          </a:p>
        </p:txBody>
      </p:sp>
      <p:pic>
        <p:nvPicPr>
          <p:cNvPr id="7" name="Picture 6" descr="AMD multicore socket.jp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24175" y="1216328"/>
            <a:ext cx="5362625" cy="536262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-326798" y="2092393"/>
            <a:ext cx="3650973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US" dirty="0">
                <a:latin typeface="Arial" charset="0"/>
              </a:rPr>
              <a:t>The cores can share access to the computer</a:t>
            </a:r>
            <a:r>
              <a:rPr lang="ja-JP" altLang="en-US" dirty="0">
                <a:latin typeface="Arial" charset="0"/>
              </a:rPr>
              <a:t>’</a:t>
            </a:r>
            <a:r>
              <a:rPr lang="en-US" dirty="0">
                <a:latin typeface="Arial" charset="0"/>
              </a:rPr>
              <a:t>s memory.</a:t>
            </a:r>
          </a:p>
          <a:p>
            <a:pPr lvl="1"/>
            <a:r>
              <a:rPr lang="en-US" dirty="0">
                <a:latin typeface="Arial" charset="0"/>
              </a:rPr>
              <a:t>Coordinate the cores by having them examine and update shared memory locations.</a:t>
            </a:r>
          </a:p>
          <a:p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5238543" y="3491817"/>
            <a:ext cx="1500850" cy="83099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2400" dirty="0"/>
              <a:t>Multi-core socket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 2010, Elsevier Inc. All rights Reserved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6BE44D-6AB7-7747-A5B3-8E5957F8FC9E}" type="slidenum">
              <a:rPr lang="en-US" smtClean="0"/>
              <a:t>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0025815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3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rial" charset="0"/>
              </a:rPr>
              <a:t>The burden is on software</a:t>
            </a:r>
          </a:p>
        </p:txBody>
      </p:sp>
      <p:sp>
        <p:nvSpPr>
          <p:cNvPr id="120834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Arial" charset="0"/>
              </a:rPr>
              <a:t>Hardware and compilers can keep up the pace needed.</a:t>
            </a:r>
          </a:p>
          <a:p>
            <a:r>
              <a:rPr lang="en-US" dirty="0">
                <a:latin typeface="Arial" charset="0"/>
              </a:rPr>
              <a:t>From now on…</a:t>
            </a:r>
          </a:p>
          <a:p>
            <a:pPr lvl="1"/>
            <a:r>
              <a:rPr lang="en-US" b="1" dirty="0">
                <a:latin typeface="Arial" charset="0"/>
              </a:rPr>
              <a:t>In shared memory programs:</a:t>
            </a:r>
          </a:p>
          <a:p>
            <a:pPr lvl="2"/>
            <a:r>
              <a:rPr lang="en-US" b="1" dirty="0">
                <a:latin typeface="Arial" charset="0"/>
              </a:rPr>
              <a:t>Start a single process and fork threads.</a:t>
            </a:r>
          </a:p>
          <a:p>
            <a:pPr lvl="2"/>
            <a:r>
              <a:rPr lang="en-US" b="1" dirty="0">
                <a:latin typeface="Arial" charset="0"/>
              </a:rPr>
              <a:t>Threads carry out tasks.</a:t>
            </a:r>
          </a:p>
          <a:p>
            <a:pPr lvl="1"/>
            <a:r>
              <a:rPr lang="en-US" dirty="0">
                <a:latin typeface="Arial" charset="0"/>
              </a:rPr>
              <a:t>In distributed memory programs:</a:t>
            </a:r>
          </a:p>
          <a:p>
            <a:pPr lvl="2"/>
            <a:r>
              <a:rPr lang="en-US" dirty="0">
                <a:latin typeface="Arial" charset="0"/>
              </a:rPr>
              <a:t>Start multiple processes.</a:t>
            </a:r>
          </a:p>
          <a:p>
            <a:pPr lvl="2"/>
            <a:r>
              <a:rPr lang="en-US" dirty="0">
                <a:latin typeface="Arial" charset="0"/>
              </a:rPr>
              <a:t>Processes carry out tasks.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charset="0"/>
              <a:defRPr sz="32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charset="0"/>
              <a:defRPr sz="32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charset="0"/>
              <a:defRPr sz="32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charset="0"/>
              <a:defRPr sz="32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charset="0"/>
              <a:defRPr sz="32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charset="0"/>
              <a:defRPr sz="32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charset="0"/>
              <a:defRPr sz="32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charset="0"/>
              <a:defRPr sz="32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charset="0"/>
              <a:defRPr sz="32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sz="1200">
                <a:latin typeface="Arial" charset="0"/>
              </a:rPr>
              <a:t>Copyright © 2010, Elsevier Inc. All rights Reserved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6BE44D-6AB7-7747-A5B3-8E5957F8FC9E}" type="slidenum">
              <a:rPr lang="en-US" smtClean="0"/>
              <a:t>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0689587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1" name="Title 1"/>
          <p:cNvSpPr>
            <a:spLocks noGrp="1"/>
          </p:cNvSpPr>
          <p:nvPr>
            <p:ph type="title"/>
          </p:nvPr>
        </p:nvSpPr>
        <p:spPr>
          <a:xfrm>
            <a:off x="468313" y="0"/>
            <a:ext cx="8281987" cy="708025"/>
          </a:xfrm>
        </p:spPr>
        <p:txBody>
          <a:bodyPr>
            <a:normAutofit fontScale="90000"/>
          </a:bodyPr>
          <a:lstStyle/>
          <a:p>
            <a:r>
              <a:rPr lang="en-US">
                <a:latin typeface="Arial" charset="0"/>
              </a:rPr>
              <a:t>Writing Parallel Programs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charset="0"/>
              <a:defRPr sz="32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charset="0"/>
              <a:defRPr sz="32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charset="0"/>
              <a:defRPr sz="32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charset="0"/>
              <a:defRPr sz="32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charset="0"/>
              <a:defRPr sz="32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charset="0"/>
              <a:defRPr sz="32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charset="0"/>
              <a:defRPr sz="32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charset="0"/>
              <a:defRPr sz="32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charset="0"/>
              <a:defRPr sz="32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sz="1200">
                <a:latin typeface="Arial" charset="0"/>
              </a:rPr>
              <a:t>Copyright © 2010, Elsevier Inc. All rights Reserved</a:t>
            </a:r>
          </a:p>
        </p:txBody>
      </p:sp>
      <p:sp>
        <p:nvSpPr>
          <p:cNvPr id="122883" name="TextBox 3"/>
          <p:cNvSpPr txBox="1">
            <a:spLocks noChangeArrowheads="1"/>
          </p:cNvSpPr>
          <p:nvPr/>
        </p:nvSpPr>
        <p:spPr bwMode="auto">
          <a:xfrm>
            <a:off x="5076825" y="1196975"/>
            <a:ext cx="3711575" cy="2357438"/>
          </a:xfrm>
          <a:prstGeom prst="rect">
            <a:avLst/>
          </a:prstGeom>
          <a:noFill/>
          <a:ln w="28575">
            <a:solidFill>
              <a:srgbClr val="0066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charset="0"/>
              <a:defRPr sz="32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charset="0"/>
              <a:defRPr sz="32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charset="0"/>
              <a:defRPr sz="32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charset="0"/>
              <a:defRPr sz="32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charset="0"/>
              <a:defRPr sz="32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charset="0"/>
              <a:defRPr sz="32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charset="0"/>
              <a:defRPr sz="32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charset="0"/>
              <a:defRPr sz="32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charset="0"/>
              <a:defRPr sz="32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9pPr>
          </a:lstStyle>
          <a:p>
            <a:r>
              <a:rPr lang="en-US">
                <a:latin typeface="Bodoni MT" charset="0"/>
              </a:rPr>
              <a:t>double x[n], y[n];</a:t>
            </a:r>
          </a:p>
          <a:p>
            <a:r>
              <a:rPr lang="en-US">
                <a:latin typeface="Bodoni MT" charset="0"/>
              </a:rPr>
              <a:t>…</a:t>
            </a:r>
          </a:p>
          <a:p>
            <a:r>
              <a:rPr lang="en-US">
                <a:latin typeface="Bodoni MT" charset="0"/>
              </a:rPr>
              <a:t>for (i = 0; i &lt; n; i++)</a:t>
            </a:r>
          </a:p>
          <a:p>
            <a:r>
              <a:rPr lang="en-US">
                <a:latin typeface="Bodoni MT" charset="0"/>
              </a:rPr>
              <a:t>     x[i] += y[i];</a:t>
            </a:r>
          </a:p>
        </p:txBody>
      </p:sp>
      <p:sp>
        <p:nvSpPr>
          <p:cNvPr id="122884" name="TextBox 4"/>
          <p:cNvSpPr txBox="1">
            <a:spLocks noChangeArrowheads="1"/>
          </p:cNvSpPr>
          <p:nvPr/>
        </p:nvSpPr>
        <p:spPr bwMode="auto">
          <a:xfrm>
            <a:off x="468313" y="1268413"/>
            <a:ext cx="8058150" cy="3711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457200" indent="-457200">
              <a:spcBef>
                <a:spcPct val="20000"/>
              </a:spcBef>
              <a:buClr>
                <a:schemeClr val="tx1"/>
              </a:buClr>
              <a:buSzPct val="60000"/>
              <a:buFont typeface="Wingdings" charset="0"/>
              <a:defRPr sz="32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1pPr>
            <a:lvl2pPr marL="914400" indent="-457200">
              <a:spcBef>
                <a:spcPct val="20000"/>
              </a:spcBef>
              <a:buClr>
                <a:schemeClr val="tx1"/>
              </a:buClr>
              <a:buSzPct val="60000"/>
              <a:buFont typeface="Wingdings" charset="0"/>
              <a:defRPr sz="32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charset="0"/>
              <a:defRPr sz="32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charset="0"/>
              <a:defRPr sz="32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charset="0"/>
              <a:defRPr sz="32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charset="0"/>
              <a:defRPr sz="32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charset="0"/>
              <a:defRPr sz="32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charset="0"/>
              <a:defRPr sz="32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charset="0"/>
              <a:defRPr sz="32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9pPr>
          </a:lstStyle>
          <a:p>
            <a:pPr>
              <a:buSzPct val="100000"/>
              <a:buFont typeface="Wingdings" charset="0"/>
              <a:buAutoNum type="arabicPeriod"/>
            </a:pPr>
            <a:r>
              <a:rPr lang="en-US" sz="2400" dirty="0">
                <a:latin typeface="Arial" charset="0"/>
                <a:cs typeface="Arial" charset="0"/>
              </a:rPr>
              <a:t>Divide the work among the</a:t>
            </a:r>
            <a:br>
              <a:rPr lang="en-US" sz="2400" dirty="0">
                <a:latin typeface="Arial" charset="0"/>
                <a:cs typeface="Arial" charset="0"/>
              </a:rPr>
            </a:br>
            <a:r>
              <a:rPr lang="en-US" sz="2400" dirty="0">
                <a:latin typeface="Arial" charset="0"/>
                <a:cs typeface="Arial" charset="0"/>
              </a:rPr>
              <a:t>     processes/threads</a:t>
            </a:r>
          </a:p>
          <a:p>
            <a:pPr lvl="1">
              <a:buSzPct val="100000"/>
              <a:buFont typeface="Wingdings" charset="0"/>
              <a:buAutoNum type="alphaLcParenBoth"/>
            </a:pPr>
            <a:r>
              <a:rPr lang="en-US" sz="2400" dirty="0">
                <a:latin typeface="Arial" charset="0"/>
                <a:cs typeface="Arial" charset="0"/>
              </a:rPr>
              <a:t>so each process/thread</a:t>
            </a:r>
            <a:br>
              <a:rPr lang="en-US" sz="2400" dirty="0">
                <a:latin typeface="Arial" charset="0"/>
                <a:cs typeface="Arial" charset="0"/>
              </a:rPr>
            </a:br>
            <a:r>
              <a:rPr lang="en-US" sz="2400" dirty="0">
                <a:latin typeface="Arial" charset="0"/>
                <a:cs typeface="Arial" charset="0"/>
              </a:rPr>
              <a:t>gets roughly the same </a:t>
            </a:r>
            <a:br>
              <a:rPr lang="en-US" sz="2400" dirty="0">
                <a:latin typeface="Arial" charset="0"/>
                <a:cs typeface="Arial" charset="0"/>
              </a:rPr>
            </a:br>
            <a:r>
              <a:rPr lang="en-US" sz="2400" dirty="0">
                <a:latin typeface="Arial" charset="0"/>
                <a:cs typeface="Arial" charset="0"/>
              </a:rPr>
              <a:t>amount of work</a:t>
            </a:r>
          </a:p>
          <a:p>
            <a:pPr lvl="1">
              <a:buSzPct val="100000"/>
              <a:buFont typeface="Wingdings" charset="0"/>
              <a:buAutoNum type="alphaLcParenBoth"/>
            </a:pPr>
            <a:r>
              <a:rPr lang="en-US" sz="2400" dirty="0">
                <a:latin typeface="Arial" charset="0"/>
                <a:cs typeface="Arial" charset="0"/>
              </a:rPr>
              <a:t>and communication is</a:t>
            </a:r>
            <a:br>
              <a:rPr lang="en-US" sz="2400" dirty="0">
                <a:latin typeface="Arial" charset="0"/>
                <a:cs typeface="Arial" charset="0"/>
              </a:rPr>
            </a:br>
            <a:r>
              <a:rPr lang="en-US" sz="2400" dirty="0">
                <a:latin typeface="Arial" charset="0"/>
                <a:cs typeface="Arial" charset="0"/>
              </a:rPr>
              <a:t>minimized.</a:t>
            </a:r>
          </a:p>
          <a:p>
            <a:pPr>
              <a:buSzPct val="100000"/>
              <a:buFont typeface="Wingdings" charset="0"/>
              <a:buAutoNum type="arabicPeriod"/>
            </a:pPr>
            <a:r>
              <a:rPr lang="en-US" sz="2400" dirty="0">
                <a:latin typeface="Arial" charset="0"/>
                <a:cs typeface="Arial" charset="0"/>
              </a:rPr>
              <a:t>Arrange for the processes/threads to synchronize.</a:t>
            </a:r>
          </a:p>
          <a:p>
            <a:pPr>
              <a:buSzPct val="100000"/>
              <a:buFont typeface="Wingdings" charset="0"/>
              <a:buAutoNum type="arabicPeriod"/>
            </a:pPr>
            <a:r>
              <a:rPr lang="en-US" sz="2400" dirty="0">
                <a:latin typeface="Arial" charset="0"/>
                <a:cs typeface="Arial" charset="0"/>
              </a:rPr>
              <a:t>Arrange for communication among processes/threads.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609306" y="5051426"/>
            <a:ext cx="2276669" cy="2015250"/>
          </a:xfrm>
          <a:prstGeom prst="roundRect">
            <a:avLst/>
          </a:prstGeom>
          <a:solidFill>
            <a:srgbClr val="FFFF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I think we will eventually introduce this when doing sum. I would remove this slide from here.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6BE44D-6AB7-7747-A5B3-8E5957F8FC9E}" type="slidenum">
              <a:rPr lang="en-US" smtClean="0"/>
              <a:t>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1044474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>
                <a:solidFill>
                  <a:srgbClr val="FF0000"/>
                </a:solidFill>
              </a:rPr>
              <a:t>Ananth</a:t>
            </a:r>
            <a:r>
              <a:rPr lang="en-US" dirty="0">
                <a:solidFill>
                  <a:srgbClr val="FF0000"/>
                </a:solidFill>
              </a:rPr>
              <a:t> can you put in a simple example here?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152106" y="3292964"/>
            <a:ext cx="2276669" cy="2015250"/>
          </a:xfrm>
          <a:prstGeom prst="roundRect">
            <a:avLst/>
          </a:prstGeom>
          <a:solidFill>
            <a:srgbClr val="FFFF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rgbClr val="FF0000"/>
                </a:solidFill>
              </a:rPr>
              <a:t>Remove Slide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 2010, Elsevier Inc. All rights Reserved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6BE44D-6AB7-7747-A5B3-8E5957F8FC9E}" type="slidenum">
              <a:rPr lang="en-US" smtClean="0"/>
              <a:t>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2588219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Title 1"/>
          <p:cNvSpPr>
            <a:spLocks noGrp="1"/>
          </p:cNvSpPr>
          <p:nvPr>
            <p:ph type="title"/>
          </p:nvPr>
        </p:nvSpPr>
        <p:spPr>
          <a:xfrm>
            <a:off x="611188" y="219986"/>
            <a:ext cx="8281987" cy="708025"/>
          </a:xfrm>
        </p:spPr>
        <p:txBody>
          <a:bodyPr>
            <a:normAutofit fontScale="90000"/>
          </a:bodyPr>
          <a:lstStyle/>
          <a:p>
            <a:r>
              <a:rPr lang="en-US" dirty="0" err="1">
                <a:latin typeface="Arial" charset="0"/>
              </a:rPr>
              <a:t>OpenMP</a:t>
            </a:r>
            <a:r>
              <a:rPr lang="en-US" dirty="0">
                <a:latin typeface="Arial" charset="0"/>
              </a:rPr>
              <a:t> </a:t>
            </a:r>
            <a:r>
              <a:rPr lang="en-US" dirty="0">
                <a:solidFill>
                  <a:srgbClr val="FF0000"/>
                </a:solidFill>
                <a:latin typeface="Arial" charset="0"/>
              </a:rPr>
              <a:t>(ask </a:t>
            </a:r>
            <a:r>
              <a:rPr lang="en-US" dirty="0" err="1">
                <a:solidFill>
                  <a:srgbClr val="FF0000"/>
                </a:solidFill>
                <a:latin typeface="Arial" charset="0"/>
              </a:rPr>
              <a:t>ananth</a:t>
            </a:r>
            <a:r>
              <a:rPr lang="en-US" dirty="0">
                <a:solidFill>
                  <a:srgbClr val="FF0000"/>
                </a:solidFill>
                <a:latin typeface="Arial" charset="0"/>
              </a:rPr>
              <a:t> to tailor more for the </a:t>
            </a:r>
            <a:r>
              <a:rPr lang="en-US" dirty="0" err="1">
                <a:solidFill>
                  <a:srgbClr val="FF0000"/>
                </a:solidFill>
                <a:latin typeface="Arial" charset="0"/>
              </a:rPr>
              <a:t>loop.c</a:t>
            </a:r>
            <a:r>
              <a:rPr lang="en-US" dirty="0">
                <a:solidFill>
                  <a:srgbClr val="FF0000"/>
                </a:solidFill>
                <a:latin typeface="Arial" charset="0"/>
              </a:rPr>
              <a:t> code)</a:t>
            </a:r>
          </a:p>
        </p:txBody>
      </p:sp>
      <p:sp>
        <p:nvSpPr>
          <p:cNvPr id="21506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>
                <a:latin typeface="Arial" charset="0"/>
              </a:rPr>
              <a:t>An API for shared-memory parallel programming.</a:t>
            </a:r>
          </a:p>
          <a:p>
            <a:r>
              <a:rPr lang="en-US" dirty="0">
                <a:latin typeface="Arial" charset="0"/>
              </a:rPr>
              <a:t>MP = multiprocessing</a:t>
            </a:r>
          </a:p>
          <a:p>
            <a:r>
              <a:rPr lang="en-US" dirty="0">
                <a:latin typeface="Arial" charset="0"/>
              </a:rPr>
              <a:t>Designed for systems in which each thread or process can potentially have access to all available memory.</a:t>
            </a:r>
          </a:p>
          <a:p>
            <a:r>
              <a:rPr lang="en-US" dirty="0">
                <a:latin typeface="Arial" charset="0"/>
              </a:rPr>
              <a:t>System is viewed as a collection of cores or CPU</a:t>
            </a:r>
            <a:r>
              <a:rPr lang="ja-JP" altLang="en-US" dirty="0">
                <a:latin typeface="Arial" charset="0"/>
              </a:rPr>
              <a:t>’</a:t>
            </a:r>
            <a:r>
              <a:rPr lang="en-US" dirty="0">
                <a:latin typeface="Arial" charset="0"/>
              </a:rPr>
              <a:t>s, all of which have access to main memory.</a:t>
            </a:r>
          </a:p>
          <a:p>
            <a:endParaRPr lang="en-US" dirty="0">
              <a:latin typeface="Arial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charset="0"/>
              <a:defRPr sz="32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charset="0"/>
              <a:defRPr sz="32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charset="0"/>
              <a:defRPr sz="32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charset="0"/>
              <a:defRPr sz="32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charset="0"/>
              <a:defRPr sz="32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charset="0"/>
              <a:defRPr sz="32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charset="0"/>
              <a:defRPr sz="32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charset="0"/>
              <a:defRPr sz="32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charset="0"/>
              <a:defRPr sz="32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sz="1200">
                <a:latin typeface="Arial" charset="0"/>
              </a:rPr>
              <a:t>Copyright © 2010, Elsevier Inc. All rights Reserved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52106" y="3292964"/>
            <a:ext cx="2276669" cy="2015250"/>
          </a:xfrm>
          <a:prstGeom prst="roundRect">
            <a:avLst/>
          </a:prstGeom>
          <a:solidFill>
            <a:srgbClr val="FFFF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rgbClr val="FF0000"/>
                </a:solidFill>
              </a:rPr>
              <a:t>Remove Slide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6BE44D-6AB7-7747-A5B3-8E5957F8FC9E}" type="slidenum">
              <a:rPr lang="en-US" smtClean="0"/>
              <a:t>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828816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Title 1"/>
          <p:cNvSpPr>
            <a:spLocks noGrp="1"/>
          </p:cNvSpPr>
          <p:nvPr>
            <p:ph type="title"/>
          </p:nvPr>
        </p:nvSpPr>
        <p:spPr>
          <a:xfrm>
            <a:off x="611188" y="0"/>
            <a:ext cx="8281987" cy="1323975"/>
          </a:xfrm>
        </p:spPr>
        <p:txBody>
          <a:bodyPr>
            <a:normAutofit fontScale="90000"/>
          </a:bodyPr>
          <a:lstStyle/>
          <a:p>
            <a:r>
              <a:rPr lang="en-US">
                <a:latin typeface="Arial" charset="0"/>
              </a:rPr>
              <a:t>A process forking and joining two threads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charset="0"/>
              <a:defRPr sz="32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charset="0"/>
              <a:defRPr sz="32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charset="0"/>
              <a:defRPr sz="32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charset="0"/>
              <a:defRPr sz="32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charset="0"/>
              <a:defRPr sz="32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charset="0"/>
              <a:defRPr sz="32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charset="0"/>
              <a:defRPr sz="32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charset="0"/>
              <a:defRPr sz="32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charset="0"/>
              <a:defRPr sz="32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sz="1200">
                <a:latin typeface="Arial" charset="0"/>
              </a:rPr>
              <a:t>Copyright © 2010, Elsevier Inc. All rights Reserved</a:t>
            </a:r>
          </a:p>
        </p:txBody>
      </p:sp>
      <p:pic>
        <p:nvPicPr>
          <p:cNvPr id="27651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8225" y="2295525"/>
            <a:ext cx="7065963" cy="2266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6BE44D-6AB7-7747-A5B3-8E5957F8FC9E}" type="slidenum">
              <a:rPr lang="en-US" smtClean="0"/>
              <a:t>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1662389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rial" charset="0"/>
              </a:rPr>
              <a:t>Of note…</a:t>
            </a:r>
          </a:p>
        </p:txBody>
      </p:sp>
      <p:sp>
        <p:nvSpPr>
          <p:cNvPr id="29698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>
                <a:latin typeface="Arial" charset="0"/>
              </a:rPr>
              <a:t>There may be system-defined limitations on the number of threads that a program can start. </a:t>
            </a:r>
          </a:p>
          <a:p>
            <a:r>
              <a:rPr lang="en-US" sz="2800">
                <a:latin typeface="Arial" charset="0"/>
              </a:rPr>
              <a:t>The OpenMP standard doesn</a:t>
            </a:r>
            <a:r>
              <a:rPr lang="ja-JP" altLang="en-US" sz="2800">
                <a:latin typeface="Arial" charset="0"/>
              </a:rPr>
              <a:t>’</a:t>
            </a:r>
            <a:r>
              <a:rPr lang="en-US" sz="2800">
                <a:latin typeface="Arial" charset="0"/>
              </a:rPr>
              <a:t>t guarantee that this will actually start thread_count threads.</a:t>
            </a:r>
          </a:p>
          <a:p>
            <a:r>
              <a:rPr lang="en-US" sz="2800">
                <a:latin typeface="Arial" charset="0"/>
              </a:rPr>
              <a:t>Most current systems can start hundreds or even thousands of threads. </a:t>
            </a:r>
          </a:p>
          <a:p>
            <a:r>
              <a:rPr lang="en-US" sz="2800">
                <a:latin typeface="Arial" charset="0"/>
              </a:rPr>
              <a:t>Unless we</a:t>
            </a:r>
            <a:r>
              <a:rPr lang="ja-JP" altLang="en-US" sz="2800">
                <a:latin typeface="Arial" charset="0"/>
              </a:rPr>
              <a:t>’</a:t>
            </a:r>
            <a:r>
              <a:rPr lang="en-US" sz="2800">
                <a:latin typeface="Arial" charset="0"/>
              </a:rPr>
              <a:t>re trying to start a lot of threads, we will almost always get the desired number of threads.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charset="0"/>
              <a:defRPr sz="32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charset="0"/>
              <a:defRPr sz="32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charset="0"/>
              <a:defRPr sz="32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charset="0"/>
              <a:defRPr sz="32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charset="0"/>
              <a:defRPr sz="32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charset="0"/>
              <a:defRPr sz="32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charset="0"/>
              <a:defRPr sz="32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charset="0"/>
              <a:defRPr sz="32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charset="0"/>
              <a:defRPr sz="32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sz="1200">
                <a:latin typeface="Arial" charset="0"/>
              </a:rPr>
              <a:t>Copyright © 2010, Elsevier Inc. All rights Reserved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6BE44D-6AB7-7747-A5B3-8E5957F8FC9E}" type="slidenum">
              <a:rPr lang="en-US" smtClean="0"/>
              <a:t>94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1567593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charset="0"/>
              <a:defRPr sz="32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charset="0"/>
              <a:defRPr sz="32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charset="0"/>
              <a:defRPr sz="32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charset="0"/>
              <a:defRPr sz="32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charset="0"/>
              <a:defRPr sz="32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charset="0"/>
              <a:defRPr sz="32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charset="0"/>
              <a:defRPr sz="32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charset="0"/>
              <a:defRPr sz="32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charset="0"/>
              <a:defRPr sz="32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sz="1200">
                <a:latin typeface="Arial" charset="0"/>
              </a:rPr>
              <a:t>Copyright © 2010, Elsevier Inc. All rights Reserved</a:t>
            </a:r>
          </a:p>
        </p:txBody>
      </p:sp>
      <p:pic>
        <p:nvPicPr>
          <p:cNvPr id="2457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088" y="260350"/>
            <a:ext cx="7694612" cy="5667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2457267" y="538424"/>
            <a:ext cx="6391654" cy="2585323"/>
          </a:xfrm>
          <a:prstGeom prst="rect">
            <a:avLst/>
          </a:prstGeom>
          <a:solidFill>
            <a:schemeClr val="accent6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Have people take serial version and make into the </a:t>
            </a:r>
            <a:r>
              <a:rPr lang="en-US" dirty="0" err="1"/>
              <a:t>openMP</a:t>
            </a:r>
            <a:r>
              <a:rPr lang="en-US" dirty="0"/>
              <a:t> version of </a:t>
            </a:r>
            <a:r>
              <a:rPr lang="en-US" dirty="0" err="1"/>
              <a:t>loop.c</a:t>
            </a:r>
            <a:endParaRPr lang="en-US" dirty="0"/>
          </a:p>
          <a:p>
            <a:endParaRPr lang="en-US" dirty="0"/>
          </a:p>
          <a:p>
            <a:r>
              <a:rPr lang="en-US" dirty="0"/>
              <a:t>-have a small example code that has the pragma and </a:t>
            </a:r>
            <a:r>
              <a:rPr lang="en-US" dirty="0" err="1"/>
              <a:t>openMP</a:t>
            </a:r>
            <a:r>
              <a:rPr lang="en-US" dirty="0"/>
              <a:t> calls in it</a:t>
            </a:r>
          </a:p>
          <a:p>
            <a:endParaRPr lang="en-US" dirty="0"/>
          </a:p>
          <a:p>
            <a:r>
              <a:rPr lang="en-US" dirty="0"/>
              <a:t>-then have them adapt the </a:t>
            </a:r>
            <a:r>
              <a:rPr lang="en-US" dirty="0" err="1"/>
              <a:t>loop.c</a:t>
            </a:r>
            <a:r>
              <a:rPr lang="en-US" dirty="0"/>
              <a:t> to have the </a:t>
            </a:r>
            <a:r>
              <a:rPr lang="en-US" dirty="0" err="1"/>
              <a:t>openmp</a:t>
            </a:r>
            <a:r>
              <a:rPr lang="en-US" dirty="0"/>
              <a:t> in it</a:t>
            </a:r>
            <a:r>
              <a:rPr lang="mr-IN" dirty="0"/>
              <a:t>…</a:t>
            </a:r>
            <a:r>
              <a:rPr lang="en-US" dirty="0"/>
              <a:t>give them 10 minutes to do while we go around the room and help</a:t>
            </a:r>
            <a:r>
              <a:rPr lang="mr-IN" dirty="0"/>
              <a:t>…</a:t>
            </a:r>
            <a:r>
              <a:rPr lang="en-US" dirty="0"/>
              <a:t>.then walk them through our parallel version of </a:t>
            </a:r>
            <a:r>
              <a:rPr lang="en-US" dirty="0" err="1"/>
              <a:t>loop.c</a:t>
            </a:r>
            <a:r>
              <a:rPr lang="en-US" dirty="0"/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6BE44D-6AB7-7747-A5B3-8E5957F8FC9E}" type="slidenum">
              <a:rPr lang="en-US" smtClean="0"/>
              <a:t>95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5346799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753" name="Picture 2" descr="cables,coils,connections,curling,electronics,loops,networks,reflections,Veer Image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088" y="979488"/>
            <a:ext cx="3816350" cy="3816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708025"/>
          </a:xfrm>
        </p:spPr>
        <p:txBody>
          <a:bodyPr/>
          <a:lstStyle/>
          <a:p>
            <a:pPr>
              <a:defRPr/>
            </a:pPr>
            <a:r>
              <a:rPr lang="en-US" dirty="0">
                <a:ea typeface="+mj-ea"/>
              </a:rPr>
              <a:t>Scheduling Loops in </a:t>
            </a:r>
            <a:r>
              <a:rPr lang="en-US" dirty="0" err="1">
                <a:ea typeface="+mj-ea"/>
              </a:rPr>
              <a:t>sync.c</a:t>
            </a:r>
            <a:endParaRPr lang="en-US" dirty="0">
              <a:ea typeface="+mj-ea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charset="0"/>
              <a:defRPr sz="32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charset="0"/>
              <a:defRPr sz="32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charset="0"/>
              <a:defRPr sz="32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charset="0"/>
              <a:defRPr sz="32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charset="0"/>
              <a:defRPr sz="32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charset="0"/>
              <a:defRPr sz="32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charset="0"/>
              <a:defRPr sz="32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charset="0"/>
              <a:defRPr sz="32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charset="0"/>
              <a:defRPr sz="32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sz="1200">
                <a:latin typeface="Arial" charset="0"/>
              </a:rPr>
              <a:t>Copyright © 2010, Elsevier Inc. All rights Reserved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6BE44D-6AB7-7747-A5B3-8E5957F8FC9E}" type="slidenum">
              <a:rPr lang="en-US" smtClean="0"/>
              <a:t>96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546119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9"/>
            <a:ext cx="8229600" cy="800515"/>
          </a:xfrm>
        </p:spPr>
        <p:txBody>
          <a:bodyPr/>
          <a:lstStyle/>
          <a:p>
            <a:r>
              <a:rPr lang="en-US" dirty="0">
                <a:latin typeface="Arial"/>
                <a:cs typeface="Arial"/>
              </a:rPr>
              <a:t>Locks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27516"/>
            <a:ext cx="8229600" cy="5084451"/>
          </a:xfrm>
        </p:spPr>
        <p:txBody>
          <a:bodyPr>
            <a:normAutofit fontScale="70000" lnSpcReduction="20000"/>
          </a:bodyPr>
          <a:lstStyle/>
          <a:p>
            <a:pPr>
              <a:spcAft>
                <a:spcPts val="500"/>
              </a:spcAft>
            </a:pPr>
            <a:r>
              <a:rPr lang="en-US" dirty="0">
                <a:latin typeface="Arial"/>
                <a:cs typeface="Arial"/>
              </a:rPr>
              <a:t>A lock implies a memory fence of all thread visible variables </a:t>
            </a:r>
          </a:p>
          <a:p>
            <a:pPr>
              <a:spcAft>
                <a:spcPts val="500"/>
              </a:spcAft>
            </a:pPr>
            <a:r>
              <a:rPr lang="en-US" dirty="0">
                <a:latin typeface="Arial"/>
                <a:cs typeface="Arial"/>
              </a:rPr>
              <a:t>The lock routines are used to guarantee that only one thread accesses a variable at a time to avoid race conditions</a:t>
            </a:r>
          </a:p>
          <a:p>
            <a:pPr>
              <a:spcAft>
                <a:spcPts val="500"/>
              </a:spcAft>
            </a:pPr>
            <a:r>
              <a:rPr lang="en-US" dirty="0">
                <a:latin typeface="Arial"/>
                <a:cs typeface="Arial"/>
              </a:rPr>
              <a:t>C/C++ lock variables must have type </a:t>
            </a:r>
            <a:r>
              <a:rPr lang="en-US" dirty="0">
                <a:solidFill>
                  <a:srgbClr val="0000FF"/>
                </a:solidFill>
                <a:latin typeface="Arial"/>
                <a:cs typeface="Arial"/>
              </a:rPr>
              <a:t>“</a:t>
            </a:r>
            <a:r>
              <a:rPr lang="en-US" dirty="0" err="1">
                <a:solidFill>
                  <a:srgbClr val="0000FF"/>
                </a:solidFill>
                <a:latin typeface="Arial"/>
                <a:cs typeface="Arial"/>
              </a:rPr>
              <a:t>omp_lock_t</a:t>
            </a:r>
            <a:r>
              <a:rPr lang="en-US" dirty="0">
                <a:solidFill>
                  <a:srgbClr val="0000FF"/>
                </a:solidFill>
                <a:latin typeface="Arial"/>
                <a:cs typeface="Arial"/>
              </a:rPr>
              <a:t>” </a:t>
            </a:r>
            <a:r>
              <a:rPr lang="en-US" dirty="0">
                <a:latin typeface="Arial"/>
                <a:cs typeface="Arial"/>
              </a:rPr>
              <a:t>or </a:t>
            </a:r>
            <a:r>
              <a:rPr lang="en-US" dirty="0">
                <a:solidFill>
                  <a:srgbClr val="0000FF"/>
                </a:solidFill>
                <a:latin typeface="Arial"/>
                <a:cs typeface="Arial"/>
              </a:rPr>
              <a:t>“</a:t>
            </a:r>
            <a:r>
              <a:rPr lang="en-US" dirty="0" err="1">
                <a:solidFill>
                  <a:srgbClr val="0000FF"/>
                </a:solidFill>
                <a:latin typeface="Arial"/>
                <a:cs typeface="Arial"/>
              </a:rPr>
              <a:t>omp_nest_lock_t</a:t>
            </a:r>
            <a:r>
              <a:rPr lang="en-US" dirty="0">
                <a:solidFill>
                  <a:srgbClr val="0000FF"/>
                </a:solidFill>
                <a:latin typeface="Arial"/>
                <a:cs typeface="Arial"/>
              </a:rPr>
              <a:t>” </a:t>
            </a:r>
            <a:r>
              <a:rPr lang="en-US" dirty="0">
                <a:latin typeface="Arial"/>
                <a:cs typeface="Arial"/>
              </a:rPr>
              <a:t>(will not discuss nested lock in this workshop) </a:t>
            </a:r>
          </a:p>
          <a:p>
            <a:pPr>
              <a:spcAft>
                <a:spcPts val="500"/>
              </a:spcAft>
            </a:pPr>
            <a:r>
              <a:rPr lang="en-US" dirty="0">
                <a:latin typeface="Arial"/>
                <a:cs typeface="Arial"/>
              </a:rPr>
              <a:t>All lock functions require an argument that has a pointer to </a:t>
            </a:r>
            <a:r>
              <a:rPr lang="en-US" dirty="0" err="1">
                <a:latin typeface="Arial"/>
                <a:cs typeface="Arial"/>
              </a:rPr>
              <a:t>omp_lock_t</a:t>
            </a:r>
            <a:r>
              <a:rPr lang="en-US" dirty="0">
                <a:latin typeface="Arial"/>
                <a:cs typeface="Arial"/>
              </a:rPr>
              <a:t> or </a:t>
            </a:r>
            <a:r>
              <a:rPr lang="en-US" dirty="0" err="1">
                <a:latin typeface="Arial"/>
                <a:cs typeface="Arial"/>
              </a:rPr>
              <a:t>omp_nest_lock_t</a:t>
            </a:r>
            <a:r>
              <a:rPr lang="en-US" dirty="0">
                <a:latin typeface="Arial"/>
                <a:cs typeface="Arial"/>
              </a:rPr>
              <a:t> </a:t>
            </a:r>
          </a:p>
          <a:p>
            <a:pPr>
              <a:spcAft>
                <a:spcPts val="500"/>
              </a:spcAft>
            </a:pPr>
            <a:r>
              <a:rPr lang="en-US" dirty="0">
                <a:latin typeface="Arial"/>
                <a:cs typeface="Arial"/>
              </a:rPr>
              <a:t>Simple Lock functions: </a:t>
            </a:r>
          </a:p>
          <a:p>
            <a:pPr lvl="1">
              <a:spcAft>
                <a:spcPts val="500"/>
              </a:spcAft>
            </a:pPr>
            <a:r>
              <a:rPr lang="en-US" dirty="0" err="1">
                <a:latin typeface="Arial"/>
                <a:cs typeface="Arial"/>
              </a:rPr>
              <a:t>omp_init_lock</a:t>
            </a:r>
            <a:r>
              <a:rPr lang="en-US" dirty="0">
                <a:latin typeface="Arial"/>
                <a:cs typeface="Arial"/>
              </a:rPr>
              <a:t>(</a:t>
            </a:r>
            <a:r>
              <a:rPr lang="en-US" dirty="0" err="1">
                <a:latin typeface="Arial"/>
                <a:cs typeface="Arial"/>
              </a:rPr>
              <a:t>omp_lock_t</a:t>
            </a:r>
            <a:r>
              <a:rPr lang="en-US" dirty="0">
                <a:latin typeface="Arial"/>
                <a:cs typeface="Arial"/>
              </a:rPr>
              <a:t>*); </a:t>
            </a:r>
          </a:p>
          <a:p>
            <a:pPr lvl="1">
              <a:spcAft>
                <a:spcPts val="500"/>
              </a:spcAft>
            </a:pPr>
            <a:r>
              <a:rPr lang="en-US" dirty="0" err="1">
                <a:latin typeface="Arial"/>
                <a:cs typeface="Arial"/>
              </a:rPr>
              <a:t>omp_set_lock</a:t>
            </a:r>
            <a:r>
              <a:rPr lang="en-US" dirty="0">
                <a:latin typeface="Arial"/>
                <a:cs typeface="Arial"/>
              </a:rPr>
              <a:t>(</a:t>
            </a:r>
            <a:r>
              <a:rPr lang="en-US" dirty="0" err="1">
                <a:latin typeface="Arial"/>
                <a:cs typeface="Arial"/>
              </a:rPr>
              <a:t>omp_lock_t</a:t>
            </a:r>
            <a:r>
              <a:rPr lang="en-US" dirty="0">
                <a:latin typeface="Arial"/>
                <a:cs typeface="Arial"/>
              </a:rPr>
              <a:t>*); </a:t>
            </a:r>
          </a:p>
          <a:p>
            <a:pPr lvl="1">
              <a:spcAft>
                <a:spcPts val="500"/>
              </a:spcAft>
            </a:pPr>
            <a:r>
              <a:rPr lang="en-US" dirty="0" err="1">
                <a:latin typeface="Arial"/>
                <a:cs typeface="Arial"/>
              </a:rPr>
              <a:t>omp_unset_lock</a:t>
            </a:r>
            <a:r>
              <a:rPr lang="en-US" dirty="0">
                <a:latin typeface="Arial"/>
                <a:cs typeface="Arial"/>
              </a:rPr>
              <a:t>(</a:t>
            </a:r>
            <a:r>
              <a:rPr lang="en-US" dirty="0" err="1">
                <a:latin typeface="Arial"/>
                <a:cs typeface="Arial"/>
              </a:rPr>
              <a:t>omp_lock_t</a:t>
            </a:r>
            <a:r>
              <a:rPr lang="en-US" dirty="0">
                <a:latin typeface="Arial"/>
                <a:cs typeface="Arial"/>
              </a:rPr>
              <a:t>*); </a:t>
            </a:r>
          </a:p>
          <a:p>
            <a:pPr lvl="1">
              <a:spcAft>
                <a:spcPts val="500"/>
              </a:spcAft>
            </a:pPr>
            <a:r>
              <a:rPr lang="en-US" dirty="0" err="1">
                <a:latin typeface="Arial"/>
                <a:cs typeface="Arial"/>
              </a:rPr>
              <a:t>omp_test_lock</a:t>
            </a:r>
            <a:r>
              <a:rPr lang="en-US" dirty="0">
                <a:latin typeface="Arial"/>
                <a:cs typeface="Arial"/>
              </a:rPr>
              <a:t>(</a:t>
            </a:r>
            <a:r>
              <a:rPr lang="en-US" dirty="0" err="1">
                <a:latin typeface="Arial"/>
                <a:cs typeface="Arial"/>
              </a:rPr>
              <a:t>omp_lock_t</a:t>
            </a:r>
            <a:r>
              <a:rPr lang="en-US" dirty="0">
                <a:latin typeface="Arial"/>
                <a:cs typeface="Arial"/>
              </a:rPr>
              <a:t>*); </a:t>
            </a:r>
          </a:p>
          <a:p>
            <a:pPr lvl="1">
              <a:spcAft>
                <a:spcPts val="500"/>
              </a:spcAft>
            </a:pPr>
            <a:r>
              <a:rPr lang="en-US" dirty="0" err="1">
                <a:latin typeface="Arial"/>
                <a:cs typeface="Arial"/>
              </a:rPr>
              <a:t>omp_destroy_lock</a:t>
            </a:r>
            <a:r>
              <a:rPr lang="en-US" dirty="0">
                <a:latin typeface="Arial"/>
                <a:cs typeface="Arial"/>
              </a:rPr>
              <a:t>(</a:t>
            </a:r>
            <a:r>
              <a:rPr lang="en-US" dirty="0" err="1">
                <a:latin typeface="Arial"/>
                <a:cs typeface="Arial"/>
              </a:rPr>
              <a:t>omp_lock_t</a:t>
            </a:r>
            <a:r>
              <a:rPr lang="en-US" dirty="0">
                <a:latin typeface="Arial"/>
                <a:cs typeface="Arial"/>
              </a:rPr>
              <a:t>*); 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 2010, Elsevier Inc. All rights Reserved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6BE44D-6AB7-7747-A5B3-8E5957F8FC9E}" type="slidenum">
              <a:rPr lang="en-US" smtClean="0"/>
              <a:t>97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548051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964126"/>
          </a:xfrm>
        </p:spPr>
        <p:txBody>
          <a:bodyPr/>
          <a:lstStyle/>
          <a:p>
            <a:r>
              <a:rPr lang="en-US" dirty="0">
                <a:latin typeface="Arial"/>
                <a:cs typeface="Arial"/>
              </a:rPr>
              <a:t>How to Use Locks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44380"/>
            <a:ext cx="8229600" cy="4525963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arenR"/>
            </a:pPr>
            <a:r>
              <a:rPr lang="en-US" sz="2400" dirty="0">
                <a:latin typeface="Arial"/>
                <a:cs typeface="Arial"/>
              </a:rPr>
              <a:t>Define the lock variables </a:t>
            </a:r>
          </a:p>
          <a:p>
            <a:pPr marL="514350" indent="-514350">
              <a:buFont typeface="+mj-lt"/>
              <a:buAutoNum type="arabicParenR"/>
            </a:pPr>
            <a:r>
              <a:rPr lang="en-US" sz="2400" dirty="0">
                <a:latin typeface="Arial"/>
                <a:cs typeface="Arial"/>
              </a:rPr>
              <a:t>Initialize the lock via a call to </a:t>
            </a:r>
            <a:r>
              <a:rPr lang="en-US" sz="2400" dirty="0" err="1">
                <a:latin typeface="Arial"/>
                <a:cs typeface="Arial"/>
              </a:rPr>
              <a:t>omp_init_lock</a:t>
            </a:r>
            <a:r>
              <a:rPr lang="en-US" sz="2400" dirty="0">
                <a:latin typeface="Arial"/>
                <a:cs typeface="Arial"/>
              </a:rPr>
              <a:t> </a:t>
            </a:r>
          </a:p>
          <a:p>
            <a:pPr marL="514350" indent="-514350">
              <a:buFont typeface="+mj-lt"/>
              <a:buAutoNum type="arabicParenR"/>
            </a:pPr>
            <a:r>
              <a:rPr lang="en-US" sz="2400" dirty="0">
                <a:latin typeface="Arial"/>
                <a:cs typeface="Arial"/>
              </a:rPr>
              <a:t>Set the lock using </a:t>
            </a:r>
            <a:r>
              <a:rPr lang="en-US" sz="2400" dirty="0" err="1">
                <a:latin typeface="Arial"/>
                <a:cs typeface="Arial"/>
              </a:rPr>
              <a:t>omp_set_lock</a:t>
            </a:r>
            <a:r>
              <a:rPr lang="en-US" sz="2400" dirty="0">
                <a:latin typeface="Arial"/>
                <a:cs typeface="Arial"/>
              </a:rPr>
              <a:t> or </a:t>
            </a:r>
            <a:r>
              <a:rPr lang="en-US" sz="2400" dirty="0" err="1">
                <a:latin typeface="Arial"/>
                <a:cs typeface="Arial"/>
              </a:rPr>
              <a:t>omp_test_lock</a:t>
            </a:r>
            <a:r>
              <a:rPr lang="en-US" sz="2400" dirty="0">
                <a:latin typeface="Arial"/>
                <a:cs typeface="Arial"/>
              </a:rPr>
              <a:t>. The latter checks whether the lock is actually available before attempting to set it. It is useful to achieve asynchronous thread execution. </a:t>
            </a:r>
          </a:p>
          <a:p>
            <a:pPr marL="514350" indent="-514350">
              <a:buFont typeface="+mj-lt"/>
              <a:buAutoNum type="arabicParenR"/>
            </a:pPr>
            <a:r>
              <a:rPr lang="en-US" sz="2400" dirty="0">
                <a:latin typeface="Arial"/>
                <a:cs typeface="Arial"/>
              </a:rPr>
              <a:t>Unset a lock after the work is done via a call to </a:t>
            </a:r>
            <a:r>
              <a:rPr lang="en-US" sz="2400" dirty="0" err="1">
                <a:latin typeface="Arial"/>
                <a:cs typeface="Arial"/>
              </a:rPr>
              <a:t>omp_unset_lock</a:t>
            </a:r>
            <a:r>
              <a:rPr lang="en-US" sz="2400" dirty="0">
                <a:latin typeface="Arial"/>
                <a:cs typeface="Arial"/>
              </a:rPr>
              <a:t>. </a:t>
            </a:r>
          </a:p>
          <a:p>
            <a:pPr marL="514350" indent="-514350">
              <a:buFont typeface="+mj-lt"/>
              <a:buAutoNum type="arabicParenR"/>
            </a:pPr>
            <a:r>
              <a:rPr lang="en-US" sz="2400" dirty="0">
                <a:latin typeface="Arial"/>
                <a:cs typeface="Arial"/>
              </a:rPr>
              <a:t>Remove the lock association via a call to </a:t>
            </a:r>
            <a:r>
              <a:rPr lang="en-US" sz="2400" dirty="0" err="1">
                <a:latin typeface="Arial"/>
                <a:cs typeface="Arial"/>
              </a:rPr>
              <a:t>omp_destroy_lock</a:t>
            </a:r>
            <a:r>
              <a:rPr lang="en-US" sz="2400" dirty="0">
                <a:latin typeface="Arial"/>
                <a:cs typeface="Arial"/>
              </a:rPr>
              <a:t>. 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 2010, Elsevier Inc. All rights Reserved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6BE44D-6AB7-7747-A5B3-8E5957F8FC9E}" type="slidenum">
              <a:rPr lang="en-US" smtClean="0"/>
              <a:t>98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6182345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5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rial" charset="0"/>
              </a:rPr>
              <a:t>Matrix-vector multiplication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charset="0"/>
              <a:defRPr sz="32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charset="0"/>
              <a:defRPr sz="32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charset="0"/>
              <a:defRPr sz="32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charset="0"/>
              <a:defRPr sz="32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charset="0"/>
              <a:defRPr sz="32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charset="0"/>
              <a:defRPr sz="32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charset="0"/>
              <a:defRPr sz="32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charset="0"/>
              <a:defRPr sz="32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charset="0"/>
              <a:defRPr sz="3200">
                <a:solidFill>
                  <a:schemeClr val="tx1"/>
                </a:solidFill>
                <a:latin typeface="Arial Black" charset="0"/>
                <a:ea typeface="ＭＳ Ｐゴシック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sz="1200">
                <a:latin typeface="Arial" charset="0"/>
              </a:rPr>
              <a:t>Copyright © 2010, Elsevier Inc. All rights Reserved</a:t>
            </a:r>
          </a:p>
        </p:txBody>
      </p:sp>
      <p:pic>
        <p:nvPicPr>
          <p:cNvPr id="108547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750" y="1484313"/>
            <a:ext cx="8085138" cy="2228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8548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8313" y="3716338"/>
            <a:ext cx="6637337" cy="2190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5435600" y="2636838"/>
            <a:ext cx="3236913" cy="92392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None/>
              <a:defRPr/>
            </a:pPr>
            <a:r>
              <a:rPr lang="en-US" sz="1800" dirty="0">
                <a:solidFill>
                  <a:srgbClr val="C00000"/>
                </a:solidFill>
                <a:latin typeface="+mn-lt"/>
                <a:ea typeface="+mn-ea"/>
              </a:rPr>
              <a:t>Run-times and efficiencies </a:t>
            </a:r>
            <a:br>
              <a:rPr lang="en-US" sz="1800" dirty="0">
                <a:solidFill>
                  <a:srgbClr val="C00000"/>
                </a:solidFill>
                <a:latin typeface="+mn-lt"/>
                <a:ea typeface="+mn-ea"/>
              </a:rPr>
            </a:br>
            <a:r>
              <a:rPr lang="en-US" sz="1800" dirty="0">
                <a:solidFill>
                  <a:srgbClr val="C00000"/>
                </a:solidFill>
                <a:latin typeface="+mn-lt"/>
                <a:ea typeface="+mn-ea"/>
              </a:rPr>
              <a:t>of matrix-vector multiplication </a:t>
            </a:r>
            <a:br>
              <a:rPr lang="en-US" sz="1800" dirty="0">
                <a:solidFill>
                  <a:srgbClr val="C00000"/>
                </a:solidFill>
                <a:latin typeface="+mn-lt"/>
                <a:ea typeface="+mn-ea"/>
              </a:rPr>
            </a:br>
            <a:r>
              <a:rPr lang="en-US" sz="1800" dirty="0">
                <a:solidFill>
                  <a:srgbClr val="C00000"/>
                </a:solidFill>
                <a:latin typeface="+mn-lt"/>
                <a:ea typeface="+mn-ea"/>
              </a:rPr>
              <a:t>(times are in seconds)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6BE44D-6AB7-7747-A5B3-8E5957F8FC9E}" type="slidenum">
              <a:rPr lang="en-US" smtClean="0"/>
              <a:t>99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17262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1443</TotalTime>
  <Words>4766</Words>
  <Application>Microsoft Office PowerPoint</Application>
  <PresentationFormat>On-screen Show (4:3)</PresentationFormat>
  <Paragraphs>1114</Paragraphs>
  <Slides>99</Slides>
  <Notes>17</Notes>
  <HiddenSlides>1</HiddenSlides>
  <MMClips>0</MMClips>
  <ScaleCrop>false</ScaleCrop>
  <HeadingPairs>
    <vt:vector size="6" baseType="variant">
      <vt:variant>
        <vt:lpstr>Fonts Used</vt:lpstr>
      </vt:variant>
      <vt:variant>
        <vt:i4>15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99</vt:i4>
      </vt:variant>
    </vt:vector>
  </HeadingPairs>
  <TitlesOfParts>
    <vt:vector size="115" baseType="lpstr">
      <vt:lpstr>ＭＳ Ｐゴシック</vt:lpstr>
      <vt:lpstr>Arial</vt:lpstr>
      <vt:lpstr>Arial Black</vt:lpstr>
      <vt:lpstr>Bodoni MT</vt:lpstr>
      <vt:lpstr>Calibri</vt:lpstr>
      <vt:lpstr>Courier New</vt:lpstr>
      <vt:lpstr>Helvetica</vt:lpstr>
      <vt:lpstr>Lucida Handwriting</vt:lpstr>
      <vt:lpstr>Mangal</vt:lpstr>
      <vt:lpstr>NimbusMonL-Regu-Extend_850</vt:lpstr>
      <vt:lpstr>NimbusRomNo9L-Medi</vt:lpstr>
      <vt:lpstr>NimbusRomNo9L-Regu</vt:lpstr>
      <vt:lpstr>Tahoma</vt:lpstr>
      <vt:lpstr>Times New Roman</vt:lpstr>
      <vt:lpstr>Wingdings</vt:lpstr>
      <vt:lpstr>Office Theme</vt:lpstr>
      <vt:lpstr>Introduction to Parallel Programming</vt:lpstr>
      <vt:lpstr>Serial hardware and software</vt:lpstr>
      <vt:lpstr>Why we need to write parallel programs</vt:lpstr>
      <vt:lpstr>How do we write parallel programs?</vt:lpstr>
      <vt:lpstr>Professor P</vt:lpstr>
      <vt:lpstr>Professor P’s grading assistants</vt:lpstr>
      <vt:lpstr>Division of work –  data parallelism</vt:lpstr>
      <vt:lpstr>Division of work –  task parallelism</vt:lpstr>
      <vt:lpstr>Coordination</vt:lpstr>
      <vt:lpstr>What we’ll be doing</vt:lpstr>
      <vt:lpstr>Essential concepts</vt:lpstr>
      <vt:lpstr>.c programs we will use</vt:lpstr>
      <vt:lpstr>Memory</vt:lpstr>
      <vt:lpstr>Shared Memory Architecture</vt:lpstr>
      <vt:lpstr>Multi-Threading  (for shared memory architectures)</vt:lpstr>
      <vt:lpstr>A process and two threads</vt:lpstr>
      <vt:lpstr>Distributed Memory Architecture</vt:lpstr>
      <vt:lpstr>Distributed Memory System</vt:lpstr>
      <vt:lpstr>Single Program Models: SIMD vs. MIMD</vt:lpstr>
      <vt:lpstr>Single Program Models: SIMD vs. MIMD</vt:lpstr>
      <vt:lpstr>Foster’s methodology</vt:lpstr>
      <vt:lpstr>Foster’s methodology</vt:lpstr>
      <vt:lpstr>Foster’s methodology</vt:lpstr>
      <vt:lpstr>Foster’s methodology</vt:lpstr>
      <vt:lpstr>Example from sum.c</vt:lpstr>
      <vt:lpstr>OpenMP for shared memory multithreaded programming</vt:lpstr>
      <vt:lpstr>Roadmap</vt:lpstr>
      <vt:lpstr>Pragmas</vt:lpstr>
      <vt:lpstr>OpenMp pragmas</vt:lpstr>
      <vt:lpstr>clause</vt:lpstr>
      <vt:lpstr>Some terminology</vt:lpstr>
      <vt:lpstr>In case the compiler doesn’t support OpenMP</vt:lpstr>
      <vt:lpstr>In case the compiler doesn’t support OpenMP</vt:lpstr>
      <vt:lpstr>PowerPoint Presentation</vt:lpstr>
      <vt:lpstr>PowerPoint Presentation</vt:lpstr>
      <vt:lpstr>Parallel Code Template (OpenMP)</vt:lpstr>
      <vt:lpstr>Scope</vt:lpstr>
      <vt:lpstr>Scope in OpenMP</vt:lpstr>
      <vt:lpstr>Loop.c</vt:lpstr>
      <vt:lpstr>Performance</vt:lpstr>
      <vt:lpstr>Taking Timings</vt:lpstr>
      <vt:lpstr>Taking Timings</vt:lpstr>
      <vt:lpstr>Speedup</vt:lpstr>
      <vt:lpstr>Scalability</vt:lpstr>
      <vt:lpstr>Studying Scalability </vt:lpstr>
      <vt:lpstr>Studying Scalability </vt:lpstr>
      <vt:lpstr>Studying Scalability </vt:lpstr>
      <vt:lpstr>Timings with loop-parallel.c (your code) or loop.c (our code)</vt:lpstr>
      <vt:lpstr>PowerPoint Presentation</vt:lpstr>
      <vt:lpstr>PowerPoint Presentation</vt:lpstr>
      <vt:lpstr>Reduction operators</vt:lpstr>
      <vt:lpstr>Computing a sum</vt:lpstr>
      <vt:lpstr>Mutual exclusion</vt:lpstr>
      <vt:lpstr>Example</vt:lpstr>
      <vt:lpstr>Synchronization</vt:lpstr>
      <vt:lpstr>Critical</vt:lpstr>
      <vt:lpstr>Atomic</vt:lpstr>
      <vt:lpstr>Locks </vt:lpstr>
      <vt:lpstr>Illustration of Locking Operation</vt:lpstr>
      <vt:lpstr>A Locks Code Example</vt:lpstr>
      <vt:lpstr>Some Caveats</vt:lpstr>
      <vt:lpstr>Loop.c example</vt:lpstr>
      <vt:lpstr>The Runtime Schedule Type</vt:lpstr>
      <vt:lpstr>schedule ( type , chunksize )</vt:lpstr>
      <vt:lpstr>schedule types can prevent load imbalance</vt:lpstr>
      <vt:lpstr>PowerPoint Presentation</vt:lpstr>
      <vt:lpstr>PowerPoint Presentation</vt:lpstr>
      <vt:lpstr>PowerPoint Presentation</vt:lpstr>
      <vt:lpstr>multiplication.c</vt:lpstr>
      <vt:lpstr>Matrix-vector multiplication</vt:lpstr>
      <vt:lpstr>M x V = X: Parallelization Strategies</vt:lpstr>
      <vt:lpstr>M x V = X: Parallelization Strategies</vt:lpstr>
      <vt:lpstr>Extra slides</vt:lpstr>
      <vt:lpstr>What happened?</vt:lpstr>
      <vt:lpstr>Estimating π</vt:lpstr>
      <vt:lpstr>OpenMP solution #1</vt:lpstr>
      <vt:lpstr>OpenMP solution #2</vt:lpstr>
      <vt:lpstr>PowerPoint Presentation</vt:lpstr>
      <vt:lpstr>An operating system “process”</vt:lpstr>
      <vt:lpstr>Shared Memory System</vt:lpstr>
      <vt:lpstr>UMA multicore system</vt:lpstr>
      <vt:lpstr>NUMA multicore system</vt:lpstr>
      <vt:lpstr>Input and Output</vt:lpstr>
      <vt:lpstr>Input and Output</vt:lpstr>
      <vt:lpstr>Division of work –  data parallelism</vt:lpstr>
      <vt:lpstr>Division of work –  task parallelism</vt:lpstr>
      <vt:lpstr>Distributed Memory on Kamiak</vt:lpstr>
      <vt:lpstr>On an Individual Node</vt:lpstr>
      <vt:lpstr>The burden is on software</vt:lpstr>
      <vt:lpstr>Writing Parallel Programs</vt:lpstr>
      <vt:lpstr>Ananth can you put in a simple example here?</vt:lpstr>
      <vt:lpstr>OpenMP (ask ananth to tailor more for the loop.c code)</vt:lpstr>
      <vt:lpstr>A process forking and joining two threads</vt:lpstr>
      <vt:lpstr>Of note…</vt:lpstr>
      <vt:lpstr>PowerPoint Presentation</vt:lpstr>
      <vt:lpstr>Scheduling Loops in sync.c</vt:lpstr>
      <vt:lpstr>Locks</vt:lpstr>
      <vt:lpstr>How to Use Locks</vt:lpstr>
      <vt:lpstr>Matrix-vector multiplication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Parallel Programming</dc:title>
  <dc:creator>Aurora Clark</dc:creator>
  <cp:lastModifiedBy>Tim Neumann</cp:lastModifiedBy>
  <cp:revision>123</cp:revision>
  <dcterms:created xsi:type="dcterms:W3CDTF">2017-05-30T11:45:35Z</dcterms:created>
  <dcterms:modified xsi:type="dcterms:W3CDTF">2017-06-09T18:57:47Z</dcterms:modified>
</cp:coreProperties>
</file>