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sldIdLst>
    <p:sldId id="257" r:id="rId5"/>
    <p:sldId id="258" r:id="rId6"/>
    <p:sldId id="260" r:id="rId7"/>
    <p:sldId id="361" r:id="rId8"/>
    <p:sldId id="362" r:id="rId9"/>
    <p:sldId id="363" r:id="rId10"/>
    <p:sldId id="364" r:id="rId11"/>
    <p:sldId id="365" r:id="rId12"/>
    <p:sldId id="366" r:id="rId13"/>
    <p:sldId id="367" r:id="rId14"/>
    <p:sldId id="368" r:id="rId15"/>
    <p:sldId id="369" r:id="rId16"/>
    <p:sldId id="373" r:id="rId17"/>
    <p:sldId id="370" r:id="rId18"/>
    <p:sldId id="371" r:id="rId19"/>
    <p:sldId id="372" r:id="rId20"/>
    <p:sldId id="374" r:id="rId21"/>
    <p:sldId id="375" r:id="rId22"/>
    <p:sldId id="376" r:id="rId23"/>
    <p:sldId id="377" r:id="rId24"/>
    <p:sldId id="378" r:id="rId25"/>
    <p:sldId id="379" r:id="rId26"/>
    <p:sldId id="380" r:id="rId27"/>
    <p:sldId id="381" r:id="rId28"/>
    <p:sldId id="382" r:id="rId29"/>
    <p:sldId id="383" r:id="rId30"/>
    <p:sldId id="384" r:id="rId31"/>
    <p:sldId id="385" r:id="rId32"/>
    <p:sldId id="388" r:id="rId33"/>
    <p:sldId id="389" r:id="rId34"/>
    <p:sldId id="390" r:id="rId35"/>
    <p:sldId id="391" r:id="rId36"/>
    <p:sldId id="392" r:id="rId37"/>
    <p:sldId id="396" r:id="rId38"/>
    <p:sldId id="395" r:id="rId39"/>
    <p:sldId id="393" r:id="rId40"/>
    <p:sldId id="397" r:id="rId41"/>
    <p:sldId id="398" r:id="rId42"/>
    <p:sldId id="284" r:id="rId43"/>
  </p:sldIdLst>
  <p:sldSz cx="12192000" cy="6858000"/>
  <p:notesSz cx="6858000" cy="9144000"/>
  <p:defaultTextStyle>
    <a:defPPr>
      <a:defRPr lang="tr-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BA470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Orta Stil 2 - Vurgu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CF1AB2-1976-4502-BF36-3FF5EA218861}" styleName="Orta Stil 4 - Vurgu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5940675A-B579-460E-94D1-54222C63F5DA}" styleName="Stil Yok, Tablo Kılavuzu">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BC89EF96-8CEA-46FF-86C4-4CE0E7609802}" styleName="Açık Stil 3 - Vurgu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p:scale>
          <a:sx n="75" d="100"/>
          <a:sy n="75" d="100"/>
        </p:scale>
        <p:origin x="540" y="60"/>
      </p:cViewPr>
      <p:guideLst/>
    </p:cSldViewPr>
  </p:slid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tableStyles" Target="tableStyle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theme" Target="theme/theme1.xml"/><Relationship Id="rId20" Type="http://schemas.openxmlformats.org/officeDocument/2006/relationships/slide" Target="slides/slide16.xml"/><Relationship Id="rId41" Type="http://schemas.openxmlformats.org/officeDocument/2006/relationships/slide" Target="slides/slide3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Başlık Slaydı">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35EF0D81-3932-DCDE-3681-0DCD02CED74F}"/>
              </a:ext>
            </a:extLst>
          </p:cNvPr>
          <p:cNvSpPr>
            <a:spLocks noGrp="1"/>
          </p:cNvSpPr>
          <p:nvPr>
            <p:ph type="ctrTitle"/>
          </p:nvPr>
        </p:nvSpPr>
        <p:spPr>
          <a:xfrm>
            <a:off x="1524000" y="1122363"/>
            <a:ext cx="9144000" cy="2387600"/>
          </a:xfrm>
        </p:spPr>
        <p:txBody>
          <a:bodyPr anchor="b"/>
          <a:lstStyle>
            <a:lvl1pPr algn="ctr">
              <a:defRPr sz="6000"/>
            </a:lvl1pPr>
          </a:lstStyle>
          <a:p>
            <a:r>
              <a:rPr lang="tr-TR"/>
              <a:t>Asıl başlık stilini düzenlemek için tıklayın</a:t>
            </a:r>
          </a:p>
        </p:txBody>
      </p:sp>
      <p:sp>
        <p:nvSpPr>
          <p:cNvPr id="3" name="Alt Başlık 2">
            <a:extLst>
              <a:ext uri="{FF2B5EF4-FFF2-40B4-BE49-F238E27FC236}">
                <a16:creationId xmlns:a16="http://schemas.microsoft.com/office/drawing/2014/main" id="{A50714F6-0FC8-FE26-1F38-A1001C0AABC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tr-TR"/>
              <a:t>Asıl alt başlık stilini düzenlemek için tıklayın</a:t>
            </a:r>
          </a:p>
        </p:txBody>
      </p:sp>
      <p:sp>
        <p:nvSpPr>
          <p:cNvPr id="4" name="Veri Yer Tutucusu 3">
            <a:extLst>
              <a:ext uri="{FF2B5EF4-FFF2-40B4-BE49-F238E27FC236}">
                <a16:creationId xmlns:a16="http://schemas.microsoft.com/office/drawing/2014/main" id="{8C856B84-33E5-0D67-64AA-5CA109570076}"/>
              </a:ext>
            </a:extLst>
          </p:cNvPr>
          <p:cNvSpPr>
            <a:spLocks noGrp="1"/>
          </p:cNvSpPr>
          <p:nvPr>
            <p:ph type="dt" sz="half" idx="10"/>
          </p:nvPr>
        </p:nvSpPr>
        <p:spPr/>
        <p:txBody>
          <a:bodyPr/>
          <a:lstStyle/>
          <a:p>
            <a:fld id="{4C346B30-8727-437F-A876-6C8AB807B940}" type="datetimeFigureOut">
              <a:rPr lang="tr-TR" smtClean="0"/>
              <a:t>11.03.2024</a:t>
            </a:fld>
            <a:endParaRPr lang="tr-TR"/>
          </a:p>
        </p:txBody>
      </p:sp>
      <p:sp>
        <p:nvSpPr>
          <p:cNvPr id="5" name="Alt Bilgi Yer Tutucusu 4">
            <a:extLst>
              <a:ext uri="{FF2B5EF4-FFF2-40B4-BE49-F238E27FC236}">
                <a16:creationId xmlns:a16="http://schemas.microsoft.com/office/drawing/2014/main" id="{783833DC-CCF0-E2E2-86C1-57A82AC0152D}"/>
              </a:ext>
            </a:extLst>
          </p:cNvPr>
          <p:cNvSpPr>
            <a:spLocks noGrp="1"/>
          </p:cNvSpPr>
          <p:nvPr>
            <p:ph type="ftr" sz="quarter" idx="11"/>
          </p:nvPr>
        </p:nvSpPr>
        <p:spPr/>
        <p:txBody>
          <a:bodyPr/>
          <a:lstStyle/>
          <a:p>
            <a:endParaRPr lang="tr-TR"/>
          </a:p>
        </p:txBody>
      </p:sp>
      <p:sp>
        <p:nvSpPr>
          <p:cNvPr id="6" name="Slayt Numarası Yer Tutucusu 5">
            <a:extLst>
              <a:ext uri="{FF2B5EF4-FFF2-40B4-BE49-F238E27FC236}">
                <a16:creationId xmlns:a16="http://schemas.microsoft.com/office/drawing/2014/main" id="{7EF8EC0D-3FC7-3901-1F54-99B509590B47}"/>
              </a:ext>
            </a:extLst>
          </p:cNvPr>
          <p:cNvSpPr>
            <a:spLocks noGrp="1"/>
          </p:cNvSpPr>
          <p:nvPr>
            <p:ph type="sldNum" sz="quarter" idx="12"/>
          </p:nvPr>
        </p:nvSpPr>
        <p:spPr/>
        <p:txBody>
          <a:bodyPr/>
          <a:lstStyle/>
          <a:p>
            <a:fld id="{C47CF137-9694-42F5-AD3F-DF7F4286E53B}" type="slidenum">
              <a:rPr lang="tr-TR" smtClean="0"/>
              <a:t>‹#›</a:t>
            </a:fld>
            <a:endParaRPr lang="tr-TR"/>
          </a:p>
        </p:txBody>
      </p:sp>
    </p:spTree>
    <p:extLst>
      <p:ext uri="{BB962C8B-B14F-4D97-AF65-F5344CB8AC3E}">
        <p14:creationId xmlns:p14="http://schemas.microsoft.com/office/powerpoint/2010/main" val="422474004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Başlık ve İçerik">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1E863CD1-C2BB-ED91-E749-91D1579F3C8F}"/>
              </a:ext>
            </a:extLst>
          </p:cNvPr>
          <p:cNvSpPr>
            <a:spLocks noGrp="1"/>
          </p:cNvSpPr>
          <p:nvPr>
            <p:ph type="title"/>
          </p:nvPr>
        </p:nvSpPr>
        <p:spPr/>
        <p:txBody>
          <a:bodyPr/>
          <a:lstStyle/>
          <a:p>
            <a:r>
              <a:rPr lang="tr-TR"/>
              <a:t>Asıl başlık stilini düzenlemek için tıklayın</a:t>
            </a:r>
          </a:p>
        </p:txBody>
      </p:sp>
      <p:sp>
        <p:nvSpPr>
          <p:cNvPr id="3" name="İçerik Yer Tutucusu 2">
            <a:extLst>
              <a:ext uri="{FF2B5EF4-FFF2-40B4-BE49-F238E27FC236}">
                <a16:creationId xmlns:a16="http://schemas.microsoft.com/office/drawing/2014/main" id="{66666C8A-1BE3-8D0D-2EF7-462B11627948}"/>
              </a:ext>
            </a:extLst>
          </p:cNvPr>
          <p:cNvSpPr>
            <a:spLocks noGrp="1"/>
          </p:cNvSpPr>
          <p:nvPr>
            <p:ph idx="1"/>
          </p:nvPr>
        </p:nvSpPr>
        <p:spPr/>
        <p:txBody>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4" name="Veri Yer Tutucusu 3">
            <a:extLst>
              <a:ext uri="{FF2B5EF4-FFF2-40B4-BE49-F238E27FC236}">
                <a16:creationId xmlns:a16="http://schemas.microsoft.com/office/drawing/2014/main" id="{DF5CAE76-712A-3318-137F-BE35BDFAD39A}"/>
              </a:ext>
            </a:extLst>
          </p:cNvPr>
          <p:cNvSpPr>
            <a:spLocks noGrp="1"/>
          </p:cNvSpPr>
          <p:nvPr>
            <p:ph type="dt" sz="half" idx="10"/>
          </p:nvPr>
        </p:nvSpPr>
        <p:spPr/>
        <p:txBody>
          <a:bodyPr/>
          <a:lstStyle/>
          <a:p>
            <a:fld id="{4C346B30-8727-437F-A876-6C8AB807B940}" type="datetimeFigureOut">
              <a:rPr lang="tr-TR" smtClean="0"/>
              <a:t>11.03.2024</a:t>
            </a:fld>
            <a:endParaRPr lang="tr-TR"/>
          </a:p>
        </p:txBody>
      </p:sp>
      <p:sp>
        <p:nvSpPr>
          <p:cNvPr id="5" name="Alt Bilgi Yer Tutucusu 4">
            <a:extLst>
              <a:ext uri="{FF2B5EF4-FFF2-40B4-BE49-F238E27FC236}">
                <a16:creationId xmlns:a16="http://schemas.microsoft.com/office/drawing/2014/main" id="{FD9385D2-730A-47EC-3552-E71929ED822D}"/>
              </a:ext>
            </a:extLst>
          </p:cNvPr>
          <p:cNvSpPr>
            <a:spLocks noGrp="1"/>
          </p:cNvSpPr>
          <p:nvPr>
            <p:ph type="ftr" sz="quarter" idx="11"/>
          </p:nvPr>
        </p:nvSpPr>
        <p:spPr/>
        <p:txBody>
          <a:bodyPr/>
          <a:lstStyle/>
          <a:p>
            <a:endParaRPr lang="tr-TR"/>
          </a:p>
        </p:txBody>
      </p:sp>
      <p:sp>
        <p:nvSpPr>
          <p:cNvPr id="6" name="Slayt Numarası Yer Tutucusu 5">
            <a:extLst>
              <a:ext uri="{FF2B5EF4-FFF2-40B4-BE49-F238E27FC236}">
                <a16:creationId xmlns:a16="http://schemas.microsoft.com/office/drawing/2014/main" id="{A03F5ADA-E82E-5640-E825-5BBCDB5E24DD}"/>
              </a:ext>
            </a:extLst>
          </p:cNvPr>
          <p:cNvSpPr>
            <a:spLocks noGrp="1"/>
          </p:cNvSpPr>
          <p:nvPr>
            <p:ph type="sldNum" sz="quarter" idx="12"/>
          </p:nvPr>
        </p:nvSpPr>
        <p:spPr/>
        <p:txBody>
          <a:bodyPr/>
          <a:lstStyle/>
          <a:p>
            <a:fld id="{C47CF137-9694-42F5-AD3F-DF7F4286E53B}" type="slidenum">
              <a:rPr lang="tr-TR" smtClean="0"/>
              <a:t>‹#›</a:t>
            </a:fld>
            <a:endParaRPr lang="tr-TR"/>
          </a:p>
        </p:txBody>
      </p:sp>
    </p:spTree>
    <p:extLst>
      <p:ext uri="{BB962C8B-B14F-4D97-AF65-F5344CB8AC3E}">
        <p14:creationId xmlns:p14="http://schemas.microsoft.com/office/powerpoint/2010/main" val="312296510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Bölüm Üst Bilgisi">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C2A07A9A-6FAF-0BD4-3BB3-70AA992DCDBA}"/>
              </a:ext>
            </a:extLst>
          </p:cNvPr>
          <p:cNvSpPr>
            <a:spLocks noGrp="1"/>
          </p:cNvSpPr>
          <p:nvPr>
            <p:ph type="title"/>
          </p:nvPr>
        </p:nvSpPr>
        <p:spPr>
          <a:xfrm>
            <a:off x="831850" y="1709738"/>
            <a:ext cx="10515600" cy="2852737"/>
          </a:xfrm>
        </p:spPr>
        <p:txBody>
          <a:bodyPr anchor="b"/>
          <a:lstStyle>
            <a:lvl1pPr>
              <a:defRPr sz="6000"/>
            </a:lvl1pPr>
          </a:lstStyle>
          <a:p>
            <a:r>
              <a:rPr lang="tr-TR"/>
              <a:t>Asıl başlık stilini düzenlemek için tıklayın</a:t>
            </a:r>
          </a:p>
        </p:txBody>
      </p:sp>
      <p:sp>
        <p:nvSpPr>
          <p:cNvPr id="3" name="Metin Yer Tutucusu 2">
            <a:extLst>
              <a:ext uri="{FF2B5EF4-FFF2-40B4-BE49-F238E27FC236}">
                <a16:creationId xmlns:a16="http://schemas.microsoft.com/office/drawing/2014/main" id="{4C73B45F-6D24-6786-F21B-AF115C328F1A}"/>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tr-TR"/>
              <a:t>Asıl metin stillerini düzenlemek için tıklayın</a:t>
            </a:r>
          </a:p>
        </p:txBody>
      </p:sp>
      <p:sp>
        <p:nvSpPr>
          <p:cNvPr id="4" name="Veri Yer Tutucusu 3">
            <a:extLst>
              <a:ext uri="{FF2B5EF4-FFF2-40B4-BE49-F238E27FC236}">
                <a16:creationId xmlns:a16="http://schemas.microsoft.com/office/drawing/2014/main" id="{5462822D-087A-9615-FF83-5F3BDCE25BD6}"/>
              </a:ext>
            </a:extLst>
          </p:cNvPr>
          <p:cNvSpPr>
            <a:spLocks noGrp="1"/>
          </p:cNvSpPr>
          <p:nvPr>
            <p:ph type="dt" sz="half" idx="10"/>
          </p:nvPr>
        </p:nvSpPr>
        <p:spPr/>
        <p:txBody>
          <a:bodyPr/>
          <a:lstStyle/>
          <a:p>
            <a:fld id="{4C346B30-8727-437F-A876-6C8AB807B940}" type="datetimeFigureOut">
              <a:rPr lang="tr-TR" smtClean="0"/>
              <a:t>11.03.2024</a:t>
            </a:fld>
            <a:endParaRPr lang="tr-TR"/>
          </a:p>
        </p:txBody>
      </p:sp>
      <p:sp>
        <p:nvSpPr>
          <p:cNvPr id="5" name="Alt Bilgi Yer Tutucusu 4">
            <a:extLst>
              <a:ext uri="{FF2B5EF4-FFF2-40B4-BE49-F238E27FC236}">
                <a16:creationId xmlns:a16="http://schemas.microsoft.com/office/drawing/2014/main" id="{E89D94BB-B9F9-D019-5B63-F45BA7C2D361}"/>
              </a:ext>
            </a:extLst>
          </p:cNvPr>
          <p:cNvSpPr>
            <a:spLocks noGrp="1"/>
          </p:cNvSpPr>
          <p:nvPr>
            <p:ph type="ftr" sz="quarter" idx="11"/>
          </p:nvPr>
        </p:nvSpPr>
        <p:spPr/>
        <p:txBody>
          <a:bodyPr/>
          <a:lstStyle/>
          <a:p>
            <a:endParaRPr lang="tr-TR"/>
          </a:p>
        </p:txBody>
      </p:sp>
      <p:sp>
        <p:nvSpPr>
          <p:cNvPr id="6" name="Slayt Numarası Yer Tutucusu 5">
            <a:extLst>
              <a:ext uri="{FF2B5EF4-FFF2-40B4-BE49-F238E27FC236}">
                <a16:creationId xmlns:a16="http://schemas.microsoft.com/office/drawing/2014/main" id="{7ABBA78D-7277-305C-26C1-4CEC586A9605}"/>
              </a:ext>
            </a:extLst>
          </p:cNvPr>
          <p:cNvSpPr>
            <a:spLocks noGrp="1"/>
          </p:cNvSpPr>
          <p:nvPr>
            <p:ph type="sldNum" sz="quarter" idx="12"/>
          </p:nvPr>
        </p:nvSpPr>
        <p:spPr/>
        <p:txBody>
          <a:bodyPr/>
          <a:lstStyle/>
          <a:p>
            <a:fld id="{C47CF137-9694-42F5-AD3F-DF7F4286E53B}" type="slidenum">
              <a:rPr lang="tr-TR" smtClean="0"/>
              <a:t>‹#›</a:t>
            </a:fld>
            <a:endParaRPr lang="tr-TR"/>
          </a:p>
        </p:txBody>
      </p:sp>
    </p:spTree>
    <p:extLst>
      <p:ext uri="{BB962C8B-B14F-4D97-AF65-F5344CB8AC3E}">
        <p14:creationId xmlns:p14="http://schemas.microsoft.com/office/powerpoint/2010/main" val="5625639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İki İçerik">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BFC852FC-6427-11AD-604C-448C68789976}"/>
              </a:ext>
            </a:extLst>
          </p:cNvPr>
          <p:cNvSpPr>
            <a:spLocks noGrp="1"/>
          </p:cNvSpPr>
          <p:nvPr>
            <p:ph type="title"/>
          </p:nvPr>
        </p:nvSpPr>
        <p:spPr/>
        <p:txBody>
          <a:bodyPr/>
          <a:lstStyle/>
          <a:p>
            <a:r>
              <a:rPr lang="tr-TR"/>
              <a:t>Asıl başlık stilini düzenlemek için tıklayın</a:t>
            </a:r>
          </a:p>
        </p:txBody>
      </p:sp>
      <p:sp>
        <p:nvSpPr>
          <p:cNvPr id="3" name="İçerik Yer Tutucusu 2">
            <a:extLst>
              <a:ext uri="{FF2B5EF4-FFF2-40B4-BE49-F238E27FC236}">
                <a16:creationId xmlns:a16="http://schemas.microsoft.com/office/drawing/2014/main" id="{2D842765-2155-EABE-0FB6-E0AD9A5E6BE9}"/>
              </a:ext>
            </a:extLst>
          </p:cNvPr>
          <p:cNvSpPr>
            <a:spLocks noGrp="1"/>
          </p:cNvSpPr>
          <p:nvPr>
            <p:ph sz="half" idx="1"/>
          </p:nvPr>
        </p:nvSpPr>
        <p:spPr>
          <a:xfrm>
            <a:off x="838200" y="1825625"/>
            <a:ext cx="5181600" cy="4351338"/>
          </a:xfrm>
        </p:spPr>
        <p:txBody>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4" name="İçerik Yer Tutucusu 3">
            <a:extLst>
              <a:ext uri="{FF2B5EF4-FFF2-40B4-BE49-F238E27FC236}">
                <a16:creationId xmlns:a16="http://schemas.microsoft.com/office/drawing/2014/main" id="{EFD02439-DEE2-8AA4-EA98-409F8EC78E97}"/>
              </a:ext>
            </a:extLst>
          </p:cNvPr>
          <p:cNvSpPr>
            <a:spLocks noGrp="1"/>
          </p:cNvSpPr>
          <p:nvPr>
            <p:ph sz="half" idx="2"/>
          </p:nvPr>
        </p:nvSpPr>
        <p:spPr>
          <a:xfrm>
            <a:off x="6172200" y="1825625"/>
            <a:ext cx="5181600" cy="4351338"/>
          </a:xfrm>
        </p:spPr>
        <p:txBody>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5" name="Veri Yer Tutucusu 4">
            <a:extLst>
              <a:ext uri="{FF2B5EF4-FFF2-40B4-BE49-F238E27FC236}">
                <a16:creationId xmlns:a16="http://schemas.microsoft.com/office/drawing/2014/main" id="{8806990F-5A41-8E33-C6BA-B48C63E03070}"/>
              </a:ext>
            </a:extLst>
          </p:cNvPr>
          <p:cNvSpPr>
            <a:spLocks noGrp="1"/>
          </p:cNvSpPr>
          <p:nvPr>
            <p:ph type="dt" sz="half" idx="10"/>
          </p:nvPr>
        </p:nvSpPr>
        <p:spPr/>
        <p:txBody>
          <a:bodyPr/>
          <a:lstStyle/>
          <a:p>
            <a:fld id="{4C346B30-8727-437F-A876-6C8AB807B940}" type="datetimeFigureOut">
              <a:rPr lang="tr-TR" smtClean="0"/>
              <a:t>11.03.2024</a:t>
            </a:fld>
            <a:endParaRPr lang="tr-TR"/>
          </a:p>
        </p:txBody>
      </p:sp>
      <p:sp>
        <p:nvSpPr>
          <p:cNvPr id="6" name="Alt Bilgi Yer Tutucusu 5">
            <a:extLst>
              <a:ext uri="{FF2B5EF4-FFF2-40B4-BE49-F238E27FC236}">
                <a16:creationId xmlns:a16="http://schemas.microsoft.com/office/drawing/2014/main" id="{DA9C92D2-D572-FCEE-D415-9FD4C0504FF2}"/>
              </a:ext>
            </a:extLst>
          </p:cNvPr>
          <p:cNvSpPr>
            <a:spLocks noGrp="1"/>
          </p:cNvSpPr>
          <p:nvPr>
            <p:ph type="ftr" sz="quarter" idx="11"/>
          </p:nvPr>
        </p:nvSpPr>
        <p:spPr/>
        <p:txBody>
          <a:bodyPr/>
          <a:lstStyle/>
          <a:p>
            <a:endParaRPr lang="tr-TR"/>
          </a:p>
        </p:txBody>
      </p:sp>
      <p:sp>
        <p:nvSpPr>
          <p:cNvPr id="7" name="Slayt Numarası Yer Tutucusu 6">
            <a:extLst>
              <a:ext uri="{FF2B5EF4-FFF2-40B4-BE49-F238E27FC236}">
                <a16:creationId xmlns:a16="http://schemas.microsoft.com/office/drawing/2014/main" id="{85DDB6E0-CD6F-C19E-E89C-8B7FA80C8BE5}"/>
              </a:ext>
            </a:extLst>
          </p:cNvPr>
          <p:cNvSpPr>
            <a:spLocks noGrp="1"/>
          </p:cNvSpPr>
          <p:nvPr>
            <p:ph type="sldNum" sz="quarter" idx="12"/>
          </p:nvPr>
        </p:nvSpPr>
        <p:spPr/>
        <p:txBody>
          <a:bodyPr/>
          <a:lstStyle/>
          <a:p>
            <a:fld id="{C47CF137-9694-42F5-AD3F-DF7F4286E53B}" type="slidenum">
              <a:rPr lang="tr-TR" smtClean="0"/>
              <a:t>‹#›</a:t>
            </a:fld>
            <a:endParaRPr lang="tr-TR"/>
          </a:p>
        </p:txBody>
      </p:sp>
    </p:spTree>
    <p:extLst>
      <p:ext uri="{BB962C8B-B14F-4D97-AF65-F5344CB8AC3E}">
        <p14:creationId xmlns:p14="http://schemas.microsoft.com/office/powerpoint/2010/main" val="117741769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Karşılaştırma">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FE288B38-FCD6-87DA-B3D9-766CFC30D09C}"/>
              </a:ext>
            </a:extLst>
          </p:cNvPr>
          <p:cNvSpPr>
            <a:spLocks noGrp="1"/>
          </p:cNvSpPr>
          <p:nvPr>
            <p:ph type="title"/>
          </p:nvPr>
        </p:nvSpPr>
        <p:spPr>
          <a:xfrm>
            <a:off x="839788" y="365125"/>
            <a:ext cx="10515600" cy="1325563"/>
          </a:xfrm>
        </p:spPr>
        <p:txBody>
          <a:bodyPr/>
          <a:lstStyle/>
          <a:p>
            <a:r>
              <a:rPr lang="tr-TR"/>
              <a:t>Asıl başlık stilini düzenlemek için tıklayın</a:t>
            </a:r>
          </a:p>
        </p:txBody>
      </p:sp>
      <p:sp>
        <p:nvSpPr>
          <p:cNvPr id="3" name="Metin Yer Tutucusu 2">
            <a:extLst>
              <a:ext uri="{FF2B5EF4-FFF2-40B4-BE49-F238E27FC236}">
                <a16:creationId xmlns:a16="http://schemas.microsoft.com/office/drawing/2014/main" id="{CAA9E39C-3932-55A0-45E4-C10703054B6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a:t>Asıl metin stillerini düzenlemek için tıklayın</a:t>
            </a:r>
          </a:p>
        </p:txBody>
      </p:sp>
      <p:sp>
        <p:nvSpPr>
          <p:cNvPr id="4" name="İçerik Yer Tutucusu 3">
            <a:extLst>
              <a:ext uri="{FF2B5EF4-FFF2-40B4-BE49-F238E27FC236}">
                <a16:creationId xmlns:a16="http://schemas.microsoft.com/office/drawing/2014/main" id="{8E7DE807-83F1-0D1F-82F1-375328743517}"/>
              </a:ext>
            </a:extLst>
          </p:cNvPr>
          <p:cNvSpPr>
            <a:spLocks noGrp="1"/>
          </p:cNvSpPr>
          <p:nvPr>
            <p:ph sz="half" idx="2"/>
          </p:nvPr>
        </p:nvSpPr>
        <p:spPr>
          <a:xfrm>
            <a:off x="839788" y="2505075"/>
            <a:ext cx="5157787" cy="3684588"/>
          </a:xfrm>
        </p:spPr>
        <p:txBody>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5" name="Metin Yer Tutucusu 4">
            <a:extLst>
              <a:ext uri="{FF2B5EF4-FFF2-40B4-BE49-F238E27FC236}">
                <a16:creationId xmlns:a16="http://schemas.microsoft.com/office/drawing/2014/main" id="{7A85DFB2-150B-D60D-8D65-C515CF1AF2E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a:t>Asıl metin stillerini düzenlemek için tıklayın</a:t>
            </a:r>
          </a:p>
        </p:txBody>
      </p:sp>
      <p:sp>
        <p:nvSpPr>
          <p:cNvPr id="6" name="İçerik Yer Tutucusu 5">
            <a:extLst>
              <a:ext uri="{FF2B5EF4-FFF2-40B4-BE49-F238E27FC236}">
                <a16:creationId xmlns:a16="http://schemas.microsoft.com/office/drawing/2014/main" id="{9EC6C8B2-4607-A2EA-984D-C2E6A6A31DF7}"/>
              </a:ext>
            </a:extLst>
          </p:cNvPr>
          <p:cNvSpPr>
            <a:spLocks noGrp="1"/>
          </p:cNvSpPr>
          <p:nvPr>
            <p:ph sz="quarter" idx="4"/>
          </p:nvPr>
        </p:nvSpPr>
        <p:spPr>
          <a:xfrm>
            <a:off x="6172200" y="2505075"/>
            <a:ext cx="5183188" cy="3684588"/>
          </a:xfrm>
        </p:spPr>
        <p:txBody>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7" name="Veri Yer Tutucusu 6">
            <a:extLst>
              <a:ext uri="{FF2B5EF4-FFF2-40B4-BE49-F238E27FC236}">
                <a16:creationId xmlns:a16="http://schemas.microsoft.com/office/drawing/2014/main" id="{72FF06FA-8A92-9850-3737-64AD20310F22}"/>
              </a:ext>
            </a:extLst>
          </p:cNvPr>
          <p:cNvSpPr>
            <a:spLocks noGrp="1"/>
          </p:cNvSpPr>
          <p:nvPr>
            <p:ph type="dt" sz="half" idx="10"/>
          </p:nvPr>
        </p:nvSpPr>
        <p:spPr/>
        <p:txBody>
          <a:bodyPr/>
          <a:lstStyle/>
          <a:p>
            <a:fld id="{4C346B30-8727-437F-A876-6C8AB807B940}" type="datetimeFigureOut">
              <a:rPr lang="tr-TR" smtClean="0"/>
              <a:t>11.03.2024</a:t>
            </a:fld>
            <a:endParaRPr lang="tr-TR"/>
          </a:p>
        </p:txBody>
      </p:sp>
      <p:sp>
        <p:nvSpPr>
          <p:cNvPr id="8" name="Alt Bilgi Yer Tutucusu 7">
            <a:extLst>
              <a:ext uri="{FF2B5EF4-FFF2-40B4-BE49-F238E27FC236}">
                <a16:creationId xmlns:a16="http://schemas.microsoft.com/office/drawing/2014/main" id="{C4A6BFF9-BBD5-003D-E293-505E6C3769E4}"/>
              </a:ext>
            </a:extLst>
          </p:cNvPr>
          <p:cNvSpPr>
            <a:spLocks noGrp="1"/>
          </p:cNvSpPr>
          <p:nvPr>
            <p:ph type="ftr" sz="quarter" idx="11"/>
          </p:nvPr>
        </p:nvSpPr>
        <p:spPr/>
        <p:txBody>
          <a:bodyPr/>
          <a:lstStyle/>
          <a:p>
            <a:endParaRPr lang="tr-TR"/>
          </a:p>
        </p:txBody>
      </p:sp>
      <p:sp>
        <p:nvSpPr>
          <p:cNvPr id="9" name="Slayt Numarası Yer Tutucusu 8">
            <a:extLst>
              <a:ext uri="{FF2B5EF4-FFF2-40B4-BE49-F238E27FC236}">
                <a16:creationId xmlns:a16="http://schemas.microsoft.com/office/drawing/2014/main" id="{D5FA21B8-0F90-33C6-7190-AB037A63C18E}"/>
              </a:ext>
            </a:extLst>
          </p:cNvPr>
          <p:cNvSpPr>
            <a:spLocks noGrp="1"/>
          </p:cNvSpPr>
          <p:nvPr>
            <p:ph type="sldNum" sz="quarter" idx="12"/>
          </p:nvPr>
        </p:nvSpPr>
        <p:spPr/>
        <p:txBody>
          <a:bodyPr/>
          <a:lstStyle/>
          <a:p>
            <a:fld id="{C47CF137-9694-42F5-AD3F-DF7F4286E53B}" type="slidenum">
              <a:rPr lang="tr-TR" smtClean="0"/>
              <a:t>‹#›</a:t>
            </a:fld>
            <a:endParaRPr lang="tr-TR"/>
          </a:p>
        </p:txBody>
      </p:sp>
    </p:spTree>
    <p:extLst>
      <p:ext uri="{BB962C8B-B14F-4D97-AF65-F5344CB8AC3E}">
        <p14:creationId xmlns:p14="http://schemas.microsoft.com/office/powerpoint/2010/main" val="252556616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Yalnızca Başlık">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DB3F0719-FC0C-D6D1-E42A-2FD1D60630DF}"/>
              </a:ext>
            </a:extLst>
          </p:cNvPr>
          <p:cNvSpPr>
            <a:spLocks noGrp="1"/>
          </p:cNvSpPr>
          <p:nvPr>
            <p:ph type="title"/>
          </p:nvPr>
        </p:nvSpPr>
        <p:spPr/>
        <p:txBody>
          <a:bodyPr/>
          <a:lstStyle/>
          <a:p>
            <a:r>
              <a:rPr lang="tr-TR"/>
              <a:t>Asıl başlık stilini düzenlemek için tıklayın</a:t>
            </a:r>
          </a:p>
        </p:txBody>
      </p:sp>
      <p:sp>
        <p:nvSpPr>
          <p:cNvPr id="3" name="Veri Yer Tutucusu 2">
            <a:extLst>
              <a:ext uri="{FF2B5EF4-FFF2-40B4-BE49-F238E27FC236}">
                <a16:creationId xmlns:a16="http://schemas.microsoft.com/office/drawing/2014/main" id="{4C183F86-5CC9-5E3A-11AA-DAD664C31AD6}"/>
              </a:ext>
            </a:extLst>
          </p:cNvPr>
          <p:cNvSpPr>
            <a:spLocks noGrp="1"/>
          </p:cNvSpPr>
          <p:nvPr>
            <p:ph type="dt" sz="half" idx="10"/>
          </p:nvPr>
        </p:nvSpPr>
        <p:spPr/>
        <p:txBody>
          <a:bodyPr/>
          <a:lstStyle/>
          <a:p>
            <a:fld id="{4C346B30-8727-437F-A876-6C8AB807B940}" type="datetimeFigureOut">
              <a:rPr lang="tr-TR" smtClean="0"/>
              <a:t>11.03.2024</a:t>
            </a:fld>
            <a:endParaRPr lang="tr-TR"/>
          </a:p>
        </p:txBody>
      </p:sp>
      <p:sp>
        <p:nvSpPr>
          <p:cNvPr id="4" name="Alt Bilgi Yer Tutucusu 3">
            <a:extLst>
              <a:ext uri="{FF2B5EF4-FFF2-40B4-BE49-F238E27FC236}">
                <a16:creationId xmlns:a16="http://schemas.microsoft.com/office/drawing/2014/main" id="{E89181EF-E4C4-F06C-8BEF-13FA036CA092}"/>
              </a:ext>
            </a:extLst>
          </p:cNvPr>
          <p:cNvSpPr>
            <a:spLocks noGrp="1"/>
          </p:cNvSpPr>
          <p:nvPr>
            <p:ph type="ftr" sz="quarter" idx="11"/>
          </p:nvPr>
        </p:nvSpPr>
        <p:spPr/>
        <p:txBody>
          <a:bodyPr/>
          <a:lstStyle/>
          <a:p>
            <a:endParaRPr lang="tr-TR"/>
          </a:p>
        </p:txBody>
      </p:sp>
      <p:sp>
        <p:nvSpPr>
          <p:cNvPr id="5" name="Slayt Numarası Yer Tutucusu 4">
            <a:extLst>
              <a:ext uri="{FF2B5EF4-FFF2-40B4-BE49-F238E27FC236}">
                <a16:creationId xmlns:a16="http://schemas.microsoft.com/office/drawing/2014/main" id="{0FFE7357-B69A-38E2-D339-06D71B269DD6}"/>
              </a:ext>
            </a:extLst>
          </p:cNvPr>
          <p:cNvSpPr>
            <a:spLocks noGrp="1"/>
          </p:cNvSpPr>
          <p:nvPr>
            <p:ph type="sldNum" sz="quarter" idx="12"/>
          </p:nvPr>
        </p:nvSpPr>
        <p:spPr/>
        <p:txBody>
          <a:bodyPr/>
          <a:lstStyle/>
          <a:p>
            <a:fld id="{C47CF137-9694-42F5-AD3F-DF7F4286E53B}" type="slidenum">
              <a:rPr lang="tr-TR" smtClean="0"/>
              <a:t>‹#›</a:t>
            </a:fld>
            <a:endParaRPr lang="tr-TR"/>
          </a:p>
        </p:txBody>
      </p:sp>
    </p:spTree>
    <p:extLst>
      <p:ext uri="{BB962C8B-B14F-4D97-AF65-F5344CB8AC3E}">
        <p14:creationId xmlns:p14="http://schemas.microsoft.com/office/powerpoint/2010/main" val="16941181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oş">
    <p:spTree>
      <p:nvGrpSpPr>
        <p:cNvPr id="1" name=""/>
        <p:cNvGrpSpPr/>
        <p:nvPr/>
      </p:nvGrpSpPr>
      <p:grpSpPr>
        <a:xfrm>
          <a:off x="0" y="0"/>
          <a:ext cx="0" cy="0"/>
          <a:chOff x="0" y="0"/>
          <a:chExt cx="0" cy="0"/>
        </a:xfrm>
      </p:grpSpPr>
      <p:sp>
        <p:nvSpPr>
          <p:cNvPr id="2" name="Veri Yer Tutucusu 1">
            <a:extLst>
              <a:ext uri="{FF2B5EF4-FFF2-40B4-BE49-F238E27FC236}">
                <a16:creationId xmlns:a16="http://schemas.microsoft.com/office/drawing/2014/main" id="{2C4F81A7-AA21-7C24-4231-4D9246CEC5E5}"/>
              </a:ext>
            </a:extLst>
          </p:cNvPr>
          <p:cNvSpPr>
            <a:spLocks noGrp="1"/>
          </p:cNvSpPr>
          <p:nvPr>
            <p:ph type="dt" sz="half" idx="10"/>
          </p:nvPr>
        </p:nvSpPr>
        <p:spPr/>
        <p:txBody>
          <a:bodyPr/>
          <a:lstStyle/>
          <a:p>
            <a:fld id="{4C346B30-8727-437F-A876-6C8AB807B940}" type="datetimeFigureOut">
              <a:rPr lang="tr-TR" smtClean="0"/>
              <a:t>11.03.2024</a:t>
            </a:fld>
            <a:endParaRPr lang="tr-TR"/>
          </a:p>
        </p:txBody>
      </p:sp>
      <p:sp>
        <p:nvSpPr>
          <p:cNvPr id="3" name="Alt Bilgi Yer Tutucusu 2">
            <a:extLst>
              <a:ext uri="{FF2B5EF4-FFF2-40B4-BE49-F238E27FC236}">
                <a16:creationId xmlns:a16="http://schemas.microsoft.com/office/drawing/2014/main" id="{6A98BFB3-66C4-0A48-0221-EC3264E1DCF0}"/>
              </a:ext>
            </a:extLst>
          </p:cNvPr>
          <p:cNvSpPr>
            <a:spLocks noGrp="1"/>
          </p:cNvSpPr>
          <p:nvPr>
            <p:ph type="ftr" sz="quarter" idx="11"/>
          </p:nvPr>
        </p:nvSpPr>
        <p:spPr/>
        <p:txBody>
          <a:bodyPr/>
          <a:lstStyle/>
          <a:p>
            <a:endParaRPr lang="tr-TR"/>
          </a:p>
        </p:txBody>
      </p:sp>
      <p:sp>
        <p:nvSpPr>
          <p:cNvPr id="4" name="Slayt Numarası Yer Tutucusu 3">
            <a:extLst>
              <a:ext uri="{FF2B5EF4-FFF2-40B4-BE49-F238E27FC236}">
                <a16:creationId xmlns:a16="http://schemas.microsoft.com/office/drawing/2014/main" id="{7310985A-11A3-CBCF-5747-094F6DAD505A}"/>
              </a:ext>
            </a:extLst>
          </p:cNvPr>
          <p:cNvSpPr>
            <a:spLocks noGrp="1"/>
          </p:cNvSpPr>
          <p:nvPr>
            <p:ph type="sldNum" sz="quarter" idx="12"/>
          </p:nvPr>
        </p:nvSpPr>
        <p:spPr/>
        <p:txBody>
          <a:bodyPr/>
          <a:lstStyle/>
          <a:p>
            <a:fld id="{C47CF137-9694-42F5-AD3F-DF7F4286E53B}" type="slidenum">
              <a:rPr lang="tr-TR" smtClean="0"/>
              <a:t>‹#›</a:t>
            </a:fld>
            <a:endParaRPr lang="tr-TR"/>
          </a:p>
        </p:txBody>
      </p:sp>
    </p:spTree>
    <p:extLst>
      <p:ext uri="{BB962C8B-B14F-4D97-AF65-F5344CB8AC3E}">
        <p14:creationId xmlns:p14="http://schemas.microsoft.com/office/powerpoint/2010/main" val="178216620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Başlıklı İçerik">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B801851D-7601-8C51-EF08-5A1C2FEDF365}"/>
              </a:ext>
            </a:extLst>
          </p:cNvPr>
          <p:cNvSpPr>
            <a:spLocks noGrp="1"/>
          </p:cNvSpPr>
          <p:nvPr>
            <p:ph type="title"/>
          </p:nvPr>
        </p:nvSpPr>
        <p:spPr>
          <a:xfrm>
            <a:off x="839788" y="457200"/>
            <a:ext cx="3932237" cy="1600200"/>
          </a:xfrm>
        </p:spPr>
        <p:txBody>
          <a:bodyPr anchor="b"/>
          <a:lstStyle>
            <a:lvl1pPr>
              <a:defRPr sz="3200"/>
            </a:lvl1pPr>
          </a:lstStyle>
          <a:p>
            <a:r>
              <a:rPr lang="tr-TR"/>
              <a:t>Asıl başlık stilini düzenlemek için tıklayın</a:t>
            </a:r>
          </a:p>
        </p:txBody>
      </p:sp>
      <p:sp>
        <p:nvSpPr>
          <p:cNvPr id="3" name="İçerik Yer Tutucusu 2">
            <a:extLst>
              <a:ext uri="{FF2B5EF4-FFF2-40B4-BE49-F238E27FC236}">
                <a16:creationId xmlns:a16="http://schemas.microsoft.com/office/drawing/2014/main" id="{E919BF2B-291C-E932-8110-C19EC3A6FE9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4" name="Metin Yer Tutucusu 3">
            <a:extLst>
              <a:ext uri="{FF2B5EF4-FFF2-40B4-BE49-F238E27FC236}">
                <a16:creationId xmlns:a16="http://schemas.microsoft.com/office/drawing/2014/main" id="{CC0C7A1A-77A8-E1CD-DA08-DA6654D9E4D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tr-TR"/>
              <a:t>Asıl metin stillerini düzenlemek için tıklayın</a:t>
            </a:r>
          </a:p>
        </p:txBody>
      </p:sp>
      <p:sp>
        <p:nvSpPr>
          <p:cNvPr id="5" name="Veri Yer Tutucusu 4">
            <a:extLst>
              <a:ext uri="{FF2B5EF4-FFF2-40B4-BE49-F238E27FC236}">
                <a16:creationId xmlns:a16="http://schemas.microsoft.com/office/drawing/2014/main" id="{9808725A-0340-DD6A-8491-FF09B5A836A9}"/>
              </a:ext>
            </a:extLst>
          </p:cNvPr>
          <p:cNvSpPr>
            <a:spLocks noGrp="1"/>
          </p:cNvSpPr>
          <p:nvPr>
            <p:ph type="dt" sz="half" idx="10"/>
          </p:nvPr>
        </p:nvSpPr>
        <p:spPr/>
        <p:txBody>
          <a:bodyPr/>
          <a:lstStyle/>
          <a:p>
            <a:fld id="{4C346B30-8727-437F-A876-6C8AB807B940}" type="datetimeFigureOut">
              <a:rPr lang="tr-TR" smtClean="0"/>
              <a:t>11.03.2024</a:t>
            </a:fld>
            <a:endParaRPr lang="tr-TR"/>
          </a:p>
        </p:txBody>
      </p:sp>
      <p:sp>
        <p:nvSpPr>
          <p:cNvPr id="6" name="Alt Bilgi Yer Tutucusu 5">
            <a:extLst>
              <a:ext uri="{FF2B5EF4-FFF2-40B4-BE49-F238E27FC236}">
                <a16:creationId xmlns:a16="http://schemas.microsoft.com/office/drawing/2014/main" id="{C5B90777-FC63-0FCE-90C0-670B76F559C1}"/>
              </a:ext>
            </a:extLst>
          </p:cNvPr>
          <p:cNvSpPr>
            <a:spLocks noGrp="1"/>
          </p:cNvSpPr>
          <p:nvPr>
            <p:ph type="ftr" sz="quarter" idx="11"/>
          </p:nvPr>
        </p:nvSpPr>
        <p:spPr/>
        <p:txBody>
          <a:bodyPr/>
          <a:lstStyle/>
          <a:p>
            <a:endParaRPr lang="tr-TR"/>
          </a:p>
        </p:txBody>
      </p:sp>
      <p:sp>
        <p:nvSpPr>
          <p:cNvPr id="7" name="Slayt Numarası Yer Tutucusu 6">
            <a:extLst>
              <a:ext uri="{FF2B5EF4-FFF2-40B4-BE49-F238E27FC236}">
                <a16:creationId xmlns:a16="http://schemas.microsoft.com/office/drawing/2014/main" id="{4E5308AF-A173-43D7-D4C8-2271F89244CC}"/>
              </a:ext>
            </a:extLst>
          </p:cNvPr>
          <p:cNvSpPr>
            <a:spLocks noGrp="1"/>
          </p:cNvSpPr>
          <p:nvPr>
            <p:ph type="sldNum" sz="quarter" idx="12"/>
          </p:nvPr>
        </p:nvSpPr>
        <p:spPr/>
        <p:txBody>
          <a:bodyPr/>
          <a:lstStyle/>
          <a:p>
            <a:fld id="{C47CF137-9694-42F5-AD3F-DF7F4286E53B}" type="slidenum">
              <a:rPr lang="tr-TR" smtClean="0"/>
              <a:t>‹#›</a:t>
            </a:fld>
            <a:endParaRPr lang="tr-TR"/>
          </a:p>
        </p:txBody>
      </p:sp>
    </p:spTree>
    <p:extLst>
      <p:ext uri="{BB962C8B-B14F-4D97-AF65-F5344CB8AC3E}">
        <p14:creationId xmlns:p14="http://schemas.microsoft.com/office/powerpoint/2010/main" val="186035915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aşlıklı Resim">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75AEF9FF-05CD-0D94-6EC7-BDC910E6C588}"/>
              </a:ext>
            </a:extLst>
          </p:cNvPr>
          <p:cNvSpPr>
            <a:spLocks noGrp="1"/>
          </p:cNvSpPr>
          <p:nvPr>
            <p:ph type="title"/>
          </p:nvPr>
        </p:nvSpPr>
        <p:spPr>
          <a:xfrm>
            <a:off x="839788" y="457200"/>
            <a:ext cx="3932237" cy="1600200"/>
          </a:xfrm>
        </p:spPr>
        <p:txBody>
          <a:bodyPr anchor="b"/>
          <a:lstStyle>
            <a:lvl1pPr>
              <a:defRPr sz="3200"/>
            </a:lvl1pPr>
          </a:lstStyle>
          <a:p>
            <a:r>
              <a:rPr lang="tr-TR"/>
              <a:t>Asıl başlık stilini düzenlemek için tıklayın</a:t>
            </a:r>
          </a:p>
        </p:txBody>
      </p:sp>
      <p:sp>
        <p:nvSpPr>
          <p:cNvPr id="3" name="Resim Yer Tutucusu 2">
            <a:extLst>
              <a:ext uri="{FF2B5EF4-FFF2-40B4-BE49-F238E27FC236}">
                <a16:creationId xmlns:a16="http://schemas.microsoft.com/office/drawing/2014/main" id="{CFF338BE-1459-5A7C-1A5B-E27A3454002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tr-TR"/>
          </a:p>
        </p:txBody>
      </p:sp>
      <p:sp>
        <p:nvSpPr>
          <p:cNvPr id="4" name="Metin Yer Tutucusu 3">
            <a:extLst>
              <a:ext uri="{FF2B5EF4-FFF2-40B4-BE49-F238E27FC236}">
                <a16:creationId xmlns:a16="http://schemas.microsoft.com/office/drawing/2014/main" id="{A9F9B6CD-6A7D-ACAF-B773-CC03F2EE13C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tr-TR"/>
              <a:t>Asıl metin stillerini düzenlemek için tıklayın</a:t>
            </a:r>
          </a:p>
        </p:txBody>
      </p:sp>
      <p:sp>
        <p:nvSpPr>
          <p:cNvPr id="5" name="Veri Yer Tutucusu 4">
            <a:extLst>
              <a:ext uri="{FF2B5EF4-FFF2-40B4-BE49-F238E27FC236}">
                <a16:creationId xmlns:a16="http://schemas.microsoft.com/office/drawing/2014/main" id="{B036AB66-03E0-FDDD-112B-2A32CC1BD324}"/>
              </a:ext>
            </a:extLst>
          </p:cNvPr>
          <p:cNvSpPr>
            <a:spLocks noGrp="1"/>
          </p:cNvSpPr>
          <p:nvPr>
            <p:ph type="dt" sz="half" idx="10"/>
          </p:nvPr>
        </p:nvSpPr>
        <p:spPr/>
        <p:txBody>
          <a:bodyPr/>
          <a:lstStyle/>
          <a:p>
            <a:fld id="{4C346B30-8727-437F-A876-6C8AB807B940}" type="datetimeFigureOut">
              <a:rPr lang="tr-TR" smtClean="0"/>
              <a:t>11.03.2024</a:t>
            </a:fld>
            <a:endParaRPr lang="tr-TR"/>
          </a:p>
        </p:txBody>
      </p:sp>
      <p:sp>
        <p:nvSpPr>
          <p:cNvPr id="6" name="Alt Bilgi Yer Tutucusu 5">
            <a:extLst>
              <a:ext uri="{FF2B5EF4-FFF2-40B4-BE49-F238E27FC236}">
                <a16:creationId xmlns:a16="http://schemas.microsoft.com/office/drawing/2014/main" id="{7A2DB094-74D0-EE08-62B4-1F9DF59E02A2}"/>
              </a:ext>
            </a:extLst>
          </p:cNvPr>
          <p:cNvSpPr>
            <a:spLocks noGrp="1"/>
          </p:cNvSpPr>
          <p:nvPr>
            <p:ph type="ftr" sz="quarter" idx="11"/>
          </p:nvPr>
        </p:nvSpPr>
        <p:spPr/>
        <p:txBody>
          <a:bodyPr/>
          <a:lstStyle/>
          <a:p>
            <a:endParaRPr lang="tr-TR"/>
          </a:p>
        </p:txBody>
      </p:sp>
      <p:sp>
        <p:nvSpPr>
          <p:cNvPr id="7" name="Slayt Numarası Yer Tutucusu 6">
            <a:extLst>
              <a:ext uri="{FF2B5EF4-FFF2-40B4-BE49-F238E27FC236}">
                <a16:creationId xmlns:a16="http://schemas.microsoft.com/office/drawing/2014/main" id="{1455BD35-C824-39CE-860D-3CE706677B64}"/>
              </a:ext>
            </a:extLst>
          </p:cNvPr>
          <p:cNvSpPr>
            <a:spLocks noGrp="1"/>
          </p:cNvSpPr>
          <p:nvPr>
            <p:ph type="sldNum" sz="quarter" idx="12"/>
          </p:nvPr>
        </p:nvSpPr>
        <p:spPr/>
        <p:txBody>
          <a:bodyPr/>
          <a:lstStyle/>
          <a:p>
            <a:fld id="{C47CF137-9694-42F5-AD3F-DF7F4286E53B}" type="slidenum">
              <a:rPr lang="tr-TR" smtClean="0"/>
              <a:t>‹#›</a:t>
            </a:fld>
            <a:endParaRPr lang="tr-TR"/>
          </a:p>
        </p:txBody>
      </p:sp>
    </p:spTree>
    <p:extLst>
      <p:ext uri="{BB962C8B-B14F-4D97-AF65-F5344CB8AC3E}">
        <p14:creationId xmlns:p14="http://schemas.microsoft.com/office/powerpoint/2010/main" val="223211167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Başlık ve Dikey Metin">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772DF397-4B28-4A1F-51BD-24DB07AF6290}"/>
              </a:ext>
            </a:extLst>
          </p:cNvPr>
          <p:cNvSpPr>
            <a:spLocks noGrp="1"/>
          </p:cNvSpPr>
          <p:nvPr>
            <p:ph type="title"/>
          </p:nvPr>
        </p:nvSpPr>
        <p:spPr/>
        <p:txBody>
          <a:bodyPr/>
          <a:lstStyle/>
          <a:p>
            <a:r>
              <a:rPr lang="tr-TR"/>
              <a:t>Asıl başlık stilini düzenlemek için tıklayın</a:t>
            </a:r>
          </a:p>
        </p:txBody>
      </p:sp>
      <p:sp>
        <p:nvSpPr>
          <p:cNvPr id="3" name="Dikey Metin Yer Tutucusu 2">
            <a:extLst>
              <a:ext uri="{FF2B5EF4-FFF2-40B4-BE49-F238E27FC236}">
                <a16:creationId xmlns:a16="http://schemas.microsoft.com/office/drawing/2014/main" id="{4C5C5818-0718-6620-FBF0-E50222C0B322}"/>
              </a:ext>
            </a:extLst>
          </p:cNvPr>
          <p:cNvSpPr>
            <a:spLocks noGrp="1"/>
          </p:cNvSpPr>
          <p:nvPr>
            <p:ph type="body" orient="vert" idx="1"/>
          </p:nvPr>
        </p:nvSpPr>
        <p:spPr/>
        <p:txBody>
          <a:bodyPr vert="eaVert"/>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4" name="Veri Yer Tutucusu 3">
            <a:extLst>
              <a:ext uri="{FF2B5EF4-FFF2-40B4-BE49-F238E27FC236}">
                <a16:creationId xmlns:a16="http://schemas.microsoft.com/office/drawing/2014/main" id="{5B427477-E5D0-0E1E-EEA7-EAA0C2F8F278}"/>
              </a:ext>
            </a:extLst>
          </p:cNvPr>
          <p:cNvSpPr>
            <a:spLocks noGrp="1"/>
          </p:cNvSpPr>
          <p:nvPr>
            <p:ph type="dt" sz="half" idx="10"/>
          </p:nvPr>
        </p:nvSpPr>
        <p:spPr/>
        <p:txBody>
          <a:bodyPr/>
          <a:lstStyle/>
          <a:p>
            <a:fld id="{4C346B30-8727-437F-A876-6C8AB807B940}" type="datetimeFigureOut">
              <a:rPr lang="tr-TR" smtClean="0"/>
              <a:t>11.03.2024</a:t>
            </a:fld>
            <a:endParaRPr lang="tr-TR"/>
          </a:p>
        </p:txBody>
      </p:sp>
      <p:sp>
        <p:nvSpPr>
          <p:cNvPr id="5" name="Alt Bilgi Yer Tutucusu 4">
            <a:extLst>
              <a:ext uri="{FF2B5EF4-FFF2-40B4-BE49-F238E27FC236}">
                <a16:creationId xmlns:a16="http://schemas.microsoft.com/office/drawing/2014/main" id="{EED89ADD-8CC5-88F7-1C85-82304A17895F}"/>
              </a:ext>
            </a:extLst>
          </p:cNvPr>
          <p:cNvSpPr>
            <a:spLocks noGrp="1"/>
          </p:cNvSpPr>
          <p:nvPr>
            <p:ph type="ftr" sz="quarter" idx="11"/>
          </p:nvPr>
        </p:nvSpPr>
        <p:spPr/>
        <p:txBody>
          <a:bodyPr/>
          <a:lstStyle/>
          <a:p>
            <a:endParaRPr lang="tr-TR"/>
          </a:p>
        </p:txBody>
      </p:sp>
      <p:sp>
        <p:nvSpPr>
          <p:cNvPr id="6" name="Slayt Numarası Yer Tutucusu 5">
            <a:extLst>
              <a:ext uri="{FF2B5EF4-FFF2-40B4-BE49-F238E27FC236}">
                <a16:creationId xmlns:a16="http://schemas.microsoft.com/office/drawing/2014/main" id="{6FF1A69C-75A6-E9D5-E51B-C1E194F68B9D}"/>
              </a:ext>
            </a:extLst>
          </p:cNvPr>
          <p:cNvSpPr>
            <a:spLocks noGrp="1"/>
          </p:cNvSpPr>
          <p:nvPr>
            <p:ph type="sldNum" sz="quarter" idx="12"/>
          </p:nvPr>
        </p:nvSpPr>
        <p:spPr/>
        <p:txBody>
          <a:bodyPr/>
          <a:lstStyle/>
          <a:p>
            <a:fld id="{C47CF137-9694-42F5-AD3F-DF7F4286E53B}" type="slidenum">
              <a:rPr lang="tr-TR" smtClean="0"/>
              <a:t>‹#›</a:t>
            </a:fld>
            <a:endParaRPr lang="tr-TR"/>
          </a:p>
        </p:txBody>
      </p:sp>
    </p:spTree>
    <p:extLst>
      <p:ext uri="{BB962C8B-B14F-4D97-AF65-F5344CB8AC3E}">
        <p14:creationId xmlns:p14="http://schemas.microsoft.com/office/powerpoint/2010/main" val="6100365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Dikey Başlık ve Metin">
    <p:spTree>
      <p:nvGrpSpPr>
        <p:cNvPr id="1" name=""/>
        <p:cNvGrpSpPr/>
        <p:nvPr/>
      </p:nvGrpSpPr>
      <p:grpSpPr>
        <a:xfrm>
          <a:off x="0" y="0"/>
          <a:ext cx="0" cy="0"/>
          <a:chOff x="0" y="0"/>
          <a:chExt cx="0" cy="0"/>
        </a:xfrm>
      </p:grpSpPr>
      <p:sp>
        <p:nvSpPr>
          <p:cNvPr id="2" name="Dikey Başlık 1">
            <a:extLst>
              <a:ext uri="{FF2B5EF4-FFF2-40B4-BE49-F238E27FC236}">
                <a16:creationId xmlns:a16="http://schemas.microsoft.com/office/drawing/2014/main" id="{0EA7C6AC-FD6E-498B-0BD6-9DBE90E690AA}"/>
              </a:ext>
            </a:extLst>
          </p:cNvPr>
          <p:cNvSpPr>
            <a:spLocks noGrp="1"/>
          </p:cNvSpPr>
          <p:nvPr>
            <p:ph type="title" orient="vert"/>
          </p:nvPr>
        </p:nvSpPr>
        <p:spPr>
          <a:xfrm>
            <a:off x="8724900" y="365125"/>
            <a:ext cx="2628900" cy="5811838"/>
          </a:xfrm>
        </p:spPr>
        <p:txBody>
          <a:bodyPr vert="eaVert"/>
          <a:lstStyle/>
          <a:p>
            <a:r>
              <a:rPr lang="tr-TR"/>
              <a:t>Asıl başlık stilini düzenlemek için tıklayın</a:t>
            </a:r>
          </a:p>
        </p:txBody>
      </p:sp>
      <p:sp>
        <p:nvSpPr>
          <p:cNvPr id="3" name="Dikey Metin Yer Tutucusu 2">
            <a:extLst>
              <a:ext uri="{FF2B5EF4-FFF2-40B4-BE49-F238E27FC236}">
                <a16:creationId xmlns:a16="http://schemas.microsoft.com/office/drawing/2014/main" id="{F6B462EA-B07C-CC2A-6FF0-B36C410A3101}"/>
              </a:ext>
            </a:extLst>
          </p:cNvPr>
          <p:cNvSpPr>
            <a:spLocks noGrp="1"/>
          </p:cNvSpPr>
          <p:nvPr>
            <p:ph type="body" orient="vert" idx="1"/>
          </p:nvPr>
        </p:nvSpPr>
        <p:spPr>
          <a:xfrm>
            <a:off x="838200" y="365125"/>
            <a:ext cx="7734300" cy="5811838"/>
          </a:xfrm>
        </p:spPr>
        <p:txBody>
          <a:bodyPr vert="eaVert"/>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4" name="Veri Yer Tutucusu 3">
            <a:extLst>
              <a:ext uri="{FF2B5EF4-FFF2-40B4-BE49-F238E27FC236}">
                <a16:creationId xmlns:a16="http://schemas.microsoft.com/office/drawing/2014/main" id="{A0F3DEFA-FC6B-25A5-4173-6DD9510BD2AF}"/>
              </a:ext>
            </a:extLst>
          </p:cNvPr>
          <p:cNvSpPr>
            <a:spLocks noGrp="1"/>
          </p:cNvSpPr>
          <p:nvPr>
            <p:ph type="dt" sz="half" idx="10"/>
          </p:nvPr>
        </p:nvSpPr>
        <p:spPr/>
        <p:txBody>
          <a:bodyPr/>
          <a:lstStyle/>
          <a:p>
            <a:fld id="{4C346B30-8727-437F-A876-6C8AB807B940}" type="datetimeFigureOut">
              <a:rPr lang="tr-TR" smtClean="0"/>
              <a:t>11.03.2024</a:t>
            </a:fld>
            <a:endParaRPr lang="tr-TR"/>
          </a:p>
        </p:txBody>
      </p:sp>
      <p:sp>
        <p:nvSpPr>
          <p:cNvPr id="5" name="Alt Bilgi Yer Tutucusu 4">
            <a:extLst>
              <a:ext uri="{FF2B5EF4-FFF2-40B4-BE49-F238E27FC236}">
                <a16:creationId xmlns:a16="http://schemas.microsoft.com/office/drawing/2014/main" id="{0BD35489-162B-2864-371E-29BC4E01AE7B}"/>
              </a:ext>
            </a:extLst>
          </p:cNvPr>
          <p:cNvSpPr>
            <a:spLocks noGrp="1"/>
          </p:cNvSpPr>
          <p:nvPr>
            <p:ph type="ftr" sz="quarter" idx="11"/>
          </p:nvPr>
        </p:nvSpPr>
        <p:spPr/>
        <p:txBody>
          <a:bodyPr/>
          <a:lstStyle/>
          <a:p>
            <a:endParaRPr lang="tr-TR"/>
          </a:p>
        </p:txBody>
      </p:sp>
      <p:sp>
        <p:nvSpPr>
          <p:cNvPr id="6" name="Slayt Numarası Yer Tutucusu 5">
            <a:extLst>
              <a:ext uri="{FF2B5EF4-FFF2-40B4-BE49-F238E27FC236}">
                <a16:creationId xmlns:a16="http://schemas.microsoft.com/office/drawing/2014/main" id="{EDCE761D-29C3-FC43-EB62-3315D81E056A}"/>
              </a:ext>
            </a:extLst>
          </p:cNvPr>
          <p:cNvSpPr>
            <a:spLocks noGrp="1"/>
          </p:cNvSpPr>
          <p:nvPr>
            <p:ph type="sldNum" sz="quarter" idx="12"/>
          </p:nvPr>
        </p:nvSpPr>
        <p:spPr/>
        <p:txBody>
          <a:bodyPr/>
          <a:lstStyle/>
          <a:p>
            <a:fld id="{C47CF137-9694-42F5-AD3F-DF7F4286E53B}" type="slidenum">
              <a:rPr lang="tr-TR" smtClean="0"/>
              <a:t>‹#›</a:t>
            </a:fld>
            <a:endParaRPr lang="tr-TR"/>
          </a:p>
        </p:txBody>
      </p:sp>
    </p:spTree>
    <p:extLst>
      <p:ext uri="{BB962C8B-B14F-4D97-AF65-F5344CB8AC3E}">
        <p14:creationId xmlns:p14="http://schemas.microsoft.com/office/powerpoint/2010/main" val="57801850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Başlık Yer Tutucusu 1">
            <a:extLst>
              <a:ext uri="{FF2B5EF4-FFF2-40B4-BE49-F238E27FC236}">
                <a16:creationId xmlns:a16="http://schemas.microsoft.com/office/drawing/2014/main" id="{561F7801-657F-C7E1-4202-6C695B23D51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tr-TR"/>
              <a:t>Asıl başlık stilini düzenlemek için tıklayın</a:t>
            </a:r>
          </a:p>
        </p:txBody>
      </p:sp>
      <p:sp>
        <p:nvSpPr>
          <p:cNvPr id="3" name="Metin Yer Tutucusu 2">
            <a:extLst>
              <a:ext uri="{FF2B5EF4-FFF2-40B4-BE49-F238E27FC236}">
                <a16:creationId xmlns:a16="http://schemas.microsoft.com/office/drawing/2014/main" id="{231DA2CF-B126-A67C-F5B7-C7F9EB6513F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4" name="Veri Yer Tutucusu 3">
            <a:extLst>
              <a:ext uri="{FF2B5EF4-FFF2-40B4-BE49-F238E27FC236}">
                <a16:creationId xmlns:a16="http://schemas.microsoft.com/office/drawing/2014/main" id="{FD5A231E-05DD-09BD-82F4-18A17983A86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4C346B30-8727-437F-A876-6C8AB807B940}" type="datetimeFigureOut">
              <a:rPr lang="tr-TR" smtClean="0"/>
              <a:t>11.03.2024</a:t>
            </a:fld>
            <a:endParaRPr lang="tr-TR"/>
          </a:p>
        </p:txBody>
      </p:sp>
      <p:sp>
        <p:nvSpPr>
          <p:cNvPr id="5" name="Alt Bilgi Yer Tutucusu 4">
            <a:extLst>
              <a:ext uri="{FF2B5EF4-FFF2-40B4-BE49-F238E27FC236}">
                <a16:creationId xmlns:a16="http://schemas.microsoft.com/office/drawing/2014/main" id="{048165A3-0DFD-374F-8119-69F2A8DA3E6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tr-TR"/>
          </a:p>
        </p:txBody>
      </p:sp>
      <p:sp>
        <p:nvSpPr>
          <p:cNvPr id="6" name="Slayt Numarası Yer Tutucusu 5">
            <a:extLst>
              <a:ext uri="{FF2B5EF4-FFF2-40B4-BE49-F238E27FC236}">
                <a16:creationId xmlns:a16="http://schemas.microsoft.com/office/drawing/2014/main" id="{293FDF04-CAD1-00D3-5052-66FC7A9DBB9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C47CF137-9694-42F5-AD3F-DF7F4286E53B}" type="slidenum">
              <a:rPr lang="tr-TR" smtClean="0"/>
              <a:t>‹#›</a:t>
            </a:fld>
            <a:endParaRPr lang="tr-TR"/>
          </a:p>
        </p:txBody>
      </p:sp>
    </p:spTree>
    <p:extLst>
      <p:ext uri="{BB962C8B-B14F-4D97-AF65-F5344CB8AC3E}">
        <p14:creationId xmlns:p14="http://schemas.microsoft.com/office/powerpoint/2010/main" val="360424794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tr-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jpeg"/><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jpeg"/><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2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jpeg"/><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2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jpeg"/><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2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17.png"/><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3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1.jpeg"/><Relationship Id="rId1" Type="http://schemas.openxmlformats.org/officeDocument/2006/relationships/slideLayout" Target="../slideLayouts/slideLayout2.xml"/><Relationship Id="rId4" Type="http://schemas.openxmlformats.org/officeDocument/2006/relationships/image" Target="../media/image22.png"/></Relationships>
</file>

<file path=ppt/slides/_rels/slide3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23.gif"/><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image" Target="../media/image1.jpeg"/><Relationship Id="rId1" Type="http://schemas.openxmlformats.org/officeDocument/2006/relationships/slideLayout" Target="../slideLayouts/slideLayout2.xml"/><Relationship Id="rId4" Type="http://schemas.openxmlformats.org/officeDocument/2006/relationships/image" Target="../media/image25.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Parallel computing for high-performance simulations">
            <a:extLst>
              <a:ext uri="{FF2B5EF4-FFF2-40B4-BE49-F238E27FC236}">
                <a16:creationId xmlns:a16="http://schemas.microsoft.com/office/drawing/2014/main" id="{B8705AA7-AC07-A96C-0DF3-11A2601E4131}"/>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61472"/>
          <a:stretch/>
        </p:blipFill>
        <p:spPr bwMode="auto">
          <a:xfrm flipV="1">
            <a:off x="-8546" y="5596983"/>
            <a:ext cx="12200546" cy="1296961"/>
          </a:xfrm>
          <a:prstGeom prst="rect">
            <a:avLst/>
          </a:prstGeom>
          <a:noFill/>
          <a:extLst>
            <a:ext uri="{909E8E84-426E-40DD-AFC4-6F175D3DCCD1}">
              <a14:hiddenFill xmlns:a14="http://schemas.microsoft.com/office/drawing/2010/main">
                <a:solidFill>
                  <a:srgbClr val="FFFFFF"/>
                </a:solidFill>
              </a14:hiddenFill>
            </a:ext>
          </a:extLst>
        </p:spPr>
      </p:pic>
      <p:sp>
        <p:nvSpPr>
          <p:cNvPr id="5" name="Metin kutusu 4">
            <a:extLst>
              <a:ext uri="{FF2B5EF4-FFF2-40B4-BE49-F238E27FC236}">
                <a16:creationId xmlns:a16="http://schemas.microsoft.com/office/drawing/2014/main" id="{8958C0E2-3DE4-1E74-4308-2BA87AD5B0A7}"/>
              </a:ext>
            </a:extLst>
          </p:cNvPr>
          <p:cNvSpPr txBox="1"/>
          <p:nvPr/>
        </p:nvSpPr>
        <p:spPr>
          <a:xfrm>
            <a:off x="1877537" y="3019872"/>
            <a:ext cx="8436925" cy="553998"/>
          </a:xfrm>
          <a:prstGeom prst="rect">
            <a:avLst/>
          </a:prstGeom>
          <a:noFill/>
        </p:spPr>
        <p:txBody>
          <a:bodyPr wrap="none" rtlCol="0">
            <a:spAutoFit/>
          </a:bodyPr>
          <a:lstStyle/>
          <a:p>
            <a:r>
              <a:rPr lang="tr-TR" sz="3000" b="1" dirty="0">
                <a:latin typeface="Consolas" panose="020B0609020204030204" pitchFamily="49" charset="0"/>
              </a:rPr>
              <a:t>BIL406 – Paralel ve Dağıtık Programlama</a:t>
            </a:r>
          </a:p>
        </p:txBody>
      </p:sp>
      <p:sp>
        <p:nvSpPr>
          <p:cNvPr id="6" name="Metin kutusu 5">
            <a:extLst>
              <a:ext uri="{FF2B5EF4-FFF2-40B4-BE49-F238E27FC236}">
                <a16:creationId xmlns:a16="http://schemas.microsoft.com/office/drawing/2014/main" id="{5626C697-7B6F-A2FF-C2FF-2E4BF6DFB94C}"/>
              </a:ext>
            </a:extLst>
          </p:cNvPr>
          <p:cNvSpPr txBox="1"/>
          <p:nvPr/>
        </p:nvSpPr>
        <p:spPr>
          <a:xfrm>
            <a:off x="1665941" y="1497296"/>
            <a:ext cx="8860118" cy="1015663"/>
          </a:xfrm>
          <a:prstGeom prst="rect">
            <a:avLst/>
          </a:prstGeom>
          <a:noFill/>
          <a:ln>
            <a:solidFill>
              <a:srgbClr val="1B83A7"/>
            </a:solidFill>
          </a:ln>
        </p:spPr>
        <p:txBody>
          <a:bodyPr wrap="none" rtlCol="0">
            <a:spAutoFit/>
          </a:bodyPr>
          <a:lstStyle/>
          <a:p>
            <a:pPr algn="ctr"/>
            <a:r>
              <a:rPr lang="tr-TR" sz="3000" dirty="0">
                <a:solidFill>
                  <a:srgbClr val="0B203C"/>
                </a:solidFill>
                <a:latin typeface="Consolas" panose="020B0609020204030204" pitchFamily="49" charset="0"/>
              </a:rPr>
              <a:t>Amasya Üniversitesi Mühendislik Fakültesi</a:t>
            </a:r>
          </a:p>
          <a:p>
            <a:pPr algn="ctr"/>
            <a:r>
              <a:rPr lang="tr-TR" sz="3000" dirty="0">
                <a:solidFill>
                  <a:srgbClr val="0B203C"/>
                </a:solidFill>
                <a:latin typeface="Consolas" panose="020B0609020204030204" pitchFamily="49" charset="0"/>
              </a:rPr>
              <a:t>Bilgisayar Mühendisliği Bölümü</a:t>
            </a:r>
          </a:p>
        </p:txBody>
      </p:sp>
      <p:sp>
        <p:nvSpPr>
          <p:cNvPr id="7" name="Metin kutusu 6">
            <a:extLst>
              <a:ext uri="{FF2B5EF4-FFF2-40B4-BE49-F238E27FC236}">
                <a16:creationId xmlns:a16="http://schemas.microsoft.com/office/drawing/2014/main" id="{290D712B-E0F2-7A71-1456-3AE90D5EC770}"/>
              </a:ext>
            </a:extLst>
          </p:cNvPr>
          <p:cNvSpPr txBox="1"/>
          <p:nvPr/>
        </p:nvSpPr>
        <p:spPr>
          <a:xfrm>
            <a:off x="4249555" y="3816742"/>
            <a:ext cx="3214341" cy="569387"/>
          </a:xfrm>
          <a:prstGeom prst="rect">
            <a:avLst/>
          </a:prstGeom>
          <a:noFill/>
        </p:spPr>
        <p:txBody>
          <a:bodyPr wrap="none" rtlCol="0">
            <a:spAutoFit/>
          </a:bodyPr>
          <a:lstStyle/>
          <a:p>
            <a:pPr algn="ctr"/>
            <a:r>
              <a:rPr lang="tr-TR" sz="1500" dirty="0">
                <a:latin typeface="Consolas" panose="020B0609020204030204" pitchFamily="49" charset="0"/>
              </a:rPr>
              <a:t>Hafta 4</a:t>
            </a:r>
          </a:p>
          <a:p>
            <a:pPr algn="ctr"/>
            <a:r>
              <a:rPr lang="tr-TR" sz="1600" b="1" dirty="0">
                <a:latin typeface="Consolas" panose="020B0609020204030204" pitchFamily="49" charset="0"/>
              </a:rPr>
              <a:t>PARALEL YAZILIM MİMARİLERİ</a:t>
            </a:r>
          </a:p>
        </p:txBody>
      </p:sp>
      <p:sp>
        <p:nvSpPr>
          <p:cNvPr id="8" name="Metin kutusu 7">
            <a:extLst>
              <a:ext uri="{FF2B5EF4-FFF2-40B4-BE49-F238E27FC236}">
                <a16:creationId xmlns:a16="http://schemas.microsoft.com/office/drawing/2014/main" id="{F487D820-CAE8-0A3E-CE73-D9224B8B5DCE}"/>
              </a:ext>
            </a:extLst>
          </p:cNvPr>
          <p:cNvSpPr txBox="1"/>
          <p:nvPr/>
        </p:nvSpPr>
        <p:spPr>
          <a:xfrm>
            <a:off x="4319563" y="4874993"/>
            <a:ext cx="3005951" cy="400110"/>
          </a:xfrm>
          <a:prstGeom prst="rect">
            <a:avLst/>
          </a:prstGeom>
          <a:noFill/>
        </p:spPr>
        <p:txBody>
          <a:bodyPr wrap="none" rtlCol="0">
            <a:spAutoFit/>
          </a:bodyPr>
          <a:lstStyle/>
          <a:p>
            <a:pPr algn="ctr"/>
            <a:r>
              <a:rPr lang="tr-TR" sz="2000" dirty="0">
                <a:latin typeface="Consolas" panose="020B0609020204030204" pitchFamily="49" charset="0"/>
              </a:rPr>
              <a:t>Dr. Funda KUTLU ONAY</a:t>
            </a:r>
          </a:p>
        </p:txBody>
      </p:sp>
    </p:spTree>
    <p:extLst>
      <p:ext uri="{BB962C8B-B14F-4D97-AF65-F5344CB8AC3E}">
        <p14:creationId xmlns:p14="http://schemas.microsoft.com/office/powerpoint/2010/main" val="232501945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Parallel computing for high-performance simulations">
            <a:extLst>
              <a:ext uri="{FF2B5EF4-FFF2-40B4-BE49-F238E27FC236}">
                <a16:creationId xmlns:a16="http://schemas.microsoft.com/office/drawing/2014/main" id="{2DF2FAFB-8FBC-D1F6-10FB-B22FC22E7B72}"/>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51802" b="-1"/>
          <a:stretch/>
        </p:blipFill>
        <p:spPr bwMode="auto">
          <a:xfrm rot="5400000">
            <a:off x="-2989346" y="2971346"/>
            <a:ext cx="6876000" cy="914399"/>
          </a:xfrm>
          <a:prstGeom prst="rect">
            <a:avLst/>
          </a:prstGeom>
          <a:noFill/>
          <a:extLst>
            <a:ext uri="{909E8E84-426E-40DD-AFC4-6F175D3DCCD1}">
              <a14:hiddenFill xmlns:a14="http://schemas.microsoft.com/office/drawing/2010/main">
                <a:solidFill>
                  <a:srgbClr val="FFFFFF"/>
                </a:solidFill>
              </a14:hiddenFill>
            </a:ext>
          </a:extLst>
        </p:spPr>
      </p:pic>
      <p:sp>
        <p:nvSpPr>
          <p:cNvPr id="6" name="Metin kutusu 5">
            <a:extLst>
              <a:ext uri="{FF2B5EF4-FFF2-40B4-BE49-F238E27FC236}">
                <a16:creationId xmlns:a16="http://schemas.microsoft.com/office/drawing/2014/main" id="{7E4D4629-93BD-9B46-AD20-4084588D814A}"/>
              </a:ext>
            </a:extLst>
          </p:cNvPr>
          <p:cNvSpPr txBox="1"/>
          <p:nvPr/>
        </p:nvSpPr>
        <p:spPr>
          <a:xfrm>
            <a:off x="1164349" y="184777"/>
            <a:ext cx="10688668" cy="553998"/>
          </a:xfrm>
          <a:prstGeom prst="rect">
            <a:avLst/>
          </a:prstGeom>
          <a:noFill/>
        </p:spPr>
        <p:txBody>
          <a:bodyPr wrap="square" rtlCol="0">
            <a:spAutoFit/>
          </a:bodyPr>
          <a:lstStyle/>
          <a:p>
            <a:r>
              <a:rPr lang="tr-TR" sz="3000" b="1" dirty="0">
                <a:latin typeface="Consolas" panose="020B0609020204030204" pitchFamily="49" charset="0"/>
              </a:rPr>
              <a:t>Ders İçeriği</a:t>
            </a:r>
          </a:p>
        </p:txBody>
      </p:sp>
      <p:sp>
        <p:nvSpPr>
          <p:cNvPr id="7" name="Metin kutusu 6">
            <a:extLst>
              <a:ext uri="{FF2B5EF4-FFF2-40B4-BE49-F238E27FC236}">
                <a16:creationId xmlns:a16="http://schemas.microsoft.com/office/drawing/2014/main" id="{AA89D77E-8335-0B08-2D4B-4270DDA5B0E0}"/>
              </a:ext>
            </a:extLst>
          </p:cNvPr>
          <p:cNvSpPr txBox="1"/>
          <p:nvPr/>
        </p:nvSpPr>
        <p:spPr>
          <a:xfrm>
            <a:off x="1164349" y="759758"/>
            <a:ext cx="10688668" cy="4247317"/>
          </a:xfrm>
          <a:prstGeom prst="rect">
            <a:avLst/>
          </a:prstGeom>
          <a:noFill/>
        </p:spPr>
        <p:txBody>
          <a:bodyPr wrap="square" rtlCol="0">
            <a:spAutoFit/>
          </a:bodyPr>
          <a:lstStyle/>
          <a:p>
            <a:pPr marL="457200" indent="-457200">
              <a:buFont typeface="Arial" panose="020B0604020202020204" pitchFamily="34" charset="0"/>
              <a:buChar char="•"/>
            </a:pPr>
            <a:r>
              <a:rPr lang="tr-TR" sz="3000" dirty="0">
                <a:latin typeface="Consolas" panose="020B0609020204030204" pitchFamily="49" charset="0"/>
              </a:rPr>
              <a:t>Paralel Yazılımlar</a:t>
            </a:r>
          </a:p>
          <a:p>
            <a:pPr marL="914400" lvl="1" indent="-457200">
              <a:buFont typeface="Wingdings" panose="05000000000000000000" pitchFamily="2" charset="2"/>
              <a:buChar char="ü"/>
            </a:pPr>
            <a:r>
              <a:rPr lang="tr-TR" sz="3000" dirty="0">
                <a:latin typeface="Consolas" panose="020B0609020204030204" pitchFamily="49" charset="0"/>
              </a:rPr>
              <a:t>Hafıza Paylaşımlı Programlar</a:t>
            </a:r>
          </a:p>
          <a:p>
            <a:pPr marL="914400" lvl="1" indent="-457200">
              <a:buFont typeface="Wingdings" panose="05000000000000000000" pitchFamily="2" charset="2"/>
              <a:buChar char="ü"/>
            </a:pPr>
            <a:r>
              <a:rPr lang="tr-TR" sz="3000" dirty="0">
                <a:latin typeface="Consolas" panose="020B0609020204030204" pitchFamily="49" charset="0"/>
              </a:rPr>
              <a:t>Dağıtık Hafızalı Programlar</a:t>
            </a:r>
          </a:p>
          <a:p>
            <a:pPr marL="457200" indent="-457200">
              <a:buFont typeface="Arial" panose="020B0604020202020204" pitchFamily="34" charset="0"/>
              <a:buChar char="•"/>
            </a:pPr>
            <a:r>
              <a:rPr lang="tr-TR" sz="3000" dirty="0">
                <a:latin typeface="Consolas" panose="020B0609020204030204" pitchFamily="49" charset="0"/>
              </a:rPr>
              <a:t>Performans</a:t>
            </a:r>
          </a:p>
          <a:p>
            <a:pPr marL="914400" lvl="1" indent="-457200">
              <a:buFont typeface="Wingdings" panose="05000000000000000000" pitchFamily="2" charset="2"/>
              <a:buChar char="ü"/>
            </a:pPr>
            <a:r>
              <a:rPr lang="tr-TR" sz="3000" dirty="0" err="1">
                <a:latin typeface="Consolas" panose="020B0609020204030204" pitchFamily="49" charset="0"/>
              </a:rPr>
              <a:t>Speedup</a:t>
            </a:r>
            <a:r>
              <a:rPr lang="tr-TR" sz="3000" dirty="0">
                <a:latin typeface="Consolas" panose="020B0609020204030204" pitchFamily="49" charset="0"/>
              </a:rPr>
              <a:t> ve Verimlilik</a:t>
            </a:r>
          </a:p>
          <a:p>
            <a:pPr marL="914400" lvl="1" indent="-457200">
              <a:buFont typeface="Wingdings" panose="05000000000000000000" pitchFamily="2" charset="2"/>
              <a:buChar char="ü"/>
            </a:pPr>
            <a:r>
              <a:rPr lang="tr-TR" sz="3000" dirty="0" err="1">
                <a:latin typeface="Consolas" panose="020B0609020204030204" pitchFamily="49" charset="0"/>
              </a:rPr>
              <a:t>Amdahl</a:t>
            </a:r>
            <a:r>
              <a:rPr lang="tr-TR" sz="3000" dirty="0">
                <a:latin typeface="Consolas" panose="020B0609020204030204" pitchFamily="49" charset="0"/>
              </a:rPr>
              <a:t> Yasası</a:t>
            </a:r>
          </a:p>
          <a:p>
            <a:pPr marL="914400" lvl="1" indent="-457200">
              <a:buFont typeface="Wingdings" panose="05000000000000000000" pitchFamily="2" charset="2"/>
              <a:buChar char="ü"/>
            </a:pPr>
            <a:r>
              <a:rPr lang="tr-TR" sz="3000" dirty="0">
                <a:latin typeface="Consolas" panose="020B0609020204030204" pitchFamily="49" charset="0"/>
              </a:rPr>
              <a:t>Ölçeklenebilirlik</a:t>
            </a:r>
          </a:p>
          <a:p>
            <a:pPr marL="457200" indent="-457200">
              <a:buFont typeface="Arial" panose="020B0604020202020204" pitchFamily="34" charset="0"/>
              <a:buChar char="•"/>
            </a:pPr>
            <a:r>
              <a:rPr lang="tr-TR" sz="3000" dirty="0" err="1">
                <a:latin typeface="Consolas" panose="020B0609020204030204" pitchFamily="49" charset="0"/>
              </a:rPr>
              <a:t>Parelel</a:t>
            </a:r>
            <a:r>
              <a:rPr lang="tr-TR" sz="3000" dirty="0">
                <a:latin typeface="Consolas" panose="020B0609020204030204" pitchFamily="49" charset="0"/>
              </a:rPr>
              <a:t> Program Tasarımı</a:t>
            </a:r>
          </a:p>
          <a:p>
            <a:pPr marL="914400" lvl="1" indent="-457200">
              <a:buFont typeface="Wingdings" panose="05000000000000000000" pitchFamily="2" charset="2"/>
              <a:buChar char="ü"/>
            </a:pPr>
            <a:r>
              <a:rPr lang="tr-TR" sz="3000" dirty="0" err="1">
                <a:latin typeface="Consolas" panose="020B0609020204030204" pitchFamily="49" charset="0"/>
              </a:rPr>
              <a:t>Foster</a:t>
            </a:r>
            <a:r>
              <a:rPr lang="tr-TR" sz="3000" dirty="0">
                <a:latin typeface="Consolas" panose="020B0609020204030204" pitchFamily="49" charset="0"/>
              </a:rPr>
              <a:t> Yöntemi</a:t>
            </a:r>
          </a:p>
        </p:txBody>
      </p:sp>
    </p:spTree>
    <p:extLst>
      <p:ext uri="{BB962C8B-B14F-4D97-AF65-F5344CB8AC3E}">
        <p14:creationId xmlns:p14="http://schemas.microsoft.com/office/powerpoint/2010/main" val="144530922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973771-9CBA-4CED-16D1-EEDF831841FC}"/>
            </a:ext>
          </a:extLst>
        </p:cNvPr>
        <p:cNvGrpSpPr/>
        <p:nvPr/>
      </p:nvGrpSpPr>
      <p:grpSpPr>
        <a:xfrm>
          <a:off x="0" y="0"/>
          <a:ext cx="0" cy="0"/>
          <a:chOff x="0" y="0"/>
          <a:chExt cx="0" cy="0"/>
        </a:xfrm>
      </p:grpSpPr>
      <p:pic>
        <p:nvPicPr>
          <p:cNvPr id="4" name="Picture 2" descr="Parallel computing for high-performance simulations">
            <a:extLst>
              <a:ext uri="{FF2B5EF4-FFF2-40B4-BE49-F238E27FC236}">
                <a16:creationId xmlns:a16="http://schemas.microsoft.com/office/drawing/2014/main" id="{DB13D94C-A8D2-C303-592D-A1242C10CA38}"/>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51802" b="-1"/>
          <a:stretch/>
        </p:blipFill>
        <p:spPr bwMode="auto">
          <a:xfrm rot="5400000">
            <a:off x="-2989346" y="2971346"/>
            <a:ext cx="6876000" cy="914399"/>
          </a:xfrm>
          <a:prstGeom prst="rect">
            <a:avLst/>
          </a:prstGeom>
          <a:noFill/>
          <a:extLst>
            <a:ext uri="{909E8E84-426E-40DD-AFC4-6F175D3DCCD1}">
              <a14:hiddenFill xmlns:a14="http://schemas.microsoft.com/office/drawing/2010/main">
                <a:solidFill>
                  <a:srgbClr val="FFFFFF"/>
                </a:solidFill>
              </a14:hiddenFill>
            </a:ext>
          </a:extLst>
        </p:spPr>
      </p:pic>
      <p:sp>
        <p:nvSpPr>
          <p:cNvPr id="6" name="Metin kutusu 5">
            <a:extLst>
              <a:ext uri="{FF2B5EF4-FFF2-40B4-BE49-F238E27FC236}">
                <a16:creationId xmlns:a16="http://schemas.microsoft.com/office/drawing/2014/main" id="{68DBF6EA-4C4D-C4F2-AB9A-2CE64C2AE959}"/>
              </a:ext>
            </a:extLst>
          </p:cNvPr>
          <p:cNvSpPr txBox="1"/>
          <p:nvPr/>
        </p:nvSpPr>
        <p:spPr>
          <a:xfrm>
            <a:off x="1164349" y="184777"/>
            <a:ext cx="10688668" cy="553998"/>
          </a:xfrm>
          <a:prstGeom prst="rect">
            <a:avLst/>
          </a:prstGeom>
          <a:noFill/>
        </p:spPr>
        <p:txBody>
          <a:bodyPr wrap="square" rtlCol="0">
            <a:spAutoFit/>
          </a:bodyPr>
          <a:lstStyle/>
          <a:p>
            <a:r>
              <a:rPr lang="tr-TR" sz="3000" b="1" dirty="0">
                <a:latin typeface="Consolas" panose="020B0609020204030204" pitchFamily="49" charset="0"/>
              </a:rPr>
              <a:t>Paralel Donanım ve Yazılımlar</a:t>
            </a:r>
          </a:p>
        </p:txBody>
      </p:sp>
      <p:sp>
        <p:nvSpPr>
          <p:cNvPr id="7" name="Metin kutusu 6">
            <a:extLst>
              <a:ext uri="{FF2B5EF4-FFF2-40B4-BE49-F238E27FC236}">
                <a16:creationId xmlns:a16="http://schemas.microsoft.com/office/drawing/2014/main" id="{A10FF1FF-D648-9D8B-2317-B6ADEE656A7D}"/>
              </a:ext>
            </a:extLst>
          </p:cNvPr>
          <p:cNvSpPr txBox="1"/>
          <p:nvPr/>
        </p:nvSpPr>
        <p:spPr>
          <a:xfrm>
            <a:off x="1164348" y="759758"/>
            <a:ext cx="10688667" cy="1569660"/>
          </a:xfrm>
          <a:prstGeom prst="rect">
            <a:avLst/>
          </a:prstGeom>
          <a:noFill/>
        </p:spPr>
        <p:txBody>
          <a:bodyPr wrap="square" rtlCol="0">
            <a:spAutoFit/>
          </a:bodyPr>
          <a:lstStyle/>
          <a:p>
            <a:pPr marL="457200" indent="-457200">
              <a:buFont typeface="Arial" panose="020B0604020202020204" pitchFamily="34" charset="0"/>
              <a:buChar char="•"/>
            </a:pPr>
            <a:r>
              <a:rPr lang="tr-TR" sz="2400" dirty="0">
                <a:latin typeface="Consolas" panose="020B0609020204030204" pitchFamily="49" charset="0"/>
              </a:rPr>
              <a:t>Verimli paralel programlar yazabilmek için paralel olarak çalışacak programın üzerinde çalışacağı bilgisayar donanımı ve işletim sistemi hakkında bilgi sahibi olunması gerekir.</a:t>
            </a:r>
          </a:p>
          <a:p>
            <a:pPr marL="457200" indent="-457200">
              <a:buFont typeface="Arial" panose="020B0604020202020204" pitchFamily="34" charset="0"/>
              <a:buChar char="•"/>
            </a:pPr>
            <a:r>
              <a:rPr lang="tr-TR" sz="2400" dirty="0">
                <a:latin typeface="Consolas" panose="020B0609020204030204" pitchFamily="49" charset="0"/>
              </a:rPr>
              <a:t>Bu bölümde paralel yazılım yöntemlerinden bahsedilecektir.</a:t>
            </a:r>
          </a:p>
        </p:txBody>
      </p:sp>
    </p:spTree>
    <p:extLst>
      <p:ext uri="{BB962C8B-B14F-4D97-AF65-F5344CB8AC3E}">
        <p14:creationId xmlns:p14="http://schemas.microsoft.com/office/powerpoint/2010/main" val="172566168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973771-9CBA-4CED-16D1-EEDF831841FC}"/>
            </a:ext>
          </a:extLst>
        </p:cNvPr>
        <p:cNvGrpSpPr/>
        <p:nvPr/>
      </p:nvGrpSpPr>
      <p:grpSpPr>
        <a:xfrm>
          <a:off x="0" y="0"/>
          <a:ext cx="0" cy="0"/>
          <a:chOff x="0" y="0"/>
          <a:chExt cx="0" cy="0"/>
        </a:xfrm>
      </p:grpSpPr>
      <p:pic>
        <p:nvPicPr>
          <p:cNvPr id="4" name="Picture 2" descr="Parallel computing for high-performance simulations">
            <a:extLst>
              <a:ext uri="{FF2B5EF4-FFF2-40B4-BE49-F238E27FC236}">
                <a16:creationId xmlns:a16="http://schemas.microsoft.com/office/drawing/2014/main" id="{DB13D94C-A8D2-C303-592D-A1242C10CA38}"/>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51802" b="-1"/>
          <a:stretch/>
        </p:blipFill>
        <p:spPr bwMode="auto">
          <a:xfrm rot="5400000">
            <a:off x="-2989346" y="2971346"/>
            <a:ext cx="6876000" cy="914399"/>
          </a:xfrm>
          <a:prstGeom prst="rect">
            <a:avLst/>
          </a:prstGeom>
          <a:noFill/>
          <a:extLst>
            <a:ext uri="{909E8E84-426E-40DD-AFC4-6F175D3DCCD1}">
              <a14:hiddenFill xmlns:a14="http://schemas.microsoft.com/office/drawing/2010/main">
                <a:solidFill>
                  <a:srgbClr val="FFFFFF"/>
                </a:solidFill>
              </a14:hiddenFill>
            </a:ext>
          </a:extLst>
        </p:spPr>
      </p:pic>
      <p:sp>
        <p:nvSpPr>
          <p:cNvPr id="6" name="Metin kutusu 5">
            <a:extLst>
              <a:ext uri="{FF2B5EF4-FFF2-40B4-BE49-F238E27FC236}">
                <a16:creationId xmlns:a16="http://schemas.microsoft.com/office/drawing/2014/main" id="{68DBF6EA-4C4D-C4F2-AB9A-2CE64C2AE959}"/>
              </a:ext>
            </a:extLst>
          </p:cNvPr>
          <p:cNvSpPr txBox="1"/>
          <p:nvPr/>
        </p:nvSpPr>
        <p:spPr>
          <a:xfrm>
            <a:off x="1164349" y="184777"/>
            <a:ext cx="10688668" cy="553998"/>
          </a:xfrm>
          <a:prstGeom prst="rect">
            <a:avLst/>
          </a:prstGeom>
          <a:noFill/>
        </p:spPr>
        <p:txBody>
          <a:bodyPr wrap="square" rtlCol="0">
            <a:spAutoFit/>
          </a:bodyPr>
          <a:lstStyle/>
          <a:p>
            <a:r>
              <a:rPr lang="tr-TR" sz="3000" b="1" dirty="0">
                <a:latin typeface="Consolas" panose="020B0609020204030204" pitchFamily="49" charset="0"/>
              </a:rPr>
              <a:t>Paralel Yazılım Nedir?</a:t>
            </a:r>
          </a:p>
        </p:txBody>
      </p:sp>
      <p:sp>
        <p:nvSpPr>
          <p:cNvPr id="7" name="Metin kutusu 6">
            <a:extLst>
              <a:ext uri="{FF2B5EF4-FFF2-40B4-BE49-F238E27FC236}">
                <a16:creationId xmlns:a16="http://schemas.microsoft.com/office/drawing/2014/main" id="{A10FF1FF-D648-9D8B-2317-B6ADEE656A7D}"/>
              </a:ext>
            </a:extLst>
          </p:cNvPr>
          <p:cNvSpPr txBox="1"/>
          <p:nvPr/>
        </p:nvSpPr>
        <p:spPr>
          <a:xfrm>
            <a:off x="1164348" y="759758"/>
            <a:ext cx="10688667" cy="4524315"/>
          </a:xfrm>
          <a:prstGeom prst="rect">
            <a:avLst/>
          </a:prstGeom>
          <a:noFill/>
        </p:spPr>
        <p:txBody>
          <a:bodyPr wrap="square" rtlCol="0">
            <a:spAutoFit/>
          </a:bodyPr>
          <a:lstStyle/>
          <a:p>
            <a:pPr marL="457200" indent="-457200" algn="just">
              <a:buFont typeface="Arial" panose="020B0604020202020204" pitchFamily="34" charset="0"/>
              <a:buChar char="•"/>
            </a:pPr>
            <a:r>
              <a:rPr lang="tr-TR" sz="2400" dirty="0">
                <a:latin typeface="Consolas" panose="020B0609020204030204" pitchFamily="49" charset="0"/>
              </a:rPr>
              <a:t>Günlük hayatta </a:t>
            </a:r>
            <a:r>
              <a:rPr lang="tr-TR" sz="2400" b="1" dirty="0">
                <a:latin typeface="Consolas" panose="020B0609020204030204" pitchFamily="49" charset="0"/>
              </a:rPr>
              <a:t>paralel donanımlar </a:t>
            </a:r>
            <a:r>
              <a:rPr lang="tr-TR" sz="2400" dirty="0">
                <a:latin typeface="Consolas" panose="020B0609020204030204" pitchFamily="49" charset="0"/>
              </a:rPr>
              <a:t>PC’ler ve Sunucu bilgisayarlarda yaygın olarak kullanılmaktadır, ancak aynı durum paralel yazılımlar için geçerli mi? </a:t>
            </a:r>
          </a:p>
          <a:p>
            <a:pPr marL="457200" indent="-457200" algn="just">
              <a:buFont typeface="Arial" panose="020B0604020202020204" pitchFamily="34" charset="0"/>
              <a:buChar char="•"/>
            </a:pPr>
            <a:r>
              <a:rPr lang="tr-TR" sz="2400" dirty="0">
                <a:latin typeface="Consolas" panose="020B0609020204030204" pitchFamily="49" charset="0"/>
              </a:rPr>
              <a:t>Paralel yazılımlar iki alt başlıkta incelenmektedir:</a:t>
            </a:r>
          </a:p>
          <a:p>
            <a:pPr marL="914400" lvl="1" indent="-457200" algn="just">
              <a:buFont typeface="Wingdings" panose="05000000000000000000" pitchFamily="2" charset="2"/>
              <a:buChar char="ü"/>
            </a:pPr>
            <a:r>
              <a:rPr lang="tr-TR" sz="2400" dirty="0">
                <a:latin typeface="Consolas" panose="020B0609020204030204" pitchFamily="49" charset="0"/>
              </a:rPr>
              <a:t>Hafıza Paylaşımlı Sistemler</a:t>
            </a:r>
          </a:p>
          <a:p>
            <a:pPr marL="914400" lvl="1" indent="-457200" algn="just">
              <a:buFont typeface="Wingdings" panose="05000000000000000000" pitchFamily="2" charset="2"/>
              <a:buChar char="ü"/>
            </a:pPr>
            <a:r>
              <a:rPr lang="tr-TR" sz="2400" dirty="0">
                <a:latin typeface="Consolas" panose="020B0609020204030204" pitchFamily="49" charset="0"/>
              </a:rPr>
              <a:t>Dağıtık Hafızalı Sistemler</a:t>
            </a:r>
          </a:p>
          <a:p>
            <a:pPr marL="457200" indent="-457200" algn="just">
              <a:buFont typeface="Arial" panose="020B0604020202020204" pitchFamily="34" charset="0"/>
              <a:buChar char="•"/>
            </a:pPr>
            <a:r>
              <a:rPr lang="tr-TR" sz="2400" dirty="0">
                <a:latin typeface="Consolas" panose="020B0609020204030204" pitchFamily="49" charset="0"/>
              </a:rPr>
              <a:t>Paylaşımlı hafızalarda çalışan programlar tek bir işlem (</a:t>
            </a:r>
            <a:r>
              <a:rPr lang="tr-TR" sz="2400" dirty="0" err="1">
                <a:latin typeface="Consolas" panose="020B0609020204030204" pitchFamily="49" charset="0"/>
              </a:rPr>
              <a:t>process</a:t>
            </a:r>
            <a:r>
              <a:rPr lang="tr-TR" sz="2400" dirty="0">
                <a:latin typeface="Consolas" panose="020B0609020204030204" pitchFamily="49" charset="0"/>
              </a:rPr>
              <a:t>) üzerinden çoklu iş parçacıkları (</a:t>
            </a:r>
            <a:r>
              <a:rPr lang="tr-TR" sz="2400" dirty="0" err="1">
                <a:latin typeface="Consolas" panose="020B0609020204030204" pitchFamily="49" charset="0"/>
              </a:rPr>
              <a:t>thread</a:t>
            </a:r>
            <a:r>
              <a:rPr lang="tr-TR" sz="2400" dirty="0">
                <a:latin typeface="Consolas" panose="020B0609020204030204" pitchFamily="49" charset="0"/>
              </a:rPr>
              <a:t>) kullanarak çalışırlar.</a:t>
            </a:r>
          </a:p>
          <a:p>
            <a:pPr marL="457200" indent="-457200" algn="just">
              <a:buFont typeface="Arial" panose="020B0604020202020204" pitchFamily="34" charset="0"/>
              <a:buChar char="•"/>
            </a:pPr>
            <a:r>
              <a:rPr lang="tr-TR" sz="2400" dirty="0">
                <a:latin typeface="Consolas" panose="020B0609020204030204" pitchFamily="49" charset="0"/>
              </a:rPr>
              <a:t>Dağıtık sistemlerde ise görevleri (</a:t>
            </a:r>
            <a:r>
              <a:rPr lang="tr-TR" sz="2400" dirty="0" err="1">
                <a:latin typeface="Consolas" panose="020B0609020204030204" pitchFamily="49" charset="0"/>
              </a:rPr>
              <a:t>tasks</a:t>
            </a:r>
            <a:r>
              <a:rPr lang="tr-TR" sz="2400" dirty="0">
                <a:latin typeface="Consolas" panose="020B0609020204030204" pitchFamily="49" charset="0"/>
              </a:rPr>
              <a:t>) gerçekleştirmek için çoklu işlem (</a:t>
            </a:r>
            <a:r>
              <a:rPr lang="tr-TR" sz="2400" dirty="0" err="1">
                <a:latin typeface="Consolas" panose="020B0609020204030204" pitchFamily="49" charset="0"/>
              </a:rPr>
              <a:t>multiprocess</a:t>
            </a:r>
            <a:r>
              <a:rPr lang="tr-TR" sz="2400" dirty="0">
                <a:latin typeface="Consolas" panose="020B0609020204030204" pitchFamily="49" charset="0"/>
              </a:rPr>
              <a:t>) yapılarına ihtiyaç duyulmaktadır.</a:t>
            </a:r>
          </a:p>
        </p:txBody>
      </p:sp>
    </p:spTree>
    <p:extLst>
      <p:ext uri="{BB962C8B-B14F-4D97-AF65-F5344CB8AC3E}">
        <p14:creationId xmlns:p14="http://schemas.microsoft.com/office/powerpoint/2010/main" val="82711754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973771-9CBA-4CED-16D1-EEDF831841FC}"/>
            </a:ext>
          </a:extLst>
        </p:cNvPr>
        <p:cNvGrpSpPr/>
        <p:nvPr/>
      </p:nvGrpSpPr>
      <p:grpSpPr>
        <a:xfrm>
          <a:off x="0" y="0"/>
          <a:ext cx="0" cy="0"/>
          <a:chOff x="0" y="0"/>
          <a:chExt cx="0" cy="0"/>
        </a:xfrm>
      </p:grpSpPr>
      <p:pic>
        <p:nvPicPr>
          <p:cNvPr id="4" name="Picture 2" descr="Parallel computing for high-performance simulations">
            <a:extLst>
              <a:ext uri="{FF2B5EF4-FFF2-40B4-BE49-F238E27FC236}">
                <a16:creationId xmlns:a16="http://schemas.microsoft.com/office/drawing/2014/main" id="{DB13D94C-A8D2-C303-592D-A1242C10CA38}"/>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51802" b="-1"/>
          <a:stretch/>
        </p:blipFill>
        <p:spPr bwMode="auto">
          <a:xfrm rot="5400000">
            <a:off x="-2989346" y="2971346"/>
            <a:ext cx="6876000" cy="914399"/>
          </a:xfrm>
          <a:prstGeom prst="rect">
            <a:avLst/>
          </a:prstGeom>
          <a:noFill/>
          <a:extLst>
            <a:ext uri="{909E8E84-426E-40DD-AFC4-6F175D3DCCD1}">
              <a14:hiddenFill xmlns:a14="http://schemas.microsoft.com/office/drawing/2010/main">
                <a:solidFill>
                  <a:srgbClr val="FFFFFF"/>
                </a:solidFill>
              </a14:hiddenFill>
            </a:ext>
          </a:extLst>
        </p:spPr>
      </p:pic>
      <p:sp>
        <p:nvSpPr>
          <p:cNvPr id="6" name="Metin kutusu 5">
            <a:extLst>
              <a:ext uri="{FF2B5EF4-FFF2-40B4-BE49-F238E27FC236}">
                <a16:creationId xmlns:a16="http://schemas.microsoft.com/office/drawing/2014/main" id="{68DBF6EA-4C4D-C4F2-AB9A-2CE64C2AE959}"/>
              </a:ext>
            </a:extLst>
          </p:cNvPr>
          <p:cNvSpPr txBox="1"/>
          <p:nvPr/>
        </p:nvSpPr>
        <p:spPr>
          <a:xfrm>
            <a:off x="1164349" y="184777"/>
            <a:ext cx="10688668" cy="553998"/>
          </a:xfrm>
          <a:prstGeom prst="rect">
            <a:avLst/>
          </a:prstGeom>
          <a:noFill/>
        </p:spPr>
        <p:txBody>
          <a:bodyPr wrap="square" rtlCol="0">
            <a:spAutoFit/>
          </a:bodyPr>
          <a:lstStyle/>
          <a:p>
            <a:r>
              <a:rPr lang="tr-TR" sz="3000" b="1" dirty="0">
                <a:latin typeface="Consolas" panose="020B0609020204030204" pitchFamily="49" charset="0"/>
              </a:rPr>
              <a:t>Hafıza Paylaşımlı Programlar</a:t>
            </a:r>
          </a:p>
        </p:txBody>
      </p:sp>
      <p:sp>
        <p:nvSpPr>
          <p:cNvPr id="7" name="Metin kutusu 6">
            <a:extLst>
              <a:ext uri="{FF2B5EF4-FFF2-40B4-BE49-F238E27FC236}">
                <a16:creationId xmlns:a16="http://schemas.microsoft.com/office/drawing/2014/main" id="{A10FF1FF-D648-9D8B-2317-B6ADEE656A7D}"/>
              </a:ext>
            </a:extLst>
          </p:cNvPr>
          <p:cNvSpPr txBox="1"/>
          <p:nvPr/>
        </p:nvSpPr>
        <p:spPr>
          <a:xfrm>
            <a:off x="1164348" y="759758"/>
            <a:ext cx="10688667" cy="3785652"/>
          </a:xfrm>
          <a:prstGeom prst="rect">
            <a:avLst/>
          </a:prstGeom>
          <a:noFill/>
        </p:spPr>
        <p:txBody>
          <a:bodyPr wrap="square" rtlCol="0">
            <a:spAutoFit/>
          </a:bodyPr>
          <a:lstStyle/>
          <a:p>
            <a:pPr marL="457200" indent="-457200" algn="just">
              <a:buFont typeface="Arial" panose="020B0604020202020204" pitchFamily="34" charset="0"/>
              <a:buChar char="•"/>
            </a:pPr>
            <a:r>
              <a:rPr lang="tr-TR" sz="2400" dirty="0">
                <a:latin typeface="Consolas" panose="020B0609020204030204" pitchFamily="49" charset="0"/>
              </a:rPr>
              <a:t>Hafıza paylaşımlı programlarda değişkenler (</a:t>
            </a:r>
            <a:r>
              <a:rPr lang="tr-TR" sz="2400" dirty="0" err="1">
                <a:latin typeface="Consolas" panose="020B0609020204030204" pitchFamily="49" charset="0"/>
              </a:rPr>
              <a:t>variables</a:t>
            </a:r>
            <a:r>
              <a:rPr lang="tr-TR" sz="2400" dirty="0">
                <a:latin typeface="Consolas" panose="020B0609020204030204" pitchFamily="49" charset="0"/>
              </a:rPr>
              <a:t>) paylaşılabilir ve </a:t>
            </a:r>
            <a:r>
              <a:rPr lang="tr-TR" sz="2400" dirty="0" err="1">
                <a:latin typeface="Consolas" panose="020B0609020204030204" pitchFamily="49" charset="0"/>
              </a:rPr>
              <a:t>public</a:t>
            </a:r>
            <a:r>
              <a:rPr lang="tr-TR" sz="2400" dirty="0">
                <a:latin typeface="Consolas" panose="020B0609020204030204" pitchFamily="49" charset="0"/>
              </a:rPr>
              <a:t> veya özel (</a:t>
            </a:r>
            <a:r>
              <a:rPr lang="tr-TR" sz="2400" dirty="0" err="1">
                <a:latin typeface="Consolas" panose="020B0609020204030204" pitchFamily="49" charset="0"/>
              </a:rPr>
              <a:t>private</a:t>
            </a:r>
            <a:r>
              <a:rPr lang="tr-TR" sz="2400" dirty="0">
                <a:latin typeface="Consolas" panose="020B0609020204030204" pitchFamily="49" charset="0"/>
              </a:rPr>
              <a:t>) olabilir.</a:t>
            </a:r>
          </a:p>
          <a:p>
            <a:pPr marL="457200" indent="-457200" algn="just">
              <a:buFont typeface="Arial" panose="020B0604020202020204" pitchFamily="34" charset="0"/>
              <a:buChar char="•"/>
            </a:pPr>
            <a:r>
              <a:rPr lang="tr-TR" sz="2400" dirty="0">
                <a:latin typeface="Consolas" panose="020B0609020204030204" pitchFamily="49" charset="0"/>
              </a:rPr>
              <a:t>Paylaşılan (</a:t>
            </a:r>
            <a:r>
              <a:rPr lang="tr-TR" sz="2400" dirty="0" err="1">
                <a:latin typeface="Consolas" panose="020B0609020204030204" pitchFamily="49" charset="0"/>
              </a:rPr>
              <a:t>public</a:t>
            </a:r>
            <a:r>
              <a:rPr lang="tr-TR" sz="2400" dirty="0">
                <a:latin typeface="Consolas" panose="020B0609020204030204" pitchFamily="49" charset="0"/>
              </a:rPr>
              <a:t>) değişkenler herhangi bir iş parçacığı (</a:t>
            </a:r>
            <a:r>
              <a:rPr lang="tr-TR" sz="2400" dirty="0" err="1">
                <a:latin typeface="Consolas" panose="020B0609020204030204" pitchFamily="49" charset="0"/>
              </a:rPr>
              <a:t>thread</a:t>
            </a:r>
            <a:r>
              <a:rPr lang="tr-TR" sz="2400" dirty="0">
                <a:latin typeface="Consolas" panose="020B0609020204030204" pitchFamily="49" charset="0"/>
              </a:rPr>
              <a:t>) tarafından okunabilir ve yazılabilirken, özel (</a:t>
            </a:r>
            <a:r>
              <a:rPr lang="tr-TR" sz="2400" dirty="0" err="1">
                <a:latin typeface="Consolas" panose="020B0609020204030204" pitchFamily="49" charset="0"/>
              </a:rPr>
              <a:t>private</a:t>
            </a:r>
            <a:r>
              <a:rPr lang="tr-TR" sz="2400" dirty="0">
                <a:latin typeface="Consolas" panose="020B0609020204030204" pitchFamily="49" charset="0"/>
              </a:rPr>
              <a:t>) değişkenler normalde </a:t>
            </a:r>
            <a:r>
              <a:rPr lang="tr-TR" sz="2400" b="1" dirty="0">
                <a:latin typeface="Consolas" panose="020B0609020204030204" pitchFamily="49" charset="0"/>
              </a:rPr>
              <a:t>yalnızca bir iş parçacığı </a:t>
            </a:r>
            <a:r>
              <a:rPr lang="tr-TR" sz="2400" dirty="0">
                <a:latin typeface="Consolas" panose="020B0609020204030204" pitchFamily="49" charset="0"/>
              </a:rPr>
              <a:t>üzerinden erişilebilir.</a:t>
            </a:r>
          </a:p>
          <a:p>
            <a:pPr marL="457200" indent="-457200" algn="just">
              <a:buFont typeface="Arial" panose="020B0604020202020204" pitchFamily="34" charset="0"/>
              <a:buChar char="•"/>
            </a:pPr>
            <a:r>
              <a:rPr lang="tr-TR" sz="2400" dirty="0">
                <a:latin typeface="Consolas" panose="020B0609020204030204" pitchFamily="49" charset="0"/>
              </a:rPr>
              <a:t>İş parçacıkları (</a:t>
            </a:r>
            <a:r>
              <a:rPr lang="tr-TR" sz="2400" dirty="0" err="1">
                <a:latin typeface="Consolas" panose="020B0609020204030204" pitchFamily="49" charset="0"/>
              </a:rPr>
              <a:t>thread</a:t>
            </a:r>
            <a:r>
              <a:rPr lang="tr-TR" sz="2400" dirty="0">
                <a:latin typeface="Consolas" panose="020B0609020204030204" pitchFamily="49" charset="0"/>
              </a:rPr>
              <a:t>) arasındaki iletişim genellikle paylaşılan değişkenler aracılığıyla yapılır.</a:t>
            </a:r>
          </a:p>
          <a:p>
            <a:pPr marL="457200" indent="-457200" algn="just">
              <a:buFont typeface="Arial" panose="020B0604020202020204" pitchFamily="34" charset="0"/>
              <a:buChar char="•"/>
            </a:pPr>
            <a:r>
              <a:rPr lang="tr-TR" sz="2400" dirty="0">
                <a:latin typeface="Consolas" panose="020B0609020204030204" pitchFamily="49" charset="0"/>
              </a:rPr>
              <a:t>Bu nedenle iş parçacıkları (</a:t>
            </a:r>
            <a:r>
              <a:rPr lang="tr-TR" sz="2400" dirty="0" err="1">
                <a:latin typeface="Consolas" panose="020B0609020204030204" pitchFamily="49" charset="0"/>
              </a:rPr>
              <a:t>thread</a:t>
            </a:r>
            <a:r>
              <a:rPr lang="tr-TR" sz="2400" dirty="0">
                <a:latin typeface="Consolas" panose="020B0609020204030204" pitchFamily="49" charset="0"/>
              </a:rPr>
              <a:t>) ile iletişim örtülü (</a:t>
            </a:r>
            <a:r>
              <a:rPr lang="tr-TR" sz="2400" dirty="0" err="1">
                <a:latin typeface="Consolas" panose="020B0609020204030204" pitchFamily="49" charset="0"/>
              </a:rPr>
              <a:t>implict</a:t>
            </a:r>
            <a:r>
              <a:rPr lang="tr-TR" sz="2400" dirty="0">
                <a:latin typeface="Consolas" panose="020B0609020204030204" pitchFamily="49" charset="0"/>
              </a:rPr>
              <a:t>) bir şekilde gerçekleştirilir.</a:t>
            </a:r>
          </a:p>
        </p:txBody>
      </p:sp>
    </p:spTree>
    <p:extLst>
      <p:ext uri="{BB962C8B-B14F-4D97-AF65-F5344CB8AC3E}">
        <p14:creationId xmlns:p14="http://schemas.microsoft.com/office/powerpoint/2010/main" val="311163830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973771-9CBA-4CED-16D1-EEDF831841FC}"/>
            </a:ext>
          </a:extLst>
        </p:cNvPr>
        <p:cNvGrpSpPr/>
        <p:nvPr/>
      </p:nvGrpSpPr>
      <p:grpSpPr>
        <a:xfrm>
          <a:off x="0" y="0"/>
          <a:ext cx="0" cy="0"/>
          <a:chOff x="0" y="0"/>
          <a:chExt cx="0" cy="0"/>
        </a:xfrm>
      </p:grpSpPr>
      <p:pic>
        <p:nvPicPr>
          <p:cNvPr id="4" name="Picture 2" descr="Parallel computing for high-performance simulations">
            <a:extLst>
              <a:ext uri="{FF2B5EF4-FFF2-40B4-BE49-F238E27FC236}">
                <a16:creationId xmlns:a16="http://schemas.microsoft.com/office/drawing/2014/main" id="{DB13D94C-A8D2-C303-592D-A1242C10CA38}"/>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51802" b="-1"/>
          <a:stretch/>
        </p:blipFill>
        <p:spPr bwMode="auto">
          <a:xfrm rot="5400000">
            <a:off x="-2989346" y="2971346"/>
            <a:ext cx="6876000" cy="914399"/>
          </a:xfrm>
          <a:prstGeom prst="rect">
            <a:avLst/>
          </a:prstGeom>
          <a:noFill/>
          <a:extLst>
            <a:ext uri="{909E8E84-426E-40DD-AFC4-6F175D3DCCD1}">
              <a14:hiddenFill xmlns:a14="http://schemas.microsoft.com/office/drawing/2010/main">
                <a:solidFill>
                  <a:srgbClr val="FFFFFF"/>
                </a:solidFill>
              </a14:hiddenFill>
            </a:ext>
          </a:extLst>
        </p:spPr>
      </p:pic>
      <p:sp>
        <p:nvSpPr>
          <p:cNvPr id="6" name="Metin kutusu 5">
            <a:extLst>
              <a:ext uri="{FF2B5EF4-FFF2-40B4-BE49-F238E27FC236}">
                <a16:creationId xmlns:a16="http://schemas.microsoft.com/office/drawing/2014/main" id="{68DBF6EA-4C4D-C4F2-AB9A-2CE64C2AE959}"/>
              </a:ext>
            </a:extLst>
          </p:cNvPr>
          <p:cNvSpPr txBox="1"/>
          <p:nvPr/>
        </p:nvSpPr>
        <p:spPr>
          <a:xfrm>
            <a:off x="1164349" y="184777"/>
            <a:ext cx="10688668" cy="553998"/>
          </a:xfrm>
          <a:prstGeom prst="rect">
            <a:avLst/>
          </a:prstGeom>
          <a:noFill/>
        </p:spPr>
        <p:txBody>
          <a:bodyPr wrap="square" rtlCol="0">
            <a:spAutoFit/>
          </a:bodyPr>
          <a:lstStyle/>
          <a:p>
            <a:r>
              <a:rPr lang="tr-TR" sz="3000" b="1" dirty="0">
                <a:latin typeface="Consolas" panose="020B0609020204030204" pitchFamily="49" charset="0"/>
              </a:rPr>
              <a:t>Dinamik ve Statik </a:t>
            </a:r>
            <a:r>
              <a:rPr lang="tr-TR" sz="3000" b="1" dirty="0" err="1">
                <a:latin typeface="Consolas" panose="020B0609020204030204" pitchFamily="49" charset="0"/>
              </a:rPr>
              <a:t>Thread’ler</a:t>
            </a:r>
            <a:endParaRPr lang="tr-TR" sz="3000" b="1" dirty="0">
              <a:latin typeface="Consolas" panose="020B0609020204030204" pitchFamily="49" charset="0"/>
            </a:endParaRPr>
          </a:p>
        </p:txBody>
      </p:sp>
      <p:sp>
        <p:nvSpPr>
          <p:cNvPr id="7" name="Metin kutusu 6">
            <a:extLst>
              <a:ext uri="{FF2B5EF4-FFF2-40B4-BE49-F238E27FC236}">
                <a16:creationId xmlns:a16="http://schemas.microsoft.com/office/drawing/2014/main" id="{A10FF1FF-D648-9D8B-2317-B6ADEE656A7D}"/>
              </a:ext>
            </a:extLst>
          </p:cNvPr>
          <p:cNvSpPr txBox="1"/>
          <p:nvPr/>
        </p:nvSpPr>
        <p:spPr>
          <a:xfrm>
            <a:off x="1164348" y="759758"/>
            <a:ext cx="10688667" cy="4893647"/>
          </a:xfrm>
          <a:prstGeom prst="rect">
            <a:avLst/>
          </a:prstGeom>
          <a:noFill/>
        </p:spPr>
        <p:txBody>
          <a:bodyPr wrap="square" rtlCol="0">
            <a:spAutoFit/>
          </a:bodyPr>
          <a:lstStyle/>
          <a:p>
            <a:pPr marL="457200" indent="-457200" algn="just">
              <a:buFont typeface="Arial" panose="020B0604020202020204" pitchFamily="34" charset="0"/>
              <a:buChar char="•"/>
            </a:pPr>
            <a:r>
              <a:rPr lang="tr-TR" sz="2400" dirty="0">
                <a:latin typeface="Consolas" panose="020B0609020204030204" pitchFamily="49" charset="0"/>
              </a:rPr>
              <a:t>Birçok yazılım geliştirme ortamı paylaşımlı hafıza programları için </a:t>
            </a:r>
            <a:r>
              <a:rPr lang="tr-TR" sz="2400" b="1" dirty="0">
                <a:latin typeface="Consolas" panose="020B0609020204030204" pitchFamily="49" charset="0"/>
              </a:rPr>
              <a:t>dinamik iş parçacıkları </a:t>
            </a:r>
            <a:r>
              <a:rPr lang="tr-TR" sz="2400" dirty="0">
                <a:latin typeface="Consolas" panose="020B0609020204030204" pitchFamily="49" charset="0"/>
              </a:rPr>
              <a:t>(</a:t>
            </a:r>
            <a:r>
              <a:rPr lang="tr-TR" sz="2400" dirty="0" err="1">
                <a:latin typeface="Consolas" panose="020B0609020204030204" pitchFamily="49" charset="0"/>
              </a:rPr>
              <a:t>threads</a:t>
            </a:r>
            <a:r>
              <a:rPr lang="tr-TR" sz="2400" dirty="0">
                <a:latin typeface="Consolas" panose="020B0609020204030204" pitchFamily="49" charset="0"/>
              </a:rPr>
              <a:t>) kullanır.</a:t>
            </a:r>
          </a:p>
          <a:p>
            <a:pPr marL="457200" indent="-457200" algn="just">
              <a:buFont typeface="Arial" panose="020B0604020202020204" pitchFamily="34" charset="0"/>
              <a:buChar char="•"/>
            </a:pPr>
            <a:r>
              <a:rPr lang="tr-TR" sz="2400" dirty="0">
                <a:latin typeface="Consolas" panose="020B0609020204030204" pitchFamily="49" charset="0"/>
              </a:rPr>
              <a:t>Genellikle bu tür yapılar bir ana iş parçacığı ve buna bağlı işçi </a:t>
            </a:r>
            <a:r>
              <a:rPr lang="tr-TR" sz="2400" dirty="0" err="1">
                <a:latin typeface="Consolas" panose="020B0609020204030204" pitchFamily="49" charset="0"/>
              </a:rPr>
              <a:t>thread’lerden</a:t>
            </a:r>
            <a:r>
              <a:rPr lang="tr-TR" sz="2400" dirty="0">
                <a:latin typeface="Consolas" panose="020B0609020204030204" pitchFamily="49" charset="0"/>
              </a:rPr>
              <a:t> oluşmaktadır. Yeni bir görev (</a:t>
            </a:r>
            <a:r>
              <a:rPr lang="tr-TR" sz="2400" dirty="0" err="1">
                <a:latin typeface="Consolas" panose="020B0609020204030204" pitchFamily="49" charset="0"/>
              </a:rPr>
              <a:t>task</a:t>
            </a:r>
            <a:r>
              <a:rPr lang="tr-TR" sz="2400" dirty="0">
                <a:latin typeface="Consolas" panose="020B0609020204030204" pitchFamily="49" charset="0"/>
              </a:rPr>
              <a:t>) geldiğinde ana iş parçacığı bu görevi bir iş parçacığına atar.</a:t>
            </a:r>
          </a:p>
          <a:p>
            <a:pPr marL="457200" indent="-457200" algn="just">
              <a:buFont typeface="Arial" panose="020B0604020202020204" pitchFamily="34" charset="0"/>
              <a:buChar char="•"/>
            </a:pPr>
            <a:r>
              <a:rPr lang="tr-TR" sz="2400" b="1" dirty="0">
                <a:latin typeface="Consolas" panose="020B0609020204030204" pitchFamily="49" charset="0"/>
              </a:rPr>
              <a:t>Statik </a:t>
            </a:r>
            <a:r>
              <a:rPr lang="tr-TR" sz="2400" b="1" dirty="0" err="1">
                <a:latin typeface="Consolas" panose="020B0609020204030204" pitchFamily="49" charset="0"/>
              </a:rPr>
              <a:t>Thread</a:t>
            </a:r>
            <a:r>
              <a:rPr lang="tr-TR" sz="2400" b="1" dirty="0">
                <a:latin typeface="Consolas" panose="020B0609020204030204" pitchFamily="49" charset="0"/>
              </a:rPr>
              <a:t> yapısında ise; </a:t>
            </a:r>
            <a:r>
              <a:rPr lang="tr-TR" sz="2400" dirty="0">
                <a:latin typeface="Consolas" panose="020B0609020204030204" pitchFamily="49" charset="0"/>
              </a:rPr>
              <a:t>tüm iş parçacıkları ana iş parçacığı tarafından gerekli ayarlamanın ardından çatallanır (</a:t>
            </a:r>
            <a:r>
              <a:rPr lang="tr-TR" sz="2400" dirty="0" err="1">
                <a:latin typeface="Consolas" panose="020B0609020204030204" pitchFamily="49" charset="0"/>
              </a:rPr>
              <a:t>fork</a:t>
            </a:r>
            <a:r>
              <a:rPr lang="tr-TR" sz="2400" dirty="0">
                <a:latin typeface="Consolas" panose="020B0609020204030204" pitchFamily="49" charset="0"/>
              </a:rPr>
              <a:t>) ve tüm iş tamamlanıncaya kadar iş parçacıkları çalıştırılır.</a:t>
            </a:r>
          </a:p>
          <a:p>
            <a:pPr marL="457200" indent="-457200" algn="just">
              <a:buFont typeface="Arial" panose="020B0604020202020204" pitchFamily="34" charset="0"/>
              <a:buChar char="•"/>
            </a:pPr>
            <a:r>
              <a:rPr lang="tr-TR" sz="2400" dirty="0">
                <a:latin typeface="Consolas" panose="020B0609020204030204" pitchFamily="49" charset="0"/>
              </a:rPr>
              <a:t>Statik </a:t>
            </a:r>
            <a:r>
              <a:rPr lang="tr-TR" sz="2400" dirty="0" err="1">
                <a:latin typeface="Consolas" panose="020B0609020204030204" pitchFamily="49" charset="0"/>
              </a:rPr>
              <a:t>Thread’ler</a:t>
            </a:r>
            <a:r>
              <a:rPr lang="tr-TR" sz="2400" dirty="0">
                <a:latin typeface="Consolas" panose="020B0609020204030204" pitchFamily="49" charset="0"/>
              </a:rPr>
              <a:t> dinamiklere göre genellikle daha hızlı çalışırlar.</a:t>
            </a:r>
          </a:p>
        </p:txBody>
      </p:sp>
    </p:spTree>
    <p:extLst>
      <p:ext uri="{BB962C8B-B14F-4D97-AF65-F5344CB8AC3E}">
        <p14:creationId xmlns:p14="http://schemas.microsoft.com/office/powerpoint/2010/main" val="396188834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973771-9CBA-4CED-16D1-EEDF831841FC}"/>
            </a:ext>
          </a:extLst>
        </p:cNvPr>
        <p:cNvGrpSpPr/>
        <p:nvPr/>
      </p:nvGrpSpPr>
      <p:grpSpPr>
        <a:xfrm>
          <a:off x="0" y="0"/>
          <a:ext cx="0" cy="0"/>
          <a:chOff x="0" y="0"/>
          <a:chExt cx="0" cy="0"/>
        </a:xfrm>
      </p:grpSpPr>
      <p:pic>
        <p:nvPicPr>
          <p:cNvPr id="4" name="Picture 2" descr="Parallel computing for high-performance simulations">
            <a:extLst>
              <a:ext uri="{FF2B5EF4-FFF2-40B4-BE49-F238E27FC236}">
                <a16:creationId xmlns:a16="http://schemas.microsoft.com/office/drawing/2014/main" id="{DB13D94C-A8D2-C303-592D-A1242C10CA38}"/>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51802" b="-1"/>
          <a:stretch/>
        </p:blipFill>
        <p:spPr bwMode="auto">
          <a:xfrm rot="5400000">
            <a:off x="-2989346" y="2971346"/>
            <a:ext cx="6876000" cy="914399"/>
          </a:xfrm>
          <a:prstGeom prst="rect">
            <a:avLst/>
          </a:prstGeom>
          <a:noFill/>
          <a:extLst>
            <a:ext uri="{909E8E84-426E-40DD-AFC4-6F175D3DCCD1}">
              <a14:hiddenFill xmlns:a14="http://schemas.microsoft.com/office/drawing/2010/main">
                <a:solidFill>
                  <a:srgbClr val="FFFFFF"/>
                </a:solidFill>
              </a14:hiddenFill>
            </a:ext>
          </a:extLst>
        </p:spPr>
      </p:pic>
      <p:sp>
        <p:nvSpPr>
          <p:cNvPr id="6" name="Metin kutusu 5">
            <a:extLst>
              <a:ext uri="{FF2B5EF4-FFF2-40B4-BE49-F238E27FC236}">
                <a16:creationId xmlns:a16="http://schemas.microsoft.com/office/drawing/2014/main" id="{68DBF6EA-4C4D-C4F2-AB9A-2CE64C2AE959}"/>
              </a:ext>
            </a:extLst>
          </p:cNvPr>
          <p:cNvSpPr txBox="1"/>
          <p:nvPr/>
        </p:nvSpPr>
        <p:spPr>
          <a:xfrm>
            <a:off x="1164349" y="184777"/>
            <a:ext cx="10688668" cy="553998"/>
          </a:xfrm>
          <a:prstGeom prst="rect">
            <a:avLst/>
          </a:prstGeom>
          <a:noFill/>
        </p:spPr>
        <p:txBody>
          <a:bodyPr wrap="square" rtlCol="0">
            <a:spAutoFit/>
          </a:bodyPr>
          <a:lstStyle/>
          <a:p>
            <a:r>
              <a:rPr lang="tr-TR" sz="3000" b="1" dirty="0">
                <a:latin typeface="Consolas" panose="020B0609020204030204" pitchFamily="49" charset="0"/>
              </a:rPr>
              <a:t>Dinamik ve Statik </a:t>
            </a:r>
            <a:r>
              <a:rPr lang="tr-TR" sz="3000" b="1" dirty="0" err="1">
                <a:latin typeface="Consolas" panose="020B0609020204030204" pitchFamily="49" charset="0"/>
              </a:rPr>
              <a:t>Thread’ler</a:t>
            </a:r>
            <a:endParaRPr lang="tr-TR" sz="3000" b="1" dirty="0">
              <a:latin typeface="Consolas" panose="020B0609020204030204" pitchFamily="49" charset="0"/>
            </a:endParaRPr>
          </a:p>
        </p:txBody>
      </p:sp>
      <p:graphicFrame>
        <p:nvGraphicFramePr>
          <p:cNvPr id="2" name="Tablo 1">
            <a:extLst>
              <a:ext uri="{FF2B5EF4-FFF2-40B4-BE49-F238E27FC236}">
                <a16:creationId xmlns:a16="http://schemas.microsoft.com/office/drawing/2014/main" id="{90F6F2F4-3D7B-E5E1-C21D-BB803F28DFD4}"/>
              </a:ext>
            </a:extLst>
          </p:cNvPr>
          <p:cNvGraphicFramePr>
            <a:graphicFrameLocks noGrp="1"/>
          </p:cNvGraphicFramePr>
          <p:nvPr>
            <p:extLst>
              <p:ext uri="{D42A27DB-BD31-4B8C-83A1-F6EECF244321}">
                <p14:modId xmlns:p14="http://schemas.microsoft.com/office/powerpoint/2010/main" val="2461557020"/>
              </p:ext>
            </p:extLst>
          </p:nvPr>
        </p:nvGraphicFramePr>
        <p:xfrm>
          <a:off x="1604613" y="1125013"/>
          <a:ext cx="9627495" cy="5125663"/>
        </p:xfrm>
        <a:graphic>
          <a:graphicData uri="http://schemas.openxmlformats.org/drawingml/2006/table">
            <a:tbl>
              <a:tblPr>
                <a:tableStyleId>{BC89EF96-8CEA-46FF-86C4-4CE0E7609802}</a:tableStyleId>
              </a:tblPr>
              <a:tblGrid>
                <a:gridCol w="3209165">
                  <a:extLst>
                    <a:ext uri="{9D8B030D-6E8A-4147-A177-3AD203B41FA5}">
                      <a16:colId xmlns:a16="http://schemas.microsoft.com/office/drawing/2014/main" val="266494136"/>
                    </a:ext>
                  </a:extLst>
                </a:gridCol>
                <a:gridCol w="3209165">
                  <a:extLst>
                    <a:ext uri="{9D8B030D-6E8A-4147-A177-3AD203B41FA5}">
                      <a16:colId xmlns:a16="http://schemas.microsoft.com/office/drawing/2014/main" val="1166073015"/>
                    </a:ext>
                  </a:extLst>
                </a:gridCol>
                <a:gridCol w="3209165">
                  <a:extLst>
                    <a:ext uri="{9D8B030D-6E8A-4147-A177-3AD203B41FA5}">
                      <a16:colId xmlns:a16="http://schemas.microsoft.com/office/drawing/2014/main" val="3420449677"/>
                    </a:ext>
                  </a:extLst>
                </a:gridCol>
              </a:tblGrid>
              <a:tr h="405281">
                <a:tc>
                  <a:txBody>
                    <a:bodyPr/>
                    <a:lstStyle/>
                    <a:p>
                      <a:pPr fontAlgn="b"/>
                      <a:r>
                        <a:rPr lang="tr-TR" sz="2000" b="1" dirty="0">
                          <a:effectLst/>
                        </a:rPr>
                        <a:t>Özellikler</a:t>
                      </a:r>
                    </a:p>
                  </a:txBody>
                  <a:tcPr marL="73751" marR="73751" marT="36876" marB="36876" anchor="b">
                    <a:solidFill>
                      <a:schemeClr val="tx2">
                        <a:lumMod val="50000"/>
                        <a:lumOff val="50000"/>
                      </a:schemeClr>
                    </a:solidFill>
                  </a:tcPr>
                </a:tc>
                <a:tc>
                  <a:txBody>
                    <a:bodyPr/>
                    <a:lstStyle/>
                    <a:p>
                      <a:pPr fontAlgn="b"/>
                      <a:r>
                        <a:rPr lang="tr-TR" sz="2000" b="1" dirty="0" err="1">
                          <a:effectLst/>
                        </a:rPr>
                        <a:t>Static</a:t>
                      </a:r>
                      <a:r>
                        <a:rPr lang="tr-TR" sz="2000" b="1" dirty="0">
                          <a:effectLst/>
                        </a:rPr>
                        <a:t> </a:t>
                      </a:r>
                      <a:r>
                        <a:rPr lang="tr-TR" sz="2000" b="1" dirty="0" err="1">
                          <a:effectLst/>
                        </a:rPr>
                        <a:t>Threadler</a:t>
                      </a:r>
                      <a:endParaRPr lang="tr-TR" sz="2000" b="1" dirty="0">
                        <a:effectLst/>
                      </a:endParaRPr>
                    </a:p>
                  </a:txBody>
                  <a:tcPr marL="73751" marR="73751" marT="36876" marB="36876" anchor="b">
                    <a:solidFill>
                      <a:schemeClr val="tx2">
                        <a:lumMod val="50000"/>
                        <a:lumOff val="50000"/>
                      </a:schemeClr>
                    </a:solidFill>
                  </a:tcPr>
                </a:tc>
                <a:tc>
                  <a:txBody>
                    <a:bodyPr/>
                    <a:lstStyle/>
                    <a:p>
                      <a:pPr fontAlgn="b"/>
                      <a:r>
                        <a:rPr lang="tr-TR" sz="2000" b="1" dirty="0">
                          <a:effectLst/>
                        </a:rPr>
                        <a:t>Dinamik </a:t>
                      </a:r>
                      <a:r>
                        <a:rPr lang="tr-TR" sz="2000" b="1" dirty="0" err="1">
                          <a:effectLst/>
                        </a:rPr>
                        <a:t>Threadler</a:t>
                      </a:r>
                      <a:endParaRPr lang="tr-TR" sz="2000" b="1" dirty="0">
                        <a:effectLst/>
                      </a:endParaRPr>
                    </a:p>
                  </a:txBody>
                  <a:tcPr marL="73751" marR="73751" marT="36876" marB="36876" anchor="b">
                    <a:solidFill>
                      <a:schemeClr val="tx2">
                        <a:lumMod val="50000"/>
                        <a:lumOff val="50000"/>
                      </a:schemeClr>
                    </a:solidFill>
                  </a:tcPr>
                </a:tc>
                <a:extLst>
                  <a:ext uri="{0D108BD9-81ED-4DB2-BD59-A6C34878D82A}">
                    <a16:rowId xmlns:a16="http://schemas.microsoft.com/office/drawing/2014/main" val="2452500008"/>
                  </a:ext>
                </a:extLst>
              </a:tr>
              <a:tr h="858252">
                <a:tc>
                  <a:txBody>
                    <a:bodyPr/>
                    <a:lstStyle/>
                    <a:p>
                      <a:pPr fontAlgn="base"/>
                      <a:r>
                        <a:rPr lang="tr-TR" sz="2000">
                          <a:effectLst/>
                        </a:rPr>
                        <a:t>Oluşturulma Zamanı</a:t>
                      </a:r>
                    </a:p>
                  </a:txBody>
                  <a:tcPr marL="73751" marR="73751" marT="36876" marB="36876" anchor="ctr"/>
                </a:tc>
                <a:tc>
                  <a:txBody>
                    <a:bodyPr/>
                    <a:lstStyle/>
                    <a:p>
                      <a:pPr fontAlgn="base"/>
                      <a:r>
                        <a:rPr lang="tr-TR" sz="2000" dirty="0">
                          <a:effectLst/>
                        </a:rPr>
                        <a:t>Program başlatıldığında</a:t>
                      </a:r>
                    </a:p>
                  </a:txBody>
                  <a:tcPr marL="73751" marR="73751" marT="36876" marB="36876" anchor="ctr"/>
                </a:tc>
                <a:tc>
                  <a:txBody>
                    <a:bodyPr/>
                    <a:lstStyle/>
                    <a:p>
                      <a:pPr fontAlgn="base"/>
                      <a:r>
                        <a:rPr lang="tr-TR" sz="2000">
                          <a:effectLst/>
                        </a:rPr>
                        <a:t>Çalışma zamanında ihtiyaç duyulduğunda</a:t>
                      </a:r>
                    </a:p>
                  </a:txBody>
                  <a:tcPr marL="73751" marR="73751" marT="36876" marB="36876" anchor="ctr"/>
                </a:tc>
                <a:extLst>
                  <a:ext uri="{0D108BD9-81ED-4DB2-BD59-A6C34878D82A}">
                    <a16:rowId xmlns:a16="http://schemas.microsoft.com/office/drawing/2014/main" val="3563065488"/>
                  </a:ext>
                </a:extLst>
              </a:tr>
              <a:tr h="1373202">
                <a:tc>
                  <a:txBody>
                    <a:bodyPr/>
                    <a:lstStyle/>
                    <a:p>
                      <a:pPr fontAlgn="base"/>
                      <a:r>
                        <a:rPr lang="tr-TR" sz="2000">
                          <a:effectLst/>
                        </a:rPr>
                        <a:t>Sayı ve Özellikler</a:t>
                      </a:r>
                    </a:p>
                  </a:txBody>
                  <a:tcPr marL="73751" marR="73751" marT="36876" marB="36876" anchor="ctr"/>
                </a:tc>
                <a:tc>
                  <a:txBody>
                    <a:bodyPr/>
                    <a:lstStyle/>
                    <a:p>
                      <a:pPr fontAlgn="base"/>
                      <a:r>
                        <a:rPr lang="tr-TR" sz="2000" dirty="0">
                          <a:effectLst/>
                        </a:rPr>
                        <a:t>Derleme zamanında belirlenir, çalışma zamanında değiştirilemez</a:t>
                      </a:r>
                    </a:p>
                  </a:txBody>
                  <a:tcPr marL="73751" marR="73751" marT="36876" marB="36876" anchor="ctr"/>
                </a:tc>
                <a:tc>
                  <a:txBody>
                    <a:bodyPr/>
                    <a:lstStyle/>
                    <a:p>
                      <a:pPr fontAlgn="base"/>
                      <a:r>
                        <a:rPr lang="tr-TR" sz="2000" dirty="0">
                          <a:effectLst/>
                        </a:rPr>
                        <a:t>Çalışma zamanında belirlenebilir, programın gereksinimlerine göre ayarlanabilir</a:t>
                      </a:r>
                    </a:p>
                  </a:txBody>
                  <a:tcPr marL="73751" marR="73751" marT="36876" marB="36876" anchor="ctr"/>
                </a:tc>
                <a:extLst>
                  <a:ext uri="{0D108BD9-81ED-4DB2-BD59-A6C34878D82A}">
                    <a16:rowId xmlns:a16="http://schemas.microsoft.com/office/drawing/2014/main" val="2679064387"/>
                  </a:ext>
                </a:extLst>
              </a:tr>
              <a:tr h="1115726">
                <a:tc>
                  <a:txBody>
                    <a:bodyPr/>
                    <a:lstStyle/>
                    <a:p>
                      <a:pPr fontAlgn="base"/>
                      <a:r>
                        <a:rPr lang="tr-TR" sz="2000">
                          <a:effectLst/>
                        </a:rPr>
                        <a:t>Yaşam Döngüsü</a:t>
                      </a:r>
                    </a:p>
                  </a:txBody>
                  <a:tcPr marL="73751" marR="73751" marT="36876" marB="36876" anchor="ctr"/>
                </a:tc>
                <a:tc>
                  <a:txBody>
                    <a:bodyPr/>
                    <a:lstStyle/>
                    <a:p>
                      <a:pPr fontAlgn="base"/>
                      <a:r>
                        <a:rPr lang="tr-TR" sz="2000">
                          <a:effectLst/>
                        </a:rPr>
                        <a:t>Programın sona ermesine kadar devam eder</a:t>
                      </a:r>
                    </a:p>
                  </a:txBody>
                  <a:tcPr marL="73751" marR="73751" marT="36876" marB="36876" anchor="ctr"/>
                </a:tc>
                <a:tc>
                  <a:txBody>
                    <a:bodyPr/>
                    <a:lstStyle/>
                    <a:p>
                      <a:pPr fontAlgn="base"/>
                      <a:r>
                        <a:rPr lang="tr-TR" sz="2000">
                          <a:effectLst/>
                        </a:rPr>
                        <a:t>Oluşturulduktan sonra bir süre çalışır, sonra sonlandırılabilir</a:t>
                      </a:r>
                    </a:p>
                  </a:txBody>
                  <a:tcPr marL="73751" marR="73751" marT="36876" marB="36876" anchor="ctr"/>
                </a:tc>
                <a:extLst>
                  <a:ext uri="{0D108BD9-81ED-4DB2-BD59-A6C34878D82A}">
                    <a16:rowId xmlns:a16="http://schemas.microsoft.com/office/drawing/2014/main" val="2851484124"/>
                  </a:ext>
                </a:extLst>
              </a:tr>
              <a:tr h="1373202">
                <a:tc>
                  <a:txBody>
                    <a:bodyPr/>
                    <a:lstStyle/>
                    <a:p>
                      <a:pPr fontAlgn="base"/>
                      <a:r>
                        <a:rPr lang="tr-TR" sz="2000">
                          <a:effectLst/>
                        </a:rPr>
                        <a:t>Örnek</a:t>
                      </a:r>
                    </a:p>
                  </a:txBody>
                  <a:tcPr marL="73751" marR="73751" marT="36876" marB="36876" anchor="ctr"/>
                </a:tc>
                <a:tc>
                  <a:txBody>
                    <a:bodyPr/>
                    <a:lstStyle/>
                    <a:p>
                      <a:pPr fontAlgn="base"/>
                      <a:r>
                        <a:rPr lang="tr-TR" sz="2000">
                          <a:effectLst/>
                        </a:rPr>
                        <a:t>C veya C++'ta pthreads kütüphanesi ile oluşturulan threadler</a:t>
                      </a:r>
                    </a:p>
                  </a:txBody>
                  <a:tcPr marL="73751" marR="73751" marT="36876" marB="36876" anchor="ctr"/>
                </a:tc>
                <a:tc>
                  <a:txBody>
                    <a:bodyPr/>
                    <a:lstStyle/>
                    <a:p>
                      <a:pPr fontAlgn="base"/>
                      <a:r>
                        <a:rPr lang="en-US" sz="2000" dirty="0" err="1">
                          <a:effectLst/>
                        </a:rPr>
                        <a:t>Java'da</a:t>
                      </a:r>
                      <a:r>
                        <a:rPr lang="en-US" sz="2000" dirty="0">
                          <a:effectLst/>
                        </a:rPr>
                        <a:t> Thread </a:t>
                      </a:r>
                      <a:r>
                        <a:rPr lang="en-US" sz="2000" dirty="0" err="1">
                          <a:effectLst/>
                        </a:rPr>
                        <a:t>sınıfından</a:t>
                      </a:r>
                      <a:r>
                        <a:rPr lang="en-US" sz="2000" dirty="0">
                          <a:effectLst/>
                        </a:rPr>
                        <a:t> </a:t>
                      </a:r>
                      <a:r>
                        <a:rPr lang="en-US" sz="2000" dirty="0" err="1">
                          <a:effectLst/>
                        </a:rPr>
                        <a:t>türetilen</a:t>
                      </a:r>
                      <a:r>
                        <a:rPr lang="en-US" sz="2000" dirty="0">
                          <a:effectLst/>
                        </a:rPr>
                        <a:t> </a:t>
                      </a:r>
                      <a:r>
                        <a:rPr lang="en-US" sz="2000" dirty="0" err="1">
                          <a:effectLst/>
                        </a:rPr>
                        <a:t>threadler</a:t>
                      </a:r>
                      <a:endParaRPr lang="en-US" sz="2000" dirty="0">
                        <a:effectLst/>
                      </a:endParaRPr>
                    </a:p>
                  </a:txBody>
                  <a:tcPr marL="73751" marR="73751" marT="36876" marB="36876" anchor="ctr"/>
                </a:tc>
                <a:extLst>
                  <a:ext uri="{0D108BD9-81ED-4DB2-BD59-A6C34878D82A}">
                    <a16:rowId xmlns:a16="http://schemas.microsoft.com/office/drawing/2014/main" val="147031818"/>
                  </a:ext>
                </a:extLst>
              </a:tr>
            </a:tbl>
          </a:graphicData>
        </a:graphic>
      </p:graphicFrame>
    </p:spTree>
    <p:extLst>
      <p:ext uri="{BB962C8B-B14F-4D97-AF65-F5344CB8AC3E}">
        <p14:creationId xmlns:p14="http://schemas.microsoft.com/office/powerpoint/2010/main" val="83897767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973771-9CBA-4CED-16D1-EEDF831841FC}"/>
            </a:ext>
          </a:extLst>
        </p:cNvPr>
        <p:cNvGrpSpPr/>
        <p:nvPr/>
      </p:nvGrpSpPr>
      <p:grpSpPr>
        <a:xfrm>
          <a:off x="0" y="0"/>
          <a:ext cx="0" cy="0"/>
          <a:chOff x="0" y="0"/>
          <a:chExt cx="0" cy="0"/>
        </a:xfrm>
      </p:grpSpPr>
      <p:pic>
        <p:nvPicPr>
          <p:cNvPr id="4" name="Picture 2" descr="Parallel computing for high-performance simulations">
            <a:extLst>
              <a:ext uri="{FF2B5EF4-FFF2-40B4-BE49-F238E27FC236}">
                <a16:creationId xmlns:a16="http://schemas.microsoft.com/office/drawing/2014/main" id="{DB13D94C-A8D2-C303-592D-A1242C10CA38}"/>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51802" b="-1"/>
          <a:stretch/>
        </p:blipFill>
        <p:spPr bwMode="auto">
          <a:xfrm rot="5400000">
            <a:off x="-2989346" y="2971346"/>
            <a:ext cx="6876000" cy="914399"/>
          </a:xfrm>
          <a:prstGeom prst="rect">
            <a:avLst/>
          </a:prstGeom>
          <a:noFill/>
          <a:extLst>
            <a:ext uri="{909E8E84-426E-40DD-AFC4-6F175D3DCCD1}">
              <a14:hiddenFill xmlns:a14="http://schemas.microsoft.com/office/drawing/2010/main">
                <a:solidFill>
                  <a:srgbClr val="FFFFFF"/>
                </a:solidFill>
              </a14:hiddenFill>
            </a:ext>
          </a:extLst>
        </p:spPr>
      </p:pic>
      <p:sp>
        <p:nvSpPr>
          <p:cNvPr id="6" name="Metin kutusu 5">
            <a:extLst>
              <a:ext uri="{FF2B5EF4-FFF2-40B4-BE49-F238E27FC236}">
                <a16:creationId xmlns:a16="http://schemas.microsoft.com/office/drawing/2014/main" id="{68DBF6EA-4C4D-C4F2-AB9A-2CE64C2AE959}"/>
              </a:ext>
            </a:extLst>
          </p:cNvPr>
          <p:cNvSpPr txBox="1"/>
          <p:nvPr/>
        </p:nvSpPr>
        <p:spPr>
          <a:xfrm>
            <a:off x="1164349" y="184777"/>
            <a:ext cx="10688668" cy="553998"/>
          </a:xfrm>
          <a:prstGeom prst="rect">
            <a:avLst/>
          </a:prstGeom>
          <a:noFill/>
        </p:spPr>
        <p:txBody>
          <a:bodyPr wrap="square" rtlCol="0">
            <a:spAutoFit/>
          </a:bodyPr>
          <a:lstStyle/>
          <a:p>
            <a:r>
              <a:rPr lang="tr-TR" sz="3000" b="1" dirty="0" err="1">
                <a:latin typeface="Consolas" panose="020B0609020204030204" pitchFamily="49" charset="0"/>
              </a:rPr>
              <a:t>Nondeterminisim</a:t>
            </a:r>
            <a:r>
              <a:rPr lang="tr-TR" sz="3000" b="1" dirty="0">
                <a:latin typeface="Consolas" panose="020B0609020204030204" pitchFamily="49" charset="0"/>
              </a:rPr>
              <a:t> (Belirsizlik)</a:t>
            </a:r>
          </a:p>
        </p:txBody>
      </p:sp>
      <p:sp>
        <p:nvSpPr>
          <p:cNvPr id="7" name="Metin kutusu 6">
            <a:extLst>
              <a:ext uri="{FF2B5EF4-FFF2-40B4-BE49-F238E27FC236}">
                <a16:creationId xmlns:a16="http://schemas.microsoft.com/office/drawing/2014/main" id="{A10FF1FF-D648-9D8B-2317-B6ADEE656A7D}"/>
              </a:ext>
            </a:extLst>
          </p:cNvPr>
          <p:cNvSpPr txBox="1"/>
          <p:nvPr/>
        </p:nvSpPr>
        <p:spPr>
          <a:xfrm>
            <a:off x="1164348" y="759758"/>
            <a:ext cx="10688667" cy="2862322"/>
          </a:xfrm>
          <a:prstGeom prst="rect">
            <a:avLst/>
          </a:prstGeom>
          <a:noFill/>
        </p:spPr>
        <p:txBody>
          <a:bodyPr wrap="square" rtlCol="0">
            <a:spAutoFit/>
          </a:bodyPr>
          <a:lstStyle/>
          <a:p>
            <a:pPr marL="457200" indent="-457200" algn="just">
              <a:buFont typeface="Arial" panose="020B0604020202020204" pitchFamily="34" charset="0"/>
              <a:buChar char="•"/>
            </a:pPr>
            <a:r>
              <a:rPr lang="tr-TR" sz="2000" dirty="0">
                <a:latin typeface="Consolas" panose="020B0609020204030204" pitchFamily="49" charset="0"/>
              </a:rPr>
              <a:t>İşlemcilerin </a:t>
            </a:r>
            <a:r>
              <a:rPr lang="tr-TR" sz="2000" b="1" dirty="0">
                <a:latin typeface="Consolas" panose="020B0609020204030204" pitchFamily="49" charset="0"/>
              </a:rPr>
              <a:t>asenkron</a:t>
            </a:r>
            <a:r>
              <a:rPr lang="tr-TR" sz="2000" dirty="0">
                <a:latin typeface="Consolas" panose="020B0609020204030204" pitchFamily="49" charset="0"/>
              </a:rPr>
              <a:t> olarak çalıştığı </a:t>
            </a:r>
            <a:r>
              <a:rPr lang="tr-TR" sz="2000" b="1" dirty="0">
                <a:latin typeface="Consolas" panose="020B0609020204030204" pitchFamily="49" charset="0"/>
              </a:rPr>
              <a:t>MIMD</a:t>
            </a:r>
            <a:r>
              <a:rPr lang="tr-TR" sz="2000" dirty="0">
                <a:latin typeface="Consolas" panose="020B0609020204030204" pitchFamily="49" charset="0"/>
              </a:rPr>
              <a:t> sistemlerinde muhtemel belirsizlikler söz konusudur.</a:t>
            </a:r>
          </a:p>
          <a:p>
            <a:pPr marL="457200" indent="-457200" algn="just">
              <a:buFont typeface="Arial" panose="020B0604020202020204" pitchFamily="34" charset="0"/>
              <a:buChar char="•"/>
            </a:pPr>
            <a:r>
              <a:rPr lang="tr-TR" sz="2000" dirty="0">
                <a:latin typeface="Consolas" panose="020B0609020204030204" pitchFamily="49" charset="0"/>
              </a:rPr>
              <a:t>Belirli bir girdi farklı çıktılarla sonuçlanırsa hesaplama belirsizdir.</a:t>
            </a:r>
          </a:p>
          <a:p>
            <a:pPr marL="457200" indent="-457200" algn="just">
              <a:buFont typeface="Arial" panose="020B0604020202020204" pitchFamily="34" charset="0"/>
              <a:buChar char="•"/>
            </a:pPr>
            <a:r>
              <a:rPr lang="tr-TR" sz="2000" dirty="0">
                <a:latin typeface="Consolas" panose="020B0609020204030204" pitchFamily="49" charset="0"/>
              </a:rPr>
              <a:t>Birden çok iş parçacığı bağımsız olarak çalışıyorsa, deyimleri tamamladıkları göreceli hız her çalıştırmada değişir ve dolayısıyla programın sonuçları her çalıştırmada farklı olabilir.</a:t>
            </a:r>
          </a:p>
          <a:p>
            <a:pPr marL="457200" indent="-457200" algn="just">
              <a:buFont typeface="Arial" panose="020B0604020202020204" pitchFamily="34" charset="0"/>
              <a:buChar char="•"/>
            </a:pPr>
            <a:r>
              <a:rPr lang="tr-TR" sz="2000" dirty="0">
                <a:latin typeface="Consolas" panose="020B0609020204030204" pitchFamily="49" charset="0"/>
              </a:rPr>
              <a:t>Bu durum genelde büyük sorunlara yol açmaz.</a:t>
            </a:r>
          </a:p>
          <a:p>
            <a:pPr marL="457200" indent="-457200" algn="just">
              <a:buFont typeface="Arial" panose="020B0604020202020204" pitchFamily="34" charset="0"/>
              <a:buChar char="•"/>
            </a:pPr>
            <a:r>
              <a:rPr lang="tr-TR" sz="2000" dirty="0">
                <a:latin typeface="Consolas" panose="020B0609020204030204" pitchFamily="49" charset="0"/>
              </a:rPr>
              <a:t>Bazı durumlarda ise eğer sistem kaynakları ortak kullanıyorsa bir iş parçacığının çıktısı diğer bir iş parçacığını engelleyebilir.</a:t>
            </a:r>
          </a:p>
        </p:txBody>
      </p:sp>
      <p:pic>
        <p:nvPicPr>
          <p:cNvPr id="2050" name="Picture 2" descr="Example of non-determinism in concurrent programs. | Download Scientific  Diagram">
            <a:extLst>
              <a:ext uri="{FF2B5EF4-FFF2-40B4-BE49-F238E27FC236}">
                <a16:creationId xmlns:a16="http://schemas.microsoft.com/office/drawing/2014/main" id="{AA040CBB-902A-1116-E08F-CF9755D5BCF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51982" y="3941989"/>
            <a:ext cx="8096250" cy="20764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1723623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973771-9CBA-4CED-16D1-EEDF831841FC}"/>
            </a:ext>
          </a:extLst>
        </p:cNvPr>
        <p:cNvGrpSpPr/>
        <p:nvPr/>
      </p:nvGrpSpPr>
      <p:grpSpPr>
        <a:xfrm>
          <a:off x="0" y="0"/>
          <a:ext cx="0" cy="0"/>
          <a:chOff x="0" y="0"/>
          <a:chExt cx="0" cy="0"/>
        </a:xfrm>
      </p:grpSpPr>
      <p:pic>
        <p:nvPicPr>
          <p:cNvPr id="4" name="Picture 2" descr="Parallel computing for high-performance simulations">
            <a:extLst>
              <a:ext uri="{FF2B5EF4-FFF2-40B4-BE49-F238E27FC236}">
                <a16:creationId xmlns:a16="http://schemas.microsoft.com/office/drawing/2014/main" id="{DB13D94C-A8D2-C303-592D-A1242C10CA38}"/>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51802" b="-1"/>
          <a:stretch/>
        </p:blipFill>
        <p:spPr bwMode="auto">
          <a:xfrm rot="5400000">
            <a:off x="-2989346" y="2971346"/>
            <a:ext cx="6876000" cy="914399"/>
          </a:xfrm>
          <a:prstGeom prst="rect">
            <a:avLst/>
          </a:prstGeom>
          <a:noFill/>
          <a:extLst>
            <a:ext uri="{909E8E84-426E-40DD-AFC4-6F175D3DCCD1}">
              <a14:hiddenFill xmlns:a14="http://schemas.microsoft.com/office/drawing/2010/main">
                <a:solidFill>
                  <a:srgbClr val="FFFFFF"/>
                </a:solidFill>
              </a14:hiddenFill>
            </a:ext>
          </a:extLst>
        </p:spPr>
      </p:pic>
      <p:sp>
        <p:nvSpPr>
          <p:cNvPr id="6" name="Metin kutusu 5">
            <a:extLst>
              <a:ext uri="{FF2B5EF4-FFF2-40B4-BE49-F238E27FC236}">
                <a16:creationId xmlns:a16="http://schemas.microsoft.com/office/drawing/2014/main" id="{68DBF6EA-4C4D-C4F2-AB9A-2CE64C2AE959}"/>
              </a:ext>
            </a:extLst>
          </p:cNvPr>
          <p:cNvSpPr txBox="1"/>
          <p:nvPr/>
        </p:nvSpPr>
        <p:spPr>
          <a:xfrm>
            <a:off x="1164349" y="184777"/>
            <a:ext cx="10688668" cy="553998"/>
          </a:xfrm>
          <a:prstGeom prst="rect">
            <a:avLst/>
          </a:prstGeom>
          <a:noFill/>
        </p:spPr>
        <p:txBody>
          <a:bodyPr wrap="square" rtlCol="0">
            <a:spAutoFit/>
          </a:bodyPr>
          <a:lstStyle/>
          <a:p>
            <a:r>
              <a:rPr lang="tr-TR" sz="3000" b="1" dirty="0" err="1">
                <a:latin typeface="Consolas" panose="020B0609020204030204" pitchFamily="49" charset="0"/>
              </a:rPr>
              <a:t>Nondeterminisim</a:t>
            </a:r>
            <a:r>
              <a:rPr lang="tr-TR" sz="3000" b="1" dirty="0">
                <a:latin typeface="Consolas" panose="020B0609020204030204" pitchFamily="49" charset="0"/>
              </a:rPr>
              <a:t> (Belirsizlik) - Örnek</a:t>
            </a:r>
          </a:p>
        </p:txBody>
      </p:sp>
      <p:sp>
        <p:nvSpPr>
          <p:cNvPr id="7" name="Metin kutusu 6">
            <a:extLst>
              <a:ext uri="{FF2B5EF4-FFF2-40B4-BE49-F238E27FC236}">
                <a16:creationId xmlns:a16="http://schemas.microsoft.com/office/drawing/2014/main" id="{A10FF1FF-D648-9D8B-2317-B6ADEE656A7D}"/>
              </a:ext>
            </a:extLst>
          </p:cNvPr>
          <p:cNvSpPr txBox="1"/>
          <p:nvPr/>
        </p:nvSpPr>
        <p:spPr>
          <a:xfrm>
            <a:off x="1164348" y="759758"/>
            <a:ext cx="10688667" cy="1323439"/>
          </a:xfrm>
          <a:prstGeom prst="rect">
            <a:avLst/>
          </a:prstGeom>
          <a:noFill/>
        </p:spPr>
        <p:txBody>
          <a:bodyPr wrap="square" rtlCol="0">
            <a:spAutoFit/>
          </a:bodyPr>
          <a:lstStyle/>
          <a:p>
            <a:pPr marL="457200" indent="-457200" algn="just">
              <a:buFont typeface="Arial" panose="020B0604020202020204" pitchFamily="34" charset="0"/>
              <a:buChar char="•"/>
            </a:pPr>
            <a:r>
              <a:rPr lang="tr-TR" sz="2000" dirty="0">
                <a:latin typeface="Consolas" panose="020B0609020204030204" pitchFamily="49" charset="0"/>
              </a:rPr>
              <a:t>Farz edelim ki 2 adet iş parçacığımız var; </a:t>
            </a:r>
            <a:r>
              <a:rPr lang="tr-TR" sz="2000" dirty="0" err="1">
                <a:latin typeface="Consolas" panose="020B0609020204030204" pitchFamily="49" charset="0"/>
              </a:rPr>
              <a:t>Thread</a:t>
            </a:r>
            <a:r>
              <a:rPr lang="tr-TR" sz="2000" dirty="0">
                <a:latin typeface="Consolas" panose="020B0609020204030204" pitchFamily="49" charset="0"/>
              </a:rPr>
              <a:t> 0 ve </a:t>
            </a:r>
            <a:r>
              <a:rPr lang="tr-TR" sz="2000" dirty="0" err="1">
                <a:latin typeface="Consolas" panose="020B0609020204030204" pitchFamily="49" charset="0"/>
              </a:rPr>
              <a:t>Thread</a:t>
            </a:r>
            <a:r>
              <a:rPr lang="tr-TR" sz="2000" dirty="0">
                <a:latin typeface="Consolas" panose="020B0609020204030204" pitchFamily="49" charset="0"/>
              </a:rPr>
              <a:t> 1</a:t>
            </a:r>
          </a:p>
          <a:p>
            <a:pPr marL="457200" indent="-457200" algn="just">
              <a:buFont typeface="Arial" panose="020B0604020202020204" pitchFamily="34" charset="0"/>
              <a:buChar char="•"/>
            </a:pPr>
            <a:r>
              <a:rPr lang="tr-TR" sz="2000" dirty="0">
                <a:latin typeface="Consolas" panose="020B0609020204030204" pitchFamily="49" charset="0"/>
              </a:rPr>
              <a:t>Bu iş parçacıkları </a:t>
            </a:r>
            <a:r>
              <a:rPr lang="tr-TR" sz="2000" dirty="0" err="1">
                <a:latin typeface="Consolas" panose="020B0609020204030204" pitchFamily="49" charset="0"/>
              </a:rPr>
              <a:t>my_x</a:t>
            </a:r>
            <a:r>
              <a:rPr lang="tr-TR" sz="2000" dirty="0">
                <a:latin typeface="Consolas" panose="020B0609020204030204" pitchFamily="49" charset="0"/>
              </a:rPr>
              <a:t> adı verilen özel bir değişken hesaplıyorlar. </a:t>
            </a:r>
            <a:r>
              <a:rPr lang="tr-TR" sz="2000" dirty="0" err="1">
                <a:latin typeface="Consolas" panose="020B0609020204030204" pitchFamily="49" charset="0"/>
              </a:rPr>
              <a:t>Thread</a:t>
            </a:r>
            <a:r>
              <a:rPr lang="tr-TR" sz="2000" dirty="0">
                <a:latin typeface="Consolas" panose="020B0609020204030204" pitchFamily="49" charset="0"/>
              </a:rPr>
              <a:t> 0 için </a:t>
            </a:r>
            <a:r>
              <a:rPr lang="tr-TR" sz="2000" dirty="0" err="1">
                <a:latin typeface="Consolas" panose="020B0609020204030204" pitchFamily="49" charset="0"/>
              </a:rPr>
              <a:t>my_x</a:t>
            </a:r>
            <a:r>
              <a:rPr lang="tr-TR" sz="2000" dirty="0">
                <a:latin typeface="Consolas" panose="020B0609020204030204" pitchFamily="49" charset="0"/>
              </a:rPr>
              <a:t> = 7  ve </a:t>
            </a:r>
            <a:r>
              <a:rPr lang="tr-TR" sz="2000" dirty="0" err="1">
                <a:latin typeface="Consolas" panose="020B0609020204030204" pitchFamily="49" charset="0"/>
              </a:rPr>
              <a:t>Thread</a:t>
            </a:r>
            <a:r>
              <a:rPr lang="tr-TR" sz="2000" dirty="0">
                <a:latin typeface="Consolas" panose="020B0609020204030204" pitchFamily="49" charset="0"/>
              </a:rPr>
              <a:t> 1 için </a:t>
            </a:r>
            <a:r>
              <a:rPr lang="tr-TR" sz="2000" dirty="0" err="1">
                <a:latin typeface="Consolas" panose="020B0609020204030204" pitchFamily="49" charset="0"/>
              </a:rPr>
              <a:t>my_x</a:t>
            </a:r>
            <a:r>
              <a:rPr lang="tr-TR" sz="2000" dirty="0">
                <a:latin typeface="Consolas" panose="020B0609020204030204" pitchFamily="49" charset="0"/>
              </a:rPr>
              <a:t> = 19 olsun. Her iki iş parçacığı aşağıdaki kodu çalıştırdığında;</a:t>
            </a:r>
          </a:p>
        </p:txBody>
      </p:sp>
      <p:pic>
        <p:nvPicPr>
          <p:cNvPr id="2" name="Resim 1">
            <a:extLst>
              <a:ext uri="{FF2B5EF4-FFF2-40B4-BE49-F238E27FC236}">
                <a16:creationId xmlns:a16="http://schemas.microsoft.com/office/drawing/2014/main" id="{A0788A05-E180-1503-D085-73823309BD86}"/>
              </a:ext>
            </a:extLst>
          </p:cNvPr>
          <p:cNvPicPr>
            <a:picLocks noChangeAspect="1"/>
          </p:cNvPicPr>
          <p:nvPr/>
        </p:nvPicPr>
        <p:blipFill>
          <a:blip r:embed="rId3"/>
          <a:stretch>
            <a:fillRect/>
          </a:stretch>
        </p:blipFill>
        <p:spPr>
          <a:xfrm>
            <a:off x="1270226" y="2564946"/>
            <a:ext cx="10810875" cy="2152650"/>
          </a:xfrm>
          <a:prstGeom prst="rect">
            <a:avLst/>
          </a:prstGeom>
        </p:spPr>
      </p:pic>
    </p:spTree>
    <p:extLst>
      <p:ext uri="{BB962C8B-B14F-4D97-AF65-F5344CB8AC3E}">
        <p14:creationId xmlns:p14="http://schemas.microsoft.com/office/powerpoint/2010/main" val="172847200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973771-9CBA-4CED-16D1-EEDF831841FC}"/>
            </a:ext>
          </a:extLst>
        </p:cNvPr>
        <p:cNvGrpSpPr/>
        <p:nvPr/>
      </p:nvGrpSpPr>
      <p:grpSpPr>
        <a:xfrm>
          <a:off x="0" y="0"/>
          <a:ext cx="0" cy="0"/>
          <a:chOff x="0" y="0"/>
          <a:chExt cx="0" cy="0"/>
        </a:xfrm>
      </p:grpSpPr>
      <p:pic>
        <p:nvPicPr>
          <p:cNvPr id="4" name="Picture 2" descr="Parallel computing for high-performance simulations">
            <a:extLst>
              <a:ext uri="{FF2B5EF4-FFF2-40B4-BE49-F238E27FC236}">
                <a16:creationId xmlns:a16="http://schemas.microsoft.com/office/drawing/2014/main" id="{DB13D94C-A8D2-C303-592D-A1242C10CA38}"/>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51802" b="-1"/>
          <a:stretch/>
        </p:blipFill>
        <p:spPr bwMode="auto">
          <a:xfrm rot="5400000">
            <a:off x="-2989346" y="2971346"/>
            <a:ext cx="6876000" cy="914399"/>
          </a:xfrm>
          <a:prstGeom prst="rect">
            <a:avLst/>
          </a:prstGeom>
          <a:noFill/>
          <a:extLst>
            <a:ext uri="{909E8E84-426E-40DD-AFC4-6F175D3DCCD1}">
              <a14:hiddenFill xmlns:a14="http://schemas.microsoft.com/office/drawing/2010/main">
                <a:solidFill>
                  <a:srgbClr val="FFFFFF"/>
                </a:solidFill>
              </a14:hiddenFill>
            </a:ext>
          </a:extLst>
        </p:spPr>
      </p:pic>
      <p:sp>
        <p:nvSpPr>
          <p:cNvPr id="6" name="Metin kutusu 5">
            <a:extLst>
              <a:ext uri="{FF2B5EF4-FFF2-40B4-BE49-F238E27FC236}">
                <a16:creationId xmlns:a16="http://schemas.microsoft.com/office/drawing/2014/main" id="{68DBF6EA-4C4D-C4F2-AB9A-2CE64C2AE959}"/>
              </a:ext>
            </a:extLst>
          </p:cNvPr>
          <p:cNvSpPr txBox="1"/>
          <p:nvPr/>
        </p:nvSpPr>
        <p:spPr>
          <a:xfrm>
            <a:off x="1164349" y="184777"/>
            <a:ext cx="10688668" cy="553998"/>
          </a:xfrm>
          <a:prstGeom prst="rect">
            <a:avLst/>
          </a:prstGeom>
          <a:noFill/>
        </p:spPr>
        <p:txBody>
          <a:bodyPr wrap="square" rtlCol="0">
            <a:spAutoFit/>
          </a:bodyPr>
          <a:lstStyle/>
          <a:p>
            <a:r>
              <a:rPr lang="tr-TR" sz="3000" b="1" dirty="0">
                <a:latin typeface="Consolas" panose="020B0609020204030204" pitchFamily="49" charset="0"/>
              </a:rPr>
              <a:t>Dağıtık Hafızalı Programlar</a:t>
            </a:r>
          </a:p>
        </p:txBody>
      </p:sp>
      <p:sp>
        <p:nvSpPr>
          <p:cNvPr id="7" name="Metin kutusu 6">
            <a:extLst>
              <a:ext uri="{FF2B5EF4-FFF2-40B4-BE49-F238E27FC236}">
                <a16:creationId xmlns:a16="http://schemas.microsoft.com/office/drawing/2014/main" id="{A10FF1FF-D648-9D8B-2317-B6ADEE656A7D}"/>
              </a:ext>
            </a:extLst>
          </p:cNvPr>
          <p:cNvSpPr txBox="1"/>
          <p:nvPr/>
        </p:nvSpPr>
        <p:spPr>
          <a:xfrm>
            <a:off x="1164348" y="759758"/>
            <a:ext cx="5260945" cy="5324535"/>
          </a:xfrm>
          <a:prstGeom prst="rect">
            <a:avLst/>
          </a:prstGeom>
          <a:noFill/>
        </p:spPr>
        <p:txBody>
          <a:bodyPr wrap="square" rtlCol="0">
            <a:spAutoFit/>
          </a:bodyPr>
          <a:lstStyle/>
          <a:p>
            <a:pPr marL="457200" indent="-457200" algn="just">
              <a:buFont typeface="Arial" panose="020B0604020202020204" pitchFamily="34" charset="0"/>
              <a:buChar char="•"/>
            </a:pPr>
            <a:r>
              <a:rPr lang="tr-TR" sz="2000" dirty="0">
                <a:latin typeface="Consolas" panose="020B0609020204030204" pitchFamily="49" charset="0"/>
              </a:rPr>
              <a:t>Dağıtık hafızalı programlarda, çekirdekler doğrudan sadece kendi özel hafızalarına erişebilir.</a:t>
            </a:r>
          </a:p>
          <a:p>
            <a:pPr marL="457200" indent="-457200" algn="just">
              <a:buFont typeface="Arial" panose="020B0604020202020204" pitchFamily="34" charset="0"/>
              <a:buChar char="•"/>
            </a:pPr>
            <a:r>
              <a:rPr lang="tr-TR" sz="2000" dirty="0">
                <a:latin typeface="Consolas" panose="020B0609020204030204" pitchFamily="49" charset="0"/>
              </a:rPr>
              <a:t>Bu yapı için en yaygın kullanım yöntem </a:t>
            </a:r>
            <a:r>
              <a:rPr lang="tr-TR" sz="2000" b="1" dirty="0">
                <a:latin typeface="Consolas" panose="020B0609020204030204" pitchFamily="49" charset="0"/>
              </a:rPr>
              <a:t>mesaj-geçişi (</a:t>
            </a:r>
            <a:r>
              <a:rPr lang="tr-TR" sz="2000" b="1" dirty="0" err="1">
                <a:latin typeface="Consolas" panose="020B0609020204030204" pitchFamily="49" charset="0"/>
              </a:rPr>
              <a:t>message-passing</a:t>
            </a:r>
            <a:r>
              <a:rPr lang="tr-TR" sz="2000" b="1" dirty="0">
                <a:latin typeface="Consolas" panose="020B0609020204030204" pitchFamily="49" charset="0"/>
              </a:rPr>
              <a:t>) </a:t>
            </a:r>
            <a:r>
              <a:rPr lang="tr-TR" sz="2000" dirty="0">
                <a:latin typeface="Consolas" panose="020B0609020204030204" pitchFamily="49" charset="0"/>
              </a:rPr>
              <a:t>yöntemidir.</a:t>
            </a:r>
          </a:p>
          <a:p>
            <a:pPr marL="457200" indent="-457200" algn="just">
              <a:buFont typeface="Arial" panose="020B0604020202020204" pitchFamily="34" charset="0"/>
              <a:buChar char="•"/>
            </a:pPr>
            <a:r>
              <a:rPr lang="tr-TR" sz="2000" dirty="0">
                <a:latin typeface="Consolas" panose="020B0609020204030204" pitchFamily="49" charset="0"/>
              </a:rPr>
              <a:t>Dağıtık hafızalı sistemler paylaşımlı bir hafıza üzerinde de kolaylıkla uygulanabilir.</a:t>
            </a:r>
          </a:p>
          <a:p>
            <a:pPr marL="457200" indent="-457200" algn="just">
              <a:buFont typeface="Arial" panose="020B0604020202020204" pitchFamily="34" charset="0"/>
              <a:buChar char="•"/>
            </a:pPr>
            <a:r>
              <a:rPr lang="tr-TR" sz="2000" b="1" dirty="0">
                <a:latin typeface="Consolas" panose="020B0609020204030204" pitchFamily="49" charset="0"/>
              </a:rPr>
              <a:t>Programcı mantıksal olarak ortak belleği çeşitli iş parçacıkları için özel adres alanlarına bölebilir</a:t>
            </a:r>
            <a:r>
              <a:rPr lang="tr-TR" sz="2000" dirty="0">
                <a:latin typeface="Consolas" panose="020B0609020204030204" pitchFamily="49" charset="0"/>
              </a:rPr>
              <a:t>.</a:t>
            </a:r>
          </a:p>
          <a:p>
            <a:pPr marL="457200" indent="-457200" algn="just">
              <a:buFont typeface="Arial" panose="020B0604020202020204" pitchFamily="34" charset="0"/>
              <a:buChar char="•"/>
            </a:pPr>
            <a:r>
              <a:rPr lang="tr-TR" sz="2000" dirty="0">
                <a:latin typeface="Consolas" panose="020B0609020204030204" pitchFamily="49" charset="0"/>
              </a:rPr>
              <a:t>Daha sonra bir kitaplık veya derleyici iş parçacıkları arasında gereken iletişimi uygulayabilir.</a:t>
            </a:r>
          </a:p>
        </p:txBody>
      </p:sp>
      <p:pic>
        <p:nvPicPr>
          <p:cNvPr id="3074" name="Picture 2" descr="What is Distributed shared memory and its advantages - GeeksforGeeks">
            <a:extLst>
              <a:ext uri="{FF2B5EF4-FFF2-40B4-BE49-F238E27FC236}">
                <a16:creationId xmlns:a16="http://schemas.microsoft.com/office/drawing/2014/main" id="{43269D01-03E7-600E-6430-B0B0DBBF609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69001" y="1526721"/>
            <a:ext cx="5484164" cy="327387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352018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973771-9CBA-4CED-16D1-EEDF831841FC}"/>
            </a:ext>
          </a:extLst>
        </p:cNvPr>
        <p:cNvGrpSpPr/>
        <p:nvPr/>
      </p:nvGrpSpPr>
      <p:grpSpPr>
        <a:xfrm>
          <a:off x="0" y="0"/>
          <a:ext cx="0" cy="0"/>
          <a:chOff x="0" y="0"/>
          <a:chExt cx="0" cy="0"/>
        </a:xfrm>
      </p:grpSpPr>
      <p:pic>
        <p:nvPicPr>
          <p:cNvPr id="4" name="Picture 2" descr="Parallel computing for high-performance simulations">
            <a:extLst>
              <a:ext uri="{FF2B5EF4-FFF2-40B4-BE49-F238E27FC236}">
                <a16:creationId xmlns:a16="http://schemas.microsoft.com/office/drawing/2014/main" id="{DB13D94C-A8D2-C303-592D-A1242C10CA38}"/>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51802" b="-1"/>
          <a:stretch/>
        </p:blipFill>
        <p:spPr bwMode="auto">
          <a:xfrm rot="5400000">
            <a:off x="-2989346" y="2971346"/>
            <a:ext cx="6876000" cy="914399"/>
          </a:xfrm>
          <a:prstGeom prst="rect">
            <a:avLst/>
          </a:prstGeom>
          <a:noFill/>
          <a:extLst>
            <a:ext uri="{909E8E84-426E-40DD-AFC4-6F175D3DCCD1}">
              <a14:hiddenFill xmlns:a14="http://schemas.microsoft.com/office/drawing/2010/main">
                <a:solidFill>
                  <a:srgbClr val="FFFFFF"/>
                </a:solidFill>
              </a14:hiddenFill>
            </a:ext>
          </a:extLst>
        </p:spPr>
      </p:pic>
      <p:sp>
        <p:nvSpPr>
          <p:cNvPr id="6" name="Metin kutusu 5">
            <a:extLst>
              <a:ext uri="{FF2B5EF4-FFF2-40B4-BE49-F238E27FC236}">
                <a16:creationId xmlns:a16="http://schemas.microsoft.com/office/drawing/2014/main" id="{68DBF6EA-4C4D-C4F2-AB9A-2CE64C2AE959}"/>
              </a:ext>
            </a:extLst>
          </p:cNvPr>
          <p:cNvSpPr txBox="1"/>
          <p:nvPr/>
        </p:nvSpPr>
        <p:spPr>
          <a:xfrm>
            <a:off x="1164349" y="184777"/>
            <a:ext cx="10688668" cy="553998"/>
          </a:xfrm>
          <a:prstGeom prst="rect">
            <a:avLst/>
          </a:prstGeom>
          <a:noFill/>
        </p:spPr>
        <p:txBody>
          <a:bodyPr wrap="square" rtlCol="0">
            <a:spAutoFit/>
          </a:bodyPr>
          <a:lstStyle/>
          <a:p>
            <a:r>
              <a:rPr lang="tr-TR" sz="3000" b="1" dirty="0">
                <a:latin typeface="Consolas" panose="020B0609020204030204" pitchFamily="49" charset="0"/>
              </a:rPr>
              <a:t>Mesaj-geçişi (Message-</a:t>
            </a:r>
            <a:r>
              <a:rPr lang="tr-TR" sz="3000" b="1" dirty="0" err="1">
                <a:latin typeface="Consolas" panose="020B0609020204030204" pitchFamily="49" charset="0"/>
              </a:rPr>
              <a:t>passing</a:t>
            </a:r>
            <a:r>
              <a:rPr lang="tr-TR" sz="3000" b="1" dirty="0">
                <a:latin typeface="Consolas" panose="020B0609020204030204" pitchFamily="49" charset="0"/>
              </a:rPr>
              <a:t>)</a:t>
            </a:r>
          </a:p>
        </p:txBody>
      </p:sp>
      <p:sp>
        <p:nvSpPr>
          <p:cNvPr id="7" name="Metin kutusu 6">
            <a:extLst>
              <a:ext uri="{FF2B5EF4-FFF2-40B4-BE49-F238E27FC236}">
                <a16:creationId xmlns:a16="http://schemas.microsoft.com/office/drawing/2014/main" id="{A10FF1FF-D648-9D8B-2317-B6ADEE656A7D}"/>
              </a:ext>
            </a:extLst>
          </p:cNvPr>
          <p:cNvSpPr txBox="1"/>
          <p:nvPr/>
        </p:nvSpPr>
        <p:spPr>
          <a:xfrm>
            <a:off x="1164349" y="738775"/>
            <a:ext cx="10486088" cy="2246769"/>
          </a:xfrm>
          <a:prstGeom prst="rect">
            <a:avLst/>
          </a:prstGeom>
          <a:noFill/>
        </p:spPr>
        <p:txBody>
          <a:bodyPr wrap="square" rtlCol="0">
            <a:spAutoFit/>
          </a:bodyPr>
          <a:lstStyle/>
          <a:p>
            <a:pPr marL="457200" indent="-457200" algn="just">
              <a:buFont typeface="Arial" panose="020B0604020202020204" pitchFamily="34" charset="0"/>
              <a:buChar char="•"/>
            </a:pPr>
            <a:r>
              <a:rPr lang="tr-TR" sz="2000" dirty="0">
                <a:latin typeface="Consolas" panose="020B0609020204030204" pitchFamily="49" charset="0"/>
              </a:rPr>
              <a:t>Mesaj-geçişi API (Application Program </a:t>
            </a:r>
            <a:r>
              <a:rPr lang="tr-TR" sz="2000" dirty="0" err="1">
                <a:latin typeface="Consolas" panose="020B0609020204030204" pitchFamily="49" charset="0"/>
              </a:rPr>
              <a:t>Interface</a:t>
            </a:r>
            <a:r>
              <a:rPr lang="tr-TR" sz="2000" dirty="0">
                <a:latin typeface="Consolas" panose="020B0609020204030204" pitchFamily="49" charset="0"/>
              </a:rPr>
              <a:t>) en azından bir mesaj gönderim </a:t>
            </a:r>
            <a:r>
              <a:rPr lang="tr-TR" sz="2000" b="1" dirty="0">
                <a:latin typeface="Consolas" panose="020B0609020204030204" pitchFamily="49" charset="0"/>
              </a:rPr>
              <a:t>(</a:t>
            </a:r>
            <a:r>
              <a:rPr lang="tr-TR" sz="2000" b="1" dirty="0" err="1">
                <a:latin typeface="Consolas" panose="020B0609020204030204" pitchFamily="49" charset="0"/>
              </a:rPr>
              <a:t>send</a:t>
            </a:r>
            <a:r>
              <a:rPr lang="tr-TR" sz="2000" b="1" dirty="0">
                <a:latin typeface="Consolas" panose="020B0609020204030204" pitchFamily="49" charset="0"/>
              </a:rPr>
              <a:t>) </a:t>
            </a:r>
            <a:r>
              <a:rPr lang="tr-TR" sz="2000" dirty="0">
                <a:latin typeface="Consolas" panose="020B0609020204030204" pitchFamily="49" charset="0"/>
              </a:rPr>
              <a:t>ve alım </a:t>
            </a:r>
            <a:r>
              <a:rPr lang="tr-TR" sz="2000" b="1" dirty="0">
                <a:latin typeface="Consolas" panose="020B0609020204030204" pitchFamily="49" charset="0"/>
              </a:rPr>
              <a:t>(</a:t>
            </a:r>
            <a:r>
              <a:rPr lang="tr-TR" sz="2000" b="1" dirty="0" err="1">
                <a:latin typeface="Consolas" panose="020B0609020204030204" pitchFamily="49" charset="0"/>
              </a:rPr>
              <a:t>receive</a:t>
            </a:r>
            <a:r>
              <a:rPr lang="tr-TR" sz="2000" b="1" dirty="0">
                <a:latin typeface="Consolas" panose="020B0609020204030204" pitchFamily="49" charset="0"/>
              </a:rPr>
              <a:t>) </a:t>
            </a:r>
            <a:r>
              <a:rPr lang="tr-TR" sz="2000" dirty="0">
                <a:latin typeface="Consolas" panose="020B0609020204030204" pitchFamily="49" charset="0"/>
              </a:rPr>
              <a:t>fonksiyonu içermelidir.</a:t>
            </a:r>
          </a:p>
          <a:p>
            <a:pPr marL="457200" indent="-457200" algn="just">
              <a:buFont typeface="Arial" panose="020B0604020202020204" pitchFamily="34" charset="0"/>
              <a:buChar char="•"/>
            </a:pPr>
            <a:r>
              <a:rPr lang="tr-TR" sz="2000" dirty="0">
                <a:latin typeface="Consolas" panose="020B0609020204030204" pitchFamily="49" charset="0"/>
              </a:rPr>
              <a:t>İşlemler tipik olarak birbirlerini rütbeleri (</a:t>
            </a:r>
            <a:r>
              <a:rPr lang="tr-TR" sz="2000" dirty="0" err="1">
                <a:latin typeface="Consolas" panose="020B0609020204030204" pitchFamily="49" charset="0"/>
              </a:rPr>
              <a:t>rank</a:t>
            </a:r>
            <a:r>
              <a:rPr lang="tr-TR" sz="2000" dirty="0">
                <a:latin typeface="Consolas" panose="020B0609020204030204" pitchFamily="49" charset="0"/>
              </a:rPr>
              <a:t>) ile tanımlarlar. </a:t>
            </a:r>
          </a:p>
          <a:p>
            <a:pPr marL="457200" indent="-457200" algn="just">
              <a:buFont typeface="Arial" panose="020B0604020202020204" pitchFamily="34" charset="0"/>
              <a:buChar char="•"/>
            </a:pPr>
            <a:r>
              <a:rPr lang="tr-TR" sz="2000" dirty="0">
                <a:latin typeface="Consolas" panose="020B0609020204030204" pitchFamily="49" charset="0"/>
              </a:rPr>
              <a:t>p adet işlem içeren dağıtık bir sistemde işlem rütbeleri (</a:t>
            </a:r>
            <a:r>
              <a:rPr lang="tr-TR" sz="2000" dirty="0" err="1">
                <a:latin typeface="Consolas" panose="020B0609020204030204" pitchFamily="49" charset="0"/>
              </a:rPr>
              <a:t>rank</a:t>
            </a:r>
            <a:r>
              <a:rPr lang="tr-TR" sz="2000" dirty="0">
                <a:latin typeface="Consolas" panose="020B0609020204030204" pitchFamily="49" charset="0"/>
              </a:rPr>
              <a:t>) 0, 1, …, p-1 olarak tanımlanır.</a:t>
            </a:r>
          </a:p>
          <a:p>
            <a:pPr marL="457200" indent="-457200" algn="just">
              <a:buFont typeface="Arial" panose="020B0604020202020204" pitchFamily="34" charset="0"/>
              <a:buChar char="•"/>
            </a:pPr>
            <a:r>
              <a:rPr lang="tr-TR" sz="2000" dirty="0">
                <a:latin typeface="Consolas" panose="020B0609020204030204" pitchFamily="49" charset="0"/>
              </a:rPr>
              <a:t>Mesaj-geçişi için en yaygın kullanılan API, </a:t>
            </a:r>
            <a:r>
              <a:rPr lang="tr-TR" sz="2000" b="1" dirty="0">
                <a:latin typeface="Consolas" panose="020B0609020204030204" pitchFamily="49" charset="0"/>
              </a:rPr>
              <a:t>Message </a:t>
            </a:r>
            <a:r>
              <a:rPr lang="tr-TR" sz="2000" b="1" dirty="0" err="1">
                <a:latin typeface="Consolas" panose="020B0609020204030204" pitchFamily="49" charset="0"/>
              </a:rPr>
              <a:t>Passing</a:t>
            </a:r>
            <a:r>
              <a:rPr lang="tr-TR" sz="2000" b="1" dirty="0">
                <a:latin typeface="Consolas" panose="020B0609020204030204" pitchFamily="49" charset="0"/>
              </a:rPr>
              <a:t> </a:t>
            </a:r>
            <a:r>
              <a:rPr lang="tr-TR" sz="2000" b="1" dirty="0" err="1">
                <a:latin typeface="Consolas" panose="020B0609020204030204" pitchFamily="49" charset="0"/>
              </a:rPr>
              <a:t>Interface</a:t>
            </a:r>
            <a:r>
              <a:rPr lang="tr-TR" sz="2000" dirty="0">
                <a:latin typeface="Consolas" panose="020B0609020204030204" pitchFamily="49" charset="0"/>
              </a:rPr>
              <a:t> veya </a:t>
            </a:r>
            <a:r>
              <a:rPr lang="tr-TR" sz="2000" b="1" dirty="0" err="1">
                <a:latin typeface="Consolas" panose="020B0609020204030204" pitchFamily="49" charset="0"/>
              </a:rPr>
              <a:t>MPI</a:t>
            </a:r>
            <a:r>
              <a:rPr lang="tr-TR" sz="2000" dirty="0" err="1">
                <a:latin typeface="Consolas" panose="020B0609020204030204" pitchFamily="49" charset="0"/>
              </a:rPr>
              <a:t>’dir</a:t>
            </a:r>
            <a:r>
              <a:rPr lang="tr-TR" sz="2000" dirty="0">
                <a:latin typeface="Consolas" panose="020B0609020204030204" pitchFamily="49" charset="0"/>
              </a:rPr>
              <a:t>.</a:t>
            </a:r>
          </a:p>
        </p:txBody>
      </p:sp>
      <p:pic>
        <p:nvPicPr>
          <p:cNvPr id="4100" name="Picture 4" descr="All About Message Passing Interface (MPI)">
            <a:extLst>
              <a:ext uri="{FF2B5EF4-FFF2-40B4-BE49-F238E27FC236}">
                <a16:creationId xmlns:a16="http://schemas.microsoft.com/office/drawing/2014/main" id="{56D36DC1-4974-561E-9438-098D013CA1CC}"/>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25519" t="22201" r="25113" b="23896"/>
          <a:stretch/>
        </p:blipFill>
        <p:spPr bwMode="auto">
          <a:xfrm>
            <a:off x="1240971" y="3105015"/>
            <a:ext cx="5641521" cy="3464844"/>
          </a:xfrm>
          <a:prstGeom prst="rect">
            <a:avLst/>
          </a:prstGeom>
          <a:noFill/>
          <a:extLst>
            <a:ext uri="{909E8E84-426E-40DD-AFC4-6F175D3DCCD1}">
              <a14:hiddenFill xmlns:a14="http://schemas.microsoft.com/office/drawing/2010/main">
                <a:solidFill>
                  <a:srgbClr val="FFFFFF"/>
                </a:solidFill>
              </a14:hiddenFill>
            </a:ext>
          </a:extLst>
        </p:spPr>
      </p:pic>
      <p:pic>
        <p:nvPicPr>
          <p:cNvPr id="4102" name="Picture 6" descr="Message Passing Interface :: High Performance Computing">
            <a:extLst>
              <a:ext uri="{FF2B5EF4-FFF2-40B4-BE49-F238E27FC236}">
                <a16:creationId xmlns:a16="http://schemas.microsoft.com/office/drawing/2014/main" id="{42610369-17D4-5EFC-489B-1702B4014EC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217609" y="3539542"/>
            <a:ext cx="4963449" cy="224676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6133369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973771-9CBA-4CED-16D1-EEDF831841FC}"/>
            </a:ext>
          </a:extLst>
        </p:cNvPr>
        <p:cNvGrpSpPr/>
        <p:nvPr/>
      </p:nvGrpSpPr>
      <p:grpSpPr>
        <a:xfrm>
          <a:off x="0" y="0"/>
          <a:ext cx="0" cy="0"/>
          <a:chOff x="0" y="0"/>
          <a:chExt cx="0" cy="0"/>
        </a:xfrm>
      </p:grpSpPr>
      <p:pic>
        <p:nvPicPr>
          <p:cNvPr id="4" name="Picture 2" descr="Parallel computing for high-performance simulations">
            <a:extLst>
              <a:ext uri="{FF2B5EF4-FFF2-40B4-BE49-F238E27FC236}">
                <a16:creationId xmlns:a16="http://schemas.microsoft.com/office/drawing/2014/main" id="{DB13D94C-A8D2-C303-592D-A1242C10CA38}"/>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51802" b="-1"/>
          <a:stretch/>
        </p:blipFill>
        <p:spPr bwMode="auto">
          <a:xfrm rot="5400000">
            <a:off x="-2989346" y="2971346"/>
            <a:ext cx="6876000" cy="914399"/>
          </a:xfrm>
          <a:prstGeom prst="rect">
            <a:avLst/>
          </a:prstGeom>
          <a:noFill/>
          <a:extLst>
            <a:ext uri="{909E8E84-426E-40DD-AFC4-6F175D3DCCD1}">
              <a14:hiddenFill xmlns:a14="http://schemas.microsoft.com/office/drawing/2010/main">
                <a:solidFill>
                  <a:srgbClr val="FFFFFF"/>
                </a:solidFill>
              </a14:hiddenFill>
            </a:ext>
          </a:extLst>
        </p:spPr>
      </p:pic>
      <p:sp>
        <p:nvSpPr>
          <p:cNvPr id="6" name="Metin kutusu 5">
            <a:extLst>
              <a:ext uri="{FF2B5EF4-FFF2-40B4-BE49-F238E27FC236}">
                <a16:creationId xmlns:a16="http://schemas.microsoft.com/office/drawing/2014/main" id="{68DBF6EA-4C4D-C4F2-AB9A-2CE64C2AE959}"/>
              </a:ext>
            </a:extLst>
          </p:cNvPr>
          <p:cNvSpPr txBox="1"/>
          <p:nvPr/>
        </p:nvSpPr>
        <p:spPr>
          <a:xfrm>
            <a:off x="1164349" y="184777"/>
            <a:ext cx="10688668" cy="553998"/>
          </a:xfrm>
          <a:prstGeom prst="rect">
            <a:avLst/>
          </a:prstGeom>
          <a:noFill/>
        </p:spPr>
        <p:txBody>
          <a:bodyPr wrap="square" rtlCol="0">
            <a:spAutoFit/>
          </a:bodyPr>
          <a:lstStyle/>
          <a:p>
            <a:r>
              <a:rPr lang="tr-TR" sz="3000" b="1" dirty="0">
                <a:latin typeface="Consolas" panose="020B0609020204030204" pitchFamily="49" charset="0"/>
              </a:rPr>
              <a:t>Mesaj-geçişi (Message-</a:t>
            </a:r>
            <a:r>
              <a:rPr lang="tr-TR" sz="3000" b="1" dirty="0" err="1">
                <a:latin typeface="Consolas" panose="020B0609020204030204" pitchFamily="49" charset="0"/>
              </a:rPr>
              <a:t>passing</a:t>
            </a:r>
            <a:r>
              <a:rPr lang="tr-TR" sz="3000" b="1" dirty="0">
                <a:latin typeface="Consolas" panose="020B0609020204030204" pitchFamily="49" charset="0"/>
              </a:rPr>
              <a:t>) - Örnek</a:t>
            </a:r>
          </a:p>
        </p:txBody>
      </p:sp>
      <p:pic>
        <p:nvPicPr>
          <p:cNvPr id="2" name="İçerik Yer Tutucusu 4">
            <a:extLst>
              <a:ext uri="{FF2B5EF4-FFF2-40B4-BE49-F238E27FC236}">
                <a16:creationId xmlns:a16="http://schemas.microsoft.com/office/drawing/2014/main" id="{F2744077-32BA-CE2A-A3DE-7F4A9F47D5D0}"/>
              </a:ext>
            </a:extLst>
          </p:cNvPr>
          <p:cNvPicPr>
            <a:picLocks noGrp="1" noChangeAspect="1"/>
          </p:cNvPicPr>
          <p:nvPr/>
        </p:nvPicPr>
        <p:blipFill>
          <a:blip r:embed="rId3"/>
          <a:stretch>
            <a:fillRect/>
          </a:stretch>
        </p:blipFill>
        <p:spPr>
          <a:xfrm>
            <a:off x="1410198" y="1178434"/>
            <a:ext cx="10612576" cy="4500221"/>
          </a:xfrm>
          <a:prstGeom prst="rect">
            <a:avLst/>
          </a:prstGeom>
        </p:spPr>
      </p:pic>
    </p:spTree>
    <p:extLst>
      <p:ext uri="{BB962C8B-B14F-4D97-AF65-F5344CB8AC3E}">
        <p14:creationId xmlns:p14="http://schemas.microsoft.com/office/powerpoint/2010/main" val="365143500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973771-9CBA-4CED-16D1-EEDF831841FC}"/>
            </a:ext>
          </a:extLst>
        </p:cNvPr>
        <p:cNvGrpSpPr/>
        <p:nvPr/>
      </p:nvGrpSpPr>
      <p:grpSpPr>
        <a:xfrm>
          <a:off x="0" y="0"/>
          <a:ext cx="0" cy="0"/>
          <a:chOff x="0" y="0"/>
          <a:chExt cx="0" cy="0"/>
        </a:xfrm>
      </p:grpSpPr>
      <p:pic>
        <p:nvPicPr>
          <p:cNvPr id="4" name="Picture 2" descr="Parallel computing for high-performance simulations">
            <a:extLst>
              <a:ext uri="{FF2B5EF4-FFF2-40B4-BE49-F238E27FC236}">
                <a16:creationId xmlns:a16="http://schemas.microsoft.com/office/drawing/2014/main" id="{DB13D94C-A8D2-C303-592D-A1242C10CA38}"/>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51802" b="-1"/>
          <a:stretch/>
        </p:blipFill>
        <p:spPr bwMode="auto">
          <a:xfrm rot="5400000">
            <a:off x="-2989346" y="2971346"/>
            <a:ext cx="6876000" cy="914399"/>
          </a:xfrm>
          <a:prstGeom prst="rect">
            <a:avLst/>
          </a:prstGeom>
          <a:noFill/>
          <a:extLst>
            <a:ext uri="{909E8E84-426E-40DD-AFC4-6F175D3DCCD1}">
              <a14:hiddenFill xmlns:a14="http://schemas.microsoft.com/office/drawing/2010/main">
                <a:solidFill>
                  <a:srgbClr val="FFFFFF"/>
                </a:solidFill>
              </a14:hiddenFill>
            </a:ext>
          </a:extLst>
        </p:spPr>
      </p:pic>
      <p:sp>
        <p:nvSpPr>
          <p:cNvPr id="6" name="Metin kutusu 5">
            <a:extLst>
              <a:ext uri="{FF2B5EF4-FFF2-40B4-BE49-F238E27FC236}">
                <a16:creationId xmlns:a16="http://schemas.microsoft.com/office/drawing/2014/main" id="{68DBF6EA-4C4D-C4F2-AB9A-2CE64C2AE959}"/>
              </a:ext>
            </a:extLst>
          </p:cNvPr>
          <p:cNvSpPr txBox="1"/>
          <p:nvPr/>
        </p:nvSpPr>
        <p:spPr>
          <a:xfrm>
            <a:off x="1164349" y="184777"/>
            <a:ext cx="10688668" cy="553998"/>
          </a:xfrm>
          <a:prstGeom prst="rect">
            <a:avLst/>
          </a:prstGeom>
          <a:noFill/>
        </p:spPr>
        <p:txBody>
          <a:bodyPr wrap="square" rtlCol="0">
            <a:spAutoFit/>
          </a:bodyPr>
          <a:lstStyle/>
          <a:p>
            <a:r>
              <a:rPr lang="tr-TR" sz="3000" b="1" dirty="0">
                <a:latin typeface="Consolas" panose="020B0609020204030204" pitchFamily="49" charset="0"/>
              </a:rPr>
              <a:t>Mesaj-geçişi (Message-</a:t>
            </a:r>
            <a:r>
              <a:rPr lang="tr-TR" sz="3000" b="1" dirty="0" err="1">
                <a:latin typeface="Consolas" panose="020B0609020204030204" pitchFamily="49" charset="0"/>
              </a:rPr>
              <a:t>passing</a:t>
            </a:r>
            <a:r>
              <a:rPr lang="tr-TR" sz="3000" b="1" dirty="0">
                <a:latin typeface="Consolas" panose="020B0609020204030204" pitchFamily="49" charset="0"/>
              </a:rPr>
              <a:t>) - Örnek</a:t>
            </a:r>
          </a:p>
        </p:txBody>
      </p:sp>
      <p:pic>
        <p:nvPicPr>
          <p:cNvPr id="2" name="İçerik Yer Tutucusu 4">
            <a:extLst>
              <a:ext uri="{FF2B5EF4-FFF2-40B4-BE49-F238E27FC236}">
                <a16:creationId xmlns:a16="http://schemas.microsoft.com/office/drawing/2014/main" id="{F2744077-32BA-CE2A-A3DE-7F4A9F47D5D0}"/>
              </a:ext>
            </a:extLst>
          </p:cNvPr>
          <p:cNvPicPr>
            <a:picLocks noGrp="1" noChangeAspect="1"/>
          </p:cNvPicPr>
          <p:nvPr/>
        </p:nvPicPr>
        <p:blipFill>
          <a:blip r:embed="rId3"/>
          <a:stretch>
            <a:fillRect/>
          </a:stretch>
        </p:blipFill>
        <p:spPr>
          <a:xfrm>
            <a:off x="1410198" y="1178434"/>
            <a:ext cx="10612576" cy="4500221"/>
          </a:xfrm>
          <a:prstGeom prst="rect">
            <a:avLst/>
          </a:prstGeom>
        </p:spPr>
      </p:pic>
      <p:sp>
        <p:nvSpPr>
          <p:cNvPr id="3" name="Metin kutusu 2">
            <a:extLst>
              <a:ext uri="{FF2B5EF4-FFF2-40B4-BE49-F238E27FC236}">
                <a16:creationId xmlns:a16="http://schemas.microsoft.com/office/drawing/2014/main" id="{9DAF0058-7B84-1F1B-D13F-5A2340B1D5EA}"/>
              </a:ext>
            </a:extLst>
          </p:cNvPr>
          <p:cNvSpPr txBox="1"/>
          <p:nvPr/>
        </p:nvSpPr>
        <p:spPr>
          <a:xfrm>
            <a:off x="5868785" y="1950365"/>
            <a:ext cx="6040863" cy="646331"/>
          </a:xfrm>
          <a:prstGeom prst="rect">
            <a:avLst/>
          </a:prstGeom>
          <a:noFill/>
        </p:spPr>
        <p:txBody>
          <a:bodyPr wrap="square" rtlCol="0">
            <a:spAutoFit/>
          </a:bodyPr>
          <a:lstStyle/>
          <a:p>
            <a:r>
              <a:rPr lang="tr-TR" dirty="0">
                <a:solidFill>
                  <a:srgbClr val="FF0000"/>
                </a:solidFill>
              </a:rPr>
              <a:t>Çağrılan işlemin rütbesini döndürür. Ardından işlemler rütbelerine göre dallanır. </a:t>
            </a:r>
          </a:p>
        </p:txBody>
      </p:sp>
      <p:sp>
        <p:nvSpPr>
          <p:cNvPr id="5" name="Dikdörtgen: Köşeleri Yuvarlatılmış 4">
            <a:extLst>
              <a:ext uri="{FF2B5EF4-FFF2-40B4-BE49-F238E27FC236}">
                <a16:creationId xmlns:a16="http://schemas.microsoft.com/office/drawing/2014/main" id="{AF9E7C82-A319-FDFE-9BB0-FEE579522E5B}"/>
              </a:ext>
            </a:extLst>
          </p:cNvPr>
          <p:cNvSpPr/>
          <p:nvPr/>
        </p:nvSpPr>
        <p:spPr>
          <a:xfrm>
            <a:off x="3541222" y="2036618"/>
            <a:ext cx="2327563" cy="473826"/>
          </a:xfrm>
          <a:prstGeom prst="round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r-TR" dirty="0"/>
          </a:p>
        </p:txBody>
      </p:sp>
    </p:spTree>
    <p:extLst>
      <p:ext uri="{BB962C8B-B14F-4D97-AF65-F5344CB8AC3E}">
        <p14:creationId xmlns:p14="http://schemas.microsoft.com/office/powerpoint/2010/main" val="38795098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973771-9CBA-4CED-16D1-EEDF831841FC}"/>
            </a:ext>
          </a:extLst>
        </p:cNvPr>
        <p:cNvGrpSpPr/>
        <p:nvPr/>
      </p:nvGrpSpPr>
      <p:grpSpPr>
        <a:xfrm>
          <a:off x="0" y="0"/>
          <a:ext cx="0" cy="0"/>
          <a:chOff x="0" y="0"/>
          <a:chExt cx="0" cy="0"/>
        </a:xfrm>
      </p:grpSpPr>
      <p:pic>
        <p:nvPicPr>
          <p:cNvPr id="4" name="Picture 2" descr="Parallel computing for high-performance simulations">
            <a:extLst>
              <a:ext uri="{FF2B5EF4-FFF2-40B4-BE49-F238E27FC236}">
                <a16:creationId xmlns:a16="http://schemas.microsoft.com/office/drawing/2014/main" id="{DB13D94C-A8D2-C303-592D-A1242C10CA38}"/>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51802" b="-1"/>
          <a:stretch/>
        </p:blipFill>
        <p:spPr bwMode="auto">
          <a:xfrm rot="5400000">
            <a:off x="-2989346" y="2971346"/>
            <a:ext cx="6876000" cy="914399"/>
          </a:xfrm>
          <a:prstGeom prst="rect">
            <a:avLst/>
          </a:prstGeom>
          <a:noFill/>
          <a:extLst>
            <a:ext uri="{909E8E84-426E-40DD-AFC4-6F175D3DCCD1}">
              <a14:hiddenFill xmlns:a14="http://schemas.microsoft.com/office/drawing/2010/main">
                <a:solidFill>
                  <a:srgbClr val="FFFFFF"/>
                </a:solidFill>
              </a14:hiddenFill>
            </a:ext>
          </a:extLst>
        </p:spPr>
      </p:pic>
      <p:sp>
        <p:nvSpPr>
          <p:cNvPr id="6" name="Metin kutusu 5">
            <a:extLst>
              <a:ext uri="{FF2B5EF4-FFF2-40B4-BE49-F238E27FC236}">
                <a16:creationId xmlns:a16="http://schemas.microsoft.com/office/drawing/2014/main" id="{68DBF6EA-4C4D-C4F2-AB9A-2CE64C2AE959}"/>
              </a:ext>
            </a:extLst>
          </p:cNvPr>
          <p:cNvSpPr txBox="1"/>
          <p:nvPr/>
        </p:nvSpPr>
        <p:spPr>
          <a:xfrm>
            <a:off x="1164349" y="184777"/>
            <a:ext cx="10688668" cy="553998"/>
          </a:xfrm>
          <a:prstGeom prst="rect">
            <a:avLst/>
          </a:prstGeom>
          <a:noFill/>
        </p:spPr>
        <p:txBody>
          <a:bodyPr wrap="square" rtlCol="0">
            <a:spAutoFit/>
          </a:bodyPr>
          <a:lstStyle/>
          <a:p>
            <a:r>
              <a:rPr lang="tr-TR" sz="3000" b="1" dirty="0">
                <a:latin typeface="Consolas" panose="020B0609020204030204" pitchFamily="49" charset="0"/>
              </a:rPr>
              <a:t>Mesaj-geçişi (Message-</a:t>
            </a:r>
            <a:r>
              <a:rPr lang="tr-TR" sz="3000" b="1" dirty="0" err="1">
                <a:latin typeface="Consolas" panose="020B0609020204030204" pitchFamily="49" charset="0"/>
              </a:rPr>
              <a:t>passing</a:t>
            </a:r>
            <a:r>
              <a:rPr lang="tr-TR" sz="3000" b="1" dirty="0">
                <a:latin typeface="Consolas" panose="020B0609020204030204" pitchFamily="49" charset="0"/>
              </a:rPr>
              <a:t>) - Örnek</a:t>
            </a:r>
          </a:p>
        </p:txBody>
      </p:sp>
      <p:pic>
        <p:nvPicPr>
          <p:cNvPr id="2" name="İçerik Yer Tutucusu 4">
            <a:extLst>
              <a:ext uri="{FF2B5EF4-FFF2-40B4-BE49-F238E27FC236}">
                <a16:creationId xmlns:a16="http://schemas.microsoft.com/office/drawing/2014/main" id="{F2744077-32BA-CE2A-A3DE-7F4A9F47D5D0}"/>
              </a:ext>
            </a:extLst>
          </p:cNvPr>
          <p:cNvPicPr>
            <a:picLocks noGrp="1" noChangeAspect="1"/>
          </p:cNvPicPr>
          <p:nvPr/>
        </p:nvPicPr>
        <p:blipFill>
          <a:blip r:embed="rId3"/>
          <a:stretch>
            <a:fillRect/>
          </a:stretch>
        </p:blipFill>
        <p:spPr>
          <a:xfrm>
            <a:off x="1410198" y="1178434"/>
            <a:ext cx="10612576" cy="4500221"/>
          </a:xfrm>
          <a:prstGeom prst="rect">
            <a:avLst/>
          </a:prstGeom>
        </p:spPr>
      </p:pic>
      <p:sp>
        <p:nvSpPr>
          <p:cNvPr id="3" name="Metin kutusu 2">
            <a:extLst>
              <a:ext uri="{FF2B5EF4-FFF2-40B4-BE49-F238E27FC236}">
                <a16:creationId xmlns:a16="http://schemas.microsoft.com/office/drawing/2014/main" id="{9DAF0058-7B84-1F1B-D13F-5A2340B1D5EA}"/>
              </a:ext>
            </a:extLst>
          </p:cNvPr>
          <p:cNvSpPr txBox="1"/>
          <p:nvPr/>
        </p:nvSpPr>
        <p:spPr>
          <a:xfrm>
            <a:off x="5491460" y="2512048"/>
            <a:ext cx="6531314" cy="369332"/>
          </a:xfrm>
          <a:prstGeom prst="rect">
            <a:avLst/>
          </a:prstGeom>
          <a:noFill/>
        </p:spPr>
        <p:txBody>
          <a:bodyPr wrap="square" rtlCol="0">
            <a:spAutoFit/>
          </a:bodyPr>
          <a:lstStyle/>
          <a:p>
            <a:r>
              <a:rPr lang="tr-TR" dirty="0">
                <a:solidFill>
                  <a:srgbClr val="FF0000"/>
                </a:solidFill>
              </a:rPr>
              <a:t>Rütbesi 1 olan işlem, </a:t>
            </a:r>
            <a:r>
              <a:rPr lang="tr-TR" dirty="0" err="1">
                <a:solidFill>
                  <a:srgbClr val="FF0000"/>
                </a:solidFill>
              </a:rPr>
              <a:t>sprintf</a:t>
            </a:r>
            <a:r>
              <a:rPr lang="tr-TR" dirty="0">
                <a:solidFill>
                  <a:srgbClr val="FF0000"/>
                </a:solidFill>
              </a:rPr>
              <a:t>() fonksiyonu ile bir mesaj oluşturur. </a:t>
            </a:r>
          </a:p>
        </p:txBody>
      </p:sp>
      <p:sp>
        <p:nvSpPr>
          <p:cNvPr id="5" name="Dikdörtgen: Köşeleri Yuvarlatılmış 4">
            <a:extLst>
              <a:ext uri="{FF2B5EF4-FFF2-40B4-BE49-F238E27FC236}">
                <a16:creationId xmlns:a16="http://schemas.microsoft.com/office/drawing/2014/main" id="{AF9E7C82-A319-FDFE-9BB0-FEE579522E5B}"/>
              </a:ext>
            </a:extLst>
          </p:cNvPr>
          <p:cNvSpPr/>
          <p:nvPr/>
        </p:nvSpPr>
        <p:spPr>
          <a:xfrm>
            <a:off x="2377440" y="2921466"/>
            <a:ext cx="9326880" cy="473826"/>
          </a:xfrm>
          <a:prstGeom prst="round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r-TR" dirty="0"/>
          </a:p>
        </p:txBody>
      </p:sp>
    </p:spTree>
    <p:extLst>
      <p:ext uri="{BB962C8B-B14F-4D97-AF65-F5344CB8AC3E}">
        <p14:creationId xmlns:p14="http://schemas.microsoft.com/office/powerpoint/2010/main" val="164916613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973771-9CBA-4CED-16D1-EEDF831841FC}"/>
            </a:ext>
          </a:extLst>
        </p:cNvPr>
        <p:cNvGrpSpPr/>
        <p:nvPr/>
      </p:nvGrpSpPr>
      <p:grpSpPr>
        <a:xfrm>
          <a:off x="0" y="0"/>
          <a:ext cx="0" cy="0"/>
          <a:chOff x="0" y="0"/>
          <a:chExt cx="0" cy="0"/>
        </a:xfrm>
      </p:grpSpPr>
      <p:pic>
        <p:nvPicPr>
          <p:cNvPr id="4" name="Picture 2" descr="Parallel computing for high-performance simulations">
            <a:extLst>
              <a:ext uri="{FF2B5EF4-FFF2-40B4-BE49-F238E27FC236}">
                <a16:creationId xmlns:a16="http://schemas.microsoft.com/office/drawing/2014/main" id="{DB13D94C-A8D2-C303-592D-A1242C10CA38}"/>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51802" b="-1"/>
          <a:stretch/>
        </p:blipFill>
        <p:spPr bwMode="auto">
          <a:xfrm rot="5400000">
            <a:off x="-2989346" y="2971346"/>
            <a:ext cx="6876000" cy="914399"/>
          </a:xfrm>
          <a:prstGeom prst="rect">
            <a:avLst/>
          </a:prstGeom>
          <a:noFill/>
          <a:extLst>
            <a:ext uri="{909E8E84-426E-40DD-AFC4-6F175D3DCCD1}">
              <a14:hiddenFill xmlns:a14="http://schemas.microsoft.com/office/drawing/2010/main">
                <a:solidFill>
                  <a:srgbClr val="FFFFFF"/>
                </a:solidFill>
              </a14:hiddenFill>
            </a:ext>
          </a:extLst>
        </p:spPr>
      </p:pic>
      <p:sp>
        <p:nvSpPr>
          <p:cNvPr id="6" name="Metin kutusu 5">
            <a:extLst>
              <a:ext uri="{FF2B5EF4-FFF2-40B4-BE49-F238E27FC236}">
                <a16:creationId xmlns:a16="http://schemas.microsoft.com/office/drawing/2014/main" id="{68DBF6EA-4C4D-C4F2-AB9A-2CE64C2AE959}"/>
              </a:ext>
            </a:extLst>
          </p:cNvPr>
          <p:cNvSpPr txBox="1"/>
          <p:nvPr/>
        </p:nvSpPr>
        <p:spPr>
          <a:xfrm>
            <a:off x="1164349" y="184777"/>
            <a:ext cx="10688668" cy="553998"/>
          </a:xfrm>
          <a:prstGeom prst="rect">
            <a:avLst/>
          </a:prstGeom>
          <a:noFill/>
        </p:spPr>
        <p:txBody>
          <a:bodyPr wrap="square" rtlCol="0">
            <a:spAutoFit/>
          </a:bodyPr>
          <a:lstStyle/>
          <a:p>
            <a:r>
              <a:rPr lang="tr-TR" sz="3000" b="1" dirty="0">
                <a:latin typeface="Consolas" panose="020B0609020204030204" pitchFamily="49" charset="0"/>
              </a:rPr>
              <a:t>Mesaj-geçişi (Message-</a:t>
            </a:r>
            <a:r>
              <a:rPr lang="tr-TR" sz="3000" b="1" dirty="0" err="1">
                <a:latin typeface="Consolas" panose="020B0609020204030204" pitchFamily="49" charset="0"/>
              </a:rPr>
              <a:t>passing</a:t>
            </a:r>
            <a:r>
              <a:rPr lang="tr-TR" sz="3000" b="1" dirty="0">
                <a:latin typeface="Consolas" panose="020B0609020204030204" pitchFamily="49" charset="0"/>
              </a:rPr>
              <a:t>) - Örnek</a:t>
            </a:r>
          </a:p>
        </p:txBody>
      </p:sp>
      <p:pic>
        <p:nvPicPr>
          <p:cNvPr id="2" name="İçerik Yer Tutucusu 4">
            <a:extLst>
              <a:ext uri="{FF2B5EF4-FFF2-40B4-BE49-F238E27FC236}">
                <a16:creationId xmlns:a16="http://schemas.microsoft.com/office/drawing/2014/main" id="{F2744077-32BA-CE2A-A3DE-7F4A9F47D5D0}"/>
              </a:ext>
            </a:extLst>
          </p:cNvPr>
          <p:cNvPicPr>
            <a:picLocks noGrp="1" noChangeAspect="1"/>
          </p:cNvPicPr>
          <p:nvPr/>
        </p:nvPicPr>
        <p:blipFill>
          <a:blip r:embed="rId3"/>
          <a:stretch>
            <a:fillRect/>
          </a:stretch>
        </p:blipFill>
        <p:spPr>
          <a:xfrm>
            <a:off x="1410198" y="1178434"/>
            <a:ext cx="10612576" cy="4500221"/>
          </a:xfrm>
          <a:prstGeom prst="rect">
            <a:avLst/>
          </a:prstGeom>
        </p:spPr>
      </p:pic>
      <p:sp>
        <p:nvSpPr>
          <p:cNvPr id="3" name="Metin kutusu 2">
            <a:extLst>
              <a:ext uri="{FF2B5EF4-FFF2-40B4-BE49-F238E27FC236}">
                <a16:creationId xmlns:a16="http://schemas.microsoft.com/office/drawing/2014/main" id="{9DAF0058-7B84-1F1B-D13F-5A2340B1D5EA}"/>
              </a:ext>
            </a:extLst>
          </p:cNvPr>
          <p:cNvSpPr txBox="1"/>
          <p:nvPr/>
        </p:nvSpPr>
        <p:spPr>
          <a:xfrm>
            <a:off x="5556179" y="2614434"/>
            <a:ext cx="6733791" cy="338554"/>
          </a:xfrm>
          <a:prstGeom prst="rect">
            <a:avLst/>
          </a:prstGeom>
          <a:noFill/>
        </p:spPr>
        <p:txBody>
          <a:bodyPr wrap="square" rtlCol="0">
            <a:spAutoFit/>
          </a:bodyPr>
          <a:lstStyle/>
          <a:p>
            <a:r>
              <a:rPr lang="tr-TR" sz="1600" dirty="0">
                <a:solidFill>
                  <a:srgbClr val="FF0000"/>
                </a:solidFill>
              </a:rPr>
              <a:t>Rütbesi 1 olan işlem, </a:t>
            </a:r>
            <a:r>
              <a:rPr lang="tr-TR" sz="1600" dirty="0" err="1">
                <a:solidFill>
                  <a:srgbClr val="FF0000"/>
                </a:solidFill>
              </a:rPr>
              <a:t>sprintf</a:t>
            </a:r>
            <a:r>
              <a:rPr lang="tr-TR" sz="1600" dirty="0">
                <a:solidFill>
                  <a:srgbClr val="FF0000"/>
                </a:solidFill>
              </a:rPr>
              <a:t>() ile oluşturduğu mesajı işlem 0’a gönderir. </a:t>
            </a:r>
          </a:p>
        </p:txBody>
      </p:sp>
      <p:sp>
        <p:nvSpPr>
          <p:cNvPr id="5" name="Dikdörtgen: Köşeleri Yuvarlatılmış 4">
            <a:extLst>
              <a:ext uri="{FF2B5EF4-FFF2-40B4-BE49-F238E27FC236}">
                <a16:creationId xmlns:a16="http://schemas.microsoft.com/office/drawing/2014/main" id="{AF9E7C82-A319-FDFE-9BB0-FEE579522E5B}"/>
              </a:ext>
            </a:extLst>
          </p:cNvPr>
          <p:cNvSpPr/>
          <p:nvPr/>
        </p:nvSpPr>
        <p:spPr>
          <a:xfrm>
            <a:off x="2319251" y="3284652"/>
            <a:ext cx="9326880" cy="473826"/>
          </a:xfrm>
          <a:prstGeom prst="round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r-TR" dirty="0"/>
          </a:p>
        </p:txBody>
      </p:sp>
    </p:spTree>
    <p:extLst>
      <p:ext uri="{BB962C8B-B14F-4D97-AF65-F5344CB8AC3E}">
        <p14:creationId xmlns:p14="http://schemas.microsoft.com/office/powerpoint/2010/main" val="249480308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973771-9CBA-4CED-16D1-EEDF831841FC}"/>
            </a:ext>
          </a:extLst>
        </p:cNvPr>
        <p:cNvGrpSpPr/>
        <p:nvPr/>
      </p:nvGrpSpPr>
      <p:grpSpPr>
        <a:xfrm>
          <a:off x="0" y="0"/>
          <a:ext cx="0" cy="0"/>
          <a:chOff x="0" y="0"/>
          <a:chExt cx="0" cy="0"/>
        </a:xfrm>
      </p:grpSpPr>
      <p:pic>
        <p:nvPicPr>
          <p:cNvPr id="4" name="Picture 2" descr="Parallel computing for high-performance simulations">
            <a:extLst>
              <a:ext uri="{FF2B5EF4-FFF2-40B4-BE49-F238E27FC236}">
                <a16:creationId xmlns:a16="http://schemas.microsoft.com/office/drawing/2014/main" id="{DB13D94C-A8D2-C303-592D-A1242C10CA38}"/>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51802" b="-1"/>
          <a:stretch/>
        </p:blipFill>
        <p:spPr bwMode="auto">
          <a:xfrm rot="5400000">
            <a:off x="-2989346" y="2971346"/>
            <a:ext cx="6876000" cy="914399"/>
          </a:xfrm>
          <a:prstGeom prst="rect">
            <a:avLst/>
          </a:prstGeom>
          <a:noFill/>
          <a:extLst>
            <a:ext uri="{909E8E84-426E-40DD-AFC4-6F175D3DCCD1}">
              <a14:hiddenFill xmlns:a14="http://schemas.microsoft.com/office/drawing/2010/main">
                <a:solidFill>
                  <a:srgbClr val="FFFFFF"/>
                </a:solidFill>
              </a14:hiddenFill>
            </a:ext>
          </a:extLst>
        </p:spPr>
      </p:pic>
      <p:sp>
        <p:nvSpPr>
          <p:cNvPr id="6" name="Metin kutusu 5">
            <a:extLst>
              <a:ext uri="{FF2B5EF4-FFF2-40B4-BE49-F238E27FC236}">
                <a16:creationId xmlns:a16="http://schemas.microsoft.com/office/drawing/2014/main" id="{68DBF6EA-4C4D-C4F2-AB9A-2CE64C2AE959}"/>
              </a:ext>
            </a:extLst>
          </p:cNvPr>
          <p:cNvSpPr txBox="1"/>
          <p:nvPr/>
        </p:nvSpPr>
        <p:spPr>
          <a:xfrm>
            <a:off x="1164349" y="184777"/>
            <a:ext cx="10688668" cy="553998"/>
          </a:xfrm>
          <a:prstGeom prst="rect">
            <a:avLst/>
          </a:prstGeom>
          <a:noFill/>
        </p:spPr>
        <p:txBody>
          <a:bodyPr wrap="square" rtlCol="0">
            <a:spAutoFit/>
          </a:bodyPr>
          <a:lstStyle/>
          <a:p>
            <a:r>
              <a:rPr lang="tr-TR" sz="3000" b="1" dirty="0">
                <a:latin typeface="Consolas" panose="020B0609020204030204" pitchFamily="49" charset="0"/>
              </a:rPr>
              <a:t>Mesaj-geçişi (Message-</a:t>
            </a:r>
            <a:r>
              <a:rPr lang="tr-TR" sz="3000" b="1" dirty="0" err="1">
                <a:latin typeface="Consolas" panose="020B0609020204030204" pitchFamily="49" charset="0"/>
              </a:rPr>
              <a:t>passing</a:t>
            </a:r>
            <a:r>
              <a:rPr lang="tr-TR" sz="3000" b="1" dirty="0">
                <a:latin typeface="Consolas" panose="020B0609020204030204" pitchFamily="49" charset="0"/>
              </a:rPr>
              <a:t>) - Örnek</a:t>
            </a:r>
          </a:p>
        </p:txBody>
      </p:sp>
      <p:pic>
        <p:nvPicPr>
          <p:cNvPr id="2" name="İçerik Yer Tutucusu 4">
            <a:extLst>
              <a:ext uri="{FF2B5EF4-FFF2-40B4-BE49-F238E27FC236}">
                <a16:creationId xmlns:a16="http://schemas.microsoft.com/office/drawing/2014/main" id="{F2744077-32BA-CE2A-A3DE-7F4A9F47D5D0}"/>
              </a:ext>
            </a:extLst>
          </p:cNvPr>
          <p:cNvPicPr>
            <a:picLocks noGrp="1" noChangeAspect="1"/>
          </p:cNvPicPr>
          <p:nvPr/>
        </p:nvPicPr>
        <p:blipFill>
          <a:blip r:embed="rId3"/>
          <a:stretch>
            <a:fillRect/>
          </a:stretch>
        </p:blipFill>
        <p:spPr>
          <a:xfrm>
            <a:off x="1410198" y="1178434"/>
            <a:ext cx="10612576" cy="4500221"/>
          </a:xfrm>
          <a:prstGeom prst="rect">
            <a:avLst/>
          </a:prstGeom>
        </p:spPr>
      </p:pic>
      <p:sp>
        <p:nvSpPr>
          <p:cNvPr id="3" name="Metin kutusu 2">
            <a:extLst>
              <a:ext uri="{FF2B5EF4-FFF2-40B4-BE49-F238E27FC236}">
                <a16:creationId xmlns:a16="http://schemas.microsoft.com/office/drawing/2014/main" id="{9DAF0058-7B84-1F1B-D13F-5A2340B1D5EA}"/>
              </a:ext>
            </a:extLst>
          </p:cNvPr>
          <p:cNvSpPr txBox="1"/>
          <p:nvPr/>
        </p:nvSpPr>
        <p:spPr>
          <a:xfrm>
            <a:off x="5556179" y="2614434"/>
            <a:ext cx="6733791" cy="338554"/>
          </a:xfrm>
          <a:prstGeom prst="rect">
            <a:avLst/>
          </a:prstGeom>
          <a:noFill/>
        </p:spPr>
        <p:txBody>
          <a:bodyPr wrap="square" rtlCol="0">
            <a:spAutoFit/>
          </a:bodyPr>
          <a:lstStyle/>
          <a:p>
            <a:r>
              <a:rPr lang="tr-TR" sz="1600" dirty="0">
                <a:solidFill>
                  <a:srgbClr val="FF0000"/>
                </a:solidFill>
              </a:rPr>
              <a:t>İşlem 0, </a:t>
            </a:r>
            <a:r>
              <a:rPr lang="tr-TR" sz="1600" dirty="0" err="1">
                <a:solidFill>
                  <a:srgbClr val="FF0000"/>
                </a:solidFill>
              </a:rPr>
              <a:t>receive</a:t>
            </a:r>
            <a:r>
              <a:rPr lang="tr-TR" sz="1600" dirty="0">
                <a:solidFill>
                  <a:srgbClr val="FF0000"/>
                </a:solidFill>
              </a:rPr>
              <a:t>() fonksiyonu ile gelen mesajı alır. </a:t>
            </a:r>
          </a:p>
        </p:txBody>
      </p:sp>
      <p:sp>
        <p:nvSpPr>
          <p:cNvPr id="5" name="Dikdörtgen: Köşeleri Yuvarlatılmış 4">
            <a:extLst>
              <a:ext uri="{FF2B5EF4-FFF2-40B4-BE49-F238E27FC236}">
                <a16:creationId xmlns:a16="http://schemas.microsoft.com/office/drawing/2014/main" id="{AF9E7C82-A319-FDFE-9BB0-FEE579522E5B}"/>
              </a:ext>
            </a:extLst>
          </p:cNvPr>
          <p:cNvSpPr/>
          <p:nvPr/>
        </p:nvSpPr>
        <p:spPr>
          <a:xfrm>
            <a:off x="2409058" y="4078908"/>
            <a:ext cx="9326880" cy="473826"/>
          </a:xfrm>
          <a:prstGeom prst="round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r-TR" dirty="0"/>
          </a:p>
        </p:txBody>
      </p:sp>
    </p:spTree>
    <p:extLst>
      <p:ext uri="{BB962C8B-B14F-4D97-AF65-F5344CB8AC3E}">
        <p14:creationId xmlns:p14="http://schemas.microsoft.com/office/powerpoint/2010/main" val="105392778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973771-9CBA-4CED-16D1-EEDF831841FC}"/>
            </a:ext>
          </a:extLst>
        </p:cNvPr>
        <p:cNvGrpSpPr/>
        <p:nvPr/>
      </p:nvGrpSpPr>
      <p:grpSpPr>
        <a:xfrm>
          <a:off x="0" y="0"/>
          <a:ext cx="0" cy="0"/>
          <a:chOff x="0" y="0"/>
          <a:chExt cx="0" cy="0"/>
        </a:xfrm>
      </p:grpSpPr>
      <p:pic>
        <p:nvPicPr>
          <p:cNvPr id="4" name="Picture 2" descr="Parallel computing for high-performance simulations">
            <a:extLst>
              <a:ext uri="{FF2B5EF4-FFF2-40B4-BE49-F238E27FC236}">
                <a16:creationId xmlns:a16="http://schemas.microsoft.com/office/drawing/2014/main" id="{DB13D94C-A8D2-C303-592D-A1242C10CA38}"/>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51802" b="-1"/>
          <a:stretch/>
        </p:blipFill>
        <p:spPr bwMode="auto">
          <a:xfrm rot="5400000">
            <a:off x="-2989346" y="2971346"/>
            <a:ext cx="6876000" cy="914399"/>
          </a:xfrm>
          <a:prstGeom prst="rect">
            <a:avLst/>
          </a:prstGeom>
          <a:noFill/>
          <a:extLst>
            <a:ext uri="{909E8E84-426E-40DD-AFC4-6F175D3DCCD1}">
              <a14:hiddenFill xmlns:a14="http://schemas.microsoft.com/office/drawing/2010/main">
                <a:solidFill>
                  <a:srgbClr val="FFFFFF"/>
                </a:solidFill>
              </a14:hiddenFill>
            </a:ext>
          </a:extLst>
        </p:spPr>
      </p:pic>
      <p:sp>
        <p:nvSpPr>
          <p:cNvPr id="6" name="Metin kutusu 5">
            <a:extLst>
              <a:ext uri="{FF2B5EF4-FFF2-40B4-BE49-F238E27FC236}">
                <a16:creationId xmlns:a16="http://schemas.microsoft.com/office/drawing/2014/main" id="{68DBF6EA-4C4D-C4F2-AB9A-2CE64C2AE959}"/>
              </a:ext>
            </a:extLst>
          </p:cNvPr>
          <p:cNvSpPr txBox="1"/>
          <p:nvPr/>
        </p:nvSpPr>
        <p:spPr>
          <a:xfrm>
            <a:off x="1164349" y="184777"/>
            <a:ext cx="10688668" cy="553998"/>
          </a:xfrm>
          <a:prstGeom prst="rect">
            <a:avLst/>
          </a:prstGeom>
          <a:noFill/>
        </p:spPr>
        <p:txBody>
          <a:bodyPr wrap="square" rtlCol="0">
            <a:spAutoFit/>
          </a:bodyPr>
          <a:lstStyle/>
          <a:p>
            <a:r>
              <a:rPr lang="tr-TR" sz="3000" b="1" dirty="0">
                <a:latin typeface="Consolas" panose="020B0609020204030204" pitchFamily="49" charset="0"/>
              </a:rPr>
              <a:t>Mesaj-geçişi (Message-</a:t>
            </a:r>
            <a:r>
              <a:rPr lang="tr-TR" sz="3000" b="1" dirty="0" err="1">
                <a:latin typeface="Consolas" panose="020B0609020204030204" pitchFamily="49" charset="0"/>
              </a:rPr>
              <a:t>passing</a:t>
            </a:r>
            <a:r>
              <a:rPr lang="tr-TR" sz="3000" b="1" dirty="0">
                <a:latin typeface="Consolas" panose="020B0609020204030204" pitchFamily="49" charset="0"/>
              </a:rPr>
              <a:t>) - Örnek</a:t>
            </a:r>
          </a:p>
        </p:txBody>
      </p:sp>
      <p:pic>
        <p:nvPicPr>
          <p:cNvPr id="2" name="İçerik Yer Tutucusu 4">
            <a:extLst>
              <a:ext uri="{FF2B5EF4-FFF2-40B4-BE49-F238E27FC236}">
                <a16:creationId xmlns:a16="http://schemas.microsoft.com/office/drawing/2014/main" id="{F2744077-32BA-CE2A-A3DE-7F4A9F47D5D0}"/>
              </a:ext>
            </a:extLst>
          </p:cNvPr>
          <p:cNvPicPr>
            <a:picLocks noGrp="1" noChangeAspect="1"/>
          </p:cNvPicPr>
          <p:nvPr/>
        </p:nvPicPr>
        <p:blipFill rotWithShape="1">
          <a:blip r:embed="rId3"/>
          <a:srcRect l="9412" t="66883" r="21106" b="25018"/>
          <a:stretch/>
        </p:blipFill>
        <p:spPr>
          <a:xfrm>
            <a:off x="2686643" y="1469572"/>
            <a:ext cx="7373884" cy="364454"/>
          </a:xfrm>
          <a:prstGeom prst="rect">
            <a:avLst/>
          </a:prstGeom>
        </p:spPr>
      </p:pic>
      <p:sp>
        <p:nvSpPr>
          <p:cNvPr id="7" name="Dikdörtgen: Köşeleri Yuvarlatılmış 6">
            <a:extLst>
              <a:ext uri="{FF2B5EF4-FFF2-40B4-BE49-F238E27FC236}">
                <a16:creationId xmlns:a16="http://schemas.microsoft.com/office/drawing/2014/main" id="{11FE8CF4-FCB6-A129-4451-A34E197FADE7}"/>
              </a:ext>
            </a:extLst>
          </p:cNvPr>
          <p:cNvSpPr/>
          <p:nvPr/>
        </p:nvSpPr>
        <p:spPr>
          <a:xfrm>
            <a:off x="4384815" y="1398084"/>
            <a:ext cx="1444485" cy="435942"/>
          </a:xfrm>
          <a:prstGeom prst="round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r-TR" dirty="0"/>
          </a:p>
        </p:txBody>
      </p:sp>
      <p:sp>
        <p:nvSpPr>
          <p:cNvPr id="8" name="Dikdörtgen: Köşeleri Yuvarlatılmış 7">
            <a:extLst>
              <a:ext uri="{FF2B5EF4-FFF2-40B4-BE49-F238E27FC236}">
                <a16:creationId xmlns:a16="http://schemas.microsoft.com/office/drawing/2014/main" id="{D8EA2B7A-1C02-535C-99CD-399F266E0D56}"/>
              </a:ext>
            </a:extLst>
          </p:cNvPr>
          <p:cNvSpPr/>
          <p:nvPr/>
        </p:nvSpPr>
        <p:spPr>
          <a:xfrm>
            <a:off x="6165604" y="1398084"/>
            <a:ext cx="1753753" cy="435942"/>
          </a:xfrm>
          <a:prstGeom prst="roundRect">
            <a:avLst/>
          </a:prstGeom>
          <a:noFill/>
          <a:ln>
            <a:solidFill>
              <a:schemeClr val="accent4">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r-TR" dirty="0"/>
          </a:p>
        </p:txBody>
      </p:sp>
      <p:sp>
        <p:nvSpPr>
          <p:cNvPr id="9" name="Dikdörtgen: Köşeleri Yuvarlatılmış 8">
            <a:extLst>
              <a:ext uri="{FF2B5EF4-FFF2-40B4-BE49-F238E27FC236}">
                <a16:creationId xmlns:a16="http://schemas.microsoft.com/office/drawing/2014/main" id="{8613FF05-8ECC-FFBB-1974-0B68C8DDC9A9}"/>
              </a:ext>
            </a:extLst>
          </p:cNvPr>
          <p:cNvSpPr/>
          <p:nvPr/>
        </p:nvSpPr>
        <p:spPr>
          <a:xfrm>
            <a:off x="8162158" y="1398084"/>
            <a:ext cx="720585" cy="435942"/>
          </a:xfrm>
          <a:prstGeom prst="roundRect">
            <a:avLst/>
          </a:prstGeom>
          <a:noFill/>
          <a:ln>
            <a:solidFill>
              <a:schemeClr val="accent3">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r-TR" dirty="0"/>
          </a:p>
        </p:txBody>
      </p:sp>
      <p:sp>
        <p:nvSpPr>
          <p:cNvPr id="10" name="Dikdörtgen: Köşeleri Yuvarlatılmış 9">
            <a:extLst>
              <a:ext uri="{FF2B5EF4-FFF2-40B4-BE49-F238E27FC236}">
                <a16:creationId xmlns:a16="http://schemas.microsoft.com/office/drawing/2014/main" id="{DC65582E-BC1D-341B-8364-B1A5E510FB2D}"/>
              </a:ext>
            </a:extLst>
          </p:cNvPr>
          <p:cNvSpPr/>
          <p:nvPr/>
        </p:nvSpPr>
        <p:spPr>
          <a:xfrm>
            <a:off x="9166364" y="1398084"/>
            <a:ext cx="379813" cy="435942"/>
          </a:xfrm>
          <a:prstGeom prst="roundRect">
            <a:avLst/>
          </a:prstGeom>
          <a:noFill/>
          <a:ln>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r-TR" dirty="0"/>
          </a:p>
        </p:txBody>
      </p:sp>
      <p:sp>
        <p:nvSpPr>
          <p:cNvPr id="11" name="Metin kutusu 10">
            <a:extLst>
              <a:ext uri="{FF2B5EF4-FFF2-40B4-BE49-F238E27FC236}">
                <a16:creationId xmlns:a16="http://schemas.microsoft.com/office/drawing/2014/main" id="{BE230BD0-9C74-85A4-87B1-CAB60C22F30B}"/>
              </a:ext>
            </a:extLst>
          </p:cNvPr>
          <p:cNvSpPr txBox="1"/>
          <p:nvPr/>
        </p:nvSpPr>
        <p:spPr>
          <a:xfrm>
            <a:off x="4792435" y="1933035"/>
            <a:ext cx="1104899" cy="584775"/>
          </a:xfrm>
          <a:prstGeom prst="rect">
            <a:avLst/>
          </a:prstGeom>
          <a:noFill/>
        </p:spPr>
        <p:txBody>
          <a:bodyPr wrap="square" rtlCol="0">
            <a:spAutoFit/>
          </a:bodyPr>
          <a:lstStyle/>
          <a:p>
            <a:r>
              <a:rPr lang="tr-TR" sz="1600" dirty="0">
                <a:solidFill>
                  <a:srgbClr val="FF0000"/>
                </a:solidFill>
              </a:rPr>
              <a:t>Mesaj içeriği</a:t>
            </a:r>
          </a:p>
        </p:txBody>
      </p:sp>
      <p:sp>
        <p:nvSpPr>
          <p:cNvPr id="12" name="Metin kutusu 11">
            <a:extLst>
              <a:ext uri="{FF2B5EF4-FFF2-40B4-BE49-F238E27FC236}">
                <a16:creationId xmlns:a16="http://schemas.microsoft.com/office/drawing/2014/main" id="{6FAD748C-F956-CD25-C550-7C480E070881}"/>
              </a:ext>
            </a:extLst>
          </p:cNvPr>
          <p:cNvSpPr txBox="1"/>
          <p:nvPr/>
        </p:nvSpPr>
        <p:spPr>
          <a:xfrm>
            <a:off x="6566809" y="1933035"/>
            <a:ext cx="1039585" cy="584776"/>
          </a:xfrm>
          <a:prstGeom prst="rect">
            <a:avLst/>
          </a:prstGeom>
          <a:noFill/>
        </p:spPr>
        <p:txBody>
          <a:bodyPr wrap="square" rtlCol="0">
            <a:spAutoFit/>
          </a:bodyPr>
          <a:lstStyle/>
          <a:p>
            <a:pPr algn="ctr"/>
            <a:r>
              <a:rPr lang="tr-TR" sz="1600" dirty="0">
                <a:solidFill>
                  <a:schemeClr val="accent1">
                    <a:lumMod val="75000"/>
                  </a:schemeClr>
                </a:solidFill>
              </a:rPr>
              <a:t>Mesaj türü</a:t>
            </a:r>
          </a:p>
        </p:txBody>
      </p:sp>
      <p:sp>
        <p:nvSpPr>
          <p:cNvPr id="13" name="Metin kutusu 12">
            <a:extLst>
              <a:ext uri="{FF2B5EF4-FFF2-40B4-BE49-F238E27FC236}">
                <a16:creationId xmlns:a16="http://schemas.microsoft.com/office/drawing/2014/main" id="{86713B9C-B3CB-96B6-15AF-884F9146BED5}"/>
              </a:ext>
            </a:extLst>
          </p:cNvPr>
          <p:cNvSpPr txBox="1"/>
          <p:nvPr/>
        </p:nvSpPr>
        <p:spPr>
          <a:xfrm>
            <a:off x="8002657" y="1908559"/>
            <a:ext cx="1039585" cy="584775"/>
          </a:xfrm>
          <a:prstGeom prst="rect">
            <a:avLst/>
          </a:prstGeom>
          <a:noFill/>
        </p:spPr>
        <p:txBody>
          <a:bodyPr wrap="square" rtlCol="0">
            <a:spAutoFit/>
          </a:bodyPr>
          <a:lstStyle/>
          <a:p>
            <a:pPr algn="ctr"/>
            <a:r>
              <a:rPr lang="tr-TR" sz="1600" dirty="0">
                <a:solidFill>
                  <a:schemeClr val="accent3">
                    <a:lumMod val="60000"/>
                    <a:lumOff val="40000"/>
                  </a:schemeClr>
                </a:solidFill>
              </a:rPr>
              <a:t>Mesaj uzunluğu</a:t>
            </a:r>
          </a:p>
        </p:txBody>
      </p:sp>
      <p:sp>
        <p:nvSpPr>
          <p:cNvPr id="14" name="Metin kutusu 13">
            <a:extLst>
              <a:ext uri="{FF2B5EF4-FFF2-40B4-BE49-F238E27FC236}">
                <a16:creationId xmlns:a16="http://schemas.microsoft.com/office/drawing/2014/main" id="{28BC6DDA-D9C1-A884-8FF7-220E62B58FB9}"/>
              </a:ext>
            </a:extLst>
          </p:cNvPr>
          <p:cNvSpPr txBox="1"/>
          <p:nvPr/>
        </p:nvSpPr>
        <p:spPr>
          <a:xfrm>
            <a:off x="9264122" y="1905514"/>
            <a:ext cx="2294167" cy="584775"/>
          </a:xfrm>
          <a:prstGeom prst="rect">
            <a:avLst/>
          </a:prstGeom>
          <a:noFill/>
        </p:spPr>
        <p:txBody>
          <a:bodyPr wrap="square" rtlCol="0">
            <a:spAutoFit/>
          </a:bodyPr>
          <a:lstStyle/>
          <a:p>
            <a:pPr algn="ctr"/>
            <a:r>
              <a:rPr lang="tr-TR" sz="1600" dirty="0">
                <a:solidFill>
                  <a:srgbClr val="FFC000"/>
                </a:solidFill>
              </a:rPr>
              <a:t>Mesajı gönderen işlem (kaynak)</a:t>
            </a:r>
          </a:p>
        </p:txBody>
      </p:sp>
      <p:sp>
        <p:nvSpPr>
          <p:cNvPr id="16" name="Metin kutusu 15">
            <a:extLst>
              <a:ext uri="{FF2B5EF4-FFF2-40B4-BE49-F238E27FC236}">
                <a16:creationId xmlns:a16="http://schemas.microsoft.com/office/drawing/2014/main" id="{FF617449-CD6B-5BA9-3233-31DAA774631C}"/>
              </a:ext>
            </a:extLst>
          </p:cNvPr>
          <p:cNvSpPr txBox="1"/>
          <p:nvPr/>
        </p:nvSpPr>
        <p:spPr>
          <a:xfrm>
            <a:off x="1433426" y="2816618"/>
            <a:ext cx="4088946" cy="3693319"/>
          </a:xfrm>
          <a:prstGeom prst="rect">
            <a:avLst/>
          </a:prstGeom>
          <a:noFill/>
          <a:ln>
            <a:solidFill>
              <a:srgbClr val="00B0F0"/>
            </a:solidFill>
          </a:ln>
        </p:spPr>
        <p:txBody>
          <a:bodyPr wrap="square">
            <a:spAutoFit/>
          </a:bodyPr>
          <a:lstStyle/>
          <a:p>
            <a:r>
              <a:rPr lang="tr-TR" b="0" i="0" dirty="0" err="1">
                <a:solidFill>
                  <a:schemeClr val="tx1">
                    <a:lumMod val="95000"/>
                    <a:lumOff val="5000"/>
                  </a:schemeClr>
                </a:solidFill>
                <a:effectLst/>
                <a:latin typeface="Söhne Mono"/>
              </a:rPr>
              <a:t>process</a:t>
            </a:r>
            <a:r>
              <a:rPr lang="tr-TR" b="0" i="0" dirty="0">
                <a:solidFill>
                  <a:schemeClr val="tx1">
                    <a:lumMod val="95000"/>
                    <a:lumOff val="5000"/>
                  </a:schemeClr>
                </a:solidFill>
                <a:effectLst/>
                <a:latin typeface="Söhne Mono"/>
              </a:rPr>
              <a:t> A</a:t>
            </a:r>
          </a:p>
          <a:p>
            <a:r>
              <a:rPr lang="tr-TR" b="0" i="0" dirty="0">
                <a:solidFill>
                  <a:schemeClr val="tx1">
                    <a:lumMod val="95000"/>
                    <a:lumOff val="5000"/>
                  </a:schemeClr>
                </a:solidFill>
                <a:effectLst/>
                <a:latin typeface="Söhne Mono"/>
              </a:rPr>
              <a:t>    // Başka bir işlemciden mesaj al</a:t>
            </a:r>
          </a:p>
          <a:p>
            <a:r>
              <a:rPr lang="tr-TR" b="0" i="0" dirty="0">
                <a:solidFill>
                  <a:schemeClr val="tx1">
                    <a:lumMod val="95000"/>
                    <a:lumOff val="5000"/>
                  </a:schemeClr>
                </a:solidFill>
                <a:effectLst/>
                <a:latin typeface="Söhne Mono"/>
              </a:rPr>
              <a:t>    </a:t>
            </a:r>
            <a:r>
              <a:rPr lang="tr-TR" b="0" i="0" dirty="0" err="1">
                <a:solidFill>
                  <a:schemeClr val="tx1">
                    <a:lumMod val="95000"/>
                    <a:lumOff val="5000"/>
                  </a:schemeClr>
                </a:solidFill>
                <a:effectLst/>
                <a:latin typeface="Söhne Mono"/>
              </a:rPr>
              <a:t>message</a:t>
            </a:r>
            <a:r>
              <a:rPr lang="tr-TR" b="0" i="0" dirty="0">
                <a:solidFill>
                  <a:schemeClr val="tx1">
                    <a:lumMod val="95000"/>
                    <a:lumOff val="5000"/>
                  </a:schemeClr>
                </a:solidFill>
                <a:effectLst/>
                <a:latin typeface="Söhne Mono"/>
              </a:rPr>
              <a:t> = </a:t>
            </a:r>
            <a:r>
              <a:rPr lang="tr-TR" b="0" i="0" dirty="0" err="1">
                <a:solidFill>
                  <a:srgbClr val="00B0F0"/>
                </a:solidFill>
                <a:effectLst/>
                <a:latin typeface="Söhne Mono"/>
              </a:rPr>
              <a:t>receive_message</a:t>
            </a:r>
            <a:r>
              <a:rPr lang="tr-TR" b="0" i="0" dirty="0">
                <a:solidFill>
                  <a:srgbClr val="00B0F0"/>
                </a:solidFill>
                <a:effectLst/>
                <a:latin typeface="Söhne Mono"/>
              </a:rPr>
              <a:t>()</a:t>
            </a:r>
          </a:p>
          <a:p>
            <a:endParaRPr lang="tr-TR" b="0" i="0" dirty="0">
              <a:solidFill>
                <a:schemeClr val="tx1">
                  <a:lumMod val="95000"/>
                  <a:lumOff val="5000"/>
                </a:schemeClr>
              </a:solidFill>
              <a:effectLst/>
              <a:latin typeface="Söhne Mono"/>
            </a:endParaRPr>
          </a:p>
          <a:p>
            <a:r>
              <a:rPr lang="tr-TR" b="0" i="0" dirty="0">
                <a:solidFill>
                  <a:schemeClr val="tx1">
                    <a:lumMod val="95000"/>
                    <a:lumOff val="5000"/>
                  </a:schemeClr>
                </a:solidFill>
                <a:effectLst/>
                <a:latin typeface="Söhne Mono"/>
              </a:rPr>
              <a:t>    // Mesajı işle</a:t>
            </a:r>
          </a:p>
          <a:p>
            <a:r>
              <a:rPr lang="tr-TR" b="0" i="0" dirty="0">
                <a:solidFill>
                  <a:schemeClr val="tx1">
                    <a:lumMod val="95000"/>
                    <a:lumOff val="5000"/>
                  </a:schemeClr>
                </a:solidFill>
                <a:effectLst/>
                <a:latin typeface="Söhne Mono"/>
              </a:rPr>
              <a:t>    </a:t>
            </a:r>
            <a:r>
              <a:rPr lang="tr-TR" b="0" i="0" dirty="0" err="1">
                <a:solidFill>
                  <a:srgbClr val="FFC000"/>
                </a:solidFill>
                <a:effectLst/>
                <a:latin typeface="Söhne Mono"/>
              </a:rPr>
              <a:t>process_message</a:t>
            </a:r>
            <a:r>
              <a:rPr lang="tr-TR" b="0" i="0" dirty="0">
                <a:solidFill>
                  <a:schemeClr val="tx1">
                    <a:lumMod val="95000"/>
                    <a:lumOff val="5000"/>
                  </a:schemeClr>
                </a:solidFill>
                <a:effectLst/>
                <a:latin typeface="Söhne Mono"/>
              </a:rPr>
              <a:t>(</a:t>
            </a:r>
            <a:r>
              <a:rPr lang="tr-TR" b="0" i="0" dirty="0" err="1">
                <a:solidFill>
                  <a:schemeClr val="tx1">
                    <a:lumMod val="95000"/>
                    <a:lumOff val="5000"/>
                  </a:schemeClr>
                </a:solidFill>
                <a:effectLst/>
                <a:latin typeface="Söhne Mono"/>
              </a:rPr>
              <a:t>message</a:t>
            </a:r>
            <a:r>
              <a:rPr lang="tr-TR" b="0" i="0" dirty="0">
                <a:solidFill>
                  <a:schemeClr val="tx1">
                    <a:lumMod val="95000"/>
                    <a:lumOff val="5000"/>
                  </a:schemeClr>
                </a:solidFill>
                <a:effectLst/>
                <a:latin typeface="Söhne Mono"/>
              </a:rPr>
              <a:t>)</a:t>
            </a:r>
          </a:p>
          <a:p>
            <a:endParaRPr lang="tr-TR" b="0" i="0" dirty="0">
              <a:solidFill>
                <a:schemeClr val="tx1">
                  <a:lumMod val="95000"/>
                  <a:lumOff val="5000"/>
                </a:schemeClr>
              </a:solidFill>
              <a:effectLst/>
              <a:latin typeface="Söhne Mono"/>
            </a:endParaRPr>
          </a:p>
          <a:p>
            <a:r>
              <a:rPr lang="tr-TR" b="0" i="0" dirty="0" err="1">
                <a:solidFill>
                  <a:schemeClr val="tx1">
                    <a:lumMod val="95000"/>
                    <a:lumOff val="5000"/>
                  </a:schemeClr>
                </a:solidFill>
                <a:effectLst/>
                <a:latin typeface="Söhne Mono"/>
              </a:rPr>
              <a:t>process</a:t>
            </a:r>
            <a:r>
              <a:rPr lang="tr-TR" b="0" i="0" dirty="0">
                <a:solidFill>
                  <a:schemeClr val="tx1">
                    <a:lumMod val="95000"/>
                    <a:lumOff val="5000"/>
                  </a:schemeClr>
                </a:solidFill>
                <a:effectLst/>
                <a:latin typeface="Söhne Mono"/>
              </a:rPr>
              <a:t> B</a:t>
            </a:r>
          </a:p>
          <a:p>
            <a:r>
              <a:rPr lang="tr-TR" b="0" i="0" dirty="0">
                <a:solidFill>
                  <a:schemeClr val="tx1">
                    <a:lumMod val="95000"/>
                    <a:lumOff val="5000"/>
                  </a:schemeClr>
                </a:solidFill>
                <a:effectLst/>
                <a:latin typeface="Söhne Mono"/>
              </a:rPr>
              <a:t>    // Mesajı oluştur</a:t>
            </a:r>
          </a:p>
          <a:p>
            <a:r>
              <a:rPr lang="tr-TR" b="0" i="0" dirty="0">
                <a:solidFill>
                  <a:schemeClr val="tx1">
                    <a:lumMod val="95000"/>
                    <a:lumOff val="5000"/>
                  </a:schemeClr>
                </a:solidFill>
                <a:effectLst/>
                <a:latin typeface="Söhne Mono"/>
              </a:rPr>
              <a:t>    </a:t>
            </a:r>
            <a:r>
              <a:rPr lang="tr-TR" b="0" i="0" dirty="0" err="1">
                <a:solidFill>
                  <a:schemeClr val="tx1">
                    <a:lumMod val="95000"/>
                    <a:lumOff val="5000"/>
                  </a:schemeClr>
                </a:solidFill>
                <a:effectLst/>
                <a:latin typeface="Söhne Mono"/>
              </a:rPr>
              <a:t>message</a:t>
            </a:r>
            <a:r>
              <a:rPr lang="tr-TR" b="0" i="0" dirty="0">
                <a:solidFill>
                  <a:schemeClr val="tx1">
                    <a:lumMod val="95000"/>
                    <a:lumOff val="5000"/>
                  </a:schemeClr>
                </a:solidFill>
                <a:effectLst/>
                <a:latin typeface="Söhne Mono"/>
              </a:rPr>
              <a:t> = </a:t>
            </a:r>
            <a:r>
              <a:rPr lang="tr-TR" b="0" i="0" dirty="0" err="1">
                <a:solidFill>
                  <a:srgbClr val="FFC000"/>
                </a:solidFill>
                <a:effectLst/>
                <a:latin typeface="Söhne Mono"/>
              </a:rPr>
              <a:t>create_message</a:t>
            </a:r>
            <a:r>
              <a:rPr lang="tr-TR" b="0" i="0" dirty="0">
                <a:solidFill>
                  <a:schemeClr val="tx1">
                    <a:lumMod val="95000"/>
                    <a:lumOff val="5000"/>
                  </a:schemeClr>
                </a:solidFill>
                <a:effectLst/>
                <a:latin typeface="Söhne Mono"/>
              </a:rPr>
              <a:t>(data)</a:t>
            </a:r>
          </a:p>
          <a:p>
            <a:endParaRPr lang="tr-TR" b="0" i="0" dirty="0">
              <a:solidFill>
                <a:schemeClr val="tx1">
                  <a:lumMod val="95000"/>
                  <a:lumOff val="5000"/>
                </a:schemeClr>
              </a:solidFill>
              <a:effectLst/>
              <a:latin typeface="Söhne Mono"/>
            </a:endParaRPr>
          </a:p>
          <a:p>
            <a:r>
              <a:rPr lang="tr-TR" b="0" i="0" dirty="0">
                <a:solidFill>
                  <a:schemeClr val="tx1">
                    <a:lumMod val="95000"/>
                    <a:lumOff val="5000"/>
                  </a:schemeClr>
                </a:solidFill>
                <a:effectLst/>
                <a:latin typeface="Söhne Mono"/>
              </a:rPr>
              <a:t>    // Mesajı başka bir işlemciye gönder</a:t>
            </a:r>
          </a:p>
          <a:p>
            <a:r>
              <a:rPr lang="tr-TR" b="0" i="0" dirty="0">
                <a:solidFill>
                  <a:schemeClr val="tx1">
                    <a:lumMod val="95000"/>
                    <a:lumOff val="5000"/>
                  </a:schemeClr>
                </a:solidFill>
                <a:effectLst/>
                <a:latin typeface="Söhne Mono"/>
              </a:rPr>
              <a:t>    </a:t>
            </a:r>
            <a:r>
              <a:rPr lang="tr-TR" b="0" i="0" dirty="0" err="1">
                <a:solidFill>
                  <a:srgbClr val="00B0F0"/>
                </a:solidFill>
                <a:effectLst/>
                <a:latin typeface="Söhne Mono"/>
              </a:rPr>
              <a:t>send_message</a:t>
            </a:r>
            <a:r>
              <a:rPr lang="tr-TR" b="0" i="0" dirty="0">
                <a:solidFill>
                  <a:srgbClr val="00B0F0"/>
                </a:solidFill>
                <a:effectLst/>
                <a:latin typeface="Söhne Mono"/>
              </a:rPr>
              <a:t>(</a:t>
            </a:r>
            <a:r>
              <a:rPr lang="tr-TR" b="0" i="0" dirty="0" err="1">
                <a:solidFill>
                  <a:srgbClr val="00B0F0"/>
                </a:solidFill>
                <a:effectLst/>
                <a:latin typeface="Söhne Mono"/>
              </a:rPr>
              <a:t>message</a:t>
            </a:r>
            <a:r>
              <a:rPr lang="tr-TR" b="0" i="0" dirty="0">
                <a:solidFill>
                  <a:srgbClr val="00B0F0"/>
                </a:solidFill>
                <a:effectLst/>
                <a:latin typeface="Söhne Mono"/>
              </a:rPr>
              <a:t>, </a:t>
            </a:r>
            <a:r>
              <a:rPr lang="tr-TR" b="0" i="0" dirty="0" err="1">
                <a:solidFill>
                  <a:srgbClr val="00B0F0"/>
                </a:solidFill>
                <a:effectLst/>
                <a:latin typeface="Söhne Mono"/>
              </a:rPr>
              <a:t>destination</a:t>
            </a:r>
            <a:r>
              <a:rPr lang="tr-TR" b="0" i="0" dirty="0">
                <a:solidFill>
                  <a:srgbClr val="00B0F0"/>
                </a:solidFill>
                <a:effectLst/>
                <a:latin typeface="Söhne Mono"/>
              </a:rPr>
              <a:t>)</a:t>
            </a:r>
          </a:p>
        </p:txBody>
      </p:sp>
      <p:sp>
        <p:nvSpPr>
          <p:cNvPr id="18" name="Metin kutusu 17">
            <a:extLst>
              <a:ext uri="{FF2B5EF4-FFF2-40B4-BE49-F238E27FC236}">
                <a16:creationId xmlns:a16="http://schemas.microsoft.com/office/drawing/2014/main" id="{9A5C4A83-737F-77D3-66FE-0487ECA38127}"/>
              </a:ext>
            </a:extLst>
          </p:cNvPr>
          <p:cNvSpPr txBox="1"/>
          <p:nvPr/>
        </p:nvSpPr>
        <p:spPr>
          <a:xfrm>
            <a:off x="5681278" y="3657028"/>
            <a:ext cx="6261546" cy="1815882"/>
          </a:xfrm>
          <a:prstGeom prst="rect">
            <a:avLst/>
          </a:prstGeom>
          <a:noFill/>
        </p:spPr>
        <p:txBody>
          <a:bodyPr wrap="square">
            <a:spAutoFit/>
          </a:bodyPr>
          <a:lstStyle/>
          <a:p>
            <a:pPr algn="just"/>
            <a:r>
              <a:rPr lang="tr-TR" sz="1600" b="0" i="0" dirty="0">
                <a:solidFill>
                  <a:schemeClr val="tx1">
                    <a:lumMod val="85000"/>
                    <a:lumOff val="15000"/>
                  </a:schemeClr>
                </a:solidFill>
                <a:effectLst/>
                <a:latin typeface="Söhne"/>
              </a:rPr>
              <a:t>Bu </a:t>
            </a:r>
            <a:r>
              <a:rPr lang="tr-TR" sz="1600" b="0" i="0" dirty="0" err="1">
                <a:solidFill>
                  <a:schemeClr val="tx1">
                    <a:lumMod val="85000"/>
                    <a:lumOff val="15000"/>
                  </a:schemeClr>
                </a:solidFill>
                <a:effectLst/>
                <a:latin typeface="Söhne"/>
              </a:rPr>
              <a:t>pseudo</a:t>
            </a:r>
            <a:r>
              <a:rPr lang="tr-TR" sz="1600" b="0" i="0" dirty="0">
                <a:solidFill>
                  <a:schemeClr val="tx1">
                    <a:lumMod val="85000"/>
                    <a:lumOff val="15000"/>
                  </a:schemeClr>
                </a:solidFill>
                <a:effectLst/>
                <a:latin typeface="Söhne"/>
              </a:rPr>
              <a:t> </a:t>
            </a:r>
            <a:r>
              <a:rPr lang="tr-TR" sz="1600" b="0" i="0" dirty="0" err="1">
                <a:solidFill>
                  <a:schemeClr val="tx1">
                    <a:lumMod val="85000"/>
                    <a:lumOff val="15000"/>
                  </a:schemeClr>
                </a:solidFill>
                <a:effectLst/>
                <a:latin typeface="Söhne"/>
              </a:rPr>
              <a:t>code'da</a:t>
            </a:r>
            <a:r>
              <a:rPr lang="tr-TR" sz="1600" b="0" i="0" dirty="0">
                <a:solidFill>
                  <a:schemeClr val="tx1">
                    <a:lumMod val="85000"/>
                    <a:lumOff val="15000"/>
                  </a:schemeClr>
                </a:solidFill>
                <a:effectLst/>
                <a:latin typeface="Söhne"/>
              </a:rPr>
              <a:t>, işlemci A bir mesaj alır ve bu mesajı işler. İşlemci B ise bir mesaj oluşturur ve bu mesajı belirli bir hedef işlemciye gönderir. Mesaj iletimi, işlemciler arasında iletişimi sağlamak için kullanılan belirli bir iletişim mekanizmasına (örneğin, network </a:t>
            </a:r>
            <a:r>
              <a:rPr lang="tr-TR" sz="1600" b="0" i="0" dirty="0" err="1">
                <a:solidFill>
                  <a:schemeClr val="tx1">
                    <a:lumMod val="85000"/>
                    <a:lumOff val="15000"/>
                  </a:schemeClr>
                </a:solidFill>
                <a:effectLst/>
                <a:latin typeface="Söhne"/>
              </a:rPr>
              <a:t>socket</a:t>
            </a:r>
            <a:r>
              <a:rPr lang="tr-TR" sz="1600" b="0" i="0" dirty="0">
                <a:solidFill>
                  <a:schemeClr val="tx1">
                    <a:lumMod val="85000"/>
                    <a:lumOff val="15000"/>
                  </a:schemeClr>
                </a:solidFill>
                <a:effectLst/>
                <a:latin typeface="Söhne"/>
              </a:rPr>
              <a:t> veya </a:t>
            </a:r>
            <a:r>
              <a:rPr lang="tr-TR" sz="1600" b="0" i="0" dirty="0" err="1">
                <a:solidFill>
                  <a:schemeClr val="tx1">
                    <a:lumMod val="85000"/>
                    <a:lumOff val="15000"/>
                  </a:schemeClr>
                </a:solidFill>
                <a:effectLst/>
                <a:latin typeface="Söhne"/>
              </a:rPr>
              <a:t>shared</a:t>
            </a:r>
            <a:r>
              <a:rPr lang="tr-TR" sz="1600" b="0" i="0" dirty="0">
                <a:solidFill>
                  <a:schemeClr val="tx1">
                    <a:lumMod val="85000"/>
                    <a:lumOff val="15000"/>
                  </a:schemeClr>
                </a:solidFill>
                <a:effectLst/>
                <a:latin typeface="Söhne"/>
              </a:rPr>
              <a:t> </a:t>
            </a:r>
            <a:r>
              <a:rPr lang="tr-TR" sz="1600" b="0" i="0" dirty="0" err="1">
                <a:solidFill>
                  <a:schemeClr val="tx1">
                    <a:lumMod val="85000"/>
                    <a:lumOff val="15000"/>
                  </a:schemeClr>
                </a:solidFill>
                <a:effectLst/>
                <a:latin typeface="Söhne"/>
              </a:rPr>
              <a:t>memory</a:t>
            </a:r>
            <a:r>
              <a:rPr lang="tr-TR" sz="1600" b="0" i="0" dirty="0">
                <a:solidFill>
                  <a:schemeClr val="tx1">
                    <a:lumMod val="85000"/>
                    <a:lumOff val="15000"/>
                  </a:schemeClr>
                </a:solidFill>
                <a:effectLst/>
                <a:latin typeface="Söhne"/>
              </a:rPr>
              <a:t>) dayanır. </a:t>
            </a:r>
          </a:p>
          <a:p>
            <a:pPr algn="just"/>
            <a:r>
              <a:rPr lang="tr-TR" sz="1600" b="0" i="0" dirty="0">
                <a:solidFill>
                  <a:schemeClr val="tx1">
                    <a:lumMod val="85000"/>
                    <a:lumOff val="15000"/>
                  </a:schemeClr>
                </a:solidFill>
                <a:effectLst/>
                <a:latin typeface="Söhne"/>
              </a:rPr>
              <a:t>Gerçek mesaj geçiş uygulaması, kullanılan programlama diline, platforma ve iletişim ihtiyaçlarına bağlı olarak değişebilir.</a:t>
            </a:r>
            <a:endParaRPr lang="tr-TR" sz="1600" dirty="0">
              <a:solidFill>
                <a:schemeClr val="tx1">
                  <a:lumMod val="85000"/>
                  <a:lumOff val="15000"/>
                </a:schemeClr>
              </a:solidFill>
            </a:endParaRPr>
          </a:p>
        </p:txBody>
      </p:sp>
    </p:spTree>
    <p:extLst>
      <p:ext uri="{BB962C8B-B14F-4D97-AF65-F5344CB8AC3E}">
        <p14:creationId xmlns:p14="http://schemas.microsoft.com/office/powerpoint/2010/main" val="340927085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973771-9CBA-4CED-16D1-EEDF831841FC}"/>
            </a:ext>
          </a:extLst>
        </p:cNvPr>
        <p:cNvGrpSpPr/>
        <p:nvPr/>
      </p:nvGrpSpPr>
      <p:grpSpPr>
        <a:xfrm>
          <a:off x="0" y="0"/>
          <a:ext cx="0" cy="0"/>
          <a:chOff x="0" y="0"/>
          <a:chExt cx="0" cy="0"/>
        </a:xfrm>
      </p:grpSpPr>
      <p:pic>
        <p:nvPicPr>
          <p:cNvPr id="4" name="Picture 2" descr="Parallel computing for high-performance simulations">
            <a:extLst>
              <a:ext uri="{FF2B5EF4-FFF2-40B4-BE49-F238E27FC236}">
                <a16:creationId xmlns:a16="http://schemas.microsoft.com/office/drawing/2014/main" id="{DB13D94C-A8D2-C303-592D-A1242C10CA38}"/>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51802" b="-1"/>
          <a:stretch/>
        </p:blipFill>
        <p:spPr bwMode="auto">
          <a:xfrm rot="5400000">
            <a:off x="-2989346" y="2971346"/>
            <a:ext cx="6876000" cy="914399"/>
          </a:xfrm>
          <a:prstGeom prst="rect">
            <a:avLst/>
          </a:prstGeom>
          <a:noFill/>
          <a:extLst>
            <a:ext uri="{909E8E84-426E-40DD-AFC4-6F175D3DCCD1}">
              <a14:hiddenFill xmlns:a14="http://schemas.microsoft.com/office/drawing/2010/main">
                <a:solidFill>
                  <a:srgbClr val="FFFFFF"/>
                </a:solidFill>
              </a14:hiddenFill>
            </a:ext>
          </a:extLst>
        </p:spPr>
      </p:pic>
      <p:sp>
        <p:nvSpPr>
          <p:cNvPr id="6" name="Metin kutusu 5">
            <a:extLst>
              <a:ext uri="{FF2B5EF4-FFF2-40B4-BE49-F238E27FC236}">
                <a16:creationId xmlns:a16="http://schemas.microsoft.com/office/drawing/2014/main" id="{68DBF6EA-4C4D-C4F2-AB9A-2CE64C2AE959}"/>
              </a:ext>
            </a:extLst>
          </p:cNvPr>
          <p:cNvSpPr txBox="1"/>
          <p:nvPr/>
        </p:nvSpPr>
        <p:spPr>
          <a:xfrm>
            <a:off x="1164349" y="184777"/>
            <a:ext cx="10688668" cy="553998"/>
          </a:xfrm>
          <a:prstGeom prst="rect">
            <a:avLst/>
          </a:prstGeom>
          <a:noFill/>
        </p:spPr>
        <p:txBody>
          <a:bodyPr wrap="square" rtlCol="0">
            <a:spAutoFit/>
          </a:bodyPr>
          <a:lstStyle/>
          <a:p>
            <a:r>
              <a:rPr lang="en-US" sz="3000" b="1" dirty="0">
                <a:latin typeface="Consolas" panose="020B0609020204030204" pitchFamily="49" charset="0"/>
              </a:rPr>
              <a:t>Tek </a:t>
            </a:r>
            <a:r>
              <a:rPr lang="en-US" sz="3000" b="1" dirty="0" err="1">
                <a:latin typeface="Consolas" panose="020B0609020204030204" pitchFamily="49" charset="0"/>
              </a:rPr>
              <a:t>taraflı</a:t>
            </a:r>
            <a:r>
              <a:rPr lang="en-US" sz="3000" b="1" dirty="0">
                <a:latin typeface="Consolas" panose="020B0609020204030204" pitchFamily="49" charset="0"/>
              </a:rPr>
              <a:t> </a:t>
            </a:r>
            <a:r>
              <a:rPr lang="en-US" sz="3000" b="1" dirty="0" err="1">
                <a:latin typeface="Consolas" panose="020B0609020204030204" pitchFamily="49" charset="0"/>
              </a:rPr>
              <a:t>iletişim</a:t>
            </a:r>
            <a:r>
              <a:rPr lang="en-US" sz="3000" b="1" dirty="0">
                <a:latin typeface="Consolas" panose="020B0609020204030204" pitchFamily="49" charset="0"/>
              </a:rPr>
              <a:t> (One-sided communication)</a:t>
            </a:r>
            <a:endParaRPr lang="tr-TR" sz="3000" b="1" dirty="0">
              <a:latin typeface="Consolas" panose="020B0609020204030204" pitchFamily="49" charset="0"/>
            </a:endParaRPr>
          </a:p>
        </p:txBody>
      </p:sp>
      <p:sp>
        <p:nvSpPr>
          <p:cNvPr id="7" name="Metin kutusu 6">
            <a:extLst>
              <a:ext uri="{FF2B5EF4-FFF2-40B4-BE49-F238E27FC236}">
                <a16:creationId xmlns:a16="http://schemas.microsoft.com/office/drawing/2014/main" id="{A10FF1FF-D648-9D8B-2317-B6ADEE656A7D}"/>
              </a:ext>
            </a:extLst>
          </p:cNvPr>
          <p:cNvSpPr txBox="1"/>
          <p:nvPr/>
        </p:nvSpPr>
        <p:spPr>
          <a:xfrm>
            <a:off x="1164348" y="759758"/>
            <a:ext cx="10688667" cy="5632311"/>
          </a:xfrm>
          <a:prstGeom prst="rect">
            <a:avLst/>
          </a:prstGeom>
          <a:noFill/>
        </p:spPr>
        <p:txBody>
          <a:bodyPr wrap="square" rtlCol="0">
            <a:spAutoFit/>
          </a:bodyPr>
          <a:lstStyle/>
          <a:p>
            <a:pPr marL="457200" indent="-457200" algn="just">
              <a:buFont typeface="Arial" panose="020B0604020202020204" pitchFamily="34" charset="0"/>
              <a:buChar char="•"/>
            </a:pPr>
            <a:r>
              <a:rPr lang="tr-TR" sz="2000" dirty="0">
                <a:latin typeface="Consolas" panose="020B0609020204030204" pitchFamily="49" charset="0"/>
              </a:rPr>
              <a:t>Mesaj-geçişli sistemlerde, bir işlem </a:t>
            </a:r>
            <a:r>
              <a:rPr lang="tr-TR" sz="2000" b="1" dirty="0">
                <a:latin typeface="Consolas" panose="020B0609020204030204" pitchFamily="49" charset="0"/>
              </a:rPr>
              <a:t>mutlaka</a:t>
            </a:r>
            <a:r>
              <a:rPr lang="tr-TR" sz="2000" dirty="0">
                <a:latin typeface="Consolas" panose="020B0609020204030204" pitchFamily="49" charset="0"/>
              </a:rPr>
              <a:t> bir gönderme fonksiyonu çağırmalı ve gönderme fonksiyonu başka bir işlem tarafından bir alma fonksiyonu ile eşleştirilmelidir.</a:t>
            </a:r>
          </a:p>
          <a:p>
            <a:pPr marL="457200" indent="-457200" algn="just">
              <a:buFont typeface="Arial" panose="020B0604020202020204" pitchFamily="34" charset="0"/>
              <a:buChar char="•"/>
            </a:pPr>
            <a:r>
              <a:rPr lang="tr-TR" sz="2000" dirty="0">
                <a:latin typeface="Consolas" panose="020B0609020204030204" pitchFamily="49" charset="0"/>
              </a:rPr>
              <a:t>Tek taraflı iletişim veya uzak hafıza erişimi (</a:t>
            </a:r>
            <a:r>
              <a:rPr lang="tr-TR" sz="2000" dirty="0" err="1">
                <a:latin typeface="Consolas" panose="020B0609020204030204" pitchFamily="49" charset="0"/>
              </a:rPr>
              <a:t>remote</a:t>
            </a:r>
            <a:r>
              <a:rPr lang="tr-TR" sz="2000" dirty="0">
                <a:latin typeface="Consolas" panose="020B0609020204030204" pitchFamily="49" charset="0"/>
              </a:rPr>
              <a:t> </a:t>
            </a:r>
            <a:r>
              <a:rPr lang="tr-TR" sz="2000" dirty="0" err="1">
                <a:latin typeface="Consolas" panose="020B0609020204030204" pitchFamily="49" charset="0"/>
              </a:rPr>
              <a:t>memory</a:t>
            </a:r>
            <a:r>
              <a:rPr lang="tr-TR" sz="2000" dirty="0">
                <a:latin typeface="Consolas" panose="020B0609020204030204" pitchFamily="49" charset="0"/>
              </a:rPr>
              <a:t> </a:t>
            </a:r>
            <a:r>
              <a:rPr lang="tr-TR" sz="2000" dirty="0" err="1">
                <a:latin typeface="Consolas" panose="020B0609020204030204" pitchFamily="49" charset="0"/>
              </a:rPr>
              <a:t>access</a:t>
            </a:r>
            <a:r>
              <a:rPr lang="tr-TR" sz="2000" dirty="0">
                <a:latin typeface="Consolas" panose="020B0609020204030204" pitchFamily="49" charset="0"/>
              </a:rPr>
              <a:t>) yapısında ise; tek bir işlem, yerel belleği başka bir işlemden veya uzak belleği çağıran bir işlemden gelen değerle güncelleyen bir fonksiyonu çağırır.</a:t>
            </a:r>
          </a:p>
          <a:p>
            <a:pPr marL="457200" indent="-457200" algn="just">
              <a:buFont typeface="Arial" panose="020B0604020202020204" pitchFamily="34" charset="0"/>
              <a:buChar char="•"/>
            </a:pPr>
            <a:r>
              <a:rPr lang="tr-TR" sz="2000" dirty="0">
                <a:latin typeface="Consolas" panose="020B0609020204030204" pitchFamily="49" charset="0"/>
              </a:rPr>
              <a:t>Bu iletişim modelinde, bir işlem diğerine veri gönderebilir veya veri alabilir, ancak her iki işlem de aynı anda hem gönderici hem de alıcı olamaz. Yani, iletişim taraflarından biri veri gönderirken, diğeri veri alabilir, ancak her iki taraftan biri veri alırken, diğeri veri gönderemez.</a:t>
            </a:r>
          </a:p>
          <a:p>
            <a:pPr marL="457200" indent="-457200" algn="just">
              <a:buFont typeface="Arial" panose="020B0604020202020204" pitchFamily="34" charset="0"/>
              <a:buChar char="•"/>
            </a:pPr>
            <a:r>
              <a:rPr lang="tr-TR" sz="2000" dirty="0">
                <a:latin typeface="Consolas" panose="020B0609020204030204" pitchFamily="49" charset="0"/>
              </a:rPr>
              <a:t>İletişim her zaman tek yönlüdür.</a:t>
            </a:r>
          </a:p>
          <a:p>
            <a:pPr marL="457200" indent="-457200" algn="just">
              <a:buFont typeface="Arial" panose="020B0604020202020204" pitchFamily="34" charset="0"/>
              <a:buChar char="•"/>
            </a:pPr>
            <a:r>
              <a:rPr lang="tr-TR" sz="2000" dirty="0">
                <a:latin typeface="Consolas" panose="020B0609020204030204" pitchFamily="49" charset="0"/>
              </a:rPr>
              <a:t>Bu model, bazı durumlarda verimli ve uygun olabilir, özellikle veri alışverişi tarafından sınırlanan iş yüklerinde ve iletişim maliyeti yüksek sistemlerde. Ancak, iki taraflı iletişim sağlayan modellere göre daha sınırlı bir esnekliğe sahiptir ve bazı senaryolarda kullanımı daha zor olabilir.</a:t>
            </a:r>
          </a:p>
        </p:txBody>
      </p:sp>
    </p:spTree>
    <p:extLst>
      <p:ext uri="{BB962C8B-B14F-4D97-AF65-F5344CB8AC3E}">
        <p14:creationId xmlns:p14="http://schemas.microsoft.com/office/powerpoint/2010/main" val="335551565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973771-9CBA-4CED-16D1-EEDF831841FC}"/>
            </a:ext>
          </a:extLst>
        </p:cNvPr>
        <p:cNvGrpSpPr/>
        <p:nvPr/>
      </p:nvGrpSpPr>
      <p:grpSpPr>
        <a:xfrm>
          <a:off x="0" y="0"/>
          <a:ext cx="0" cy="0"/>
          <a:chOff x="0" y="0"/>
          <a:chExt cx="0" cy="0"/>
        </a:xfrm>
      </p:grpSpPr>
      <p:pic>
        <p:nvPicPr>
          <p:cNvPr id="4" name="Picture 2" descr="Parallel computing for high-performance simulations">
            <a:extLst>
              <a:ext uri="{FF2B5EF4-FFF2-40B4-BE49-F238E27FC236}">
                <a16:creationId xmlns:a16="http://schemas.microsoft.com/office/drawing/2014/main" id="{DB13D94C-A8D2-C303-592D-A1242C10CA38}"/>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51802" b="-1"/>
          <a:stretch/>
        </p:blipFill>
        <p:spPr bwMode="auto">
          <a:xfrm rot="5400000">
            <a:off x="-2989346" y="2971346"/>
            <a:ext cx="6876000" cy="914399"/>
          </a:xfrm>
          <a:prstGeom prst="rect">
            <a:avLst/>
          </a:prstGeom>
          <a:noFill/>
          <a:extLst>
            <a:ext uri="{909E8E84-426E-40DD-AFC4-6F175D3DCCD1}">
              <a14:hiddenFill xmlns:a14="http://schemas.microsoft.com/office/drawing/2010/main">
                <a:solidFill>
                  <a:srgbClr val="FFFFFF"/>
                </a:solidFill>
              </a14:hiddenFill>
            </a:ext>
          </a:extLst>
        </p:spPr>
      </p:pic>
      <p:sp>
        <p:nvSpPr>
          <p:cNvPr id="6" name="Metin kutusu 5">
            <a:extLst>
              <a:ext uri="{FF2B5EF4-FFF2-40B4-BE49-F238E27FC236}">
                <a16:creationId xmlns:a16="http://schemas.microsoft.com/office/drawing/2014/main" id="{68DBF6EA-4C4D-C4F2-AB9A-2CE64C2AE959}"/>
              </a:ext>
            </a:extLst>
          </p:cNvPr>
          <p:cNvSpPr txBox="1"/>
          <p:nvPr/>
        </p:nvSpPr>
        <p:spPr>
          <a:xfrm>
            <a:off x="1164349" y="184777"/>
            <a:ext cx="10688668" cy="553998"/>
          </a:xfrm>
          <a:prstGeom prst="rect">
            <a:avLst/>
          </a:prstGeom>
          <a:noFill/>
        </p:spPr>
        <p:txBody>
          <a:bodyPr wrap="square" rtlCol="0">
            <a:spAutoFit/>
          </a:bodyPr>
          <a:lstStyle/>
          <a:p>
            <a:r>
              <a:rPr lang="en-US" sz="3000" b="1" dirty="0" err="1">
                <a:latin typeface="Consolas" panose="020B0609020204030204" pitchFamily="49" charset="0"/>
              </a:rPr>
              <a:t>Performans</a:t>
            </a:r>
            <a:r>
              <a:rPr lang="tr-TR" sz="3000" b="1" dirty="0">
                <a:latin typeface="Consolas" panose="020B0609020204030204" pitchFamily="49" charset="0"/>
              </a:rPr>
              <a:t> Kriterleri</a:t>
            </a:r>
          </a:p>
        </p:txBody>
      </p:sp>
      <p:sp>
        <p:nvSpPr>
          <p:cNvPr id="7" name="Metin kutusu 6">
            <a:extLst>
              <a:ext uri="{FF2B5EF4-FFF2-40B4-BE49-F238E27FC236}">
                <a16:creationId xmlns:a16="http://schemas.microsoft.com/office/drawing/2014/main" id="{A10FF1FF-D648-9D8B-2317-B6ADEE656A7D}"/>
              </a:ext>
            </a:extLst>
          </p:cNvPr>
          <p:cNvSpPr txBox="1"/>
          <p:nvPr/>
        </p:nvSpPr>
        <p:spPr>
          <a:xfrm>
            <a:off x="1164348" y="759758"/>
            <a:ext cx="10688667" cy="1631216"/>
          </a:xfrm>
          <a:prstGeom prst="rect">
            <a:avLst/>
          </a:prstGeom>
          <a:noFill/>
        </p:spPr>
        <p:txBody>
          <a:bodyPr wrap="square" rtlCol="0">
            <a:spAutoFit/>
          </a:bodyPr>
          <a:lstStyle/>
          <a:p>
            <a:pPr marL="457200" indent="-457200" algn="just">
              <a:buFont typeface="Arial" panose="020B0604020202020204" pitchFamily="34" charset="0"/>
              <a:buChar char="•"/>
            </a:pPr>
            <a:r>
              <a:rPr lang="tr-TR" sz="2000" dirty="0">
                <a:latin typeface="Consolas" panose="020B0609020204030204" pitchFamily="49" charset="0"/>
              </a:rPr>
              <a:t>Paralel programlara ihtiyaç duyulmasının en büyük nedeni programın performansını (çalışma hızı, işlem kapasitesi </a:t>
            </a:r>
            <a:r>
              <a:rPr lang="tr-TR" sz="2000" dirty="0" err="1">
                <a:latin typeface="Consolas" panose="020B0609020204030204" pitchFamily="49" charset="0"/>
              </a:rPr>
              <a:t>vs</a:t>
            </a:r>
            <a:r>
              <a:rPr lang="tr-TR" sz="2000" dirty="0">
                <a:latin typeface="Consolas" panose="020B0609020204030204" pitchFamily="49" charset="0"/>
              </a:rPr>
              <a:t>) arttırmaktadır.</a:t>
            </a:r>
          </a:p>
          <a:p>
            <a:pPr marL="457200" indent="-457200" algn="just">
              <a:buFont typeface="Arial" panose="020B0604020202020204" pitchFamily="34" charset="0"/>
              <a:buChar char="•"/>
            </a:pPr>
            <a:endParaRPr lang="tr-TR" sz="2000" dirty="0">
              <a:latin typeface="Consolas" panose="020B0609020204030204" pitchFamily="49" charset="0"/>
            </a:endParaRPr>
          </a:p>
          <a:p>
            <a:pPr marL="457200" indent="-457200" algn="just">
              <a:buFont typeface="Arial" panose="020B0604020202020204" pitchFamily="34" charset="0"/>
              <a:buChar char="•"/>
            </a:pPr>
            <a:r>
              <a:rPr lang="tr-TR" sz="2000" dirty="0">
                <a:latin typeface="Consolas" panose="020B0609020204030204" pitchFamily="49" charset="0"/>
              </a:rPr>
              <a:t>Peki paralel programlar hangi performans kriterlere göre değerlendirilir?</a:t>
            </a:r>
          </a:p>
        </p:txBody>
      </p:sp>
    </p:spTree>
    <p:extLst>
      <p:ext uri="{BB962C8B-B14F-4D97-AF65-F5344CB8AC3E}">
        <p14:creationId xmlns:p14="http://schemas.microsoft.com/office/powerpoint/2010/main" val="168982136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973771-9CBA-4CED-16D1-EEDF831841FC}"/>
            </a:ext>
          </a:extLst>
        </p:cNvPr>
        <p:cNvGrpSpPr/>
        <p:nvPr/>
      </p:nvGrpSpPr>
      <p:grpSpPr>
        <a:xfrm>
          <a:off x="0" y="0"/>
          <a:ext cx="0" cy="0"/>
          <a:chOff x="0" y="0"/>
          <a:chExt cx="0" cy="0"/>
        </a:xfrm>
      </p:grpSpPr>
      <p:pic>
        <p:nvPicPr>
          <p:cNvPr id="4" name="Picture 2" descr="Parallel computing for high-performance simulations">
            <a:extLst>
              <a:ext uri="{FF2B5EF4-FFF2-40B4-BE49-F238E27FC236}">
                <a16:creationId xmlns:a16="http://schemas.microsoft.com/office/drawing/2014/main" id="{DB13D94C-A8D2-C303-592D-A1242C10CA38}"/>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51802" b="-1"/>
          <a:stretch/>
        </p:blipFill>
        <p:spPr bwMode="auto">
          <a:xfrm rot="5400000">
            <a:off x="-2989346" y="2971346"/>
            <a:ext cx="6876000" cy="914399"/>
          </a:xfrm>
          <a:prstGeom prst="rect">
            <a:avLst/>
          </a:prstGeom>
          <a:noFill/>
          <a:extLst>
            <a:ext uri="{909E8E84-426E-40DD-AFC4-6F175D3DCCD1}">
              <a14:hiddenFill xmlns:a14="http://schemas.microsoft.com/office/drawing/2010/main">
                <a:solidFill>
                  <a:srgbClr val="FFFFFF"/>
                </a:solidFill>
              </a14:hiddenFill>
            </a:ext>
          </a:extLst>
        </p:spPr>
      </p:pic>
      <p:sp>
        <p:nvSpPr>
          <p:cNvPr id="6" name="Metin kutusu 5">
            <a:extLst>
              <a:ext uri="{FF2B5EF4-FFF2-40B4-BE49-F238E27FC236}">
                <a16:creationId xmlns:a16="http://schemas.microsoft.com/office/drawing/2014/main" id="{68DBF6EA-4C4D-C4F2-AB9A-2CE64C2AE959}"/>
              </a:ext>
            </a:extLst>
          </p:cNvPr>
          <p:cNvSpPr txBox="1"/>
          <p:nvPr/>
        </p:nvSpPr>
        <p:spPr>
          <a:xfrm>
            <a:off x="1164349" y="184777"/>
            <a:ext cx="10688668" cy="553998"/>
          </a:xfrm>
          <a:prstGeom prst="rect">
            <a:avLst/>
          </a:prstGeom>
          <a:noFill/>
        </p:spPr>
        <p:txBody>
          <a:bodyPr wrap="square" rtlCol="0">
            <a:spAutoFit/>
          </a:bodyPr>
          <a:lstStyle/>
          <a:p>
            <a:r>
              <a:rPr lang="tr-TR" sz="3000" b="1" dirty="0">
                <a:latin typeface="Consolas" panose="020B0609020204030204" pitchFamily="49" charset="0"/>
              </a:rPr>
              <a:t>Hızlanma (</a:t>
            </a:r>
            <a:r>
              <a:rPr lang="tr-TR" sz="3000" b="1" dirty="0" err="1">
                <a:latin typeface="Consolas" panose="020B0609020204030204" pitchFamily="49" charset="0"/>
              </a:rPr>
              <a:t>Speedup</a:t>
            </a:r>
            <a:r>
              <a:rPr lang="tr-TR" sz="3000" b="1" dirty="0">
                <a:latin typeface="Consolas" panose="020B0609020204030204" pitchFamily="49" charset="0"/>
              </a:rPr>
              <a:t>) ve Verimlilik (</a:t>
            </a:r>
            <a:r>
              <a:rPr lang="tr-TR" sz="3000" b="1" dirty="0" err="1">
                <a:latin typeface="Consolas" panose="020B0609020204030204" pitchFamily="49" charset="0"/>
              </a:rPr>
              <a:t>Efficiency</a:t>
            </a:r>
            <a:r>
              <a:rPr lang="tr-TR" sz="3000" b="1" dirty="0">
                <a:latin typeface="Consolas" panose="020B0609020204030204" pitchFamily="49" charset="0"/>
              </a:rPr>
              <a:t>)</a:t>
            </a:r>
          </a:p>
        </p:txBody>
      </p:sp>
      <p:sp>
        <p:nvSpPr>
          <p:cNvPr id="7" name="Metin kutusu 6">
            <a:extLst>
              <a:ext uri="{FF2B5EF4-FFF2-40B4-BE49-F238E27FC236}">
                <a16:creationId xmlns:a16="http://schemas.microsoft.com/office/drawing/2014/main" id="{A10FF1FF-D648-9D8B-2317-B6ADEE656A7D}"/>
              </a:ext>
            </a:extLst>
          </p:cNvPr>
          <p:cNvSpPr txBox="1"/>
          <p:nvPr/>
        </p:nvSpPr>
        <p:spPr>
          <a:xfrm>
            <a:off x="1164348" y="759758"/>
            <a:ext cx="10688667" cy="5940088"/>
          </a:xfrm>
          <a:prstGeom prst="rect">
            <a:avLst/>
          </a:prstGeom>
          <a:noFill/>
        </p:spPr>
        <p:txBody>
          <a:bodyPr wrap="square" rtlCol="0">
            <a:spAutoFit/>
          </a:bodyPr>
          <a:lstStyle/>
          <a:p>
            <a:pPr marL="457200" indent="-457200" algn="just">
              <a:buFont typeface="Arial" panose="020B0604020202020204" pitchFamily="34" charset="0"/>
              <a:buChar char="•"/>
            </a:pPr>
            <a:r>
              <a:rPr lang="tr-TR" sz="2000" dirty="0">
                <a:latin typeface="Consolas" panose="020B0609020204030204" pitchFamily="49" charset="0"/>
              </a:rPr>
              <a:t>Farz edelim ki programımız p adet </a:t>
            </a:r>
            <a:r>
              <a:rPr lang="tr-TR" sz="2000" dirty="0" err="1">
                <a:latin typeface="Consolas" panose="020B0609020204030204" pitchFamily="49" charset="0"/>
              </a:rPr>
              <a:t>core</a:t>
            </a:r>
            <a:r>
              <a:rPr lang="tr-TR" sz="2000" dirty="0">
                <a:latin typeface="Consolas" panose="020B0609020204030204" pitchFamily="49" charset="0"/>
              </a:rPr>
              <a:t> bulunan bir sistem üzerinde tamamen paralel çalışıyor. Bu durumda programın çalışma süresi:</a:t>
            </a:r>
          </a:p>
          <a:p>
            <a:pPr marL="457200" indent="-457200" algn="just">
              <a:buFont typeface="Arial" panose="020B0604020202020204" pitchFamily="34" charset="0"/>
              <a:buChar char="•"/>
            </a:pPr>
            <a:endParaRPr lang="tr-TR" sz="2000" dirty="0">
              <a:latin typeface="Consolas" panose="020B0609020204030204" pitchFamily="49" charset="0"/>
            </a:endParaRPr>
          </a:p>
          <a:p>
            <a:pPr marL="457200" indent="-457200" algn="just">
              <a:buFont typeface="Arial" panose="020B0604020202020204" pitchFamily="34" charset="0"/>
              <a:buChar char="•"/>
            </a:pPr>
            <a:endParaRPr lang="tr-TR" sz="2000" dirty="0">
              <a:latin typeface="Consolas" panose="020B0609020204030204" pitchFamily="49" charset="0"/>
            </a:endParaRPr>
          </a:p>
          <a:p>
            <a:pPr marL="457200" indent="-457200" algn="just">
              <a:buFont typeface="Arial" panose="020B0604020202020204" pitchFamily="34" charset="0"/>
              <a:buChar char="•"/>
            </a:pPr>
            <a:endParaRPr lang="tr-TR" sz="2000" dirty="0">
              <a:latin typeface="Consolas" panose="020B0609020204030204" pitchFamily="49" charset="0"/>
            </a:endParaRPr>
          </a:p>
          <a:p>
            <a:pPr marL="457200" indent="-457200" algn="just">
              <a:buFont typeface="Arial" panose="020B0604020202020204" pitchFamily="34" charset="0"/>
              <a:buChar char="•"/>
            </a:pPr>
            <a:endParaRPr lang="tr-TR" sz="2000" dirty="0">
              <a:latin typeface="Consolas" panose="020B0609020204030204" pitchFamily="49" charset="0"/>
            </a:endParaRPr>
          </a:p>
          <a:p>
            <a:pPr algn="just"/>
            <a:r>
              <a:rPr lang="tr-TR" sz="2000" dirty="0">
                <a:latin typeface="Consolas" panose="020B0609020204030204" pitchFamily="49" charset="0"/>
              </a:rPr>
              <a:t>ile ifade edilebilir. Bu, ideal durum olarak kabul edilir. Bu duruma doğrusal hızlanma (</a:t>
            </a:r>
            <a:r>
              <a:rPr lang="tr-TR" sz="2000" dirty="0" err="1">
                <a:latin typeface="Consolas" panose="020B0609020204030204" pitchFamily="49" charset="0"/>
              </a:rPr>
              <a:t>linear</a:t>
            </a:r>
            <a:r>
              <a:rPr lang="tr-TR" sz="2000" dirty="0">
                <a:latin typeface="Consolas" panose="020B0609020204030204" pitchFamily="49" charset="0"/>
              </a:rPr>
              <a:t> </a:t>
            </a:r>
            <a:r>
              <a:rPr lang="tr-TR" sz="2000" dirty="0" err="1">
                <a:latin typeface="Consolas" panose="020B0609020204030204" pitchFamily="49" charset="0"/>
              </a:rPr>
              <a:t>speedup</a:t>
            </a:r>
            <a:r>
              <a:rPr lang="tr-TR" sz="2000" dirty="0">
                <a:latin typeface="Consolas" panose="020B0609020204030204" pitchFamily="49" charset="0"/>
              </a:rPr>
              <a:t>) denmektedir.</a:t>
            </a:r>
          </a:p>
          <a:p>
            <a:pPr algn="just"/>
            <a:endParaRPr lang="tr-TR" sz="2000" dirty="0">
              <a:latin typeface="Consolas" panose="020B0609020204030204" pitchFamily="49" charset="0"/>
            </a:endParaRPr>
          </a:p>
          <a:p>
            <a:pPr marL="457200" indent="-457200" algn="just">
              <a:buFont typeface="Arial" panose="020B0604020202020204" pitchFamily="34" charset="0"/>
              <a:buChar char="•"/>
            </a:pPr>
            <a:r>
              <a:rPr lang="tr-TR" sz="2000" dirty="0">
                <a:latin typeface="Consolas" panose="020B0609020204030204" pitchFamily="49" charset="0"/>
              </a:rPr>
              <a:t>Fakat bu durum gerçekte pek mümkün olmayabilir ve </a:t>
            </a:r>
            <a:r>
              <a:rPr lang="tr-TR" sz="2000" dirty="0" err="1">
                <a:latin typeface="Consolas" panose="020B0609020204030204" pitchFamily="49" charset="0"/>
              </a:rPr>
              <a:t>speedup</a:t>
            </a:r>
            <a:r>
              <a:rPr lang="tr-TR" sz="2000" dirty="0">
                <a:latin typeface="Consolas" panose="020B0609020204030204" pitchFamily="49" charset="0"/>
              </a:rPr>
              <a:t> aşağıdaki formül ile hesaplanır. </a:t>
            </a:r>
          </a:p>
          <a:p>
            <a:pPr marL="457200" indent="-457200" algn="just">
              <a:buFont typeface="Arial" panose="020B0604020202020204" pitchFamily="34" charset="0"/>
              <a:buChar char="•"/>
            </a:pPr>
            <a:endParaRPr lang="tr-TR" sz="2000" dirty="0">
              <a:latin typeface="Consolas" panose="020B0609020204030204" pitchFamily="49" charset="0"/>
            </a:endParaRPr>
          </a:p>
          <a:p>
            <a:pPr marL="457200" indent="-457200" algn="just">
              <a:buFont typeface="Arial" panose="020B0604020202020204" pitchFamily="34" charset="0"/>
              <a:buChar char="•"/>
            </a:pPr>
            <a:endParaRPr lang="tr-TR" sz="2000" dirty="0">
              <a:latin typeface="Consolas" panose="020B0609020204030204" pitchFamily="49" charset="0"/>
            </a:endParaRPr>
          </a:p>
          <a:p>
            <a:pPr marL="457200" indent="-457200" algn="just">
              <a:buFont typeface="Arial" panose="020B0604020202020204" pitchFamily="34" charset="0"/>
              <a:buChar char="•"/>
            </a:pPr>
            <a:endParaRPr lang="tr-TR" sz="2000" dirty="0">
              <a:latin typeface="Consolas" panose="020B0609020204030204" pitchFamily="49" charset="0"/>
            </a:endParaRPr>
          </a:p>
          <a:p>
            <a:pPr marL="457200" indent="-457200" algn="just">
              <a:buFont typeface="Arial" panose="020B0604020202020204" pitchFamily="34" charset="0"/>
              <a:buChar char="•"/>
            </a:pPr>
            <a:endParaRPr lang="tr-TR" sz="2000" dirty="0">
              <a:latin typeface="Consolas" panose="020B0609020204030204" pitchFamily="49" charset="0"/>
            </a:endParaRPr>
          </a:p>
          <a:p>
            <a:pPr marL="457200" indent="-457200" algn="just">
              <a:buFont typeface="Arial" panose="020B0604020202020204" pitchFamily="34" charset="0"/>
              <a:buChar char="•"/>
            </a:pPr>
            <a:endParaRPr lang="tr-TR" sz="2000" dirty="0">
              <a:latin typeface="Consolas" panose="020B0609020204030204" pitchFamily="49" charset="0"/>
            </a:endParaRPr>
          </a:p>
          <a:p>
            <a:pPr marL="457200" indent="-457200" algn="just">
              <a:buFont typeface="Arial" panose="020B0604020202020204" pitchFamily="34" charset="0"/>
              <a:buChar char="•"/>
            </a:pPr>
            <a:endParaRPr lang="tr-TR" sz="2000" dirty="0">
              <a:latin typeface="Consolas" panose="020B0609020204030204" pitchFamily="49" charset="0"/>
            </a:endParaRPr>
          </a:p>
          <a:p>
            <a:pPr algn="just"/>
            <a:r>
              <a:rPr lang="tr-TR" sz="2000" i="1" dirty="0">
                <a:solidFill>
                  <a:srgbClr val="800000"/>
                </a:solidFill>
                <a:latin typeface="Consolas" panose="020B0609020204030204" pitchFamily="49" charset="0"/>
              </a:rPr>
              <a:t>S(</a:t>
            </a:r>
            <a:r>
              <a:rPr lang="tr-TR" sz="2000" i="1" dirty="0" err="1">
                <a:solidFill>
                  <a:srgbClr val="800000"/>
                </a:solidFill>
                <a:latin typeface="Consolas" panose="020B0609020204030204" pitchFamily="49" charset="0"/>
              </a:rPr>
              <a:t>Speedup</a:t>
            </a:r>
            <a:r>
              <a:rPr lang="tr-TR" sz="2000" i="1" dirty="0">
                <a:solidFill>
                  <a:srgbClr val="800000"/>
                </a:solidFill>
                <a:latin typeface="Consolas" panose="020B0609020204030204" pitchFamily="49" charset="0"/>
              </a:rPr>
              <a:t>): </a:t>
            </a:r>
            <a:r>
              <a:rPr lang="tr-TR" sz="2000" dirty="0">
                <a:latin typeface="Consolas" panose="020B0609020204030204" pitchFamily="49" charset="0"/>
              </a:rPr>
              <a:t>Paralel programın hızlanma kriteri</a:t>
            </a:r>
          </a:p>
          <a:p>
            <a:pPr algn="just"/>
            <a:endParaRPr lang="tr-TR" sz="2000" dirty="0">
              <a:latin typeface="Consolas" panose="020B0609020204030204" pitchFamily="49" charset="0"/>
            </a:endParaRPr>
          </a:p>
        </p:txBody>
      </p:sp>
      <p:pic>
        <p:nvPicPr>
          <p:cNvPr id="5" name="Resim 4">
            <a:extLst>
              <a:ext uri="{FF2B5EF4-FFF2-40B4-BE49-F238E27FC236}">
                <a16:creationId xmlns:a16="http://schemas.microsoft.com/office/drawing/2014/main" id="{3B2F8088-164E-4DD4-3F50-D874517DD07B}"/>
              </a:ext>
            </a:extLst>
          </p:cNvPr>
          <p:cNvPicPr>
            <a:picLocks noChangeAspect="1"/>
          </p:cNvPicPr>
          <p:nvPr/>
        </p:nvPicPr>
        <p:blipFill>
          <a:blip r:embed="rId3"/>
          <a:stretch>
            <a:fillRect/>
          </a:stretch>
        </p:blipFill>
        <p:spPr>
          <a:xfrm>
            <a:off x="4276861" y="1553392"/>
            <a:ext cx="3114675" cy="1028700"/>
          </a:xfrm>
          <a:prstGeom prst="rect">
            <a:avLst/>
          </a:prstGeom>
        </p:spPr>
      </p:pic>
      <p:pic>
        <p:nvPicPr>
          <p:cNvPr id="8" name="Resim 7">
            <a:extLst>
              <a:ext uri="{FF2B5EF4-FFF2-40B4-BE49-F238E27FC236}">
                <a16:creationId xmlns:a16="http://schemas.microsoft.com/office/drawing/2014/main" id="{757A8FCF-E22F-E114-8CC2-1D1C6E243A43}"/>
              </a:ext>
            </a:extLst>
          </p:cNvPr>
          <p:cNvPicPr>
            <a:picLocks noChangeAspect="1"/>
          </p:cNvPicPr>
          <p:nvPr/>
        </p:nvPicPr>
        <p:blipFill>
          <a:blip r:embed="rId4"/>
          <a:stretch>
            <a:fillRect/>
          </a:stretch>
        </p:blipFill>
        <p:spPr>
          <a:xfrm>
            <a:off x="4662470" y="4275908"/>
            <a:ext cx="2187123" cy="1218655"/>
          </a:xfrm>
          <a:prstGeom prst="rect">
            <a:avLst/>
          </a:prstGeom>
        </p:spPr>
      </p:pic>
    </p:spTree>
    <p:extLst>
      <p:ext uri="{BB962C8B-B14F-4D97-AF65-F5344CB8AC3E}">
        <p14:creationId xmlns:p14="http://schemas.microsoft.com/office/powerpoint/2010/main" val="191597059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973771-9CBA-4CED-16D1-EEDF831841FC}"/>
            </a:ext>
          </a:extLst>
        </p:cNvPr>
        <p:cNvGrpSpPr/>
        <p:nvPr/>
      </p:nvGrpSpPr>
      <p:grpSpPr>
        <a:xfrm>
          <a:off x="0" y="0"/>
          <a:ext cx="0" cy="0"/>
          <a:chOff x="0" y="0"/>
          <a:chExt cx="0" cy="0"/>
        </a:xfrm>
      </p:grpSpPr>
      <p:pic>
        <p:nvPicPr>
          <p:cNvPr id="4" name="Picture 2" descr="Parallel computing for high-performance simulations">
            <a:extLst>
              <a:ext uri="{FF2B5EF4-FFF2-40B4-BE49-F238E27FC236}">
                <a16:creationId xmlns:a16="http://schemas.microsoft.com/office/drawing/2014/main" id="{DB13D94C-A8D2-C303-592D-A1242C10CA38}"/>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51802" b="-1"/>
          <a:stretch/>
        </p:blipFill>
        <p:spPr bwMode="auto">
          <a:xfrm rot="5400000">
            <a:off x="-2989346" y="2971346"/>
            <a:ext cx="6876000" cy="914399"/>
          </a:xfrm>
          <a:prstGeom prst="rect">
            <a:avLst/>
          </a:prstGeom>
          <a:noFill/>
          <a:extLst>
            <a:ext uri="{909E8E84-426E-40DD-AFC4-6F175D3DCCD1}">
              <a14:hiddenFill xmlns:a14="http://schemas.microsoft.com/office/drawing/2010/main">
                <a:solidFill>
                  <a:srgbClr val="FFFFFF"/>
                </a:solidFill>
              </a14:hiddenFill>
            </a:ext>
          </a:extLst>
        </p:spPr>
      </p:pic>
      <p:sp>
        <p:nvSpPr>
          <p:cNvPr id="6" name="Metin kutusu 5">
            <a:extLst>
              <a:ext uri="{FF2B5EF4-FFF2-40B4-BE49-F238E27FC236}">
                <a16:creationId xmlns:a16="http://schemas.microsoft.com/office/drawing/2014/main" id="{68DBF6EA-4C4D-C4F2-AB9A-2CE64C2AE959}"/>
              </a:ext>
            </a:extLst>
          </p:cNvPr>
          <p:cNvSpPr txBox="1"/>
          <p:nvPr/>
        </p:nvSpPr>
        <p:spPr>
          <a:xfrm>
            <a:off x="1164349" y="184777"/>
            <a:ext cx="10688668" cy="553998"/>
          </a:xfrm>
          <a:prstGeom prst="rect">
            <a:avLst/>
          </a:prstGeom>
          <a:noFill/>
        </p:spPr>
        <p:txBody>
          <a:bodyPr wrap="square" rtlCol="0">
            <a:spAutoFit/>
          </a:bodyPr>
          <a:lstStyle/>
          <a:p>
            <a:r>
              <a:rPr lang="tr-TR" sz="3000" b="1" dirty="0">
                <a:latin typeface="Consolas" panose="020B0609020204030204" pitchFamily="49" charset="0"/>
              </a:rPr>
              <a:t>Hızlanma (</a:t>
            </a:r>
            <a:r>
              <a:rPr lang="tr-TR" sz="3000" b="1" dirty="0" err="1">
                <a:latin typeface="Consolas" panose="020B0609020204030204" pitchFamily="49" charset="0"/>
              </a:rPr>
              <a:t>Speedup</a:t>
            </a:r>
            <a:r>
              <a:rPr lang="tr-TR" sz="3000" b="1" dirty="0">
                <a:latin typeface="Consolas" panose="020B0609020204030204" pitchFamily="49" charset="0"/>
              </a:rPr>
              <a:t>) ve Verimlilik (</a:t>
            </a:r>
            <a:r>
              <a:rPr lang="tr-TR" sz="3000" b="1" dirty="0" err="1">
                <a:latin typeface="Consolas" panose="020B0609020204030204" pitchFamily="49" charset="0"/>
              </a:rPr>
              <a:t>Efficiency</a:t>
            </a:r>
            <a:r>
              <a:rPr lang="tr-TR" sz="3000" b="1" dirty="0">
                <a:latin typeface="Consolas" panose="020B0609020204030204" pitchFamily="49" charset="0"/>
              </a:rPr>
              <a:t>)</a:t>
            </a:r>
          </a:p>
        </p:txBody>
      </p:sp>
      <p:sp>
        <p:nvSpPr>
          <p:cNvPr id="7" name="Metin kutusu 6">
            <a:extLst>
              <a:ext uri="{FF2B5EF4-FFF2-40B4-BE49-F238E27FC236}">
                <a16:creationId xmlns:a16="http://schemas.microsoft.com/office/drawing/2014/main" id="{A10FF1FF-D648-9D8B-2317-B6ADEE656A7D}"/>
              </a:ext>
            </a:extLst>
          </p:cNvPr>
          <p:cNvSpPr txBox="1"/>
          <p:nvPr/>
        </p:nvSpPr>
        <p:spPr>
          <a:xfrm>
            <a:off x="1164348" y="759758"/>
            <a:ext cx="10688667" cy="3170099"/>
          </a:xfrm>
          <a:prstGeom prst="rect">
            <a:avLst/>
          </a:prstGeom>
          <a:noFill/>
        </p:spPr>
        <p:txBody>
          <a:bodyPr wrap="square" rtlCol="0">
            <a:spAutoFit/>
          </a:bodyPr>
          <a:lstStyle/>
          <a:p>
            <a:pPr marL="457200" indent="-457200" algn="just">
              <a:buFont typeface="Arial" panose="020B0604020202020204" pitchFamily="34" charset="0"/>
              <a:buChar char="•"/>
            </a:pPr>
            <a:r>
              <a:rPr lang="tr-TR" sz="2000" dirty="0">
                <a:latin typeface="Consolas" panose="020B0609020204030204" pitchFamily="49" charset="0"/>
              </a:rPr>
              <a:t>İdeal durumda (bu gerçek hayatta pek mümkün değil) S = p  olacaktır.</a:t>
            </a:r>
          </a:p>
          <a:p>
            <a:pPr marL="457200" indent="-457200" algn="just">
              <a:buFont typeface="Arial" panose="020B0604020202020204" pitchFamily="34" charset="0"/>
              <a:buChar char="•"/>
            </a:pPr>
            <a:r>
              <a:rPr lang="tr-TR" sz="2000" dirty="0">
                <a:latin typeface="Consolas" panose="020B0609020204030204" pitchFamily="49" charset="0"/>
              </a:rPr>
              <a:t>Sistemin verimliliği (</a:t>
            </a:r>
            <a:r>
              <a:rPr lang="tr-TR" sz="2000" dirty="0" err="1">
                <a:latin typeface="Consolas" panose="020B0609020204030204" pitchFamily="49" charset="0"/>
              </a:rPr>
              <a:t>Efficiency</a:t>
            </a:r>
            <a:r>
              <a:rPr lang="tr-TR" sz="2000" dirty="0">
                <a:latin typeface="Consolas" panose="020B0609020204030204" pitchFamily="49" charset="0"/>
              </a:rPr>
              <a:t> - E) ise:</a:t>
            </a:r>
          </a:p>
          <a:p>
            <a:pPr marL="457200" indent="-457200" algn="just">
              <a:buFont typeface="Arial" panose="020B0604020202020204" pitchFamily="34" charset="0"/>
              <a:buChar char="•"/>
            </a:pPr>
            <a:endParaRPr lang="tr-TR" sz="2000" dirty="0">
              <a:latin typeface="Consolas" panose="020B0609020204030204" pitchFamily="49" charset="0"/>
            </a:endParaRPr>
          </a:p>
          <a:p>
            <a:pPr algn="just"/>
            <a:r>
              <a:rPr lang="tr-TR" sz="2000" dirty="0">
                <a:latin typeface="Consolas" panose="020B0609020204030204" pitchFamily="49" charset="0"/>
              </a:rPr>
              <a:t> 						 formülü ile hesaplanır.</a:t>
            </a:r>
          </a:p>
          <a:p>
            <a:pPr marL="457200" indent="-457200" algn="just">
              <a:buFont typeface="Arial" panose="020B0604020202020204" pitchFamily="34" charset="0"/>
              <a:buChar char="•"/>
            </a:pPr>
            <a:endParaRPr lang="tr-TR" sz="2000" dirty="0">
              <a:latin typeface="Consolas" panose="020B0609020204030204" pitchFamily="49" charset="0"/>
            </a:endParaRPr>
          </a:p>
          <a:p>
            <a:pPr marL="457200" indent="-457200" algn="just">
              <a:buFont typeface="Arial" panose="020B0604020202020204" pitchFamily="34" charset="0"/>
              <a:buChar char="•"/>
            </a:pPr>
            <a:r>
              <a:rPr lang="tr-TR" sz="2000" dirty="0">
                <a:latin typeface="Consolas" panose="020B0609020204030204" pitchFamily="49" charset="0"/>
              </a:rPr>
              <a:t>(E: Verimlilik, S: Hızlanma, p: Çekirdek sayısı) formülü biraz daha açarsak:</a:t>
            </a:r>
          </a:p>
          <a:p>
            <a:pPr marL="457200" indent="-457200" algn="just">
              <a:buFont typeface="Arial" panose="020B0604020202020204" pitchFamily="34" charset="0"/>
              <a:buChar char="•"/>
            </a:pPr>
            <a:endParaRPr lang="tr-TR" sz="2000" dirty="0">
              <a:latin typeface="Consolas" panose="020B0609020204030204" pitchFamily="49" charset="0"/>
            </a:endParaRPr>
          </a:p>
          <a:p>
            <a:pPr marL="457200" indent="-457200" algn="just">
              <a:buFont typeface="Arial" panose="020B0604020202020204" pitchFamily="34" charset="0"/>
              <a:buChar char="•"/>
            </a:pPr>
            <a:endParaRPr lang="tr-TR" sz="2000" dirty="0">
              <a:latin typeface="Consolas" panose="020B0609020204030204" pitchFamily="49" charset="0"/>
            </a:endParaRPr>
          </a:p>
          <a:p>
            <a:pPr marL="457200" indent="-457200" algn="just">
              <a:buFont typeface="Arial" panose="020B0604020202020204" pitchFamily="34" charset="0"/>
              <a:buChar char="•"/>
            </a:pPr>
            <a:endParaRPr lang="tr-TR" sz="2000" dirty="0">
              <a:latin typeface="Consolas" panose="020B0609020204030204" pitchFamily="49" charset="0"/>
            </a:endParaRPr>
          </a:p>
        </p:txBody>
      </p:sp>
      <p:pic>
        <p:nvPicPr>
          <p:cNvPr id="2" name="Resim 1">
            <a:extLst>
              <a:ext uri="{FF2B5EF4-FFF2-40B4-BE49-F238E27FC236}">
                <a16:creationId xmlns:a16="http://schemas.microsoft.com/office/drawing/2014/main" id="{DF90CD6D-CE41-75CA-A2C8-CB2420807E0F}"/>
              </a:ext>
            </a:extLst>
          </p:cNvPr>
          <p:cNvPicPr>
            <a:picLocks noChangeAspect="1"/>
          </p:cNvPicPr>
          <p:nvPr/>
        </p:nvPicPr>
        <p:blipFill>
          <a:blip r:embed="rId3"/>
          <a:stretch>
            <a:fillRect/>
          </a:stretch>
        </p:blipFill>
        <p:spPr>
          <a:xfrm>
            <a:off x="5289355" y="1485899"/>
            <a:ext cx="1258402" cy="890688"/>
          </a:xfrm>
          <a:prstGeom prst="rect">
            <a:avLst/>
          </a:prstGeom>
        </p:spPr>
      </p:pic>
      <p:pic>
        <p:nvPicPr>
          <p:cNvPr id="3" name="Resim 2">
            <a:extLst>
              <a:ext uri="{FF2B5EF4-FFF2-40B4-BE49-F238E27FC236}">
                <a16:creationId xmlns:a16="http://schemas.microsoft.com/office/drawing/2014/main" id="{875D0F2A-D475-E0D7-50D8-EDF39D112297}"/>
              </a:ext>
            </a:extLst>
          </p:cNvPr>
          <p:cNvPicPr>
            <a:picLocks noChangeAspect="1"/>
          </p:cNvPicPr>
          <p:nvPr/>
        </p:nvPicPr>
        <p:blipFill>
          <a:blip r:embed="rId4"/>
          <a:stretch>
            <a:fillRect/>
          </a:stretch>
        </p:blipFill>
        <p:spPr>
          <a:xfrm>
            <a:off x="3667329" y="2784621"/>
            <a:ext cx="4857342" cy="1696793"/>
          </a:xfrm>
          <a:prstGeom prst="rect">
            <a:avLst/>
          </a:prstGeom>
        </p:spPr>
      </p:pic>
    </p:spTree>
    <p:extLst>
      <p:ext uri="{BB962C8B-B14F-4D97-AF65-F5344CB8AC3E}">
        <p14:creationId xmlns:p14="http://schemas.microsoft.com/office/powerpoint/2010/main" val="138487913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973771-9CBA-4CED-16D1-EEDF831841FC}"/>
            </a:ext>
          </a:extLst>
        </p:cNvPr>
        <p:cNvGrpSpPr/>
        <p:nvPr/>
      </p:nvGrpSpPr>
      <p:grpSpPr>
        <a:xfrm>
          <a:off x="0" y="0"/>
          <a:ext cx="0" cy="0"/>
          <a:chOff x="0" y="0"/>
          <a:chExt cx="0" cy="0"/>
        </a:xfrm>
      </p:grpSpPr>
      <p:pic>
        <p:nvPicPr>
          <p:cNvPr id="4" name="Picture 2" descr="Parallel computing for high-performance simulations">
            <a:extLst>
              <a:ext uri="{FF2B5EF4-FFF2-40B4-BE49-F238E27FC236}">
                <a16:creationId xmlns:a16="http://schemas.microsoft.com/office/drawing/2014/main" id="{DB13D94C-A8D2-C303-592D-A1242C10CA38}"/>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51802" b="-1"/>
          <a:stretch/>
        </p:blipFill>
        <p:spPr bwMode="auto">
          <a:xfrm rot="5400000">
            <a:off x="-2989346" y="2971346"/>
            <a:ext cx="6876000" cy="914399"/>
          </a:xfrm>
          <a:prstGeom prst="rect">
            <a:avLst/>
          </a:prstGeom>
          <a:noFill/>
          <a:extLst>
            <a:ext uri="{909E8E84-426E-40DD-AFC4-6F175D3DCCD1}">
              <a14:hiddenFill xmlns:a14="http://schemas.microsoft.com/office/drawing/2010/main">
                <a:solidFill>
                  <a:srgbClr val="FFFFFF"/>
                </a:solidFill>
              </a14:hiddenFill>
            </a:ext>
          </a:extLst>
        </p:spPr>
      </p:pic>
      <p:sp>
        <p:nvSpPr>
          <p:cNvPr id="6" name="Metin kutusu 5">
            <a:extLst>
              <a:ext uri="{FF2B5EF4-FFF2-40B4-BE49-F238E27FC236}">
                <a16:creationId xmlns:a16="http://schemas.microsoft.com/office/drawing/2014/main" id="{68DBF6EA-4C4D-C4F2-AB9A-2CE64C2AE959}"/>
              </a:ext>
            </a:extLst>
          </p:cNvPr>
          <p:cNvSpPr txBox="1"/>
          <p:nvPr/>
        </p:nvSpPr>
        <p:spPr>
          <a:xfrm>
            <a:off x="1164349" y="184777"/>
            <a:ext cx="10688668" cy="553998"/>
          </a:xfrm>
          <a:prstGeom prst="rect">
            <a:avLst/>
          </a:prstGeom>
          <a:noFill/>
        </p:spPr>
        <p:txBody>
          <a:bodyPr wrap="square" rtlCol="0">
            <a:spAutoFit/>
          </a:bodyPr>
          <a:lstStyle/>
          <a:p>
            <a:r>
              <a:rPr lang="tr-TR" sz="3000" b="1" dirty="0">
                <a:latin typeface="Consolas" panose="020B0609020204030204" pitchFamily="49" charset="0"/>
              </a:rPr>
              <a:t>Hızlanma (</a:t>
            </a:r>
            <a:r>
              <a:rPr lang="tr-TR" sz="3000" b="1" dirty="0" err="1">
                <a:latin typeface="Consolas" panose="020B0609020204030204" pitchFamily="49" charset="0"/>
              </a:rPr>
              <a:t>Speedup</a:t>
            </a:r>
            <a:r>
              <a:rPr lang="tr-TR" sz="3000" b="1" dirty="0">
                <a:latin typeface="Consolas" panose="020B0609020204030204" pitchFamily="49" charset="0"/>
              </a:rPr>
              <a:t>) ve Verimlilik (</a:t>
            </a:r>
            <a:r>
              <a:rPr lang="tr-TR" sz="3000" b="1" dirty="0" err="1">
                <a:latin typeface="Consolas" panose="020B0609020204030204" pitchFamily="49" charset="0"/>
              </a:rPr>
              <a:t>Efficiency</a:t>
            </a:r>
            <a:r>
              <a:rPr lang="tr-TR" sz="3000" b="1" dirty="0">
                <a:latin typeface="Consolas" panose="020B0609020204030204" pitchFamily="49" charset="0"/>
              </a:rPr>
              <a:t>)</a:t>
            </a:r>
          </a:p>
        </p:txBody>
      </p:sp>
      <p:sp>
        <p:nvSpPr>
          <p:cNvPr id="7" name="Metin kutusu 6">
            <a:extLst>
              <a:ext uri="{FF2B5EF4-FFF2-40B4-BE49-F238E27FC236}">
                <a16:creationId xmlns:a16="http://schemas.microsoft.com/office/drawing/2014/main" id="{A10FF1FF-D648-9D8B-2317-B6ADEE656A7D}"/>
              </a:ext>
            </a:extLst>
          </p:cNvPr>
          <p:cNvSpPr txBox="1"/>
          <p:nvPr/>
        </p:nvSpPr>
        <p:spPr>
          <a:xfrm>
            <a:off x="1164348" y="759758"/>
            <a:ext cx="10688667" cy="1015663"/>
          </a:xfrm>
          <a:prstGeom prst="rect">
            <a:avLst/>
          </a:prstGeom>
          <a:noFill/>
        </p:spPr>
        <p:txBody>
          <a:bodyPr wrap="square" rtlCol="0">
            <a:spAutoFit/>
          </a:bodyPr>
          <a:lstStyle/>
          <a:p>
            <a:pPr marL="457200" indent="-457200" algn="just">
              <a:buFont typeface="Arial" panose="020B0604020202020204" pitchFamily="34" charset="0"/>
              <a:buChar char="•"/>
            </a:pPr>
            <a:r>
              <a:rPr lang="tr-TR" sz="2000" dirty="0" err="1">
                <a:latin typeface="Consolas" panose="020B0609020204030204" pitchFamily="49" charset="0"/>
              </a:rPr>
              <a:t>Tparallel</a:t>
            </a:r>
            <a:r>
              <a:rPr lang="tr-TR" sz="2000" dirty="0">
                <a:latin typeface="Consolas" panose="020B0609020204030204" pitchFamily="49" charset="0"/>
              </a:rPr>
              <a:t> , E ve S değerleri p sayısına bağlıdır. </a:t>
            </a:r>
          </a:p>
          <a:p>
            <a:pPr marL="457200" indent="-457200" algn="just">
              <a:buFont typeface="Arial" panose="020B0604020202020204" pitchFamily="34" charset="0"/>
              <a:buChar char="•"/>
            </a:pPr>
            <a:r>
              <a:rPr lang="tr-TR" sz="2000" dirty="0">
                <a:latin typeface="Consolas" panose="020B0609020204030204" pitchFamily="49" charset="0"/>
              </a:rPr>
              <a:t>Aynı zamanda problem uzayının büyüklüğü bu değerlerin değişmesine neden olacaktır.</a:t>
            </a:r>
          </a:p>
        </p:txBody>
      </p:sp>
      <p:pic>
        <p:nvPicPr>
          <p:cNvPr id="5" name="Resim 4">
            <a:extLst>
              <a:ext uri="{FF2B5EF4-FFF2-40B4-BE49-F238E27FC236}">
                <a16:creationId xmlns:a16="http://schemas.microsoft.com/office/drawing/2014/main" id="{F213E9B4-459E-84A0-E48E-884C0D052BA9}"/>
              </a:ext>
            </a:extLst>
          </p:cNvPr>
          <p:cNvPicPr>
            <a:picLocks noChangeAspect="1"/>
          </p:cNvPicPr>
          <p:nvPr/>
        </p:nvPicPr>
        <p:blipFill>
          <a:blip r:embed="rId3"/>
          <a:stretch>
            <a:fillRect/>
          </a:stretch>
        </p:blipFill>
        <p:spPr>
          <a:xfrm>
            <a:off x="1314018" y="2152298"/>
            <a:ext cx="10389326" cy="3401619"/>
          </a:xfrm>
          <a:prstGeom prst="rect">
            <a:avLst/>
          </a:prstGeom>
        </p:spPr>
      </p:pic>
    </p:spTree>
    <p:extLst>
      <p:ext uri="{BB962C8B-B14F-4D97-AF65-F5344CB8AC3E}">
        <p14:creationId xmlns:p14="http://schemas.microsoft.com/office/powerpoint/2010/main" val="195562255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973771-9CBA-4CED-16D1-EEDF831841FC}"/>
            </a:ext>
          </a:extLst>
        </p:cNvPr>
        <p:cNvGrpSpPr/>
        <p:nvPr/>
      </p:nvGrpSpPr>
      <p:grpSpPr>
        <a:xfrm>
          <a:off x="0" y="0"/>
          <a:ext cx="0" cy="0"/>
          <a:chOff x="0" y="0"/>
          <a:chExt cx="0" cy="0"/>
        </a:xfrm>
      </p:grpSpPr>
      <p:pic>
        <p:nvPicPr>
          <p:cNvPr id="4" name="Picture 2" descr="Parallel computing for high-performance simulations">
            <a:extLst>
              <a:ext uri="{FF2B5EF4-FFF2-40B4-BE49-F238E27FC236}">
                <a16:creationId xmlns:a16="http://schemas.microsoft.com/office/drawing/2014/main" id="{DB13D94C-A8D2-C303-592D-A1242C10CA38}"/>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51802" b="-1"/>
          <a:stretch/>
        </p:blipFill>
        <p:spPr bwMode="auto">
          <a:xfrm rot="5400000">
            <a:off x="-2989346" y="2971346"/>
            <a:ext cx="6876000" cy="914399"/>
          </a:xfrm>
          <a:prstGeom prst="rect">
            <a:avLst/>
          </a:prstGeom>
          <a:noFill/>
          <a:extLst>
            <a:ext uri="{909E8E84-426E-40DD-AFC4-6F175D3DCCD1}">
              <a14:hiddenFill xmlns:a14="http://schemas.microsoft.com/office/drawing/2010/main">
                <a:solidFill>
                  <a:srgbClr val="FFFFFF"/>
                </a:solidFill>
              </a14:hiddenFill>
            </a:ext>
          </a:extLst>
        </p:spPr>
      </p:pic>
      <p:sp>
        <p:nvSpPr>
          <p:cNvPr id="6" name="Metin kutusu 5">
            <a:extLst>
              <a:ext uri="{FF2B5EF4-FFF2-40B4-BE49-F238E27FC236}">
                <a16:creationId xmlns:a16="http://schemas.microsoft.com/office/drawing/2014/main" id="{68DBF6EA-4C4D-C4F2-AB9A-2CE64C2AE959}"/>
              </a:ext>
            </a:extLst>
          </p:cNvPr>
          <p:cNvSpPr txBox="1"/>
          <p:nvPr/>
        </p:nvSpPr>
        <p:spPr>
          <a:xfrm>
            <a:off x="1164349" y="184777"/>
            <a:ext cx="10688668" cy="461665"/>
          </a:xfrm>
          <a:prstGeom prst="rect">
            <a:avLst/>
          </a:prstGeom>
          <a:noFill/>
        </p:spPr>
        <p:txBody>
          <a:bodyPr wrap="square" rtlCol="0">
            <a:spAutoFit/>
          </a:bodyPr>
          <a:lstStyle/>
          <a:p>
            <a:r>
              <a:rPr lang="tr-TR" sz="2400" b="1" dirty="0">
                <a:latin typeface="Consolas" panose="020B0609020204030204" pitchFamily="49" charset="0"/>
              </a:rPr>
              <a:t>Örnek: Hızlanma (</a:t>
            </a:r>
            <a:r>
              <a:rPr lang="tr-TR" sz="2400" b="1" dirty="0" err="1">
                <a:latin typeface="Consolas" panose="020B0609020204030204" pitchFamily="49" charset="0"/>
              </a:rPr>
              <a:t>Speedup</a:t>
            </a:r>
            <a:r>
              <a:rPr lang="tr-TR" sz="2400" b="1" dirty="0">
                <a:latin typeface="Consolas" panose="020B0609020204030204" pitchFamily="49" charset="0"/>
              </a:rPr>
              <a:t>) ve Verimlilik (</a:t>
            </a:r>
            <a:r>
              <a:rPr lang="tr-TR" sz="2400" b="1" dirty="0" err="1">
                <a:latin typeface="Consolas" panose="020B0609020204030204" pitchFamily="49" charset="0"/>
              </a:rPr>
              <a:t>Efficiency</a:t>
            </a:r>
            <a:r>
              <a:rPr lang="tr-TR" sz="2400" b="1" dirty="0">
                <a:latin typeface="Consolas" panose="020B0609020204030204" pitchFamily="49" charset="0"/>
              </a:rPr>
              <a:t>)</a:t>
            </a:r>
          </a:p>
        </p:txBody>
      </p:sp>
      <p:sp>
        <p:nvSpPr>
          <p:cNvPr id="7" name="Metin kutusu 6">
            <a:extLst>
              <a:ext uri="{FF2B5EF4-FFF2-40B4-BE49-F238E27FC236}">
                <a16:creationId xmlns:a16="http://schemas.microsoft.com/office/drawing/2014/main" id="{A10FF1FF-D648-9D8B-2317-B6ADEE656A7D}"/>
              </a:ext>
            </a:extLst>
          </p:cNvPr>
          <p:cNvSpPr txBox="1"/>
          <p:nvPr/>
        </p:nvSpPr>
        <p:spPr>
          <a:xfrm>
            <a:off x="1164348" y="759758"/>
            <a:ext cx="10688667" cy="4031873"/>
          </a:xfrm>
          <a:prstGeom prst="rect">
            <a:avLst/>
          </a:prstGeom>
          <a:noFill/>
        </p:spPr>
        <p:txBody>
          <a:bodyPr wrap="square" rtlCol="0">
            <a:spAutoFit/>
          </a:bodyPr>
          <a:lstStyle/>
          <a:p>
            <a:pPr marL="457200" indent="-457200" algn="just">
              <a:buFont typeface="Arial" panose="020B0604020202020204" pitchFamily="34" charset="0"/>
              <a:buChar char="•"/>
            </a:pPr>
            <a:r>
              <a:rPr lang="tr-TR" sz="2000" dirty="0">
                <a:latin typeface="Consolas" panose="020B0609020204030204" pitchFamily="49" charset="0"/>
              </a:rPr>
              <a:t>Diyelim ki bir algoritma, tek işlemci üzerinde çalışırken 100 birimlik bir süreye ihtiyaç duyuyor. Bu algoritmanın paralel versiyonunu 4 işlemci üzerinde çalıştırmak istiyoruz.</a:t>
            </a:r>
          </a:p>
          <a:p>
            <a:pPr marL="457200" indent="-457200" algn="just">
              <a:buFont typeface="Arial" panose="020B0604020202020204" pitchFamily="34" charset="0"/>
              <a:buChar char="•"/>
            </a:pPr>
            <a:endParaRPr lang="tr-TR" sz="2000" dirty="0">
              <a:latin typeface="Consolas" panose="020B0609020204030204" pitchFamily="49" charset="0"/>
            </a:endParaRPr>
          </a:p>
          <a:p>
            <a:pPr marL="914400" lvl="1" indent="-457200" algn="just">
              <a:buFont typeface="Arial" panose="020B0604020202020204" pitchFamily="34" charset="0"/>
              <a:buChar char="•"/>
            </a:pPr>
            <a:r>
              <a:rPr lang="tr-TR" sz="1600" dirty="0">
                <a:latin typeface="Consolas" panose="020B0609020204030204" pitchFamily="49" charset="0"/>
              </a:rPr>
              <a:t>Tek işlemci süresi = 100 birim (verildi)</a:t>
            </a:r>
          </a:p>
          <a:p>
            <a:pPr marL="914400" lvl="1" indent="-457200" algn="just">
              <a:buFont typeface="Arial" panose="020B0604020202020204" pitchFamily="34" charset="0"/>
              <a:buChar char="•"/>
            </a:pPr>
            <a:r>
              <a:rPr lang="tr-TR" sz="1600" dirty="0">
                <a:latin typeface="Consolas" panose="020B0609020204030204" pitchFamily="49" charset="0"/>
              </a:rPr>
              <a:t>Paralel işlemci süresi = 100 birim / 4 işlemci = 25 birim</a:t>
            </a:r>
          </a:p>
          <a:p>
            <a:pPr marL="914400" lvl="1" indent="-457200" algn="just">
              <a:buFont typeface="Arial" panose="020B0604020202020204" pitchFamily="34" charset="0"/>
              <a:buChar char="•"/>
            </a:pPr>
            <a:endParaRPr lang="tr-TR" sz="1600" dirty="0">
              <a:latin typeface="Consolas" panose="020B0609020204030204" pitchFamily="49" charset="0"/>
            </a:endParaRPr>
          </a:p>
          <a:p>
            <a:pPr marL="914400" lvl="1" indent="-457200" algn="just">
              <a:buFont typeface="Arial" panose="020B0604020202020204" pitchFamily="34" charset="0"/>
              <a:buChar char="•"/>
            </a:pPr>
            <a:endParaRPr lang="tr-TR" sz="1600" dirty="0">
              <a:latin typeface="Consolas" panose="020B0609020204030204" pitchFamily="49" charset="0"/>
            </a:endParaRPr>
          </a:p>
          <a:p>
            <a:pPr marL="914400" lvl="1" indent="-457200" algn="just">
              <a:buFont typeface="Arial" panose="020B0604020202020204" pitchFamily="34" charset="0"/>
              <a:buChar char="•"/>
            </a:pPr>
            <a:endParaRPr lang="tr-TR" sz="1600" dirty="0">
              <a:latin typeface="Consolas" panose="020B0609020204030204" pitchFamily="49" charset="0"/>
            </a:endParaRPr>
          </a:p>
          <a:p>
            <a:pPr marL="914400" lvl="1" indent="-457200" algn="just">
              <a:buFont typeface="Arial" panose="020B0604020202020204" pitchFamily="34" charset="0"/>
              <a:buChar char="•"/>
            </a:pPr>
            <a:endParaRPr lang="tr-TR" sz="1600" dirty="0">
              <a:latin typeface="Consolas" panose="020B0609020204030204" pitchFamily="49" charset="0"/>
            </a:endParaRPr>
          </a:p>
          <a:p>
            <a:pPr marL="914400" lvl="1" indent="-457200" algn="just">
              <a:buFont typeface="Arial" panose="020B0604020202020204" pitchFamily="34" charset="0"/>
              <a:buChar char="•"/>
            </a:pPr>
            <a:endParaRPr lang="tr-TR" sz="1600" dirty="0">
              <a:latin typeface="Consolas" panose="020B0609020204030204" pitchFamily="49" charset="0"/>
            </a:endParaRPr>
          </a:p>
          <a:p>
            <a:pPr marL="914400" lvl="1" indent="-457200" algn="just">
              <a:buFont typeface="Arial" panose="020B0604020202020204" pitchFamily="34" charset="0"/>
              <a:buChar char="•"/>
            </a:pPr>
            <a:r>
              <a:rPr lang="tr-TR" sz="1600" b="1" dirty="0" err="1">
                <a:latin typeface="Consolas" panose="020B0609020204030204" pitchFamily="49" charset="0"/>
              </a:rPr>
              <a:t>Speedup</a:t>
            </a:r>
            <a:r>
              <a:rPr lang="tr-TR" sz="1600" b="1" dirty="0">
                <a:latin typeface="Consolas" panose="020B0609020204030204" pitchFamily="49" charset="0"/>
              </a:rPr>
              <a:t> = 100 / 25 = 4</a:t>
            </a:r>
          </a:p>
          <a:p>
            <a:pPr lvl="1" algn="just"/>
            <a:endParaRPr lang="tr-TR" sz="1600" b="1" dirty="0">
              <a:latin typeface="Consolas" panose="020B0609020204030204" pitchFamily="49" charset="0"/>
            </a:endParaRPr>
          </a:p>
          <a:p>
            <a:pPr algn="just"/>
            <a:r>
              <a:rPr lang="tr-TR" sz="1600" b="1" dirty="0">
                <a:latin typeface="Consolas" panose="020B0609020204030204" pitchFamily="49" charset="0"/>
              </a:rPr>
              <a:t>Bu durumda, </a:t>
            </a:r>
            <a:r>
              <a:rPr lang="tr-TR" sz="1600" b="1" dirty="0" err="1">
                <a:latin typeface="Consolas" panose="020B0609020204030204" pitchFamily="49" charset="0"/>
              </a:rPr>
              <a:t>speedup</a:t>
            </a:r>
            <a:r>
              <a:rPr lang="tr-TR" sz="1600" b="1" dirty="0">
                <a:latin typeface="Consolas" panose="020B0609020204030204" pitchFamily="49" charset="0"/>
              </a:rPr>
              <a:t> değeri 4'tür. Yani, 4 işlemci üzerinde çalışan paralel versiyon, tek işlemciye göre 4 kat daha hızlıdır.</a:t>
            </a:r>
          </a:p>
        </p:txBody>
      </p:sp>
      <p:pic>
        <p:nvPicPr>
          <p:cNvPr id="8" name="Resim 7">
            <a:extLst>
              <a:ext uri="{FF2B5EF4-FFF2-40B4-BE49-F238E27FC236}">
                <a16:creationId xmlns:a16="http://schemas.microsoft.com/office/drawing/2014/main" id="{81D525CA-85B3-14FF-B479-4BA849356D7F}"/>
              </a:ext>
            </a:extLst>
          </p:cNvPr>
          <p:cNvPicPr>
            <a:picLocks noChangeAspect="1"/>
          </p:cNvPicPr>
          <p:nvPr/>
        </p:nvPicPr>
        <p:blipFill>
          <a:blip r:embed="rId3">
            <a:duotone>
              <a:schemeClr val="accent4">
                <a:shade val="45000"/>
                <a:satMod val="135000"/>
              </a:schemeClr>
              <a:prstClr val="white"/>
            </a:duotone>
          </a:blip>
          <a:stretch>
            <a:fillRect/>
          </a:stretch>
        </p:blipFill>
        <p:spPr>
          <a:xfrm>
            <a:off x="2215955" y="2761702"/>
            <a:ext cx="3143689" cy="666843"/>
          </a:xfrm>
          <a:prstGeom prst="rect">
            <a:avLst/>
          </a:prstGeom>
        </p:spPr>
      </p:pic>
    </p:spTree>
    <p:extLst>
      <p:ext uri="{BB962C8B-B14F-4D97-AF65-F5344CB8AC3E}">
        <p14:creationId xmlns:p14="http://schemas.microsoft.com/office/powerpoint/2010/main" val="264442035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973771-9CBA-4CED-16D1-EEDF831841FC}"/>
            </a:ext>
          </a:extLst>
        </p:cNvPr>
        <p:cNvGrpSpPr/>
        <p:nvPr/>
      </p:nvGrpSpPr>
      <p:grpSpPr>
        <a:xfrm>
          <a:off x="0" y="0"/>
          <a:ext cx="0" cy="0"/>
          <a:chOff x="0" y="0"/>
          <a:chExt cx="0" cy="0"/>
        </a:xfrm>
      </p:grpSpPr>
      <p:pic>
        <p:nvPicPr>
          <p:cNvPr id="4" name="Picture 2" descr="Parallel computing for high-performance simulations">
            <a:extLst>
              <a:ext uri="{FF2B5EF4-FFF2-40B4-BE49-F238E27FC236}">
                <a16:creationId xmlns:a16="http://schemas.microsoft.com/office/drawing/2014/main" id="{DB13D94C-A8D2-C303-592D-A1242C10CA38}"/>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51802" b="-1"/>
          <a:stretch/>
        </p:blipFill>
        <p:spPr bwMode="auto">
          <a:xfrm rot="5400000">
            <a:off x="-2989346" y="2971346"/>
            <a:ext cx="6876000" cy="914399"/>
          </a:xfrm>
          <a:prstGeom prst="rect">
            <a:avLst/>
          </a:prstGeom>
          <a:noFill/>
          <a:extLst>
            <a:ext uri="{909E8E84-426E-40DD-AFC4-6F175D3DCCD1}">
              <a14:hiddenFill xmlns:a14="http://schemas.microsoft.com/office/drawing/2010/main">
                <a:solidFill>
                  <a:srgbClr val="FFFFFF"/>
                </a:solidFill>
              </a14:hiddenFill>
            </a:ext>
          </a:extLst>
        </p:spPr>
      </p:pic>
      <p:sp>
        <p:nvSpPr>
          <p:cNvPr id="6" name="Metin kutusu 5">
            <a:extLst>
              <a:ext uri="{FF2B5EF4-FFF2-40B4-BE49-F238E27FC236}">
                <a16:creationId xmlns:a16="http://schemas.microsoft.com/office/drawing/2014/main" id="{68DBF6EA-4C4D-C4F2-AB9A-2CE64C2AE959}"/>
              </a:ext>
            </a:extLst>
          </p:cNvPr>
          <p:cNvSpPr txBox="1"/>
          <p:nvPr/>
        </p:nvSpPr>
        <p:spPr>
          <a:xfrm>
            <a:off x="1164349" y="184777"/>
            <a:ext cx="10688668" cy="461665"/>
          </a:xfrm>
          <a:prstGeom prst="rect">
            <a:avLst/>
          </a:prstGeom>
          <a:noFill/>
        </p:spPr>
        <p:txBody>
          <a:bodyPr wrap="square" rtlCol="0">
            <a:spAutoFit/>
          </a:bodyPr>
          <a:lstStyle/>
          <a:p>
            <a:r>
              <a:rPr lang="tr-TR" sz="2400" b="1" dirty="0">
                <a:latin typeface="Consolas" panose="020B0609020204030204" pitchFamily="49" charset="0"/>
              </a:rPr>
              <a:t>Örnek: Hızlanma (</a:t>
            </a:r>
            <a:r>
              <a:rPr lang="tr-TR" sz="2400" b="1" dirty="0" err="1">
                <a:latin typeface="Consolas" panose="020B0609020204030204" pitchFamily="49" charset="0"/>
              </a:rPr>
              <a:t>Speedup</a:t>
            </a:r>
            <a:r>
              <a:rPr lang="tr-TR" sz="2400" b="1" dirty="0">
                <a:latin typeface="Consolas" panose="020B0609020204030204" pitchFamily="49" charset="0"/>
              </a:rPr>
              <a:t>) ve Verimlilik (</a:t>
            </a:r>
            <a:r>
              <a:rPr lang="tr-TR" sz="2400" b="1" dirty="0" err="1">
                <a:latin typeface="Consolas" panose="020B0609020204030204" pitchFamily="49" charset="0"/>
              </a:rPr>
              <a:t>Efficiency</a:t>
            </a:r>
            <a:r>
              <a:rPr lang="tr-TR" sz="2400" b="1" dirty="0">
                <a:latin typeface="Consolas" panose="020B0609020204030204" pitchFamily="49" charset="0"/>
              </a:rPr>
              <a:t>)</a:t>
            </a:r>
          </a:p>
        </p:txBody>
      </p:sp>
      <p:sp>
        <p:nvSpPr>
          <p:cNvPr id="7" name="Metin kutusu 6">
            <a:extLst>
              <a:ext uri="{FF2B5EF4-FFF2-40B4-BE49-F238E27FC236}">
                <a16:creationId xmlns:a16="http://schemas.microsoft.com/office/drawing/2014/main" id="{A10FF1FF-D648-9D8B-2317-B6ADEE656A7D}"/>
              </a:ext>
            </a:extLst>
          </p:cNvPr>
          <p:cNvSpPr txBox="1"/>
          <p:nvPr/>
        </p:nvSpPr>
        <p:spPr>
          <a:xfrm>
            <a:off x="1164348" y="759758"/>
            <a:ext cx="10688667" cy="5262979"/>
          </a:xfrm>
          <a:prstGeom prst="rect">
            <a:avLst/>
          </a:prstGeom>
          <a:noFill/>
        </p:spPr>
        <p:txBody>
          <a:bodyPr wrap="square" rtlCol="0">
            <a:spAutoFit/>
          </a:bodyPr>
          <a:lstStyle/>
          <a:p>
            <a:pPr marL="457200" indent="-457200" algn="just">
              <a:buFont typeface="Arial" panose="020B0604020202020204" pitchFamily="34" charset="0"/>
              <a:buChar char="•"/>
            </a:pPr>
            <a:r>
              <a:rPr lang="tr-TR" sz="2000" dirty="0" err="1">
                <a:latin typeface="Consolas" panose="020B0609020204030204" pitchFamily="49" charset="0"/>
              </a:rPr>
              <a:t>Efficiency</a:t>
            </a:r>
            <a:r>
              <a:rPr lang="tr-TR" sz="2000" dirty="0">
                <a:latin typeface="Consolas" panose="020B0609020204030204" pitchFamily="49" charset="0"/>
              </a:rPr>
              <a:t>, paralel işlemin verimliliğini ifade eder. </a:t>
            </a:r>
            <a:r>
              <a:rPr lang="tr-TR" sz="2000" dirty="0" err="1">
                <a:latin typeface="Consolas" panose="020B0609020204030204" pitchFamily="49" charset="0"/>
              </a:rPr>
              <a:t>Efficiency</a:t>
            </a:r>
            <a:r>
              <a:rPr lang="tr-TR" sz="2000" dirty="0">
                <a:latin typeface="Consolas" panose="020B0609020204030204" pitchFamily="49" charset="0"/>
              </a:rPr>
              <a:t>, aşağıdaki formülle hesaplanır:</a:t>
            </a:r>
          </a:p>
          <a:p>
            <a:pPr marL="457200" indent="-457200" algn="just">
              <a:buFont typeface="Arial" panose="020B0604020202020204" pitchFamily="34" charset="0"/>
              <a:buChar char="•"/>
            </a:pPr>
            <a:endParaRPr lang="tr-TR" sz="2000" dirty="0">
              <a:latin typeface="Consolas" panose="020B0609020204030204" pitchFamily="49" charset="0"/>
            </a:endParaRPr>
          </a:p>
          <a:p>
            <a:pPr marL="457200" indent="-457200" algn="just">
              <a:buFont typeface="Arial" panose="020B0604020202020204" pitchFamily="34" charset="0"/>
              <a:buChar char="•"/>
            </a:pPr>
            <a:endParaRPr lang="tr-TR" sz="2000" dirty="0">
              <a:latin typeface="Consolas" panose="020B0609020204030204" pitchFamily="49" charset="0"/>
            </a:endParaRPr>
          </a:p>
          <a:p>
            <a:pPr marL="457200" indent="-457200" algn="just">
              <a:buFont typeface="Arial" panose="020B0604020202020204" pitchFamily="34" charset="0"/>
              <a:buChar char="•"/>
            </a:pPr>
            <a:endParaRPr lang="tr-TR" sz="2000" dirty="0">
              <a:latin typeface="Consolas" panose="020B0609020204030204" pitchFamily="49" charset="0"/>
            </a:endParaRPr>
          </a:p>
          <a:p>
            <a:pPr marL="457200" indent="-457200" algn="just">
              <a:buFont typeface="Arial" panose="020B0604020202020204" pitchFamily="34" charset="0"/>
              <a:buChar char="•"/>
            </a:pPr>
            <a:endParaRPr lang="tr-TR" sz="2000" dirty="0">
              <a:latin typeface="Consolas" panose="020B0609020204030204" pitchFamily="49" charset="0"/>
            </a:endParaRPr>
          </a:p>
          <a:p>
            <a:pPr marL="457200" indent="-457200" algn="just">
              <a:buFont typeface="Arial" panose="020B0604020202020204" pitchFamily="34" charset="0"/>
              <a:buChar char="•"/>
            </a:pPr>
            <a:endParaRPr lang="tr-TR" sz="2000" dirty="0">
              <a:latin typeface="Consolas" panose="020B0609020204030204" pitchFamily="49" charset="0"/>
            </a:endParaRPr>
          </a:p>
          <a:p>
            <a:pPr marL="457200" indent="-457200" algn="just">
              <a:buFont typeface="Arial" panose="020B0604020202020204" pitchFamily="34" charset="0"/>
              <a:buChar char="•"/>
            </a:pPr>
            <a:r>
              <a:rPr lang="tr-TR" sz="2000" dirty="0">
                <a:latin typeface="Consolas" panose="020B0609020204030204" pitchFamily="49" charset="0"/>
              </a:rPr>
              <a:t>İşlemci sayısı = 4 (verildi)</a:t>
            </a:r>
          </a:p>
          <a:p>
            <a:pPr marL="457200" indent="-457200" algn="just">
              <a:buFont typeface="Arial" panose="020B0604020202020204" pitchFamily="34" charset="0"/>
              <a:buChar char="•"/>
            </a:pPr>
            <a:r>
              <a:rPr lang="tr-TR" sz="2000" b="1" dirty="0" err="1">
                <a:latin typeface="Consolas" panose="020B0609020204030204" pitchFamily="49" charset="0"/>
              </a:rPr>
              <a:t>Efficiency</a:t>
            </a:r>
            <a:r>
              <a:rPr lang="tr-TR" sz="2000" b="1" dirty="0">
                <a:latin typeface="Consolas" panose="020B0609020204030204" pitchFamily="49" charset="0"/>
              </a:rPr>
              <a:t> = 4 / 4 = 1</a:t>
            </a:r>
          </a:p>
          <a:p>
            <a:pPr marL="457200" indent="-457200" algn="just">
              <a:buFont typeface="Arial" panose="020B0604020202020204" pitchFamily="34" charset="0"/>
              <a:buChar char="•"/>
            </a:pPr>
            <a:endParaRPr lang="tr-TR" sz="2000" b="1" dirty="0">
              <a:latin typeface="Consolas" panose="020B0609020204030204" pitchFamily="49" charset="0"/>
            </a:endParaRPr>
          </a:p>
          <a:p>
            <a:pPr algn="just"/>
            <a:r>
              <a:rPr lang="tr-TR" sz="2000" dirty="0">
                <a:latin typeface="Consolas" panose="020B0609020204030204" pitchFamily="49" charset="0"/>
              </a:rPr>
              <a:t>Bu durumda, </a:t>
            </a:r>
            <a:r>
              <a:rPr lang="tr-TR" sz="2000" dirty="0" err="1">
                <a:latin typeface="Consolas" panose="020B0609020204030204" pitchFamily="49" charset="0"/>
              </a:rPr>
              <a:t>efficiency</a:t>
            </a:r>
            <a:r>
              <a:rPr lang="tr-TR" sz="2000" dirty="0">
                <a:latin typeface="Consolas" panose="020B0609020204030204" pitchFamily="49" charset="0"/>
              </a:rPr>
              <a:t> değeri 1'dir. Yani, her işlemcinin tam kapasiteyle çalıştığı durumda, paralel işlemin verimliliği %100'dür.</a:t>
            </a:r>
          </a:p>
          <a:p>
            <a:pPr marL="457200" indent="-457200" algn="just">
              <a:buFont typeface="Arial" panose="020B0604020202020204" pitchFamily="34" charset="0"/>
              <a:buChar char="•"/>
            </a:pPr>
            <a:endParaRPr lang="tr-TR" sz="2000" dirty="0">
              <a:latin typeface="Consolas" panose="020B0609020204030204" pitchFamily="49" charset="0"/>
            </a:endParaRPr>
          </a:p>
          <a:p>
            <a:pPr marL="457200" indent="-457200" algn="just">
              <a:buFont typeface="Arial" panose="020B0604020202020204" pitchFamily="34" charset="0"/>
              <a:buChar char="•"/>
            </a:pPr>
            <a:endParaRPr lang="tr-TR" sz="2000" dirty="0">
              <a:latin typeface="Consolas" panose="020B0609020204030204" pitchFamily="49" charset="0"/>
            </a:endParaRPr>
          </a:p>
          <a:p>
            <a:pPr marL="457200" indent="-457200" algn="just">
              <a:buFont typeface="Arial" panose="020B0604020202020204" pitchFamily="34" charset="0"/>
              <a:buChar char="•"/>
            </a:pPr>
            <a:endParaRPr lang="tr-TR" sz="2000" b="1" dirty="0">
              <a:latin typeface="Consolas" panose="020B0609020204030204" pitchFamily="49" charset="0"/>
            </a:endParaRPr>
          </a:p>
          <a:p>
            <a:pPr marL="457200" indent="-457200" algn="just">
              <a:buFont typeface="Arial" panose="020B0604020202020204" pitchFamily="34" charset="0"/>
              <a:buChar char="•"/>
            </a:pPr>
            <a:endParaRPr lang="tr-TR" sz="2000" b="1" dirty="0">
              <a:latin typeface="Consolas" panose="020B0609020204030204" pitchFamily="49" charset="0"/>
            </a:endParaRPr>
          </a:p>
          <a:p>
            <a:pPr marL="457200" indent="-457200" algn="just">
              <a:buFont typeface="Arial" panose="020B0604020202020204" pitchFamily="34" charset="0"/>
              <a:buChar char="•"/>
            </a:pPr>
            <a:endParaRPr lang="tr-TR" sz="1600" b="1" dirty="0">
              <a:latin typeface="Consolas" panose="020B0609020204030204" pitchFamily="49" charset="0"/>
            </a:endParaRPr>
          </a:p>
        </p:txBody>
      </p:sp>
      <p:pic>
        <p:nvPicPr>
          <p:cNvPr id="2" name="Resim 1">
            <a:extLst>
              <a:ext uri="{FF2B5EF4-FFF2-40B4-BE49-F238E27FC236}">
                <a16:creationId xmlns:a16="http://schemas.microsoft.com/office/drawing/2014/main" id="{0503A935-1816-5AFE-E1E3-522951541635}"/>
              </a:ext>
            </a:extLst>
          </p:cNvPr>
          <p:cNvPicPr>
            <a:picLocks noChangeAspect="1"/>
          </p:cNvPicPr>
          <p:nvPr/>
        </p:nvPicPr>
        <p:blipFill>
          <a:blip r:embed="rId3">
            <a:duotone>
              <a:schemeClr val="accent4">
                <a:shade val="45000"/>
                <a:satMod val="135000"/>
              </a:schemeClr>
              <a:prstClr val="white"/>
            </a:duotone>
          </a:blip>
          <a:stretch>
            <a:fillRect/>
          </a:stretch>
        </p:blipFill>
        <p:spPr>
          <a:xfrm>
            <a:off x="4165651" y="1624386"/>
            <a:ext cx="2505425" cy="790685"/>
          </a:xfrm>
          <a:prstGeom prst="rect">
            <a:avLst/>
          </a:prstGeom>
        </p:spPr>
      </p:pic>
    </p:spTree>
    <p:extLst>
      <p:ext uri="{BB962C8B-B14F-4D97-AF65-F5344CB8AC3E}">
        <p14:creationId xmlns:p14="http://schemas.microsoft.com/office/powerpoint/2010/main" val="268335059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973771-9CBA-4CED-16D1-EEDF831841FC}"/>
            </a:ext>
          </a:extLst>
        </p:cNvPr>
        <p:cNvGrpSpPr/>
        <p:nvPr/>
      </p:nvGrpSpPr>
      <p:grpSpPr>
        <a:xfrm>
          <a:off x="0" y="0"/>
          <a:ext cx="0" cy="0"/>
          <a:chOff x="0" y="0"/>
          <a:chExt cx="0" cy="0"/>
        </a:xfrm>
      </p:grpSpPr>
      <p:pic>
        <p:nvPicPr>
          <p:cNvPr id="4" name="Picture 2" descr="Parallel computing for high-performance simulations">
            <a:extLst>
              <a:ext uri="{FF2B5EF4-FFF2-40B4-BE49-F238E27FC236}">
                <a16:creationId xmlns:a16="http://schemas.microsoft.com/office/drawing/2014/main" id="{DB13D94C-A8D2-C303-592D-A1242C10CA38}"/>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51802" b="-1"/>
          <a:stretch/>
        </p:blipFill>
        <p:spPr bwMode="auto">
          <a:xfrm rot="5400000">
            <a:off x="-2989346" y="2971346"/>
            <a:ext cx="6876000" cy="914399"/>
          </a:xfrm>
          <a:prstGeom prst="rect">
            <a:avLst/>
          </a:prstGeom>
          <a:noFill/>
          <a:extLst>
            <a:ext uri="{909E8E84-426E-40DD-AFC4-6F175D3DCCD1}">
              <a14:hiddenFill xmlns:a14="http://schemas.microsoft.com/office/drawing/2010/main">
                <a:solidFill>
                  <a:srgbClr val="FFFFFF"/>
                </a:solidFill>
              </a14:hiddenFill>
            </a:ext>
          </a:extLst>
        </p:spPr>
      </p:pic>
      <p:sp>
        <p:nvSpPr>
          <p:cNvPr id="6" name="Metin kutusu 5">
            <a:extLst>
              <a:ext uri="{FF2B5EF4-FFF2-40B4-BE49-F238E27FC236}">
                <a16:creationId xmlns:a16="http://schemas.microsoft.com/office/drawing/2014/main" id="{68DBF6EA-4C4D-C4F2-AB9A-2CE64C2AE959}"/>
              </a:ext>
            </a:extLst>
          </p:cNvPr>
          <p:cNvSpPr txBox="1"/>
          <p:nvPr/>
        </p:nvSpPr>
        <p:spPr>
          <a:xfrm>
            <a:off x="1164349" y="184777"/>
            <a:ext cx="10688668" cy="461665"/>
          </a:xfrm>
          <a:prstGeom prst="rect">
            <a:avLst/>
          </a:prstGeom>
          <a:noFill/>
        </p:spPr>
        <p:txBody>
          <a:bodyPr wrap="square" rtlCol="0">
            <a:spAutoFit/>
          </a:bodyPr>
          <a:lstStyle/>
          <a:p>
            <a:r>
              <a:rPr lang="tr-TR" sz="2400" b="1" dirty="0">
                <a:latin typeface="Consolas" panose="020B0609020204030204" pitchFamily="49" charset="0"/>
              </a:rPr>
              <a:t>Örnek 2: Hızlanma (</a:t>
            </a:r>
            <a:r>
              <a:rPr lang="tr-TR" sz="2400" b="1" dirty="0" err="1">
                <a:latin typeface="Consolas" panose="020B0609020204030204" pitchFamily="49" charset="0"/>
              </a:rPr>
              <a:t>Speedup</a:t>
            </a:r>
            <a:r>
              <a:rPr lang="tr-TR" sz="2400" b="1" dirty="0">
                <a:latin typeface="Consolas" panose="020B0609020204030204" pitchFamily="49" charset="0"/>
              </a:rPr>
              <a:t>) ve Verimlilik (</a:t>
            </a:r>
            <a:r>
              <a:rPr lang="tr-TR" sz="2400" b="1" dirty="0" err="1">
                <a:latin typeface="Consolas" panose="020B0609020204030204" pitchFamily="49" charset="0"/>
              </a:rPr>
              <a:t>Efficiency</a:t>
            </a:r>
            <a:r>
              <a:rPr lang="tr-TR" sz="2400" b="1" dirty="0">
                <a:latin typeface="Consolas" panose="020B0609020204030204" pitchFamily="49" charset="0"/>
              </a:rPr>
              <a:t>)</a:t>
            </a:r>
          </a:p>
        </p:txBody>
      </p:sp>
      <p:sp>
        <p:nvSpPr>
          <p:cNvPr id="7" name="Metin kutusu 6">
            <a:extLst>
              <a:ext uri="{FF2B5EF4-FFF2-40B4-BE49-F238E27FC236}">
                <a16:creationId xmlns:a16="http://schemas.microsoft.com/office/drawing/2014/main" id="{A10FF1FF-D648-9D8B-2317-B6ADEE656A7D}"/>
              </a:ext>
            </a:extLst>
          </p:cNvPr>
          <p:cNvSpPr txBox="1"/>
          <p:nvPr/>
        </p:nvSpPr>
        <p:spPr>
          <a:xfrm>
            <a:off x="1164348" y="759758"/>
            <a:ext cx="10688667" cy="6001643"/>
          </a:xfrm>
          <a:prstGeom prst="rect">
            <a:avLst/>
          </a:prstGeom>
          <a:noFill/>
        </p:spPr>
        <p:txBody>
          <a:bodyPr wrap="square" rtlCol="0">
            <a:spAutoFit/>
          </a:bodyPr>
          <a:lstStyle/>
          <a:p>
            <a:pPr marL="457200" indent="-457200" algn="just">
              <a:buFont typeface="Arial" panose="020B0604020202020204" pitchFamily="34" charset="0"/>
              <a:buChar char="•"/>
            </a:pPr>
            <a:r>
              <a:rPr lang="tr-TR" sz="2000" dirty="0">
                <a:latin typeface="Consolas" panose="020B0609020204030204" pitchFamily="49" charset="0"/>
              </a:rPr>
              <a:t>Diyelim ki, bir işlemci tek başına bir işi 10 saatte tamamlayabiliyor. Bu işi 5 işlemcili bir paralel sistemde 3 saatte bitirmek istiyoruz. Bu durumda, </a:t>
            </a:r>
            <a:r>
              <a:rPr lang="tr-TR" sz="2000" dirty="0" err="1">
                <a:latin typeface="Consolas" panose="020B0609020204030204" pitchFamily="49" charset="0"/>
              </a:rPr>
              <a:t>speedup</a:t>
            </a:r>
            <a:r>
              <a:rPr lang="tr-TR" sz="2000" dirty="0">
                <a:latin typeface="Consolas" panose="020B0609020204030204" pitchFamily="49" charset="0"/>
              </a:rPr>
              <a:t> ve </a:t>
            </a:r>
            <a:r>
              <a:rPr lang="tr-TR" sz="2000" dirty="0" err="1">
                <a:latin typeface="Consolas" panose="020B0609020204030204" pitchFamily="49" charset="0"/>
              </a:rPr>
              <a:t>efficiency</a:t>
            </a:r>
            <a:r>
              <a:rPr lang="tr-TR" sz="2000" dirty="0">
                <a:latin typeface="Consolas" panose="020B0609020204030204" pitchFamily="49" charset="0"/>
              </a:rPr>
              <a:t> hesaplayabiliriz.</a:t>
            </a:r>
          </a:p>
          <a:p>
            <a:pPr marL="457200" indent="-457200" algn="just">
              <a:buFont typeface="Arial" panose="020B0604020202020204" pitchFamily="34" charset="0"/>
              <a:buChar char="•"/>
            </a:pPr>
            <a:endParaRPr lang="tr-TR" sz="2000" dirty="0">
              <a:latin typeface="Consolas" panose="020B0609020204030204" pitchFamily="49" charset="0"/>
            </a:endParaRPr>
          </a:p>
          <a:p>
            <a:pPr lvl="1" algn="just"/>
            <a:r>
              <a:rPr lang="tr-TR" sz="2000" dirty="0">
                <a:latin typeface="Consolas" panose="020B0609020204030204" pitchFamily="49" charset="0"/>
              </a:rPr>
              <a:t>Tek işlemci süresi = 10 saat</a:t>
            </a:r>
          </a:p>
          <a:p>
            <a:pPr lvl="1" algn="just"/>
            <a:r>
              <a:rPr lang="tr-TR" sz="2000" dirty="0">
                <a:latin typeface="Consolas" panose="020B0609020204030204" pitchFamily="49" charset="0"/>
              </a:rPr>
              <a:t>Paralel sistem süresi = 3 saat</a:t>
            </a:r>
          </a:p>
          <a:p>
            <a:pPr lvl="1" algn="just"/>
            <a:endParaRPr lang="tr-TR" sz="2000" dirty="0">
              <a:latin typeface="Consolas" panose="020B0609020204030204" pitchFamily="49" charset="0"/>
            </a:endParaRPr>
          </a:p>
          <a:p>
            <a:pPr lvl="1" algn="just"/>
            <a:r>
              <a:rPr lang="tr-TR" sz="2000" dirty="0">
                <a:latin typeface="Consolas" panose="020B0609020204030204" pitchFamily="49" charset="0"/>
              </a:rPr>
              <a:t>	</a:t>
            </a:r>
            <a:r>
              <a:rPr lang="tr-TR" sz="2000" b="1" dirty="0" err="1">
                <a:latin typeface="Consolas" panose="020B0609020204030204" pitchFamily="49" charset="0"/>
              </a:rPr>
              <a:t>Speedup</a:t>
            </a:r>
            <a:r>
              <a:rPr lang="tr-TR" sz="2000" b="1" dirty="0">
                <a:latin typeface="Consolas" panose="020B0609020204030204" pitchFamily="49" charset="0"/>
              </a:rPr>
              <a:t> = </a:t>
            </a:r>
            <a:r>
              <a:rPr lang="tr-TR" sz="2000" b="1" dirty="0">
                <a:solidFill>
                  <a:schemeClr val="tx1">
                    <a:lumMod val="95000"/>
                    <a:lumOff val="5000"/>
                  </a:schemeClr>
                </a:solidFill>
                <a:latin typeface="Consolas" panose="020B0609020204030204" pitchFamily="49" charset="0"/>
              </a:rPr>
              <a:t>10 / 3 </a:t>
            </a:r>
            <a:r>
              <a:rPr lang="tr-TR" sz="2000" b="1" i="0" dirty="0">
                <a:solidFill>
                  <a:schemeClr val="tx1">
                    <a:lumMod val="95000"/>
                    <a:lumOff val="5000"/>
                  </a:schemeClr>
                </a:solidFill>
                <a:effectLst/>
                <a:latin typeface="KaTeX_Main"/>
              </a:rPr>
              <a:t>≈</a:t>
            </a:r>
            <a:r>
              <a:rPr lang="tr-TR" sz="2000" b="1" i="0" dirty="0">
                <a:solidFill>
                  <a:schemeClr val="tx1">
                    <a:lumMod val="95000"/>
                    <a:lumOff val="5000"/>
                  </a:schemeClr>
                </a:solidFill>
                <a:effectLst/>
                <a:latin typeface="Consolas" panose="020B0609020204030204" pitchFamily="49" charset="0"/>
              </a:rPr>
              <a:t> 3.33 </a:t>
            </a:r>
            <a:endParaRPr lang="tr-TR" sz="1600" b="1" i="0" dirty="0">
              <a:solidFill>
                <a:schemeClr val="tx1">
                  <a:lumMod val="95000"/>
                  <a:lumOff val="5000"/>
                </a:schemeClr>
              </a:solidFill>
              <a:effectLst/>
              <a:latin typeface="Consolas" panose="020B0609020204030204" pitchFamily="49" charset="0"/>
            </a:endParaRPr>
          </a:p>
          <a:p>
            <a:pPr lvl="1" algn="just"/>
            <a:endParaRPr lang="tr-TR" sz="1600" b="1" dirty="0">
              <a:solidFill>
                <a:schemeClr val="tx1">
                  <a:lumMod val="95000"/>
                  <a:lumOff val="5000"/>
                </a:schemeClr>
              </a:solidFill>
              <a:latin typeface="Consolas" panose="020B0609020204030204" pitchFamily="49" charset="0"/>
            </a:endParaRPr>
          </a:p>
          <a:p>
            <a:pPr lvl="1" algn="just"/>
            <a:r>
              <a:rPr lang="tr-TR" sz="2000" dirty="0">
                <a:latin typeface="Consolas" panose="020B0609020204030204" pitchFamily="49" charset="0"/>
              </a:rPr>
              <a:t>İşlemci Sayısı = 5</a:t>
            </a:r>
          </a:p>
          <a:p>
            <a:pPr lvl="1" algn="just"/>
            <a:endParaRPr lang="tr-TR" sz="1600" b="1" dirty="0">
              <a:solidFill>
                <a:schemeClr val="tx1">
                  <a:lumMod val="95000"/>
                  <a:lumOff val="5000"/>
                </a:schemeClr>
              </a:solidFill>
              <a:latin typeface="Consolas" panose="020B0609020204030204" pitchFamily="49" charset="0"/>
            </a:endParaRPr>
          </a:p>
          <a:p>
            <a:pPr lvl="2" algn="just"/>
            <a:r>
              <a:rPr lang="tr-TR" sz="2000" b="1" dirty="0" err="1">
                <a:solidFill>
                  <a:schemeClr val="tx1">
                    <a:lumMod val="95000"/>
                    <a:lumOff val="5000"/>
                  </a:schemeClr>
                </a:solidFill>
                <a:latin typeface="Consolas" panose="020B0609020204030204" pitchFamily="49" charset="0"/>
              </a:rPr>
              <a:t>Efficiency</a:t>
            </a:r>
            <a:r>
              <a:rPr lang="tr-TR" sz="2000" b="1" dirty="0">
                <a:solidFill>
                  <a:schemeClr val="tx1">
                    <a:lumMod val="95000"/>
                    <a:lumOff val="5000"/>
                  </a:schemeClr>
                </a:solidFill>
                <a:latin typeface="Consolas" panose="020B0609020204030204" pitchFamily="49" charset="0"/>
              </a:rPr>
              <a:t> = 3.33 / 5 = 0.666</a:t>
            </a:r>
          </a:p>
          <a:p>
            <a:pPr lvl="1" algn="just"/>
            <a:endParaRPr lang="tr-TR" sz="1600" b="1" dirty="0">
              <a:solidFill>
                <a:schemeClr val="tx1">
                  <a:lumMod val="95000"/>
                  <a:lumOff val="5000"/>
                </a:schemeClr>
              </a:solidFill>
              <a:latin typeface="Consolas" panose="020B0609020204030204" pitchFamily="49" charset="0"/>
            </a:endParaRPr>
          </a:p>
          <a:p>
            <a:pPr lvl="1" algn="just"/>
            <a:endParaRPr lang="tr-TR" sz="1600" b="1" dirty="0">
              <a:solidFill>
                <a:schemeClr val="tx1">
                  <a:lumMod val="95000"/>
                  <a:lumOff val="5000"/>
                </a:schemeClr>
              </a:solidFill>
              <a:latin typeface="Consolas" panose="020B0609020204030204" pitchFamily="49" charset="0"/>
            </a:endParaRPr>
          </a:p>
          <a:p>
            <a:pPr lvl="1" algn="just"/>
            <a:r>
              <a:rPr lang="tr-TR" sz="2000" dirty="0">
                <a:latin typeface="Consolas" panose="020B0609020204030204" pitchFamily="49" charset="0"/>
              </a:rPr>
              <a:t>Bu durumda, </a:t>
            </a:r>
            <a:r>
              <a:rPr lang="tr-TR" sz="2000" dirty="0" err="1">
                <a:latin typeface="Consolas" panose="020B0609020204030204" pitchFamily="49" charset="0"/>
              </a:rPr>
              <a:t>efficiency</a:t>
            </a:r>
            <a:r>
              <a:rPr lang="tr-TR" sz="2000" dirty="0">
                <a:latin typeface="Consolas" panose="020B0609020204030204" pitchFamily="49" charset="0"/>
              </a:rPr>
              <a:t> yaklaşık olarak 0.666'dır veya %66.6'dır. Bu, sistemdeki işlemcilerin yaklaşık %66.6'sının aktif olduğunu gösterir.</a:t>
            </a:r>
          </a:p>
          <a:p>
            <a:pPr lvl="1" algn="just"/>
            <a:endParaRPr lang="tr-TR" sz="2000" dirty="0">
              <a:latin typeface="Consolas" panose="020B0609020204030204" pitchFamily="49" charset="0"/>
            </a:endParaRPr>
          </a:p>
          <a:p>
            <a:pPr lvl="1" algn="just"/>
            <a:r>
              <a:rPr lang="tr-TR" sz="2000" dirty="0">
                <a:latin typeface="Consolas" panose="020B0609020204030204" pitchFamily="49" charset="0"/>
              </a:rPr>
              <a:t>Bu örnekte, 5 işlemcili bir paralel sistemde işi 3 saatte bitirebilmenin, tek işlemciye göre yaklaşık 3.33 kat hızlı olduğunu ve sistemdeki işlemcilerin %66.6'sının aktif olduğunu gösterir.</a:t>
            </a:r>
          </a:p>
        </p:txBody>
      </p:sp>
    </p:spTree>
    <p:extLst>
      <p:ext uri="{BB962C8B-B14F-4D97-AF65-F5344CB8AC3E}">
        <p14:creationId xmlns:p14="http://schemas.microsoft.com/office/powerpoint/2010/main" val="389744187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973771-9CBA-4CED-16D1-EEDF831841FC}"/>
            </a:ext>
          </a:extLst>
        </p:cNvPr>
        <p:cNvGrpSpPr/>
        <p:nvPr/>
      </p:nvGrpSpPr>
      <p:grpSpPr>
        <a:xfrm>
          <a:off x="0" y="0"/>
          <a:ext cx="0" cy="0"/>
          <a:chOff x="0" y="0"/>
          <a:chExt cx="0" cy="0"/>
        </a:xfrm>
      </p:grpSpPr>
      <p:pic>
        <p:nvPicPr>
          <p:cNvPr id="4" name="Picture 2" descr="Parallel computing for high-performance simulations">
            <a:extLst>
              <a:ext uri="{FF2B5EF4-FFF2-40B4-BE49-F238E27FC236}">
                <a16:creationId xmlns:a16="http://schemas.microsoft.com/office/drawing/2014/main" id="{DB13D94C-A8D2-C303-592D-A1242C10CA38}"/>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51802" b="-1"/>
          <a:stretch/>
        </p:blipFill>
        <p:spPr bwMode="auto">
          <a:xfrm rot="5400000">
            <a:off x="-2989346" y="2971346"/>
            <a:ext cx="6876000" cy="914399"/>
          </a:xfrm>
          <a:prstGeom prst="rect">
            <a:avLst/>
          </a:prstGeom>
          <a:noFill/>
          <a:extLst>
            <a:ext uri="{909E8E84-426E-40DD-AFC4-6F175D3DCCD1}">
              <a14:hiddenFill xmlns:a14="http://schemas.microsoft.com/office/drawing/2010/main">
                <a:solidFill>
                  <a:srgbClr val="FFFFFF"/>
                </a:solidFill>
              </a14:hiddenFill>
            </a:ext>
          </a:extLst>
        </p:spPr>
      </p:pic>
      <p:sp>
        <p:nvSpPr>
          <p:cNvPr id="6" name="Metin kutusu 5">
            <a:extLst>
              <a:ext uri="{FF2B5EF4-FFF2-40B4-BE49-F238E27FC236}">
                <a16:creationId xmlns:a16="http://schemas.microsoft.com/office/drawing/2014/main" id="{68DBF6EA-4C4D-C4F2-AB9A-2CE64C2AE959}"/>
              </a:ext>
            </a:extLst>
          </p:cNvPr>
          <p:cNvSpPr txBox="1"/>
          <p:nvPr/>
        </p:nvSpPr>
        <p:spPr>
          <a:xfrm>
            <a:off x="1164349" y="184777"/>
            <a:ext cx="10688668" cy="553998"/>
          </a:xfrm>
          <a:prstGeom prst="rect">
            <a:avLst/>
          </a:prstGeom>
          <a:noFill/>
        </p:spPr>
        <p:txBody>
          <a:bodyPr wrap="square" rtlCol="0">
            <a:spAutoFit/>
          </a:bodyPr>
          <a:lstStyle/>
          <a:p>
            <a:r>
              <a:rPr lang="tr-TR" sz="3000" b="1" dirty="0" err="1">
                <a:latin typeface="Consolas" panose="020B0609020204030204" pitchFamily="49" charset="0"/>
              </a:rPr>
              <a:t>Paralelliştirme</a:t>
            </a:r>
            <a:r>
              <a:rPr lang="tr-TR" sz="3000" b="1" dirty="0">
                <a:latin typeface="Consolas" panose="020B0609020204030204" pitchFamily="49" charset="0"/>
              </a:rPr>
              <a:t> Maliyeti (</a:t>
            </a:r>
            <a:r>
              <a:rPr lang="tr-TR" sz="3000" b="1" dirty="0" err="1">
                <a:latin typeface="Consolas" panose="020B0609020204030204" pitchFamily="49" charset="0"/>
              </a:rPr>
              <a:t>Parallel</a:t>
            </a:r>
            <a:r>
              <a:rPr lang="tr-TR" sz="3000" b="1" dirty="0">
                <a:latin typeface="Consolas" panose="020B0609020204030204" pitchFamily="49" charset="0"/>
              </a:rPr>
              <a:t> </a:t>
            </a:r>
            <a:r>
              <a:rPr lang="tr-TR" sz="3000" b="1" dirty="0" err="1">
                <a:latin typeface="Consolas" panose="020B0609020204030204" pitchFamily="49" charset="0"/>
              </a:rPr>
              <a:t>Overhead</a:t>
            </a:r>
            <a:r>
              <a:rPr lang="tr-TR" sz="3000" b="1" dirty="0">
                <a:latin typeface="Consolas" panose="020B0609020204030204" pitchFamily="49" charset="0"/>
              </a:rPr>
              <a:t>)</a:t>
            </a:r>
          </a:p>
        </p:txBody>
      </p:sp>
      <p:sp>
        <p:nvSpPr>
          <p:cNvPr id="7" name="Metin kutusu 6">
            <a:extLst>
              <a:ext uri="{FF2B5EF4-FFF2-40B4-BE49-F238E27FC236}">
                <a16:creationId xmlns:a16="http://schemas.microsoft.com/office/drawing/2014/main" id="{A10FF1FF-D648-9D8B-2317-B6ADEE656A7D}"/>
              </a:ext>
            </a:extLst>
          </p:cNvPr>
          <p:cNvSpPr txBox="1"/>
          <p:nvPr/>
        </p:nvSpPr>
        <p:spPr>
          <a:xfrm>
            <a:off x="1164348" y="759758"/>
            <a:ext cx="10688667" cy="4401205"/>
          </a:xfrm>
          <a:prstGeom prst="rect">
            <a:avLst/>
          </a:prstGeom>
          <a:noFill/>
        </p:spPr>
        <p:txBody>
          <a:bodyPr wrap="square" rtlCol="0">
            <a:spAutoFit/>
          </a:bodyPr>
          <a:lstStyle/>
          <a:p>
            <a:pPr marL="457200" indent="-457200" algn="just">
              <a:buFont typeface="Arial" panose="020B0604020202020204" pitchFamily="34" charset="0"/>
              <a:buChar char="•"/>
            </a:pPr>
            <a:r>
              <a:rPr lang="tr-TR" sz="2000" dirty="0">
                <a:latin typeface="Consolas" panose="020B0609020204030204" pitchFamily="49" charset="0"/>
              </a:rPr>
              <a:t>Gerçek hayatta herhangi bir program </a:t>
            </a:r>
            <a:r>
              <a:rPr lang="tr-TR" sz="2000" dirty="0" err="1">
                <a:latin typeface="Consolas" panose="020B0609020204030204" pitchFamily="49" charset="0"/>
              </a:rPr>
              <a:t>paralleştirilirken</a:t>
            </a:r>
            <a:r>
              <a:rPr lang="tr-TR" sz="2000" dirty="0">
                <a:latin typeface="Consolas" panose="020B0609020204030204" pitchFamily="49" charset="0"/>
              </a:rPr>
              <a:t> verinin </a:t>
            </a:r>
            <a:r>
              <a:rPr lang="tr-TR" sz="2000" dirty="0" err="1">
                <a:latin typeface="Consolas" panose="020B0609020204030204" pitchFamily="49" charset="0"/>
              </a:rPr>
              <a:t>core’lara</a:t>
            </a:r>
            <a:r>
              <a:rPr lang="tr-TR" sz="2000" dirty="0">
                <a:latin typeface="Consolas" panose="020B0609020204030204" pitchFamily="49" charset="0"/>
              </a:rPr>
              <a:t> dağıtılması ve tekrar birleştirilmesi gibi ek maliyetler ortaya çıkmaktadır ve bu da sistemin </a:t>
            </a:r>
            <a:r>
              <a:rPr lang="tr-TR" sz="2000" dirty="0" err="1">
                <a:latin typeface="Consolas" panose="020B0609020204030204" pitchFamily="49" charset="0"/>
              </a:rPr>
              <a:t>paralelleştirme</a:t>
            </a:r>
            <a:r>
              <a:rPr lang="tr-TR" sz="2000" dirty="0">
                <a:latin typeface="Consolas" panose="020B0609020204030204" pitchFamily="49" charset="0"/>
              </a:rPr>
              <a:t> süresinin üzerine bir yük olarak eklenmelidir.</a:t>
            </a:r>
          </a:p>
          <a:p>
            <a:pPr marL="457200" indent="-457200" algn="just">
              <a:buFont typeface="Arial" panose="020B0604020202020204" pitchFamily="34" charset="0"/>
              <a:buChar char="•"/>
            </a:pPr>
            <a:endParaRPr lang="tr-TR" sz="2000" dirty="0">
              <a:latin typeface="Consolas" panose="020B0609020204030204" pitchFamily="49" charset="0"/>
            </a:endParaRPr>
          </a:p>
          <a:p>
            <a:pPr marL="457200" indent="-457200" algn="just">
              <a:buFont typeface="Arial" panose="020B0604020202020204" pitchFamily="34" charset="0"/>
              <a:buChar char="•"/>
            </a:pPr>
            <a:endParaRPr lang="tr-TR" sz="2000" dirty="0">
              <a:latin typeface="Consolas" panose="020B0609020204030204" pitchFamily="49" charset="0"/>
            </a:endParaRPr>
          </a:p>
          <a:p>
            <a:pPr marL="457200" indent="-457200" algn="just">
              <a:buFont typeface="Arial" panose="020B0604020202020204" pitchFamily="34" charset="0"/>
              <a:buChar char="•"/>
            </a:pPr>
            <a:endParaRPr lang="tr-TR" sz="2000" dirty="0">
              <a:latin typeface="Consolas" panose="020B0609020204030204" pitchFamily="49" charset="0"/>
            </a:endParaRPr>
          </a:p>
          <a:p>
            <a:pPr marL="457200" indent="-457200" algn="just">
              <a:buFont typeface="Arial" panose="020B0604020202020204" pitchFamily="34" charset="0"/>
              <a:buChar char="•"/>
            </a:pPr>
            <a:endParaRPr lang="tr-TR" sz="2000" dirty="0">
              <a:latin typeface="Consolas" panose="020B0609020204030204" pitchFamily="49" charset="0"/>
            </a:endParaRPr>
          </a:p>
          <a:p>
            <a:pPr marL="457200" indent="-457200" algn="just">
              <a:buFont typeface="Arial" panose="020B0604020202020204" pitchFamily="34" charset="0"/>
              <a:buChar char="•"/>
            </a:pPr>
            <a:endParaRPr lang="tr-TR" sz="2000" dirty="0">
              <a:latin typeface="Consolas" panose="020B0609020204030204" pitchFamily="49" charset="0"/>
            </a:endParaRPr>
          </a:p>
          <a:p>
            <a:pPr marL="457200" indent="-457200" algn="just">
              <a:buFont typeface="Arial" panose="020B0604020202020204" pitchFamily="34" charset="0"/>
              <a:buChar char="•"/>
            </a:pPr>
            <a:r>
              <a:rPr lang="tr-TR" sz="2000" dirty="0">
                <a:latin typeface="Consolas" panose="020B0609020204030204" pitchFamily="49" charset="0"/>
              </a:rPr>
              <a:t>İşlemlerin </a:t>
            </a:r>
            <a:r>
              <a:rPr lang="tr-TR" sz="2000" dirty="0" err="1">
                <a:latin typeface="Consolas" panose="020B0609020204030204" pitchFamily="49" charset="0"/>
              </a:rPr>
              <a:t>core’lara</a:t>
            </a:r>
            <a:r>
              <a:rPr lang="tr-TR" sz="2000" dirty="0">
                <a:latin typeface="Consolas" panose="020B0609020204030204" pitchFamily="49" charset="0"/>
              </a:rPr>
              <a:t> dağıtılıp toplanması süresi Seri hesaplama süresinden çok daha küçüktür.</a:t>
            </a:r>
          </a:p>
          <a:p>
            <a:pPr marL="457200" indent="-457200" algn="just">
              <a:buFont typeface="Arial" panose="020B0604020202020204" pitchFamily="34" charset="0"/>
              <a:buChar char="•"/>
            </a:pPr>
            <a:endParaRPr lang="tr-TR" sz="2000" dirty="0">
              <a:latin typeface="Consolas" panose="020B0609020204030204" pitchFamily="49" charset="0"/>
            </a:endParaRPr>
          </a:p>
          <a:p>
            <a:pPr marL="457200" indent="-457200" algn="just">
              <a:buFont typeface="Arial" panose="020B0604020202020204" pitchFamily="34" charset="0"/>
              <a:buChar char="•"/>
            </a:pPr>
            <a:endParaRPr lang="tr-TR" sz="2000" dirty="0">
              <a:latin typeface="Consolas" panose="020B0609020204030204" pitchFamily="49" charset="0"/>
            </a:endParaRPr>
          </a:p>
          <a:p>
            <a:pPr marL="457200" indent="-457200" algn="just">
              <a:buFont typeface="Arial" panose="020B0604020202020204" pitchFamily="34" charset="0"/>
              <a:buChar char="•"/>
            </a:pPr>
            <a:endParaRPr lang="tr-TR" sz="2000" dirty="0">
              <a:latin typeface="Consolas" panose="020B0609020204030204" pitchFamily="49" charset="0"/>
            </a:endParaRPr>
          </a:p>
        </p:txBody>
      </p:sp>
      <p:pic>
        <p:nvPicPr>
          <p:cNvPr id="2" name="Resim 1">
            <a:extLst>
              <a:ext uri="{FF2B5EF4-FFF2-40B4-BE49-F238E27FC236}">
                <a16:creationId xmlns:a16="http://schemas.microsoft.com/office/drawing/2014/main" id="{57224E44-DB8A-4426-B744-DD9A5D267681}"/>
              </a:ext>
            </a:extLst>
          </p:cNvPr>
          <p:cNvPicPr>
            <a:picLocks noChangeAspect="1"/>
          </p:cNvPicPr>
          <p:nvPr/>
        </p:nvPicPr>
        <p:blipFill>
          <a:blip r:embed="rId3"/>
          <a:stretch>
            <a:fillRect/>
          </a:stretch>
        </p:blipFill>
        <p:spPr>
          <a:xfrm>
            <a:off x="4007303" y="2024165"/>
            <a:ext cx="4177393" cy="1260633"/>
          </a:xfrm>
          <a:prstGeom prst="rect">
            <a:avLst/>
          </a:prstGeom>
        </p:spPr>
      </p:pic>
      <p:pic>
        <p:nvPicPr>
          <p:cNvPr id="3" name="Resim 2">
            <a:extLst>
              <a:ext uri="{FF2B5EF4-FFF2-40B4-BE49-F238E27FC236}">
                <a16:creationId xmlns:a16="http://schemas.microsoft.com/office/drawing/2014/main" id="{AA6AC997-98A2-ED15-B91F-5350037977E3}"/>
              </a:ext>
            </a:extLst>
          </p:cNvPr>
          <p:cNvPicPr>
            <a:picLocks noChangeAspect="1"/>
          </p:cNvPicPr>
          <p:nvPr/>
        </p:nvPicPr>
        <p:blipFill>
          <a:blip r:embed="rId4"/>
          <a:stretch>
            <a:fillRect/>
          </a:stretch>
        </p:blipFill>
        <p:spPr>
          <a:xfrm>
            <a:off x="4431151" y="4345097"/>
            <a:ext cx="3329696" cy="922513"/>
          </a:xfrm>
          <a:prstGeom prst="rect">
            <a:avLst/>
          </a:prstGeom>
        </p:spPr>
      </p:pic>
    </p:spTree>
    <p:extLst>
      <p:ext uri="{BB962C8B-B14F-4D97-AF65-F5344CB8AC3E}">
        <p14:creationId xmlns:p14="http://schemas.microsoft.com/office/powerpoint/2010/main" val="341112334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973771-9CBA-4CED-16D1-EEDF831841FC}"/>
            </a:ext>
          </a:extLst>
        </p:cNvPr>
        <p:cNvGrpSpPr/>
        <p:nvPr/>
      </p:nvGrpSpPr>
      <p:grpSpPr>
        <a:xfrm>
          <a:off x="0" y="0"/>
          <a:ext cx="0" cy="0"/>
          <a:chOff x="0" y="0"/>
          <a:chExt cx="0" cy="0"/>
        </a:xfrm>
      </p:grpSpPr>
      <p:pic>
        <p:nvPicPr>
          <p:cNvPr id="4" name="Picture 2" descr="Parallel computing for high-performance simulations">
            <a:extLst>
              <a:ext uri="{FF2B5EF4-FFF2-40B4-BE49-F238E27FC236}">
                <a16:creationId xmlns:a16="http://schemas.microsoft.com/office/drawing/2014/main" id="{DB13D94C-A8D2-C303-592D-A1242C10CA38}"/>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51802" b="-1"/>
          <a:stretch/>
        </p:blipFill>
        <p:spPr bwMode="auto">
          <a:xfrm rot="5400000">
            <a:off x="-2989346" y="2971346"/>
            <a:ext cx="6876000" cy="914399"/>
          </a:xfrm>
          <a:prstGeom prst="rect">
            <a:avLst/>
          </a:prstGeom>
          <a:noFill/>
          <a:extLst>
            <a:ext uri="{909E8E84-426E-40DD-AFC4-6F175D3DCCD1}">
              <a14:hiddenFill xmlns:a14="http://schemas.microsoft.com/office/drawing/2010/main">
                <a:solidFill>
                  <a:srgbClr val="FFFFFF"/>
                </a:solidFill>
              </a14:hiddenFill>
            </a:ext>
          </a:extLst>
        </p:spPr>
      </p:pic>
      <p:sp>
        <p:nvSpPr>
          <p:cNvPr id="6" name="Metin kutusu 5">
            <a:extLst>
              <a:ext uri="{FF2B5EF4-FFF2-40B4-BE49-F238E27FC236}">
                <a16:creationId xmlns:a16="http://schemas.microsoft.com/office/drawing/2014/main" id="{68DBF6EA-4C4D-C4F2-AB9A-2CE64C2AE959}"/>
              </a:ext>
            </a:extLst>
          </p:cNvPr>
          <p:cNvSpPr txBox="1"/>
          <p:nvPr/>
        </p:nvSpPr>
        <p:spPr>
          <a:xfrm>
            <a:off x="1164349" y="184777"/>
            <a:ext cx="10688668" cy="553998"/>
          </a:xfrm>
          <a:prstGeom prst="rect">
            <a:avLst/>
          </a:prstGeom>
          <a:noFill/>
        </p:spPr>
        <p:txBody>
          <a:bodyPr wrap="square" rtlCol="0">
            <a:spAutoFit/>
          </a:bodyPr>
          <a:lstStyle/>
          <a:p>
            <a:r>
              <a:rPr lang="tr-TR" sz="3000" b="1" dirty="0" err="1">
                <a:latin typeface="Consolas" panose="020B0609020204030204" pitchFamily="49" charset="0"/>
              </a:rPr>
              <a:t>Paralelliştirme</a:t>
            </a:r>
            <a:r>
              <a:rPr lang="tr-TR" sz="3000" b="1" dirty="0">
                <a:latin typeface="Consolas" panose="020B0609020204030204" pitchFamily="49" charset="0"/>
              </a:rPr>
              <a:t> Maliyeti (</a:t>
            </a:r>
            <a:r>
              <a:rPr lang="tr-TR" sz="3000" b="1" dirty="0" err="1">
                <a:latin typeface="Consolas" panose="020B0609020204030204" pitchFamily="49" charset="0"/>
              </a:rPr>
              <a:t>Parallel</a:t>
            </a:r>
            <a:r>
              <a:rPr lang="tr-TR" sz="3000" b="1" dirty="0">
                <a:latin typeface="Consolas" panose="020B0609020204030204" pitchFamily="49" charset="0"/>
              </a:rPr>
              <a:t> </a:t>
            </a:r>
            <a:r>
              <a:rPr lang="tr-TR" sz="3000" b="1" dirty="0" err="1">
                <a:latin typeface="Consolas" panose="020B0609020204030204" pitchFamily="49" charset="0"/>
              </a:rPr>
              <a:t>Overhead</a:t>
            </a:r>
            <a:r>
              <a:rPr lang="tr-TR" sz="3000" b="1" dirty="0">
                <a:latin typeface="Consolas" panose="020B0609020204030204" pitchFamily="49" charset="0"/>
              </a:rPr>
              <a:t>)</a:t>
            </a:r>
          </a:p>
        </p:txBody>
      </p:sp>
      <p:sp>
        <p:nvSpPr>
          <p:cNvPr id="7" name="Metin kutusu 6">
            <a:extLst>
              <a:ext uri="{FF2B5EF4-FFF2-40B4-BE49-F238E27FC236}">
                <a16:creationId xmlns:a16="http://schemas.microsoft.com/office/drawing/2014/main" id="{A10FF1FF-D648-9D8B-2317-B6ADEE656A7D}"/>
              </a:ext>
            </a:extLst>
          </p:cNvPr>
          <p:cNvSpPr txBox="1"/>
          <p:nvPr/>
        </p:nvSpPr>
        <p:spPr>
          <a:xfrm>
            <a:off x="1164348" y="759758"/>
            <a:ext cx="10688667" cy="5170646"/>
          </a:xfrm>
          <a:prstGeom prst="rect">
            <a:avLst/>
          </a:prstGeom>
          <a:noFill/>
        </p:spPr>
        <p:txBody>
          <a:bodyPr wrap="square" rtlCol="0">
            <a:spAutoFit/>
          </a:bodyPr>
          <a:lstStyle/>
          <a:p>
            <a:pPr marL="457200" indent="-457200" algn="just">
              <a:buFont typeface="Arial" panose="020B0604020202020204" pitchFamily="34" charset="0"/>
              <a:buChar char="•"/>
            </a:pPr>
            <a:r>
              <a:rPr lang="tr-TR" sz="2000" dirty="0">
                <a:latin typeface="Consolas" panose="020B0609020204030204" pitchFamily="49" charset="0"/>
              </a:rPr>
              <a:t>Bir algoritmayı </a:t>
            </a:r>
            <a:r>
              <a:rPr lang="tr-TR" sz="2000" dirty="0" err="1">
                <a:latin typeface="Consolas" panose="020B0609020204030204" pitchFamily="49" charset="0"/>
              </a:rPr>
              <a:t>paralelleştirmenin</a:t>
            </a:r>
            <a:r>
              <a:rPr lang="tr-TR" sz="2000" dirty="0">
                <a:latin typeface="Consolas" panose="020B0609020204030204" pitchFamily="49" charset="0"/>
              </a:rPr>
              <a:t> maliyetini hesaplarken bazı faktörler göz önünde bulundurulmalıdır:</a:t>
            </a:r>
          </a:p>
          <a:p>
            <a:pPr marL="457200" indent="-457200" algn="just">
              <a:buFont typeface="Arial" panose="020B0604020202020204" pitchFamily="34" charset="0"/>
              <a:buChar char="•"/>
            </a:pPr>
            <a:endParaRPr lang="tr-TR" sz="2000" dirty="0">
              <a:latin typeface="Consolas" panose="020B0609020204030204" pitchFamily="49" charset="0"/>
            </a:endParaRPr>
          </a:p>
          <a:p>
            <a:pPr marL="914400" lvl="1" indent="-457200" algn="just">
              <a:buFont typeface="Wingdings" panose="05000000000000000000" pitchFamily="2" charset="2"/>
              <a:buChar char="ü"/>
            </a:pPr>
            <a:r>
              <a:rPr lang="tr-TR" b="1" dirty="0">
                <a:latin typeface="Consolas" panose="020B0609020204030204" pitchFamily="49" charset="0"/>
              </a:rPr>
              <a:t>Ekstra İşlemci Kaynakları: </a:t>
            </a:r>
            <a:r>
              <a:rPr lang="tr-TR" dirty="0" err="1">
                <a:latin typeface="Consolas" panose="020B0609020204030204" pitchFamily="49" charset="0"/>
              </a:rPr>
              <a:t>Paralelleştirilmiş</a:t>
            </a:r>
            <a:r>
              <a:rPr lang="tr-TR" dirty="0">
                <a:latin typeface="Consolas" panose="020B0609020204030204" pitchFamily="49" charset="0"/>
              </a:rPr>
              <a:t> bir algoritma, her bir işlemci için ekstra işlemci kaynakları gerektirir. Bu kaynaklar, işlemci saat hızı, bellek kapasitesi ve bellek bant genişliği gibi unsurları içerebilir.</a:t>
            </a:r>
          </a:p>
          <a:p>
            <a:pPr marL="914400" lvl="1" indent="-457200" algn="just">
              <a:buFont typeface="Wingdings" panose="05000000000000000000" pitchFamily="2" charset="2"/>
              <a:buChar char="ü"/>
            </a:pPr>
            <a:endParaRPr lang="tr-TR" dirty="0">
              <a:latin typeface="Consolas" panose="020B0609020204030204" pitchFamily="49" charset="0"/>
            </a:endParaRPr>
          </a:p>
          <a:p>
            <a:pPr marL="914400" lvl="1" indent="-457200" algn="just">
              <a:buFont typeface="Wingdings" panose="05000000000000000000" pitchFamily="2" charset="2"/>
              <a:buChar char="ü"/>
            </a:pPr>
            <a:r>
              <a:rPr lang="tr-TR" b="1" dirty="0">
                <a:latin typeface="Consolas" panose="020B0609020204030204" pitchFamily="49" charset="0"/>
              </a:rPr>
              <a:t>Ekstra Bellek Gereksinimleri: </a:t>
            </a:r>
            <a:r>
              <a:rPr lang="tr-TR" dirty="0">
                <a:latin typeface="Consolas" panose="020B0609020204030204" pitchFamily="49" charset="0"/>
              </a:rPr>
              <a:t>Paralel bir algoritma, her bir işlemci için ayrı bellek alanı gerektirebilir. Bu, </a:t>
            </a:r>
            <a:r>
              <a:rPr lang="tr-TR" dirty="0" err="1">
                <a:latin typeface="Consolas" panose="020B0609020204030204" pitchFamily="49" charset="0"/>
              </a:rPr>
              <a:t>paralelleştirilmiş</a:t>
            </a:r>
            <a:r>
              <a:rPr lang="tr-TR" dirty="0">
                <a:latin typeface="Consolas" panose="020B0609020204030204" pitchFamily="49" charset="0"/>
              </a:rPr>
              <a:t> veri yapılarının kullanımını ve veri kopyalama işlemlerini içerebilir.</a:t>
            </a:r>
          </a:p>
          <a:p>
            <a:pPr marL="914400" lvl="1" indent="-457200" algn="just">
              <a:buFont typeface="Wingdings" panose="05000000000000000000" pitchFamily="2" charset="2"/>
              <a:buChar char="ü"/>
            </a:pPr>
            <a:endParaRPr lang="tr-TR" dirty="0">
              <a:latin typeface="Consolas" panose="020B0609020204030204" pitchFamily="49" charset="0"/>
            </a:endParaRPr>
          </a:p>
          <a:p>
            <a:pPr marL="914400" lvl="1" indent="-457200" algn="just">
              <a:buFont typeface="Wingdings" panose="05000000000000000000" pitchFamily="2" charset="2"/>
              <a:buChar char="ü"/>
            </a:pPr>
            <a:r>
              <a:rPr lang="tr-TR" b="1" dirty="0">
                <a:latin typeface="Consolas" panose="020B0609020204030204" pitchFamily="49" charset="0"/>
              </a:rPr>
              <a:t>İletişim Maliyeti: </a:t>
            </a:r>
            <a:r>
              <a:rPr lang="tr-TR" dirty="0">
                <a:latin typeface="Consolas" panose="020B0609020204030204" pitchFamily="49" charset="0"/>
              </a:rPr>
              <a:t>Birden fazla işlemcinin birlikte çalışması, işlemciler arasında veri alışverişi gerektirebilir. Bu veri alışverişi, iletişim bant genişliği, iletişim protokolleri ve gecikme süreleri gibi faktörler nedeniyle ekstra maliyetlerle ilişkilendirilebilir.</a:t>
            </a:r>
          </a:p>
          <a:p>
            <a:pPr marL="914400" lvl="1" indent="-457200" algn="just">
              <a:buFont typeface="Wingdings" panose="05000000000000000000" pitchFamily="2" charset="2"/>
              <a:buChar char="ü"/>
            </a:pPr>
            <a:endParaRPr lang="tr-TR" dirty="0">
              <a:latin typeface="Consolas" panose="020B0609020204030204" pitchFamily="49" charset="0"/>
            </a:endParaRPr>
          </a:p>
          <a:p>
            <a:pPr marL="914400" lvl="1" indent="-457200" algn="just">
              <a:buFont typeface="Wingdings" panose="05000000000000000000" pitchFamily="2" charset="2"/>
              <a:buChar char="ü"/>
            </a:pPr>
            <a:r>
              <a:rPr lang="tr-TR" b="1" dirty="0" err="1">
                <a:latin typeface="Consolas" panose="020B0609020204030204" pitchFamily="49" charset="0"/>
              </a:rPr>
              <a:t>Paralelleştirme</a:t>
            </a:r>
            <a:r>
              <a:rPr lang="tr-TR" b="1" dirty="0">
                <a:latin typeface="Consolas" panose="020B0609020204030204" pitchFamily="49" charset="0"/>
              </a:rPr>
              <a:t> Zamanı: </a:t>
            </a:r>
            <a:r>
              <a:rPr lang="tr-TR" dirty="0">
                <a:latin typeface="Consolas" panose="020B0609020204030204" pitchFamily="49" charset="0"/>
              </a:rPr>
              <a:t>Algoritmayı </a:t>
            </a:r>
            <a:r>
              <a:rPr lang="tr-TR" dirty="0" err="1">
                <a:latin typeface="Consolas" panose="020B0609020204030204" pitchFamily="49" charset="0"/>
              </a:rPr>
              <a:t>paralelleştirmek</a:t>
            </a:r>
            <a:r>
              <a:rPr lang="tr-TR" dirty="0">
                <a:latin typeface="Consolas" panose="020B0609020204030204" pitchFamily="49" charset="0"/>
              </a:rPr>
              <a:t> ve paralel kodu optimize etmek için harcanan zaman da bir maliyet unsuru olabilir.</a:t>
            </a:r>
          </a:p>
        </p:txBody>
      </p:sp>
    </p:spTree>
    <p:extLst>
      <p:ext uri="{BB962C8B-B14F-4D97-AF65-F5344CB8AC3E}">
        <p14:creationId xmlns:p14="http://schemas.microsoft.com/office/powerpoint/2010/main" val="328866262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973771-9CBA-4CED-16D1-EEDF831841FC}"/>
            </a:ext>
          </a:extLst>
        </p:cNvPr>
        <p:cNvGrpSpPr/>
        <p:nvPr/>
      </p:nvGrpSpPr>
      <p:grpSpPr>
        <a:xfrm>
          <a:off x="0" y="0"/>
          <a:ext cx="0" cy="0"/>
          <a:chOff x="0" y="0"/>
          <a:chExt cx="0" cy="0"/>
        </a:xfrm>
      </p:grpSpPr>
      <p:pic>
        <p:nvPicPr>
          <p:cNvPr id="4" name="Picture 2" descr="Parallel computing for high-performance simulations">
            <a:extLst>
              <a:ext uri="{FF2B5EF4-FFF2-40B4-BE49-F238E27FC236}">
                <a16:creationId xmlns:a16="http://schemas.microsoft.com/office/drawing/2014/main" id="{DB13D94C-A8D2-C303-592D-A1242C10CA38}"/>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51802" b="-1"/>
          <a:stretch/>
        </p:blipFill>
        <p:spPr bwMode="auto">
          <a:xfrm rot="5400000">
            <a:off x="-2989346" y="2971346"/>
            <a:ext cx="6876000" cy="914399"/>
          </a:xfrm>
          <a:prstGeom prst="rect">
            <a:avLst/>
          </a:prstGeom>
          <a:noFill/>
          <a:extLst>
            <a:ext uri="{909E8E84-426E-40DD-AFC4-6F175D3DCCD1}">
              <a14:hiddenFill xmlns:a14="http://schemas.microsoft.com/office/drawing/2010/main">
                <a:solidFill>
                  <a:srgbClr val="FFFFFF"/>
                </a:solidFill>
              </a14:hiddenFill>
            </a:ext>
          </a:extLst>
        </p:spPr>
      </p:pic>
      <p:sp>
        <p:nvSpPr>
          <p:cNvPr id="6" name="Metin kutusu 5">
            <a:extLst>
              <a:ext uri="{FF2B5EF4-FFF2-40B4-BE49-F238E27FC236}">
                <a16:creationId xmlns:a16="http://schemas.microsoft.com/office/drawing/2014/main" id="{68DBF6EA-4C4D-C4F2-AB9A-2CE64C2AE959}"/>
              </a:ext>
            </a:extLst>
          </p:cNvPr>
          <p:cNvSpPr txBox="1"/>
          <p:nvPr/>
        </p:nvSpPr>
        <p:spPr>
          <a:xfrm>
            <a:off x="1164349" y="184777"/>
            <a:ext cx="10688668" cy="553998"/>
          </a:xfrm>
          <a:prstGeom prst="rect">
            <a:avLst/>
          </a:prstGeom>
          <a:noFill/>
        </p:spPr>
        <p:txBody>
          <a:bodyPr wrap="square" rtlCol="0">
            <a:spAutoFit/>
          </a:bodyPr>
          <a:lstStyle/>
          <a:p>
            <a:r>
              <a:rPr lang="tr-TR" sz="3000" b="1" dirty="0" err="1">
                <a:latin typeface="Consolas" panose="020B0609020204030204" pitchFamily="49" charset="0"/>
              </a:rPr>
              <a:t>Paralelliştirme</a:t>
            </a:r>
            <a:r>
              <a:rPr lang="tr-TR" sz="3000" b="1" dirty="0">
                <a:latin typeface="Consolas" panose="020B0609020204030204" pitchFamily="49" charset="0"/>
              </a:rPr>
              <a:t> Maliyeti (</a:t>
            </a:r>
            <a:r>
              <a:rPr lang="tr-TR" sz="3000" b="1" dirty="0" err="1">
                <a:latin typeface="Consolas" panose="020B0609020204030204" pitchFamily="49" charset="0"/>
              </a:rPr>
              <a:t>Parallel</a:t>
            </a:r>
            <a:r>
              <a:rPr lang="tr-TR" sz="3000" b="1" dirty="0">
                <a:latin typeface="Consolas" panose="020B0609020204030204" pitchFamily="49" charset="0"/>
              </a:rPr>
              <a:t> </a:t>
            </a:r>
            <a:r>
              <a:rPr lang="tr-TR" sz="3000" b="1" dirty="0" err="1">
                <a:latin typeface="Consolas" panose="020B0609020204030204" pitchFamily="49" charset="0"/>
              </a:rPr>
              <a:t>Overhead</a:t>
            </a:r>
            <a:r>
              <a:rPr lang="tr-TR" sz="3000" b="1" dirty="0">
                <a:latin typeface="Consolas" panose="020B0609020204030204" pitchFamily="49" charset="0"/>
              </a:rPr>
              <a:t>)</a:t>
            </a:r>
          </a:p>
        </p:txBody>
      </p:sp>
      <p:sp>
        <p:nvSpPr>
          <p:cNvPr id="7" name="Metin kutusu 6">
            <a:extLst>
              <a:ext uri="{FF2B5EF4-FFF2-40B4-BE49-F238E27FC236}">
                <a16:creationId xmlns:a16="http://schemas.microsoft.com/office/drawing/2014/main" id="{A10FF1FF-D648-9D8B-2317-B6ADEE656A7D}"/>
              </a:ext>
            </a:extLst>
          </p:cNvPr>
          <p:cNvSpPr txBox="1"/>
          <p:nvPr/>
        </p:nvSpPr>
        <p:spPr>
          <a:xfrm>
            <a:off x="1164348" y="759758"/>
            <a:ext cx="10688667" cy="5940088"/>
          </a:xfrm>
          <a:prstGeom prst="rect">
            <a:avLst/>
          </a:prstGeom>
          <a:noFill/>
        </p:spPr>
        <p:txBody>
          <a:bodyPr wrap="square" rtlCol="0">
            <a:spAutoFit/>
          </a:bodyPr>
          <a:lstStyle/>
          <a:p>
            <a:pPr marL="457200" indent="-457200" algn="just">
              <a:buFont typeface="Arial" panose="020B0604020202020204" pitchFamily="34" charset="0"/>
              <a:buChar char="•"/>
            </a:pPr>
            <a:r>
              <a:rPr lang="tr-TR" sz="2000" dirty="0">
                <a:latin typeface="Consolas" panose="020B0609020204030204" pitchFamily="49" charset="0"/>
              </a:rPr>
              <a:t>Örnek bir hesaplama yapalım:</a:t>
            </a:r>
          </a:p>
          <a:p>
            <a:pPr marL="457200" indent="-457200" algn="just">
              <a:buFont typeface="Arial" panose="020B0604020202020204" pitchFamily="34" charset="0"/>
              <a:buChar char="•"/>
            </a:pPr>
            <a:endParaRPr lang="tr-TR" sz="2000" dirty="0">
              <a:latin typeface="Consolas" panose="020B0609020204030204" pitchFamily="49" charset="0"/>
            </a:endParaRPr>
          </a:p>
          <a:p>
            <a:pPr marL="457200" indent="-457200" algn="just">
              <a:buFont typeface="Arial" panose="020B0604020202020204" pitchFamily="34" charset="0"/>
              <a:buChar char="•"/>
            </a:pPr>
            <a:r>
              <a:rPr lang="tr-TR" sz="2000" dirty="0">
                <a:latin typeface="Consolas" panose="020B0609020204030204" pitchFamily="49" charset="0"/>
              </a:rPr>
              <a:t>Bir algoritmanın seri versiyonu 100 birimlik işlemci süresi gerektiriyor. Algoritmayı </a:t>
            </a:r>
            <a:r>
              <a:rPr lang="tr-TR" sz="2000" dirty="0" err="1">
                <a:latin typeface="Consolas" panose="020B0609020204030204" pitchFamily="49" charset="0"/>
              </a:rPr>
              <a:t>paralelleştirmek</a:t>
            </a:r>
            <a:r>
              <a:rPr lang="tr-TR" sz="2000" dirty="0">
                <a:latin typeface="Consolas" panose="020B0609020204030204" pitchFamily="49" charset="0"/>
              </a:rPr>
              <a:t> için ekstra 20 birimlik işlemci süresi harcanması gerekiyor. Ayrıca, paralel versiyonun çalışması için her bir işlemci için 10 birimlik ekstra bellek alanı gerekiyor ve işlemciler arasındaki veri alışverişi için her bir işlemci için 5 birimlik iletişim maliyeti var.</a:t>
            </a:r>
          </a:p>
          <a:p>
            <a:pPr marL="457200" indent="-457200" algn="just">
              <a:buFont typeface="Arial" panose="020B0604020202020204" pitchFamily="34" charset="0"/>
              <a:buChar char="•"/>
            </a:pPr>
            <a:endParaRPr lang="tr-TR" sz="2000" dirty="0">
              <a:latin typeface="Consolas" panose="020B0609020204030204" pitchFamily="49" charset="0"/>
            </a:endParaRPr>
          </a:p>
          <a:p>
            <a:pPr marL="457200" indent="-457200" algn="just">
              <a:buFont typeface="Arial" panose="020B0604020202020204" pitchFamily="34" charset="0"/>
              <a:buChar char="•"/>
            </a:pPr>
            <a:r>
              <a:rPr lang="tr-TR" sz="2000" dirty="0">
                <a:latin typeface="Consolas" panose="020B0609020204030204" pitchFamily="49" charset="0"/>
              </a:rPr>
              <a:t>Toplam </a:t>
            </a:r>
            <a:r>
              <a:rPr lang="tr-TR" sz="2000" dirty="0" err="1">
                <a:latin typeface="Consolas" panose="020B0609020204030204" pitchFamily="49" charset="0"/>
              </a:rPr>
              <a:t>paralelleştirme</a:t>
            </a:r>
            <a:r>
              <a:rPr lang="tr-TR" sz="2000" dirty="0">
                <a:latin typeface="Consolas" panose="020B0609020204030204" pitchFamily="49" charset="0"/>
              </a:rPr>
              <a:t> maliyet:</a:t>
            </a:r>
          </a:p>
          <a:p>
            <a:pPr marL="457200" indent="-457200" algn="just">
              <a:buFont typeface="Arial" panose="020B0604020202020204" pitchFamily="34" charset="0"/>
              <a:buChar char="•"/>
            </a:pPr>
            <a:endParaRPr lang="tr-TR" sz="2000" dirty="0">
              <a:latin typeface="Consolas" panose="020B0609020204030204" pitchFamily="49" charset="0"/>
            </a:endParaRPr>
          </a:p>
          <a:p>
            <a:pPr algn="just"/>
            <a:r>
              <a:rPr lang="tr-TR" sz="2000" b="1" dirty="0">
                <a:latin typeface="Consolas" panose="020B0609020204030204" pitchFamily="49" charset="0"/>
              </a:rPr>
              <a:t>Toplam Maliyet = İşlemci Maliyeti + Bellek Maliyeti + </a:t>
            </a:r>
          </a:p>
          <a:p>
            <a:pPr algn="just"/>
            <a:r>
              <a:rPr lang="tr-TR" sz="2000" b="1" dirty="0">
                <a:latin typeface="Consolas" panose="020B0609020204030204" pitchFamily="49" charset="0"/>
              </a:rPr>
              <a:t>                 İletişim Maliyeti + </a:t>
            </a:r>
            <a:r>
              <a:rPr lang="tr-TR" sz="2000" b="1" dirty="0" err="1">
                <a:latin typeface="Consolas" panose="020B0609020204030204" pitchFamily="49" charset="0"/>
              </a:rPr>
              <a:t>Paralelleştirme</a:t>
            </a:r>
            <a:r>
              <a:rPr lang="tr-TR" sz="2000" b="1" dirty="0">
                <a:latin typeface="Consolas" panose="020B0609020204030204" pitchFamily="49" charset="0"/>
              </a:rPr>
              <a:t> Zamanı</a:t>
            </a:r>
          </a:p>
          <a:p>
            <a:pPr marL="457200" indent="-457200" algn="just">
              <a:buFont typeface="Arial" panose="020B0604020202020204" pitchFamily="34" charset="0"/>
              <a:buChar char="•"/>
            </a:pPr>
            <a:endParaRPr lang="tr-TR" sz="2000" dirty="0">
              <a:latin typeface="Consolas" panose="020B0609020204030204" pitchFamily="49" charset="0"/>
            </a:endParaRPr>
          </a:p>
          <a:p>
            <a:pPr algn="just"/>
            <a:r>
              <a:rPr lang="tr-TR" sz="2000" dirty="0">
                <a:solidFill>
                  <a:schemeClr val="tx2">
                    <a:lumMod val="75000"/>
                    <a:lumOff val="25000"/>
                  </a:schemeClr>
                </a:solidFill>
                <a:latin typeface="Consolas" panose="020B0609020204030204" pitchFamily="49" charset="0"/>
              </a:rPr>
              <a:t>Toplam Maliyet=(20×1)+(10×1)+(5×1)+(</a:t>
            </a:r>
            <a:r>
              <a:rPr lang="tr-TR" sz="2000" dirty="0" err="1">
                <a:solidFill>
                  <a:schemeClr val="tx2">
                    <a:lumMod val="75000"/>
                    <a:lumOff val="25000"/>
                  </a:schemeClr>
                </a:solidFill>
                <a:latin typeface="Consolas" panose="020B0609020204030204" pitchFamily="49" charset="0"/>
              </a:rPr>
              <a:t>Paralelleş</a:t>
            </a:r>
            <a:r>
              <a:rPr lang="tr-TR" sz="2000" dirty="0">
                <a:solidFill>
                  <a:schemeClr val="tx2">
                    <a:lumMod val="75000"/>
                    <a:lumOff val="25000"/>
                  </a:schemeClr>
                </a:solidFill>
                <a:latin typeface="Consolas" panose="020B0609020204030204" pitchFamily="49" charset="0"/>
              </a:rPr>
              <a:t>​</a:t>
            </a:r>
            <a:r>
              <a:rPr lang="tr-TR" sz="2000" dirty="0" err="1">
                <a:solidFill>
                  <a:schemeClr val="tx2">
                    <a:lumMod val="75000"/>
                    <a:lumOff val="25000"/>
                  </a:schemeClr>
                </a:solidFill>
                <a:latin typeface="Consolas" panose="020B0609020204030204" pitchFamily="49" charset="0"/>
              </a:rPr>
              <a:t>tirme</a:t>
            </a:r>
            <a:r>
              <a:rPr lang="tr-TR" sz="2000" dirty="0">
                <a:solidFill>
                  <a:schemeClr val="tx2">
                    <a:lumMod val="75000"/>
                    <a:lumOff val="25000"/>
                  </a:schemeClr>
                </a:solidFill>
                <a:latin typeface="Consolas" panose="020B0609020204030204" pitchFamily="49" charset="0"/>
              </a:rPr>
              <a:t> Zamanı)</a:t>
            </a:r>
          </a:p>
          <a:p>
            <a:pPr algn="just"/>
            <a:endParaRPr lang="tr-TR" sz="2000" dirty="0">
              <a:solidFill>
                <a:schemeClr val="tx2">
                  <a:lumMod val="75000"/>
                  <a:lumOff val="25000"/>
                </a:schemeClr>
              </a:solidFill>
              <a:latin typeface="Consolas" panose="020B0609020204030204" pitchFamily="49" charset="0"/>
            </a:endParaRPr>
          </a:p>
          <a:p>
            <a:pPr algn="just"/>
            <a:r>
              <a:rPr lang="tr-TR" sz="2000" dirty="0" err="1">
                <a:solidFill>
                  <a:schemeClr val="tx1">
                    <a:lumMod val="95000"/>
                    <a:lumOff val="5000"/>
                  </a:schemeClr>
                </a:solidFill>
                <a:latin typeface="Consolas" panose="020B0609020204030204" pitchFamily="49" charset="0"/>
              </a:rPr>
              <a:t>Paralelleştirme</a:t>
            </a:r>
            <a:r>
              <a:rPr lang="tr-TR" sz="2000" dirty="0">
                <a:solidFill>
                  <a:schemeClr val="tx1">
                    <a:lumMod val="95000"/>
                    <a:lumOff val="5000"/>
                  </a:schemeClr>
                </a:solidFill>
                <a:latin typeface="Consolas" panose="020B0609020204030204" pitchFamily="49" charset="0"/>
              </a:rPr>
              <a:t> maliyetini hesaplamak için belirli bir </a:t>
            </a:r>
            <a:r>
              <a:rPr lang="tr-TR" sz="2000" dirty="0" err="1">
                <a:solidFill>
                  <a:schemeClr val="tx1">
                    <a:lumMod val="95000"/>
                    <a:lumOff val="5000"/>
                  </a:schemeClr>
                </a:solidFill>
                <a:latin typeface="Consolas" panose="020B0609020204030204" pitchFamily="49" charset="0"/>
              </a:rPr>
              <a:t>paralelleştirme</a:t>
            </a:r>
            <a:r>
              <a:rPr lang="tr-TR" sz="2000" dirty="0">
                <a:solidFill>
                  <a:schemeClr val="tx1">
                    <a:lumMod val="95000"/>
                    <a:lumOff val="5000"/>
                  </a:schemeClr>
                </a:solidFill>
                <a:latin typeface="Consolas" panose="020B0609020204030204" pitchFamily="49" charset="0"/>
              </a:rPr>
              <a:t> zamanı değeri gerekecektir. Bu değer, algoritmanın boyutu, karmaşıklığı ve </a:t>
            </a:r>
            <a:r>
              <a:rPr lang="tr-TR" sz="2000" dirty="0" err="1">
                <a:solidFill>
                  <a:schemeClr val="tx1">
                    <a:lumMod val="95000"/>
                    <a:lumOff val="5000"/>
                  </a:schemeClr>
                </a:solidFill>
                <a:latin typeface="Consolas" panose="020B0609020204030204" pitchFamily="49" charset="0"/>
              </a:rPr>
              <a:t>paralelleştirme</a:t>
            </a:r>
            <a:r>
              <a:rPr lang="tr-TR" sz="2000" dirty="0">
                <a:solidFill>
                  <a:schemeClr val="tx1">
                    <a:lumMod val="95000"/>
                    <a:lumOff val="5000"/>
                  </a:schemeClr>
                </a:solidFill>
                <a:latin typeface="Consolas" panose="020B0609020204030204" pitchFamily="49" charset="0"/>
              </a:rPr>
              <a:t> sürecinin karmaşıklığına bağlı olacaktır.</a:t>
            </a:r>
          </a:p>
        </p:txBody>
      </p:sp>
    </p:spTree>
    <p:extLst>
      <p:ext uri="{BB962C8B-B14F-4D97-AF65-F5344CB8AC3E}">
        <p14:creationId xmlns:p14="http://schemas.microsoft.com/office/powerpoint/2010/main" val="417973622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973771-9CBA-4CED-16D1-EEDF831841FC}"/>
            </a:ext>
          </a:extLst>
        </p:cNvPr>
        <p:cNvGrpSpPr/>
        <p:nvPr/>
      </p:nvGrpSpPr>
      <p:grpSpPr>
        <a:xfrm>
          <a:off x="0" y="0"/>
          <a:ext cx="0" cy="0"/>
          <a:chOff x="0" y="0"/>
          <a:chExt cx="0" cy="0"/>
        </a:xfrm>
      </p:grpSpPr>
      <p:pic>
        <p:nvPicPr>
          <p:cNvPr id="5124" name="Picture 4" descr="Amdahl Kanununu biliyor musunuz ? | by Ertan Tike | Medium">
            <a:extLst>
              <a:ext uri="{FF2B5EF4-FFF2-40B4-BE49-F238E27FC236}">
                <a16:creationId xmlns:a16="http://schemas.microsoft.com/office/drawing/2014/main" id="{7F9A2A1E-43DC-560C-3390-2BFF5E5B9640}"/>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715" t="-227" r="8238" b="227"/>
          <a:stretch/>
        </p:blipFill>
        <p:spPr bwMode="auto">
          <a:xfrm>
            <a:off x="7527471" y="2171700"/>
            <a:ext cx="4664529" cy="4048818"/>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2" descr="Parallel computing for high-performance simulations">
            <a:extLst>
              <a:ext uri="{FF2B5EF4-FFF2-40B4-BE49-F238E27FC236}">
                <a16:creationId xmlns:a16="http://schemas.microsoft.com/office/drawing/2014/main" id="{DB13D94C-A8D2-C303-592D-A1242C10CA38}"/>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51802" b="-1"/>
          <a:stretch/>
        </p:blipFill>
        <p:spPr bwMode="auto">
          <a:xfrm rot="5400000">
            <a:off x="-2989346" y="2971346"/>
            <a:ext cx="6876000" cy="914399"/>
          </a:xfrm>
          <a:prstGeom prst="rect">
            <a:avLst/>
          </a:prstGeom>
          <a:noFill/>
          <a:extLst>
            <a:ext uri="{909E8E84-426E-40DD-AFC4-6F175D3DCCD1}">
              <a14:hiddenFill xmlns:a14="http://schemas.microsoft.com/office/drawing/2010/main">
                <a:solidFill>
                  <a:srgbClr val="FFFFFF"/>
                </a:solidFill>
              </a14:hiddenFill>
            </a:ext>
          </a:extLst>
        </p:spPr>
      </p:pic>
      <p:sp>
        <p:nvSpPr>
          <p:cNvPr id="6" name="Metin kutusu 5">
            <a:extLst>
              <a:ext uri="{FF2B5EF4-FFF2-40B4-BE49-F238E27FC236}">
                <a16:creationId xmlns:a16="http://schemas.microsoft.com/office/drawing/2014/main" id="{68DBF6EA-4C4D-C4F2-AB9A-2CE64C2AE959}"/>
              </a:ext>
            </a:extLst>
          </p:cNvPr>
          <p:cNvSpPr txBox="1"/>
          <p:nvPr/>
        </p:nvSpPr>
        <p:spPr>
          <a:xfrm>
            <a:off x="1164349" y="184777"/>
            <a:ext cx="10688668" cy="553998"/>
          </a:xfrm>
          <a:prstGeom prst="rect">
            <a:avLst/>
          </a:prstGeom>
          <a:noFill/>
        </p:spPr>
        <p:txBody>
          <a:bodyPr wrap="square" rtlCol="0">
            <a:spAutoFit/>
          </a:bodyPr>
          <a:lstStyle/>
          <a:p>
            <a:r>
              <a:rPr lang="tr-TR" sz="3000" b="1" dirty="0" err="1">
                <a:latin typeface="Consolas" panose="020B0609020204030204" pitchFamily="49" charset="0"/>
              </a:rPr>
              <a:t>Amdahl</a:t>
            </a:r>
            <a:r>
              <a:rPr lang="tr-TR" sz="3000" b="1" dirty="0">
                <a:latin typeface="Consolas" panose="020B0609020204030204" pitchFamily="49" charset="0"/>
              </a:rPr>
              <a:t> Yasası</a:t>
            </a:r>
          </a:p>
        </p:txBody>
      </p:sp>
      <p:sp>
        <p:nvSpPr>
          <p:cNvPr id="7" name="Metin kutusu 6">
            <a:extLst>
              <a:ext uri="{FF2B5EF4-FFF2-40B4-BE49-F238E27FC236}">
                <a16:creationId xmlns:a16="http://schemas.microsoft.com/office/drawing/2014/main" id="{A10FF1FF-D648-9D8B-2317-B6ADEE656A7D}"/>
              </a:ext>
            </a:extLst>
          </p:cNvPr>
          <p:cNvSpPr txBox="1"/>
          <p:nvPr/>
        </p:nvSpPr>
        <p:spPr>
          <a:xfrm>
            <a:off x="1164348" y="759758"/>
            <a:ext cx="10688667" cy="2554545"/>
          </a:xfrm>
          <a:prstGeom prst="rect">
            <a:avLst/>
          </a:prstGeom>
          <a:noFill/>
        </p:spPr>
        <p:txBody>
          <a:bodyPr wrap="square" rtlCol="0">
            <a:spAutoFit/>
          </a:bodyPr>
          <a:lstStyle/>
          <a:p>
            <a:pPr marL="457200" indent="-457200" algn="just">
              <a:buFont typeface="Arial" panose="020B0604020202020204" pitchFamily="34" charset="0"/>
              <a:buChar char="•"/>
            </a:pPr>
            <a:r>
              <a:rPr lang="tr-TR" sz="2000" dirty="0" err="1">
                <a:latin typeface="Consolas" panose="020B0609020204030204" pitchFamily="49" charset="0"/>
              </a:rPr>
              <a:t>Amdahl'ın</a:t>
            </a:r>
            <a:r>
              <a:rPr lang="tr-TR" sz="2000" dirty="0">
                <a:latin typeface="Consolas" panose="020B0609020204030204" pitchFamily="49" charset="0"/>
              </a:rPr>
              <a:t> Yasası, bir programın </a:t>
            </a:r>
            <a:r>
              <a:rPr lang="tr-TR" sz="2000" dirty="0" err="1">
                <a:latin typeface="Consolas" panose="020B0609020204030204" pitchFamily="49" charset="0"/>
              </a:rPr>
              <a:t>paralelleştirilmesinin</a:t>
            </a:r>
            <a:r>
              <a:rPr lang="tr-TR" sz="2000" dirty="0">
                <a:latin typeface="Consolas" panose="020B0609020204030204" pitchFamily="49" charset="0"/>
              </a:rPr>
              <a:t> potansiyel hız kazancını tahmin etmek için kullanılır. Bu yasa, </a:t>
            </a:r>
            <a:r>
              <a:rPr lang="tr-TR" sz="2000" dirty="0" err="1">
                <a:latin typeface="Consolas" panose="020B0609020204030204" pitchFamily="49" charset="0"/>
              </a:rPr>
              <a:t>paralelleştirilebilir</a:t>
            </a:r>
            <a:r>
              <a:rPr lang="tr-TR" sz="2000" dirty="0">
                <a:latin typeface="Consolas" panose="020B0609020204030204" pitchFamily="49" charset="0"/>
              </a:rPr>
              <a:t> kısmın oranını ve bu kısmın işlemci üzerindeki zaman dilimini dikkate alarak </a:t>
            </a:r>
            <a:r>
              <a:rPr lang="tr-TR" sz="2000" dirty="0" err="1">
                <a:latin typeface="Consolas" panose="020B0609020204030204" pitchFamily="49" charset="0"/>
              </a:rPr>
              <a:t>paralelleştirilmiş</a:t>
            </a:r>
            <a:r>
              <a:rPr lang="tr-TR" sz="2000" dirty="0">
                <a:latin typeface="Consolas" panose="020B0609020204030204" pitchFamily="49" charset="0"/>
              </a:rPr>
              <a:t> bir programın hız kazancını hesaplar.</a:t>
            </a:r>
          </a:p>
          <a:p>
            <a:pPr marL="457200" indent="-457200" algn="just">
              <a:buFont typeface="Arial" panose="020B0604020202020204" pitchFamily="34" charset="0"/>
              <a:buChar char="•"/>
            </a:pPr>
            <a:endParaRPr lang="tr-TR" sz="2000" dirty="0">
              <a:latin typeface="Consolas" panose="020B0609020204030204" pitchFamily="49" charset="0"/>
            </a:endParaRPr>
          </a:p>
          <a:p>
            <a:pPr marL="457200" indent="-457200" algn="just">
              <a:buFont typeface="Arial" panose="020B0604020202020204" pitchFamily="34" charset="0"/>
              <a:buChar char="•"/>
            </a:pPr>
            <a:r>
              <a:rPr lang="tr-TR" sz="2000" dirty="0" err="1">
                <a:latin typeface="Consolas" panose="020B0609020204030204" pitchFamily="49" charset="0"/>
              </a:rPr>
              <a:t>Amdahl'ın</a:t>
            </a:r>
            <a:r>
              <a:rPr lang="tr-TR" sz="2000" dirty="0">
                <a:latin typeface="Consolas" panose="020B0609020204030204" pitchFamily="49" charset="0"/>
              </a:rPr>
              <a:t> Yasası şu formülle ifade edilir:</a:t>
            </a:r>
          </a:p>
          <a:p>
            <a:pPr marL="457200" indent="-457200" algn="just">
              <a:buFont typeface="Arial" panose="020B0604020202020204" pitchFamily="34" charset="0"/>
              <a:buChar char="•"/>
            </a:pPr>
            <a:endParaRPr lang="tr-TR" sz="2000" dirty="0">
              <a:latin typeface="Consolas" panose="020B0609020204030204" pitchFamily="49" charset="0"/>
            </a:endParaRPr>
          </a:p>
          <a:p>
            <a:pPr marL="457200" indent="-457200" algn="just">
              <a:buFont typeface="Arial" panose="020B0604020202020204" pitchFamily="34" charset="0"/>
              <a:buChar char="•"/>
            </a:pPr>
            <a:endParaRPr lang="tr-TR" sz="2000" dirty="0">
              <a:latin typeface="Consolas" panose="020B0609020204030204" pitchFamily="49" charset="0"/>
            </a:endParaRPr>
          </a:p>
        </p:txBody>
      </p:sp>
      <p:pic>
        <p:nvPicPr>
          <p:cNvPr id="2" name="Resim 1">
            <a:extLst>
              <a:ext uri="{FF2B5EF4-FFF2-40B4-BE49-F238E27FC236}">
                <a16:creationId xmlns:a16="http://schemas.microsoft.com/office/drawing/2014/main" id="{2FD92CFC-C09C-B9C2-1D51-3890168565C7}"/>
              </a:ext>
            </a:extLst>
          </p:cNvPr>
          <p:cNvPicPr>
            <a:picLocks noChangeAspect="1"/>
          </p:cNvPicPr>
          <p:nvPr/>
        </p:nvPicPr>
        <p:blipFill>
          <a:blip r:embed="rId4">
            <a:duotone>
              <a:schemeClr val="accent4">
                <a:shade val="45000"/>
                <a:satMod val="135000"/>
              </a:schemeClr>
              <a:prstClr val="white"/>
            </a:duotone>
          </a:blip>
          <a:stretch>
            <a:fillRect/>
          </a:stretch>
        </p:blipFill>
        <p:spPr>
          <a:xfrm>
            <a:off x="3251299" y="2838260"/>
            <a:ext cx="2531518" cy="994052"/>
          </a:xfrm>
          <a:prstGeom prst="rect">
            <a:avLst/>
          </a:prstGeom>
        </p:spPr>
      </p:pic>
      <p:sp>
        <p:nvSpPr>
          <p:cNvPr id="9" name="Metin kutusu 8">
            <a:extLst>
              <a:ext uri="{FF2B5EF4-FFF2-40B4-BE49-F238E27FC236}">
                <a16:creationId xmlns:a16="http://schemas.microsoft.com/office/drawing/2014/main" id="{5C77AE72-00C4-E63B-097B-D493118F607C}"/>
              </a:ext>
            </a:extLst>
          </p:cNvPr>
          <p:cNvSpPr txBox="1"/>
          <p:nvPr/>
        </p:nvSpPr>
        <p:spPr>
          <a:xfrm>
            <a:off x="1045029" y="4420872"/>
            <a:ext cx="6645727" cy="1169551"/>
          </a:xfrm>
          <a:prstGeom prst="rect">
            <a:avLst/>
          </a:prstGeom>
          <a:noFill/>
        </p:spPr>
        <p:txBody>
          <a:bodyPr wrap="square">
            <a:spAutoFit/>
          </a:bodyPr>
          <a:lstStyle/>
          <a:p>
            <a:pPr algn="l"/>
            <a:r>
              <a:rPr lang="tr-TR" sz="1400" b="0" i="0" dirty="0">
                <a:solidFill>
                  <a:schemeClr val="tx1">
                    <a:lumMod val="95000"/>
                    <a:lumOff val="5000"/>
                  </a:schemeClr>
                </a:solidFill>
                <a:effectLst/>
                <a:latin typeface="Consolas" panose="020B0609020204030204" pitchFamily="49" charset="0"/>
              </a:rPr>
              <a:t>Burada:</a:t>
            </a:r>
          </a:p>
          <a:p>
            <a:pPr algn="l">
              <a:buFont typeface="Arial" panose="020B0604020202020204" pitchFamily="34" charset="0"/>
              <a:buChar char="•"/>
            </a:pPr>
            <a:r>
              <a:rPr lang="tr-TR" sz="1400" b="0" i="0" dirty="0" err="1">
                <a:solidFill>
                  <a:schemeClr val="tx1">
                    <a:lumMod val="95000"/>
                    <a:lumOff val="5000"/>
                  </a:schemeClr>
                </a:solidFill>
                <a:effectLst/>
                <a:latin typeface="Consolas" panose="020B0609020204030204" pitchFamily="49" charset="0"/>
              </a:rPr>
              <a:t>Speedup</a:t>
            </a:r>
            <a:r>
              <a:rPr lang="tr-TR" sz="1400" b="0" i="0" dirty="0">
                <a:solidFill>
                  <a:schemeClr val="tx1">
                    <a:lumMod val="95000"/>
                    <a:lumOff val="5000"/>
                  </a:schemeClr>
                </a:solidFill>
                <a:effectLst/>
                <a:latin typeface="Consolas" panose="020B0609020204030204" pitchFamily="49" charset="0"/>
              </a:rPr>
              <a:t> = </a:t>
            </a:r>
            <a:r>
              <a:rPr lang="tr-TR" sz="1400" b="0" i="0" dirty="0" err="1">
                <a:solidFill>
                  <a:schemeClr val="tx1">
                    <a:lumMod val="95000"/>
                    <a:lumOff val="5000"/>
                  </a:schemeClr>
                </a:solidFill>
                <a:effectLst/>
                <a:latin typeface="Consolas" panose="020B0609020204030204" pitchFamily="49" charset="0"/>
              </a:rPr>
              <a:t>Paralelleştirilmiş</a:t>
            </a:r>
            <a:r>
              <a:rPr lang="tr-TR" sz="1400" b="0" i="0" dirty="0">
                <a:solidFill>
                  <a:schemeClr val="tx1">
                    <a:lumMod val="95000"/>
                    <a:lumOff val="5000"/>
                  </a:schemeClr>
                </a:solidFill>
                <a:effectLst/>
                <a:latin typeface="Consolas" panose="020B0609020204030204" pitchFamily="49" charset="0"/>
              </a:rPr>
              <a:t> programın hız kazancı</a:t>
            </a:r>
          </a:p>
          <a:p>
            <a:pPr algn="l">
              <a:buFont typeface="Arial" panose="020B0604020202020204" pitchFamily="34" charset="0"/>
              <a:buChar char="•"/>
            </a:pPr>
            <a:r>
              <a:rPr lang="tr-TR" sz="1400" b="0" i="1" dirty="0">
                <a:solidFill>
                  <a:schemeClr val="tx1">
                    <a:lumMod val="95000"/>
                    <a:lumOff val="5000"/>
                  </a:schemeClr>
                </a:solidFill>
                <a:effectLst/>
                <a:latin typeface="Consolas" panose="020B0609020204030204" pitchFamily="49" charset="0"/>
              </a:rPr>
              <a:t>P</a:t>
            </a:r>
            <a:r>
              <a:rPr lang="tr-TR" sz="1400" b="0" i="0" dirty="0">
                <a:solidFill>
                  <a:schemeClr val="tx1">
                    <a:lumMod val="95000"/>
                    <a:lumOff val="5000"/>
                  </a:schemeClr>
                </a:solidFill>
                <a:effectLst/>
                <a:latin typeface="Consolas" panose="020B0609020204030204" pitchFamily="49" charset="0"/>
              </a:rPr>
              <a:t> = </a:t>
            </a:r>
            <a:r>
              <a:rPr lang="tr-TR" sz="1400" b="0" i="0" dirty="0" err="1">
                <a:solidFill>
                  <a:schemeClr val="tx1">
                    <a:lumMod val="95000"/>
                    <a:lumOff val="5000"/>
                  </a:schemeClr>
                </a:solidFill>
                <a:effectLst/>
                <a:latin typeface="Consolas" panose="020B0609020204030204" pitchFamily="49" charset="0"/>
              </a:rPr>
              <a:t>Paralelleştirilebilir</a:t>
            </a:r>
            <a:r>
              <a:rPr lang="tr-TR" sz="1400" b="0" i="0" dirty="0">
                <a:solidFill>
                  <a:schemeClr val="tx1">
                    <a:lumMod val="95000"/>
                    <a:lumOff val="5000"/>
                  </a:schemeClr>
                </a:solidFill>
                <a:effectLst/>
                <a:latin typeface="Consolas" panose="020B0609020204030204" pitchFamily="49" charset="0"/>
              </a:rPr>
              <a:t> kısım oranı (0 ile 1 arasında bir değer)</a:t>
            </a:r>
          </a:p>
          <a:p>
            <a:pPr algn="l">
              <a:buFont typeface="Arial" panose="020B0604020202020204" pitchFamily="34" charset="0"/>
              <a:buChar char="•"/>
            </a:pPr>
            <a:r>
              <a:rPr lang="tr-TR" sz="1400" b="0" i="1" dirty="0">
                <a:solidFill>
                  <a:schemeClr val="tx1">
                    <a:lumMod val="95000"/>
                    <a:lumOff val="5000"/>
                  </a:schemeClr>
                </a:solidFill>
                <a:effectLst/>
                <a:latin typeface="Consolas" panose="020B0609020204030204" pitchFamily="49" charset="0"/>
              </a:rPr>
              <a:t>N</a:t>
            </a:r>
            <a:r>
              <a:rPr lang="tr-TR" sz="1400" b="0" i="0" dirty="0">
                <a:solidFill>
                  <a:schemeClr val="tx1">
                    <a:lumMod val="95000"/>
                    <a:lumOff val="5000"/>
                  </a:schemeClr>
                </a:solidFill>
                <a:effectLst/>
                <a:latin typeface="Consolas" panose="020B0609020204030204" pitchFamily="49" charset="0"/>
              </a:rPr>
              <a:t> = İşlemci sayısı</a:t>
            </a:r>
          </a:p>
        </p:txBody>
      </p:sp>
    </p:spTree>
    <p:extLst>
      <p:ext uri="{BB962C8B-B14F-4D97-AF65-F5344CB8AC3E}">
        <p14:creationId xmlns:p14="http://schemas.microsoft.com/office/powerpoint/2010/main" val="182618710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973771-9CBA-4CED-16D1-EEDF831841FC}"/>
            </a:ext>
          </a:extLst>
        </p:cNvPr>
        <p:cNvGrpSpPr/>
        <p:nvPr/>
      </p:nvGrpSpPr>
      <p:grpSpPr>
        <a:xfrm>
          <a:off x="0" y="0"/>
          <a:ext cx="0" cy="0"/>
          <a:chOff x="0" y="0"/>
          <a:chExt cx="0" cy="0"/>
        </a:xfrm>
      </p:grpSpPr>
      <p:pic>
        <p:nvPicPr>
          <p:cNvPr id="4" name="Picture 2" descr="Parallel computing for high-performance simulations">
            <a:extLst>
              <a:ext uri="{FF2B5EF4-FFF2-40B4-BE49-F238E27FC236}">
                <a16:creationId xmlns:a16="http://schemas.microsoft.com/office/drawing/2014/main" id="{DB13D94C-A8D2-C303-592D-A1242C10CA38}"/>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51802" b="-1"/>
          <a:stretch/>
        </p:blipFill>
        <p:spPr bwMode="auto">
          <a:xfrm rot="5400000">
            <a:off x="-2989346" y="2971346"/>
            <a:ext cx="6876000" cy="914399"/>
          </a:xfrm>
          <a:prstGeom prst="rect">
            <a:avLst/>
          </a:prstGeom>
          <a:noFill/>
          <a:extLst>
            <a:ext uri="{909E8E84-426E-40DD-AFC4-6F175D3DCCD1}">
              <a14:hiddenFill xmlns:a14="http://schemas.microsoft.com/office/drawing/2010/main">
                <a:solidFill>
                  <a:srgbClr val="FFFFFF"/>
                </a:solidFill>
              </a14:hiddenFill>
            </a:ext>
          </a:extLst>
        </p:spPr>
      </p:pic>
      <p:sp>
        <p:nvSpPr>
          <p:cNvPr id="6" name="Metin kutusu 5">
            <a:extLst>
              <a:ext uri="{FF2B5EF4-FFF2-40B4-BE49-F238E27FC236}">
                <a16:creationId xmlns:a16="http://schemas.microsoft.com/office/drawing/2014/main" id="{68DBF6EA-4C4D-C4F2-AB9A-2CE64C2AE959}"/>
              </a:ext>
            </a:extLst>
          </p:cNvPr>
          <p:cNvSpPr txBox="1"/>
          <p:nvPr/>
        </p:nvSpPr>
        <p:spPr>
          <a:xfrm>
            <a:off x="1164349" y="184777"/>
            <a:ext cx="10688668" cy="553998"/>
          </a:xfrm>
          <a:prstGeom prst="rect">
            <a:avLst/>
          </a:prstGeom>
          <a:noFill/>
        </p:spPr>
        <p:txBody>
          <a:bodyPr wrap="square" rtlCol="0">
            <a:spAutoFit/>
          </a:bodyPr>
          <a:lstStyle/>
          <a:p>
            <a:r>
              <a:rPr lang="tr-TR" sz="3000" b="1" dirty="0" err="1">
                <a:latin typeface="Consolas" panose="020B0609020204030204" pitchFamily="49" charset="0"/>
              </a:rPr>
              <a:t>Amdahl</a:t>
            </a:r>
            <a:r>
              <a:rPr lang="tr-TR" sz="3000" b="1" dirty="0">
                <a:latin typeface="Consolas" panose="020B0609020204030204" pitchFamily="49" charset="0"/>
              </a:rPr>
              <a:t> Yasası - Örnek</a:t>
            </a:r>
          </a:p>
        </p:txBody>
      </p:sp>
      <p:sp>
        <p:nvSpPr>
          <p:cNvPr id="7" name="Metin kutusu 6">
            <a:extLst>
              <a:ext uri="{FF2B5EF4-FFF2-40B4-BE49-F238E27FC236}">
                <a16:creationId xmlns:a16="http://schemas.microsoft.com/office/drawing/2014/main" id="{A10FF1FF-D648-9D8B-2317-B6ADEE656A7D}"/>
              </a:ext>
            </a:extLst>
          </p:cNvPr>
          <p:cNvSpPr txBox="1"/>
          <p:nvPr/>
        </p:nvSpPr>
        <p:spPr>
          <a:xfrm>
            <a:off x="1164348" y="759758"/>
            <a:ext cx="10688667" cy="6247864"/>
          </a:xfrm>
          <a:prstGeom prst="rect">
            <a:avLst/>
          </a:prstGeom>
          <a:noFill/>
        </p:spPr>
        <p:txBody>
          <a:bodyPr wrap="square" rtlCol="0">
            <a:spAutoFit/>
          </a:bodyPr>
          <a:lstStyle/>
          <a:p>
            <a:pPr marL="457200" indent="-457200" algn="just">
              <a:buFont typeface="Arial" panose="020B0604020202020204" pitchFamily="34" charset="0"/>
              <a:buChar char="•"/>
            </a:pPr>
            <a:r>
              <a:rPr lang="tr-TR" sz="2000" dirty="0">
                <a:latin typeface="Consolas" panose="020B0609020204030204" pitchFamily="49" charset="0"/>
              </a:rPr>
              <a:t>Örnek olarak, bir programın %80'i </a:t>
            </a:r>
            <a:r>
              <a:rPr lang="tr-TR" sz="2000" dirty="0" err="1">
                <a:latin typeface="Consolas" panose="020B0609020204030204" pitchFamily="49" charset="0"/>
              </a:rPr>
              <a:t>paralelleştirilebilir</a:t>
            </a:r>
            <a:r>
              <a:rPr lang="tr-TR" sz="2000" dirty="0">
                <a:latin typeface="Consolas" panose="020B0609020204030204" pitchFamily="49" charset="0"/>
              </a:rPr>
              <a:t> ve 4 işlemci kullanılarak çalıştırılmak isteniyor. Bu durumda, </a:t>
            </a:r>
            <a:r>
              <a:rPr lang="tr-TR" sz="2000" dirty="0" err="1">
                <a:latin typeface="Consolas" panose="020B0609020204030204" pitchFamily="49" charset="0"/>
              </a:rPr>
              <a:t>Amdahl'ın</a:t>
            </a:r>
            <a:r>
              <a:rPr lang="tr-TR" sz="2000" dirty="0">
                <a:latin typeface="Consolas" panose="020B0609020204030204" pitchFamily="49" charset="0"/>
              </a:rPr>
              <a:t> Yasası'nı kullanarak hız kazancını hesaplayabiliriz:</a:t>
            </a:r>
          </a:p>
          <a:p>
            <a:pPr marL="457200" indent="-457200" algn="just">
              <a:buFont typeface="Arial" panose="020B0604020202020204" pitchFamily="34" charset="0"/>
              <a:buChar char="•"/>
            </a:pPr>
            <a:endParaRPr lang="tr-TR" sz="2000" dirty="0">
              <a:latin typeface="Consolas" panose="020B0609020204030204" pitchFamily="49" charset="0"/>
            </a:endParaRPr>
          </a:p>
          <a:p>
            <a:pPr marL="457200" indent="-457200" algn="just">
              <a:buFont typeface="Arial" panose="020B0604020202020204" pitchFamily="34" charset="0"/>
              <a:buChar char="•"/>
            </a:pPr>
            <a:endParaRPr lang="tr-TR" sz="2000" dirty="0">
              <a:latin typeface="Consolas" panose="020B0609020204030204" pitchFamily="49" charset="0"/>
            </a:endParaRPr>
          </a:p>
          <a:p>
            <a:pPr marL="457200" indent="-457200" algn="just">
              <a:buFont typeface="Arial" panose="020B0604020202020204" pitchFamily="34" charset="0"/>
              <a:buChar char="•"/>
            </a:pPr>
            <a:endParaRPr lang="tr-TR" sz="2000" dirty="0">
              <a:latin typeface="Consolas" panose="020B0609020204030204" pitchFamily="49" charset="0"/>
            </a:endParaRPr>
          </a:p>
          <a:p>
            <a:pPr marL="457200" indent="-457200" algn="just">
              <a:buFont typeface="Arial" panose="020B0604020202020204" pitchFamily="34" charset="0"/>
              <a:buChar char="•"/>
            </a:pPr>
            <a:endParaRPr lang="tr-TR" sz="2000" dirty="0">
              <a:latin typeface="Consolas" panose="020B0609020204030204" pitchFamily="49" charset="0"/>
            </a:endParaRPr>
          </a:p>
          <a:p>
            <a:pPr marL="457200" indent="-457200" algn="just">
              <a:buFont typeface="Arial" panose="020B0604020202020204" pitchFamily="34" charset="0"/>
              <a:buChar char="•"/>
            </a:pPr>
            <a:endParaRPr lang="tr-TR" sz="2000" dirty="0">
              <a:latin typeface="Consolas" panose="020B0609020204030204" pitchFamily="49" charset="0"/>
            </a:endParaRPr>
          </a:p>
          <a:p>
            <a:pPr marL="457200" indent="-457200" algn="just">
              <a:buFont typeface="Arial" panose="020B0604020202020204" pitchFamily="34" charset="0"/>
              <a:buChar char="•"/>
            </a:pPr>
            <a:endParaRPr lang="tr-TR" sz="2000" dirty="0">
              <a:latin typeface="Consolas" panose="020B0609020204030204" pitchFamily="49" charset="0"/>
            </a:endParaRPr>
          </a:p>
          <a:p>
            <a:pPr marL="457200" indent="-457200" algn="just">
              <a:buFont typeface="Arial" panose="020B0604020202020204" pitchFamily="34" charset="0"/>
              <a:buChar char="•"/>
            </a:pPr>
            <a:endParaRPr lang="tr-TR" sz="2000" dirty="0">
              <a:latin typeface="Consolas" panose="020B0609020204030204" pitchFamily="49" charset="0"/>
            </a:endParaRPr>
          </a:p>
          <a:p>
            <a:pPr marL="457200" indent="-457200" algn="just">
              <a:buFont typeface="Arial" panose="020B0604020202020204" pitchFamily="34" charset="0"/>
              <a:buChar char="•"/>
            </a:pPr>
            <a:r>
              <a:rPr lang="tr-TR" sz="2000" dirty="0">
                <a:latin typeface="Consolas" panose="020B0609020204030204" pitchFamily="49" charset="0"/>
              </a:rPr>
              <a:t>Bu durumda, </a:t>
            </a:r>
            <a:r>
              <a:rPr lang="tr-TR" sz="2000" dirty="0" err="1">
                <a:latin typeface="Consolas" panose="020B0609020204030204" pitchFamily="49" charset="0"/>
              </a:rPr>
              <a:t>paralelleştirilmiş</a:t>
            </a:r>
            <a:r>
              <a:rPr lang="tr-TR" sz="2000" dirty="0">
                <a:latin typeface="Consolas" panose="020B0609020204030204" pitchFamily="49" charset="0"/>
              </a:rPr>
              <a:t> program, tek işlemciye göre yaklaşık 2.5 kat daha hızlı çalışacaktır. </a:t>
            </a:r>
          </a:p>
          <a:p>
            <a:pPr marL="457200" indent="-457200" algn="just">
              <a:buFont typeface="Arial" panose="020B0604020202020204" pitchFamily="34" charset="0"/>
              <a:buChar char="•"/>
            </a:pPr>
            <a:endParaRPr lang="tr-TR" sz="2000" dirty="0">
              <a:latin typeface="Consolas" panose="020B0609020204030204" pitchFamily="49" charset="0"/>
            </a:endParaRPr>
          </a:p>
          <a:p>
            <a:pPr marL="457200" indent="-457200" algn="just">
              <a:buFont typeface="Arial" panose="020B0604020202020204" pitchFamily="34" charset="0"/>
              <a:buChar char="•"/>
            </a:pPr>
            <a:r>
              <a:rPr lang="tr-TR" sz="2000" dirty="0">
                <a:latin typeface="Consolas" panose="020B0609020204030204" pitchFamily="49" charset="0"/>
              </a:rPr>
              <a:t>Ayrıca, bu hesaplamadan, </a:t>
            </a:r>
            <a:r>
              <a:rPr lang="tr-TR" sz="2000" dirty="0" err="1">
                <a:latin typeface="Consolas" panose="020B0609020204030204" pitchFamily="49" charset="0"/>
              </a:rPr>
              <a:t>paralelleştirilebilir</a:t>
            </a:r>
            <a:r>
              <a:rPr lang="tr-TR" sz="2000" dirty="0">
                <a:latin typeface="Consolas" panose="020B0609020204030204" pitchFamily="49" charset="0"/>
              </a:rPr>
              <a:t> kısmın oranının ve işlemci sayısının hız kazancı üzerindeki etkisini gözlemleyebiliriz.</a:t>
            </a:r>
          </a:p>
          <a:p>
            <a:pPr marL="457200" indent="-457200" algn="just">
              <a:buFont typeface="Arial" panose="020B0604020202020204" pitchFamily="34" charset="0"/>
              <a:buChar char="•"/>
            </a:pPr>
            <a:endParaRPr lang="tr-TR" sz="2000" dirty="0">
              <a:latin typeface="Consolas" panose="020B0609020204030204" pitchFamily="49" charset="0"/>
            </a:endParaRPr>
          </a:p>
          <a:p>
            <a:pPr marL="457200" indent="-457200" algn="just">
              <a:buFont typeface="Arial" panose="020B0604020202020204" pitchFamily="34" charset="0"/>
              <a:buChar char="•"/>
            </a:pPr>
            <a:r>
              <a:rPr lang="tr-TR" sz="2000" dirty="0" err="1">
                <a:latin typeface="Consolas" panose="020B0609020204030204" pitchFamily="49" charset="0"/>
              </a:rPr>
              <a:t>Paralelleştirilebilir</a:t>
            </a:r>
            <a:r>
              <a:rPr lang="tr-TR" sz="2000" dirty="0">
                <a:latin typeface="Consolas" panose="020B0609020204030204" pitchFamily="49" charset="0"/>
              </a:rPr>
              <a:t> kısım oranı arttıkça ve işlemci sayısı arttıkça, hız kazancı da artacaktır.</a:t>
            </a:r>
          </a:p>
          <a:p>
            <a:pPr marL="457200" indent="-457200" algn="just">
              <a:buFont typeface="Arial" panose="020B0604020202020204" pitchFamily="34" charset="0"/>
              <a:buChar char="•"/>
            </a:pPr>
            <a:endParaRPr lang="tr-TR" sz="2000" dirty="0">
              <a:latin typeface="Consolas" panose="020B0609020204030204" pitchFamily="49" charset="0"/>
            </a:endParaRPr>
          </a:p>
          <a:p>
            <a:pPr marL="457200" indent="-457200" algn="just">
              <a:buFont typeface="Arial" panose="020B0604020202020204" pitchFamily="34" charset="0"/>
              <a:buChar char="•"/>
            </a:pPr>
            <a:endParaRPr lang="tr-TR" sz="2000" dirty="0">
              <a:latin typeface="Consolas" panose="020B0609020204030204" pitchFamily="49" charset="0"/>
            </a:endParaRPr>
          </a:p>
        </p:txBody>
      </p:sp>
      <p:pic>
        <p:nvPicPr>
          <p:cNvPr id="3" name="Resim 2">
            <a:extLst>
              <a:ext uri="{FF2B5EF4-FFF2-40B4-BE49-F238E27FC236}">
                <a16:creationId xmlns:a16="http://schemas.microsoft.com/office/drawing/2014/main" id="{BB22338A-5FFC-5193-DB9D-F2D9D1272AF0}"/>
              </a:ext>
            </a:extLst>
          </p:cNvPr>
          <p:cNvPicPr>
            <a:picLocks noChangeAspect="1"/>
          </p:cNvPicPr>
          <p:nvPr/>
        </p:nvPicPr>
        <p:blipFill>
          <a:blip r:embed="rId3">
            <a:duotone>
              <a:schemeClr val="accent4">
                <a:shade val="45000"/>
                <a:satMod val="135000"/>
              </a:schemeClr>
              <a:prstClr val="white"/>
            </a:duotone>
          </a:blip>
          <a:stretch>
            <a:fillRect/>
          </a:stretch>
        </p:blipFill>
        <p:spPr>
          <a:xfrm>
            <a:off x="4028436" y="1891454"/>
            <a:ext cx="4135128" cy="1479941"/>
          </a:xfrm>
          <a:prstGeom prst="rect">
            <a:avLst/>
          </a:prstGeom>
        </p:spPr>
      </p:pic>
    </p:spTree>
    <p:extLst>
      <p:ext uri="{BB962C8B-B14F-4D97-AF65-F5344CB8AC3E}">
        <p14:creationId xmlns:p14="http://schemas.microsoft.com/office/powerpoint/2010/main" val="376695733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973771-9CBA-4CED-16D1-EEDF831841FC}"/>
            </a:ext>
          </a:extLst>
        </p:cNvPr>
        <p:cNvGrpSpPr/>
        <p:nvPr/>
      </p:nvGrpSpPr>
      <p:grpSpPr>
        <a:xfrm>
          <a:off x="0" y="0"/>
          <a:ext cx="0" cy="0"/>
          <a:chOff x="0" y="0"/>
          <a:chExt cx="0" cy="0"/>
        </a:xfrm>
      </p:grpSpPr>
      <p:pic>
        <p:nvPicPr>
          <p:cNvPr id="4" name="Picture 2" descr="Parallel computing for high-performance simulations">
            <a:extLst>
              <a:ext uri="{FF2B5EF4-FFF2-40B4-BE49-F238E27FC236}">
                <a16:creationId xmlns:a16="http://schemas.microsoft.com/office/drawing/2014/main" id="{DB13D94C-A8D2-C303-592D-A1242C10CA38}"/>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51802" b="-1"/>
          <a:stretch/>
        </p:blipFill>
        <p:spPr bwMode="auto">
          <a:xfrm rot="5400000">
            <a:off x="-2989346" y="2971346"/>
            <a:ext cx="6876000" cy="914399"/>
          </a:xfrm>
          <a:prstGeom prst="rect">
            <a:avLst/>
          </a:prstGeom>
          <a:noFill/>
          <a:extLst>
            <a:ext uri="{909E8E84-426E-40DD-AFC4-6F175D3DCCD1}">
              <a14:hiddenFill xmlns:a14="http://schemas.microsoft.com/office/drawing/2010/main">
                <a:solidFill>
                  <a:srgbClr val="FFFFFF"/>
                </a:solidFill>
              </a14:hiddenFill>
            </a:ext>
          </a:extLst>
        </p:spPr>
      </p:pic>
      <p:sp>
        <p:nvSpPr>
          <p:cNvPr id="6" name="Metin kutusu 5">
            <a:extLst>
              <a:ext uri="{FF2B5EF4-FFF2-40B4-BE49-F238E27FC236}">
                <a16:creationId xmlns:a16="http://schemas.microsoft.com/office/drawing/2014/main" id="{68DBF6EA-4C4D-C4F2-AB9A-2CE64C2AE959}"/>
              </a:ext>
            </a:extLst>
          </p:cNvPr>
          <p:cNvSpPr txBox="1"/>
          <p:nvPr/>
        </p:nvSpPr>
        <p:spPr>
          <a:xfrm>
            <a:off x="1164349" y="184777"/>
            <a:ext cx="10688668" cy="553998"/>
          </a:xfrm>
          <a:prstGeom prst="rect">
            <a:avLst/>
          </a:prstGeom>
          <a:noFill/>
        </p:spPr>
        <p:txBody>
          <a:bodyPr wrap="square" rtlCol="0">
            <a:spAutoFit/>
          </a:bodyPr>
          <a:lstStyle/>
          <a:p>
            <a:r>
              <a:rPr lang="tr-TR" sz="3000" b="1" dirty="0">
                <a:latin typeface="Consolas" panose="020B0609020204030204" pitchFamily="49" charset="0"/>
              </a:rPr>
              <a:t>Ölçeklenebilirlik</a:t>
            </a:r>
          </a:p>
        </p:txBody>
      </p:sp>
      <p:sp>
        <p:nvSpPr>
          <p:cNvPr id="7" name="Metin kutusu 6">
            <a:extLst>
              <a:ext uri="{FF2B5EF4-FFF2-40B4-BE49-F238E27FC236}">
                <a16:creationId xmlns:a16="http://schemas.microsoft.com/office/drawing/2014/main" id="{A10FF1FF-D648-9D8B-2317-B6ADEE656A7D}"/>
              </a:ext>
            </a:extLst>
          </p:cNvPr>
          <p:cNvSpPr txBox="1"/>
          <p:nvPr/>
        </p:nvSpPr>
        <p:spPr>
          <a:xfrm>
            <a:off x="1164348" y="759758"/>
            <a:ext cx="10688667" cy="3170099"/>
          </a:xfrm>
          <a:prstGeom prst="rect">
            <a:avLst/>
          </a:prstGeom>
          <a:noFill/>
        </p:spPr>
        <p:txBody>
          <a:bodyPr wrap="square" rtlCol="0">
            <a:spAutoFit/>
          </a:bodyPr>
          <a:lstStyle/>
          <a:p>
            <a:pPr marL="457200" indent="-457200" algn="just">
              <a:buFont typeface="Arial" panose="020B0604020202020204" pitchFamily="34" charset="0"/>
              <a:buChar char="•"/>
            </a:pPr>
            <a:r>
              <a:rPr lang="tr-TR" sz="2000" dirty="0">
                <a:latin typeface="Consolas" panose="020B0609020204030204" pitchFamily="49" charset="0"/>
              </a:rPr>
              <a:t>Geliştirilen yazılım her geçen gün mevcut problemin boyutlarının artmasına rağmen çalışmaya devam edebiliyorsa ölçeklenebilirdir.</a:t>
            </a:r>
          </a:p>
          <a:p>
            <a:pPr algn="just"/>
            <a:endParaRPr lang="tr-TR" sz="2000" dirty="0">
              <a:latin typeface="Consolas" panose="020B0609020204030204" pitchFamily="49" charset="0"/>
            </a:endParaRPr>
          </a:p>
          <a:p>
            <a:pPr algn="just"/>
            <a:endParaRPr lang="tr-TR" sz="2000" dirty="0">
              <a:latin typeface="Consolas" panose="020B0609020204030204" pitchFamily="49" charset="0"/>
            </a:endParaRPr>
          </a:p>
          <a:p>
            <a:pPr algn="just"/>
            <a:r>
              <a:rPr lang="tr-TR" sz="2000" dirty="0">
                <a:latin typeface="Consolas" panose="020B0609020204030204" pitchFamily="49" charset="0"/>
              </a:rPr>
              <a:t>Örneğin:</a:t>
            </a:r>
          </a:p>
          <a:p>
            <a:pPr marL="457200" indent="-457200" algn="just">
              <a:buFont typeface="Arial" panose="020B0604020202020204" pitchFamily="34" charset="0"/>
              <a:buChar char="•"/>
            </a:pPr>
            <a:r>
              <a:rPr lang="tr-TR" sz="2000" dirty="0" err="1">
                <a:latin typeface="Consolas" panose="020B0609020204030204" pitchFamily="49" charset="0"/>
              </a:rPr>
              <a:t>Tserial</a:t>
            </a:r>
            <a:r>
              <a:rPr lang="tr-TR" sz="2000" dirty="0">
                <a:latin typeface="Consolas" panose="020B0609020204030204" pitchFamily="49" charset="0"/>
              </a:rPr>
              <a:t> = n </a:t>
            </a:r>
            <a:r>
              <a:rPr lang="tr-TR" sz="2000" dirty="0" err="1">
                <a:latin typeface="Consolas" panose="020B0609020204030204" pitchFamily="49" charset="0"/>
              </a:rPr>
              <a:t>micro</a:t>
            </a:r>
            <a:r>
              <a:rPr lang="tr-TR" sz="2000" dirty="0">
                <a:latin typeface="Consolas" panose="020B0609020204030204" pitchFamily="49" charset="0"/>
              </a:rPr>
              <a:t> saniye sürsün. Aynı zamanda problem boyutumuzun da n olduğunu varsayalım. </a:t>
            </a:r>
          </a:p>
          <a:p>
            <a:pPr marL="457200" indent="-457200" algn="just">
              <a:buFont typeface="Arial" panose="020B0604020202020204" pitchFamily="34" charset="0"/>
              <a:buChar char="•"/>
            </a:pPr>
            <a:r>
              <a:rPr lang="tr-TR" sz="2000" dirty="0" err="1">
                <a:latin typeface="Consolas" panose="020B0609020204030204" pitchFamily="49" charset="0"/>
              </a:rPr>
              <a:t>Tparalel</a:t>
            </a:r>
            <a:r>
              <a:rPr lang="tr-TR" sz="2000" dirty="0">
                <a:latin typeface="Consolas" panose="020B0609020204030204" pitchFamily="49" charset="0"/>
              </a:rPr>
              <a:t> = (n/p)+1 paralel işlem süremiz olsun. </a:t>
            </a:r>
          </a:p>
          <a:p>
            <a:pPr algn="just"/>
            <a:endParaRPr lang="tr-TR" sz="2000" dirty="0">
              <a:latin typeface="Consolas" panose="020B0609020204030204" pitchFamily="49" charset="0"/>
            </a:endParaRPr>
          </a:p>
          <a:p>
            <a:pPr algn="just"/>
            <a:r>
              <a:rPr lang="tr-TR" sz="2000" dirty="0">
                <a:latin typeface="Consolas" panose="020B0609020204030204" pitchFamily="49" charset="0"/>
              </a:rPr>
              <a:t>Bu durumda:</a:t>
            </a:r>
          </a:p>
        </p:txBody>
      </p:sp>
      <p:pic>
        <p:nvPicPr>
          <p:cNvPr id="2" name="Resim 1">
            <a:extLst>
              <a:ext uri="{FF2B5EF4-FFF2-40B4-BE49-F238E27FC236}">
                <a16:creationId xmlns:a16="http://schemas.microsoft.com/office/drawing/2014/main" id="{8B1928E5-A203-85DB-C360-055301806468}"/>
              </a:ext>
            </a:extLst>
          </p:cNvPr>
          <p:cNvPicPr>
            <a:picLocks noChangeAspect="1"/>
          </p:cNvPicPr>
          <p:nvPr/>
        </p:nvPicPr>
        <p:blipFill>
          <a:blip r:embed="rId3"/>
          <a:stretch>
            <a:fillRect/>
          </a:stretch>
        </p:blipFill>
        <p:spPr>
          <a:xfrm>
            <a:off x="3320238" y="3308738"/>
            <a:ext cx="5551524" cy="1418384"/>
          </a:xfrm>
          <a:prstGeom prst="rect">
            <a:avLst/>
          </a:prstGeom>
        </p:spPr>
      </p:pic>
      <p:sp>
        <p:nvSpPr>
          <p:cNvPr id="5" name="Dikdörtgen: Köşeleri Yuvarlatılmış 4">
            <a:extLst>
              <a:ext uri="{FF2B5EF4-FFF2-40B4-BE49-F238E27FC236}">
                <a16:creationId xmlns:a16="http://schemas.microsoft.com/office/drawing/2014/main" id="{5D852A7B-7018-CF26-EEED-5D6D440896EE}"/>
              </a:ext>
            </a:extLst>
          </p:cNvPr>
          <p:cNvSpPr/>
          <p:nvPr/>
        </p:nvSpPr>
        <p:spPr>
          <a:xfrm>
            <a:off x="7862207" y="3428545"/>
            <a:ext cx="1009555" cy="947512"/>
          </a:xfrm>
          <a:prstGeom prst="roundRect">
            <a:avLst/>
          </a:prstGeom>
          <a:no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r-TR" dirty="0"/>
          </a:p>
        </p:txBody>
      </p:sp>
    </p:spTree>
    <p:extLst>
      <p:ext uri="{BB962C8B-B14F-4D97-AF65-F5344CB8AC3E}">
        <p14:creationId xmlns:p14="http://schemas.microsoft.com/office/powerpoint/2010/main" val="285957630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973771-9CBA-4CED-16D1-EEDF831841FC}"/>
            </a:ext>
          </a:extLst>
        </p:cNvPr>
        <p:cNvGrpSpPr/>
        <p:nvPr/>
      </p:nvGrpSpPr>
      <p:grpSpPr>
        <a:xfrm>
          <a:off x="0" y="0"/>
          <a:ext cx="0" cy="0"/>
          <a:chOff x="0" y="0"/>
          <a:chExt cx="0" cy="0"/>
        </a:xfrm>
      </p:grpSpPr>
      <p:pic>
        <p:nvPicPr>
          <p:cNvPr id="4" name="Picture 2" descr="Parallel computing for high-performance simulations">
            <a:extLst>
              <a:ext uri="{FF2B5EF4-FFF2-40B4-BE49-F238E27FC236}">
                <a16:creationId xmlns:a16="http://schemas.microsoft.com/office/drawing/2014/main" id="{DB13D94C-A8D2-C303-592D-A1242C10CA38}"/>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51802" b="-1"/>
          <a:stretch/>
        </p:blipFill>
        <p:spPr bwMode="auto">
          <a:xfrm rot="5400000">
            <a:off x="-2989346" y="2971346"/>
            <a:ext cx="6876000" cy="914399"/>
          </a:xfrm>
          <a:prstGeom prst="rect">
            <a:avLst/>
          </a:prstGeom>
          <a:noFill/>
          <a:extLst>
            <a:ext uri="{909E8E84-426E-40DD-AFC4-6F175D3DCCD1}">
              <a14:hiddenFill xmlns:a14="http://schemas.microsoft.com/office/drawing/2010/main">
                <a:solidFill>
                  <a:srgbClr val="FFFFFF"/>
                </a:solidFill>
              </a14:hiddenFill>
            </a:ext>
          </a:extLst>
        </p:spPr>
      </p:pic>
      <p:sp>
        <p:nvSpPr>
          <p:cNvPr id="6" name="Metin kutusu 5">
            <a:extLst>
              <a:ext uri="{FF2B5EF4-FFF2-40B4-BE49-F238E27FC236}">
                <a16:creationId xmlns:a16="http://schemas.microsoft.com/office/drawing/2014/main" id="{68DBF6EA-4C4D-C4F2-AB9A-2CE64C2AE959}"/>
              </a:ext>
            </a:extLst>
          </p:cNvPr>
          <p:cNvSpPr txBox="1"/>
          <p:nvPr/>
        </p:nvSpPr>
        <p:spPr>
          <a:xfrm>
            <a:off x="1164349" y="184777"/>
            <a:ext cx="10688668" cy="553998"/>
          </a:xfrm>
          <a:prstGeom prst="rect">
            <a:avLst/>
          </a:prstGeom>
          <a:noFill/>
        </p:spPr>
        <p:txBody>
          <a:bodyPr wrap="square" rtlCol="0">
            <a:spAutoFit/>
          </a:bodyPr>
          <a:lstStyle/>
          <a:p>
            <a:r>
              <a:rPr lang="tr-TR" sz="3000" b="1" dirty="0">
                <a:latin typeface="Consolas" panose="020B0609020204030204" pitchFamily="49" charset="0"/>
              </a:rPr>
              <a:t>Ölçeklenebilirlik</a:t>
            </a:r>
          </a:p>
        </p:txBody>
      </p:sp>
      <p:sp>
        <p:nvSpPr>
          <p:cNvPr id="7" name="Metin kutusu 6">
            <a:extLst>
              <a:ext uri="{FF2B5EF4-FFF2-40B4-BE49-F238E27FC236}">
                <a16:creationId xmlns:a16="http://schemas.microsoft.com/office/drawing/2014/main" id="{A10FF1FF-D648-9D8B-2317-B6ADEE656A7D}"/>
              </a:ext>
            </a:extLst>
          </p:cNvPr>
          <p:cNvSpPr txBox="1"/>
          <p:nvPr/>
        </p:nvSpPr>
        <p:spPr>
          <a:xfrm>
            <a:off x="1164348" y="759758"/>
            <a:ext cx="10688667" cy="5324535"/>
          </a:xfrm>
          <a:prstGeom prst="rect">
            <a:avLst/>
          </a:prstGeom>
          <a:noFill/>
        </p:spPr>
        <p:txBody>
          <a:bodyPr wrap="square" rtlCol="0">
            <a:spAutoFit/>
          </a:bodyPr>
          <a:lstStyle/>
          <a:p>
            <a:pPr marL="457200" indent="-457200" algn="just">
              <a:buFont typeface="Arial" panose="020B0604020202020204" pitchFamily="34" charset="0"/>
              <a:buChar char="•"/>
            </a:pPr>
            <a:r>
              <a:rPr lang="tr-TR" sz="2000" dirty="0">
                <a:latin typeface="Consolas" panose="020B0609020204030204" pitchFamily="49" charset="0"/>
              </a:rPr>
              <a:t>Geliştirilen programın ölçeklenebilirliğini test etmek için problem boyumuzu k oranında işlemci sayımızı da x oranında arttıralım. Bu şartlar altında verimlilik: </a:t>
            </a:r>
          </a:p>
          <a:p>
            <a:pPr marL="457200" indent="-457200" algn="just">
              <a:buFont typeface="Arial" panose="020B0604020202020204" pitchFamily="34" charset="0"/>
              <a:buChar char="•"/>
            </a:pPr>
            <a:endParaRPr lang="tr-TR" sz="2000" dirty="0">
              <a:latin typeface="Consolas" panose="020B0609020204030204" pitchFamily="49" charset="0"/>
            </a:endParaRPr>
          </a:p>
          <a:p>
            <a:pPr marL="457200" indent="-457200" algn="just">
              <a:buFont typeface="Arial" panose="020B0604020202020204" pitchFamily="34" charset="0"/>
              <a:buChar char="•"/>
            </a:pPr>
            <a:endParaRPr lang="tr-TR" sz="2000" dirty="0">
              <a:latin typeface="Consolas" panose="020B0609020204030204" pitchFamily="49" charset="0"/>
            </a:endParaRPr>
          </a:p>
          <a:p>
            <a:pPr marL="457200" indent="-457200" algn="just">
              <a:buFont typeface="Arial" panose="020B0604020202020204" pitchFamily="34" charset="0"/>
              <a:buChar char="•"/>
            </a:pPr>
            <a:endParaRPr lang="tr-TR" sz="2000" dirty="0">
              <a:latin typeface="Consolas" panose="020B0609020204030204" pitchFamily="49" charset="0"/>
            </a:endParaRPr>
          </a:p>
          <a:p>
            <a:pPr marL="457200" indent="-457200" algn="just">
              <a:buFont typeface="Arial" panose="020B0604020202020204" pitchFamily="34" charset="0"/>
              <a:buChar char="•"/>
            </a:pPr>
            <a:endParaRPr lang="tr-TR" sz="2000" dirty="0">
              <a:latin typeface="Consolas" panose="020B0609020204030204" pitchFamily="49" charset="0"/>
            </a:endParaRPr>
          </a:p>
          <a:p>
            <a:pPr marL="457200" indent="-457200" algn="just">
              <a:buFont typeface="Arial" panose="020B0604020202020204" pitchFamily="34" charset="0"/>
              <a:buChar char="•"/>
            </a:pPr>
            <a:endParaRPr lang="tr-TR" sz="2000" dirty="0">
              <a:latin typeface="Consolas" panose="020B0609020204030204" pitchFamily="49" charset="0"/>
            </a:endParaRPr>
          </a:p>
          <a:p>
            <a:pPr algn="just"/>
            <a:r>
              <a:rPr lang="tr-TR" sz="2000" dirty="0">
                <a:latin typeface="Consolas" panose="020B0609020204030204" pitchFamily="49" charset="0"/>
              </a:rPr>
              <a:t>olarak hesaplanacaktır. Eğer x = k olursa bu denklem:</a:t>
            </a:r>
          </a:p>
          <a:p>
            <a:pPr marL="457200" indent="-457200" algn="just">
              <a:buFont typeface="Arial" panose="020B0604020202020204" pitchFamily="34" charset="0"/>
              <a:buChar char="•"/>
            </a:pPr>
            <a:endParaRPr lang="tr-TR" sz="2000" dirty="0">
              <a:latin typeface="Consolas" panose="020B0609020204030204" pitchFamily="49" charset="0"/>
            </a:endParaRPr>
          </a:p>
          <a:p>
            <a:pPr marL="457200" indent="-457200" algn="just">
              <a:buFont typeface="Arial" panose="020B0604020202020204" pitchFamily="34" charset="0"/>
              <a:buChar char="•"/>
            </a:pPr>
            <a:endParaRPr lang="tr-TR" sz="2000" dirty="0">
              <a:latin typeface="Consolas" panose="020B0609020204030204" pitchFamily="49" charset="0"/>
            </a:endParaRPr>
          </a:p>
          <a:p>
            <a:pPr marL="457200" indent="-457200" algn="just">
              <a:buFont typeface="Arial" panose="020B0604020202020204" pitchFamily="34" charset="0"/>
              <a:buChar char="•"/>
            </a:pPr>
            <a:endParaRPr lang="tr-TR" sz="2000" dirty="0">
              <a:latin typeface="Consolas" panose="020B0609020204030204" pitchFamily="49" charset="0"/>
            </a:endParaRPr>
          </a:p>
          <a:p>
            <a:pPr marL="457200" indent="-457200" algn="just">
              <a:buFont typeface="Arial" panose="020B0604020202020204" pitchFamily="34" charset="0"/>
              <a:buChar char="•"/>
            </a:pPr>
            <a:endParaRPr lang="tr-TR" sz="2000" dirty="0">
              <a:latin typeface="Consolas" panose="020B0609020204030204" pitchFamily="49" charset="0"/>
            </a:endParaRPr>
          </a:p>
          <a:p>
            <a:pPr marL="457200" indent="-457200" algn="just">
              <a:buFont typeface="Arial" panose="020B0604020202020204" pitchFamily="34" charset="0"/>
              <a:buChar char="•"/>
            </a:pPr>
            <a:endParaRPr lang="tr-TR" sz="2000" dirty="0">
              <a:latin typeface="Consolas" panose="020B0609020204030204" pitchFamily="49" charset="0"/>
            </a:endParaRPr>
          </a:p>
          <a:p>
            <a:pPr algn="just"/>
            <a:r>
              <a:rPr lang="tr-TR" sz="2000" dirty="0">
                <a:latin typeface="Consolas" panose="020B0609020204030204" pitchFamily="49" charset="0"/>
              </a:rPr>
              <a:t>olarak bulunur. Kısaca problem boyutunu işlemci sayısı ile aynı oranda büyütürsek paralel sistemin verimliliği </a:t>
            </a:r>
            <a:r>
              <a:rPr lang="tr-TR" sz="2000" dirty="0">
                <a:solidFill>
                  <a:srgbClr val="0070C0"/>
                </a:solidFill>
                <a:latin typeface="Consolas" panose="020B0609020204030204" pitchFamily="49" charset="0"/>
              </a:rPr>
              <a:t>değişmeyecektir</a:t>
            </a:r>
            <a:r>
              <a:rPr lang="tr-TR" sz="2000" dirty="0">
                <a:latin typeface="Consolas" panose="020B0609020204030204" pitchFamily="49" charset="0"/>
              </a:rPr>
              <a:t> ve </a:t>
            </a:r>
            <a:r>
              <a:rPr lang="tr-TR" sz="2000" dirty="0">
                <a:solidFill>
                  <a:srgbClr val="0070C0"/>
                </a:solidFill>
                <a:latin typeface="Consolas" panose="020B0609020204030204" pitchFamily="49" charset="0"/>
              </a:rPr>
              <a:t>ölçeklenebilirlik</a:t>
            </a:r>
            <a:r>
              <a:rPr lang="tr-TR" sz="2000" dirty="0">
                <a:latin typeface="Consolas" panose="020B0609020204030204" pitchFamily="49" charset="0"/>
              </a:rPr>
              <a:t> sağlanmış olacaktır. </a:t>
            </a:r>
          </a:p>
        </p:txBody>
      </p:sp>
      <p:pic>
        <p:nvPicPr>
          <p:cNvPr id="3" name="Resim 2">
            <a:extLst>
              <a:ext uri="{FF2B5EF4-FFF2-40B4-BE49-F238E27FC236}">
                <a16:creationId xmlns:a16="http://schemas.microsoft.com/office/drawing/2014/main" id="{4C065223-7814-02E0-CF64-0A3DFC1BA7BC}"/>
              </a:ext>
            </a:extLst>
          </p:cNvPr>
          <p:cNvPicPr>
            <a:picLocks noChangeAspect="1"/>
          </p:cNvPicPr>
          <p:nvPr/>
        </p:nvPicPr>
        <p:blipFill>
          <a:blip r:embed="rId3"/>
          <a:stretch>
            <a:fillRect/>
          </a:stretch>
        </p:blipFill>
        <p:spPr>
          <a:xfrm>
            <a:off x="4787673" y="2025274"/>
            <a:ext cx="3441928" cy="1038301"/>
          </a:xfrm>
          <a:prstGeom prst="rect">
            <a:avLst/>
          </a:prstGeom>
        </p:spPr>
      </p:pic>
      <p:pic>
        <p:nvPicPr>
          <p:cNvPr id="8" name="Resim 7">
            <a:extLst>
              <a:ext uri="{FF2B5EF4-FFF2-40B4-BE49-F238E27FC236}">
                <a16:creationId xmlns:a16="http://schemas.microsoft.com/office/drawing/2014/main" id="{D3459767-92C4-F5DE-A2CF-3CBFF74A46BD}"/>
              </a:ext>
            </a:extLst>
          </p:cNvPr>
          <p:cNvPicPr>
            <a:picLocks noChangeAspect="1"/>
          </p:cNvPicPr>
          <p:nvPr/>
        </p:nvPicPr>
        <p:blipFill>
          <a:blip r:embed="rId4"/>
          <a:stretch>
            <a:fillRect/>
          </a:stretch>
        </p:blipFill>
        <p:spPr>
          <a:xfrm>
            <a:off x="3942278" y="3648850"/>
            <a:ext cx="4921024" cy="1058845"/>
          </a:xfrm>
          <a:prstGeom prst="rect">
            <a:avLst/>
          </a:prstGeom>
        </p:spPr>
      </p:pic>
    </p:spTree>
    <p:extLst>
      <p:ext uri="{BB962C8B-B14F-4D97-AF65-F5344CB8AC3E}">
        <p14:creationId xmlns:p14="http://schemas.microsoft.com/office/powerpoint/2010/main" val="175947340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973771-9CBA-4CED-16D1-EEDF831841FC}"/>
            </a:ext>
          </a:extLst>
        </p:cNvPr>
        <p:cNvGrpSpPr/>
        <p:nvPr/>
      </p:nvGrpSpPr>
      <p:grpSpPr>
        <a:xfrm>
          <a:off x="0" y="0"/>
          <a:ext cx="0" cy="0"/>
          <a:chOff x="0" y="0"/>
          <a:chExt cx="0" cy="0"/>
        </a:xfrm>
      </p:grpSpPr>
      <p:pic>
        <p:nvPicPr>
          <p:cNvPr id="4" name="Picture 2" descr="Parallel computing for high-performance simulations">
            <a:extLst>
              <a:ext uri="{FF2B5EF4-FFF2-40B4-BE49-F238E27FC236}">
                <a16:creationId xmlns:a16="http://schemas.microsoft.com/office/drawing/2014/main" id="{DB13D94C-A8D2-C303-592D-A1242C10CA38}"/>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51802" b="-1"/>
          <a:stretch/>
        </p:blipFill>
        <p:spPr bwMode="auto">
          <a:xfrm rot="5400000">
            <a:off x="-2989346" y="2971346"/>
            <a:ext cx="6876000" cy="914399"/>
          </a:xfrm>
          <a:prstGeom prst="rect">
            <a:avLst/>
          </a:prstGeom>
          <a:noFill/>
          <a:extLst>
            <a:ext uri="{909E8E84-426E-40DD-AFC4-6F175D3DCCD1}">
              <a14:hiddenFill xmlns:a14="http://schemas.microsoft.com/office/drawing/2010/main">
                <a:solidFill>
                  <a:srgbClr val="FFFFFF"/>
                </a:solidFill>
              </a14:hiddenFill>
            </a:ext>
          </a:extLst>
        </p:spPr>
      </p:pic>
      <p:sp>
        <p:nvSpPr>
          <p:cNvPr id="6" name="Metin kutusu 5">
            <a:extLst>
              <a:ext uri="{FF2B5EF4-FFF2-40B4-BE49-F238E27FC236}">
                <a16:creationId xmlns:a16="http://schemas.microsoft.com/office/drawing/2014/main" id="{68DBF6EA-4C4D-C4F2-AB9A-2CE64C2AE959}"/>
              </a:ext>
            </a:extLst>
          </p:cNvPr>
          <p:cNvSpPr txBox="1"/>
          <p:nvPr/>
        </p:nvSpPr>
        <p:spPr>
          <a:xfrm>
            <a:off x="1164349" y="184777"/>
            <a:ext cx="10688668" cy="553998"/>
          </a:xfrm>
          <a:prstGeom prst="rect">
            <a:avLst/>
          </a:prstGeom>
          <a:noFill/>
        </p:spPr>
        <p:txBody>
          <a:bodyPr wrap="square" rtlCol="0">
            <a:spAutoFit/>
          </a:bodyPr>
          <a:lstStyle/>
          <a:p>
            <a:r>
              <a:rPr lang="tr-TR" sz="3000" b="1" dirty="0">
                <a:latin typeface="Consolas" panose="020B0609020204030204" pitchFamily="49" charset="0"/>
              </a:rPr>
              <a:t>Paralel Program Tasarımı</a:t>
            </a:r>
          </a:p>
        </p:txBody>
      </p:sp>
      <p:sp>
        <p:nvSpPr>
          <p:cNvPr id="7" name="Metin kutusu 6">
            <a:extLst>
              <a:ext uri="{FF2B5EF4-FFF2-40B4-BE49-F238E27FC236}">
                <a16:creationId xmlns:a16="http://schemas.microsoft.com/office/drawing/2014/main" id="{A10FF1FF-D648-9D8B-2317-B6ADEE656A7D}"/>
              </a:ext>
            </a:extLst>
          </p:cNvPr>
          <p:cNvSpPr txBox="1"/>
          <p:nvPr/>
        </p:nvSpPr>
        <p:spPr>
          <a:xfrm>
            <a:off x="1164348" y="759758"/>
            <a:ext cx="10688667" cy="4093428"/>
          </a:xfrm>
          <a:prstGeom prst="rect">
            <a:avLst/>
          </a:prstGeom>
          <a:noFill/>
        </p:spPr>
        <p:txBody>
          <a:bodyPr wrap="square" rtlCol="0">
            <a:spAutoFit/>
          </a:bodyPr>
          <a:lstStyle/>
          <a:p>
            <a:pPr marL="457200" indent="-457200" algn="just">
              <a:buFont typeface="Arial" panose="020B0604020202020204" pitchFamily="34" charset="0"/>
              <a:buChar char="•"/>
            </a:pPr>
            <a:r>
              <a:rPr lang="tr-TR" sz="2000" dirty="0">
                <a:latin typeface="Consolas" panose="020B0609020204030204" pitchFamily="49" charset="0"/>
              </a:rPr>
              <a:t>Paralel donanım mimarileri belirli kriterler çerçevesinde tasarlanarak üretilebilmesine rağmen seri bir programı paralel bir programa çevirebilmek için kesin bir çözüm yolu bulunmamaktadır. </a:t>
            </a:r>
          </a:p>
          <a:p>
            <a:pPr marL="457200" indent="-457200" algn="just">
              <a:buFont typeface="Arial" panose="020B0604020202020204" pitchFamily="34" charset="0"/>
              <a:buChar char="•"/>
            </a:pPr>
            <a:endParaRPr lang="tr-TR" sz="2000" dirty="0">
              <a:latin typeface="Consolas" panose="020B0609020204030204" pitchFamily="49" charset="0"/>
            </a:endParaRPr>
          </a:p>
          <a:p>
            <a:pPr marL="457200" indent="-457200" algn="just">
              <a:buFont typeface="Arial" panose="020B0604020202020204" pitchFamily="34" charset="0"/>
              <a:buChar char="•"/>
            </a:pPr>
            <a:r>
              <a:rPr lang="tr-TR" sz="2000" dirty="0">
                <a:latin typeface="Consolas" panose="020B0609020204030204" pitchFamily="49" charset="0"/>
              </a:rPr>
              <a:t>Yine de </a:t>
            </a:r>
            <a:r>
              <a:rPr lang="tr-TR" sz="2000" dirty="0" err="1">
                <a:latin typeface="Consolas" panose="020B0609020204030204" pitchFamily="49" charset="0"/>
              </a:rPr>
              <a:t>Ian</a:t>
            </a:r>
            <a:r>
              <a:rPr lang="tr-TR" sz="2000" dirty="0">
                <a:latin typeface="Consolas" panose="020B0609020204030204" pitchFamily="49" charset="0"/>
              </a:rPr>
              <a:t> </a:t>
            </a:r>
            <a:r>
              <a:rPr lang="tr-TR" sz="2000" dirty="0" err="1">
                <a:latin typeface="Consolas" panose="020B0609020204030204" pitchFamily="49" charset="0"/>
              </a:rPr>
              <a:t>Foster’in</a:t>
            </a:r>
            <a:r>
              <a:rPr lang="tr-TR" sz="2000" dirty="0">
                <a:latin typeface="Consolas" panose="020B0609020204030204" pitchFamily="49" charset="0"/>
              </a:rPr>
              <a:t> geliştirmiş olduğu Paralel Program Tasarımı ve Mimarisi başlıklı eserde Paralel Programlama metodolojisi 4 adımda ele alınmıştır </a:t>
            </a:r>
            <a:r>
              <a:rPr lang="tr-TR" sz="2000" b="1" dirty="0">
                <a:solidFill>
                  <a:srgbClr val="0070C0"/>
                </a:solidFill>
                <a:latin typeface="Consolas" panose="020B0609020204030204" pitchFamily="49" charset="0"/>
              </a:rPr>
              <a:t>(</a:t>
            </a:r>
            <a:r>
              <a:rPr lang="tr-TR" sz="2000" b="1" dirty="0" err="1">
                <a:solidFill>
                  <a:srgbClr val="0070C0"/>
                </a:solidFill>
                <a:latin typeface="Consolas" panose="020B0609020204030204" pitchFamily="49" charset="0"/>
              </a:rPr>
              <a:t>Foster’s</a:t>
            </a:r>
            <a:r>
              <a:rPr lang="tr-TR" sz="2000" b="1" dirty="0">
                <a:solidFill>
                  <a:srgbClr val="0070C0"/>
                </a:solidFill>
                <a:latin typeface="Consolas" panose="020B0609020204030204" pitchFamily="49" charset="0"/>
              </a:rPr>
              <a:t> </a:t>
            </a:r>
            <a:r>
              <a:rPr lang="tr-TR" sz="2000" b="1" dirty="0" err="1">
                <a:solidFill>
                  <a:srgbClr val="0070C0"/>
                </a:solidFill>
                <a:latin typeface="Consolas" panose="020B0609020204030204" pitchFamily="49" charset="0"/>
              </a:rPr>
              <a:t>methodology</a:t>
            </a:r>
            <a:r>
              <a:rPr lang="tr-TR" sz="2000" b="1" dirty="0">
                <a:solidFill>
                  <a:srgbClr val="0070C0"/>
                </a:solidFill>
                <a:latin typeface="Consolas" panose="020B0609020204030204" pitchFamily="49" charset="0"/>
              </a:rPr>
              <a:t>)</a:t>
            </a:r>
            <a:r>
              <a:rPr lang="tr-TR" sz="2000" dirty="0">
                <a:latin typeface="Consolas" panose="020B0609020204030204" pitchFamily="49" charset="0"/>
              </a:rPr>
              <a:t>:</a:t>
            </a:r>
          </a:p>
          <a:p>
            <a:pPr marL="457200" indent="-457200" algn="just">
              <a:buFont typeface="Arial" panose="020B0604020202020204" pitchFamily="34" charset="0"/>
              <a:buChar char="•"/>
            </a:pPr>
            <a:endParaRPr lang="tr-TR" sz="2000" dirty="0">
              <a:latin typeface="Consolas" panose="020B0609020204030204" pitchFamily="49" charset="0"/>
            </a:endParaRPr>
          </a:p>
          <a:p>
            <a:pPr marL="914400" lvl="1" indent="-457200" algn="just">
              <a:buFont typeface="Wingdings" panose="05000000000000000000" pitchFamily="2" charset="2"/>
              <a:buChar char="ü"/>
            </a:pPr>
            <a:r>
              <a:rPr lang="tr-TR" sz="2000" dirty="0">
                <a:latin typeface="Consolas" panose="020B0609020204030204" pitchFamily="49" charset="0"/>
              </a:rPr>
              <a:t>Bölme (</a:t>
            </a:r>
            <a:r>
              <a:rPr lang="tr-TR" sz="2000" dirty="0" err="1">
                <a:latin typeface="Consolas" panose="020B0609020204030204" pitchFamily="49" charset="0"/>
              </a:rPr>
              <a:t>Partitioning</a:t>
            </a:r>
            <a:r>
              <a:rPr lang="tr-TR" sz="2000" dirty="0">
                <a:latin typeface="Consolas" panose="020B0609020204030204" pitchFamily="49" charset="0"/>
              </a:rPr>
              <a:t>)</a:t>
            </a:r>
          </a:p>
          <a:p>
            <a:pPr marL="914400" lvl="1" indent="-457200" algn="just">
              <a:buFont typeface="Wingdings" panose="05000000000000000000" pitchFamily="2" charset="2"/>
              <a:buChar char="ü"/>
            </a:pPr>
            <a:r>
              <a:rPr lang="tr-TR" sz="2000" dirty="0">
                <a:latin typeface="Consolas" panose="020B0609020204030204" pitchFamily="49" charset="0"/>
              </a:rPr>
              <a:t>Haberleşme (</a:t>
            </a:r>
            <a:r>
              <a:rPr lang="tr-TR" sz="2000" dirty="0" err="1">
                <a:latin typeface="Consolas" panose="020B0609020204030204" pitchFamily="49" charset="0"/>
              </a:rPr>
              <a:t>Communication</a:t>
            </a:r>
            <a:r>
              <a:rPr lang="tr-TR" sz="2000" dirty="0">
                <a:latin typeface="Consolas" panose="020B0609020204030204" pitchFamily="49" charset="0"/>
              </a:rPr>
              <a:t>)</a:t>
            </a:r>
          </a:p>
          <a:p>
            <a:pPr marL="914400" lvl="1" indent="-457200" algn="just">
              <a:buFont typeface="Wingdings" panose="05000000000000000000" pitchFamily="2" charset="2"/>
              <a:buChar char="ü"/>
            </a:pPr>
            <a:r>
              <a:rPr lang="tr-TR" sz="2000" dirty="0">
                <a:latin typeface="Consolas" panose="020B0609020204030204" pitchFamily="49" charset="0"/>
              </a:rPr>
              <a:t>Birleştirme (</a:t>
            </a:r>
            <a:r>
              <a:rPr lang="tr-TR" sz="2000" dirty="0" err="1">
                <a:latin typeface="Consolas" panose="020B0609020204030204" pitchFamily="49" charset="0"/>
              </a:rPr>
              <a:t>Aggregation</a:t>
            </a:r>
            <a:r>
              <a:rPr lang="tr-TR" sz="2000" dirty="0">
                <a:latin typeface="Consolas" panose="020B0609020204030204" pitchFamily="49" charset="0"/>
              </a:rPr>
              <a:t>)</a:t>
            </a:r>
          </a:p>
          <a:p>
            <a:pPr marL="914400" lvl="1" indent="-457200" algn="just">
              <a:buFont typeface="Wingdings" panose="05000000000000000000" pitchFamily="2" charset="2"/>
              <a:buChar char="ü"/>
            </a:pPr>
            <a:r>
              <a:rPr lang="tr-TR" sz="2000" dirty="0">
                <a:latin typeface="Consolas" panose="020B0609020204030204" pitchFamily="49" charset="0"/>
              </a:rPr>
              <a:t>Planlama (</a:t>
            </a:r>
            <a:r>
              <a:rPr lang="tr-TR" sz="2000" dirty="0" err="1">
                <a:latin typeface="Consolas" panose="020B0609020204030204" pitchFamily="49" charset="0"/>
              </a:rPr>
              <a:t>Mapping</a:t>
            </a:r>
            <a:r>
              <a:rPr lang="tr-TR" sz="2000" dirty="0">
                <a:latin typeface="Consolas" panose="020B0609020204030204" pitchFamily="49" charset="0"/>
              </a:rPr>
              <a:t>)</a:t>
            </a:r>
          </a:p>
          <a:p>
            <a:pPr marL="457200" indent="-457200" algn="just">
              <a:buFont typeface="Arial" panose="020B0604020202020204" pitchFamily="34" charset="0"/>
              <a:buChar char="•"/>
            </a:pPr>
            <a:endParaRPr lang="tr-TR" sz="2000" dirty="0">
              <a:latin typeface="Consolas" panose="020B0609020204030204" pitchFamily="49" charset="0"/>
            </a:endParaRPr>
          </a:p>
        </p:txBody>
      </p:sp>
    </p:spTree>
    <p:extLst>
      <p:ext uri="{BB962C8B-B14F-4D97-AF65-F5344CB8AC3E}">
        <p14:creationId xmlns:p14="http://schemas.microsoft.com/office/powerpoint/2010/main" val="300711123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973771-9CBA-4CED-16D1-EEDF831841FC}"/>
            </a:ext>
          </a:extLst>
        </p:cNvPr>
        <p:cNvGrpSpPr/>
        <p:nvPr/>
      </p:nvGrpSpPr>
      <p:grpSpPr>
        <a:xfrm>
          <a:off x="0" y="0"/>
          <a:ext cx="0" cy="0"/>
          <a:chOff x="0" y="0"/>
          <a:chExt cx="0" cy="0"/>
        </a:xfrm>
      </p:grpSpPr>
      <p:pic>
        <p:nvPicPr>
          <p:cNvPr id="4" name="Picture 2" descr="Parallel computing for high-performance simulations">
            <a:extLst>
              <a:ext uri="{FF2B5EF4-FFF2-40B4-BE49-F238E27FC236}">
                <a16:creationId xmlns:a16="http://schemas.microsoft.com/office/drawing/2014/main" id="{DB13D94C-A8D2-C303-592D-A1242C10CA38}"/>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51802" b="-1"/>
          <a:stretch/>
        </p:blipFill>
        <p:spPr bwMode="auto">
          <a:xfrm rot="5400000">
            <a:off x="-2989346" y="2971346"/>
            <a:ext cx="6876000" cy="914399"/>
          </a:xfrm>
          <a:prstGeom prst="rect">
            <a:avLst/>
          </a:prstGeom>
          <a:noFill/>
          <a:extLst>
            <a:ext uri="{909E8E84-426E-40DD-AFC4-6F175D3DCCD1}">
              <a14:hiddenFill xmlns:a14="http://schemas.microsoft.com/office/drawing/2010/main">
                <a:solidFill>
                  <a:srgbClr val="FFFFFF"/>
                </a:solidFill>
              </a14:hiddenFill>
            </a:ext>
          </a:extLst>
        </p:spPr>
      </p:pic>
      <p:sp>
        <p:nvSpPr>
          <p:cNvPr id="6" name="Metin kutusu 5">
            <a:extLst>
              <a:ext uri="{FF2B5EF4-FFF2-40B4-BE49-F238E27FC236}">
                <a16:creationId xmlns:a16="http://schemas.microsoft.com/office/drawing/2014/main" id="{68DBF6EA-4C4D-C4F2-AB9A-2CE64C2AE959}"/>
              </a:ext>
            </a:extLst>
          </p:cNvPr>
          <p:cNvSpPr txBox="1"/>
          <p:nvPr/>
        </p:nvSpPr>
        <p:spPr>
          <a:xfrm>
            <a:off x="1164349" y="184777"/>
            <a:ext cx="10688668" cy="553998"/>
          </a:xfrm>
          <a:prstGeom prst="rect">
            <a:avLst/>
          </a:prstGeom>
          <a:noFill/>
        </p:spPr>
        <p:txBody>
          <a:bodyPr wrap="square" rtlCol="0">
            <a:spAutoFit/>
          </a:bodyPr>
          <a:lstStyle/>
          <a:p>
            <a:r>
              <a:rPr lang="tr-TR" sz="3000" b="1" dirty="0">
                <a:latin typeface="Consolas" panose="020B0609020204030204" pitchFamily="49" charset="0"/>
              </a:rPr>
              <a:t>Bölme (</a:t>
            </a:r>
            <a:r>
              <a:rPr lang="tr-TR" sz="3000" b="1" dirty="0" err="1">
                <a:latin typeface="Consolas" panose="020B0609020204030204" pitchFamily="49" charset="0"/>
              </a:rPr>
              <a:t>Partitioning</a:t>
            </a:r>
            <a:r>
              <a:rPr lang="tr-TR" sz="3000" b="1" dirty="0">
                <a:latin typeface="Consolas" panose="020B0609020204030204" pitchFamily="49" charset="0"/>
              </a:rPr>
              <a:t>)</a:t>
            </a:r>
          </a:p>
        </p:txBody>
      </p:sp>
      <p:sp>
        <p:nvSpPr>
          <p:cNvPr id="7" name="Metin kutusu 6">
            <a:extLst>
              <a:ext uri="{FF2B5EF4-FFF2-40B4-BE49-F238E27FC236}">
                <a16:creationId xmlns:a16="http://schemas.microsoft.com/office/drawing/2014/main" id="{A10FF1FF-D648-9D8B-2317-B6ADEE656A7D}"/>
              </a:ext>
            </a:extLst>
          </p:cNvPr>
          <p:cNvSpPr txBox="1"/>
          <p:nvPr/>
        </p:nvSpPr>
        <p:spPr>
          <a:xfrm>
            <a:off x="1164348" y="759758"/>
            <a:ext cx="10688667" cy="5016758"/>
          </a:xfrm>
          <a:prstGeom prst="rect">
            <a:avLst/>
          </a:prstGeom>
          <a:noFill/>
        </p:spPr>
        <p:txBody>
          <a:bodyPr wrap="square" rtlCol="0">
            <a:spAutoFit/>
          </a:bodyPr>
          <a:lstStyle/>
          <a:p>
            <a:pPr marL="457200" indent="-457200" algn="just">
              <a:buFont typeface="Arial" panose="020B0604020202020204" pitchFamily="34" charset="0"/>
              <a:buChar char="•"/>
            </a:pPr>
            <a:r>
              <a:rPr lang="tr-TR" sz="2000" dirty="0">
                <a:latin typeface="Consolas" panose="020B0609020204030204" pitchFamily="49" charset="0"/>
              </a:rPr>
              <a:t>Gerçekleştirilecek hesaplama ve hesaplamada kullanılacak olan veriler  küçük görevlere bölünmelidir. </a:t>
            </a:r>
          </a:p>
          <a:p>
            <a:pPr marL="457200" indent="-457200" algn="just">
              <a:buFont typeface="Arial" panose="020B0604020202020204" pitchFamily="34" charset="0"/>
              <a:buChar char="•"/>
            </a:pPr>
            <a:r>
              <a:rPr lang="tr-TR" sz="2000" dirty="0">
                <a:latin typeface="Consolas" panose="020B0609020204030204" pitchFamily="49" charset="0"/>
              </a:rPr>
              <a:t>Buradaki odaklanma, paralel olarak yürütülebilecek görevlerin tanımlanması üzerine olmalıdır.</a:t>
            </a:r>
          </a:p>
          <a:p>
            <a:pPr lvl="1" algn="just"/>
            <a:endParaRPr lang="tr-TR" sz="2000" dirty="0">
              <a:latin typeface="Consolas" panose="020B0609020204030204" pitchFamily="49" charset="0"/>
            </a:endParaRPr>
          </a:p>
          <a:p>
            <a:pPr lvl="1" algn="just"/>
            <a:r>
              <a:rPr lang="tr-TR" sz="2000" dirty="0" err="1">
                <a:solidFill>
                  <a:srgbClr val="0070C0"/>
                </a:solidFill>
                <a:latin typeface="Consolas" panose="020B0609020204030204" pitchFamily="49" charset="0"/>
              </a:rPr>
              <a:t>Divide</a:t>
            </a:r>
            <a:r>
              <a:rPr lang="tr-TR" sz="2000" dirty="0">
                <a:solidFill>
                  <a:srgbClr val="0070C0"/>
                </a:solidFill>
                <a:latin typeface="Consolas" panose="020B0609020204030204" pitchFamily="49" charset="0"/>
              </a:rPr>
              <a:t> </a:t>
            </a:r>
            <a:r>
              <a:rPr lang="tr-TR" sz="2000" dirty="0" err="1">
                <a:solidFill>
                  <a:srgbClr val="0070C0"/>
                </a:solidFill>
                <a:latin typeface="Consolas" panose="020B0609020204030204" pitchFamily="49" charset="0"/>
              </a:rPr>
              <a:t>and</a:t>
            </a:r>
            <a:r>
              <a:rPr lang="tr-TR" sz="2000" dirty="0">
                <a:solidFill>
                  <a:srgbClr val="0070C0"/>
                </a:solidFill>
                <a:latin typeface="Consolas" panose="020B0609020204030204" pitchFamily="49" charset="0"/>
              </a:rPr>
              <a:t> </a:t>
            </a:r>
            <a:r>
              <a:rPr lang="tr-TR" sz="2000" dirty="0" err="1">
                <a:solidFill>
                  <a:srgbClr val="0070C0"/>
                </a:solidFill>
                <a:latin typeface="Consolas" panose="020B0609020204030204" pitchFamily="49" charset="0"/>
              </a:rPr>
              <a:t>Conquer</a:t>
            </a:r>
            <a:r>
              <a:rPr lang="tr-TR" sz="2000" dirty="0">
                <a:solidFill>
                  <a:srgbClr val="0070C0"/>
                </a:solidFill>
                <a:latin typeface="Consolas" panose="020B0609020204030204" pitchFamily="49" charset="0"/>
              </a:rPr>
              <a:t> (Böl ve Yönet) : </a:t>
            </a:r>
          </a:p>
          <a:p>
            <a:pPr lvl="1" algn="just"/>
            <a:endParaRPr lang="tr-TR" sz="2000" dirty="0">
              <a:solidFill>
                <a:srgbClr val="0070C0"/>
              </a:solidFill>
              <a:latin typeface="Consolas" panose="020B0609020204030204" pitchFamily="49" charset="0"/>
            </a:endParaRPr>
          </a:p>
          <a:p>
            <a:pPr marL="800100" lvl="1" indent="-342900" algn="just">
              <a:buFont typeface="Wingdings" panose="05000000000000000000" pitchFamily="2" charset="2"/>
              <a:buChar char="ü"/>
            </a:pPr>
            <a:r>
              <a:rPr lang="tr-TR" sz="2000" dirty="0">
                <a:solidFill>
                  <a:schemeClr val="tx1">
                    <a:lumMod val="95000"/>
                    <a:lumOff val="5000"/>
                  </a:schemeClr>
                </a:solidFill>
                <a:latin typeface="Consolas" panose="020B0609020204030204" pitchFamily="49" charset="0"/>
              </a:rPr>
              <a:t>Paralelizm için çok etkili bir algoritma tasarlama stratejisidir. </a:t>
            </a:r>
          </a:p>
          <a:p>
            <a:pPr marL="800100" lvl="1" indent="-342900" algn="just">
              <a:buFont typeface="Wingdings" panose="05000000000000000000" pitchFamily="2" charset="2"/>
              <a:buChar char="ü"/>
            </a:pPr>
            <a:endParaRPr lang="tr-TR" sz="2000" dirty="0">
              <a:solidFill>
                <a:schemeClr val="tx1">
                  <a:lumMod val="95000"/>
                  <a:lumOff val="5000"/>
                </a:schemeClr>
              </a:solidFill>
              <a:latin typeface="Consolas" panose="020B0609020204030204" pitchFamily="49" charset="0"/>
            </a:endParaRPr>
          </a:p>
          <a:p>
            <a:pPr marL="800100" lvl="1" indent="-342900" algn="just">
              <a:buFont typeface="Wingdings" panose="05000000000000000000" pitchFamily="2" charset="2"/>
              <a:buChar char="ü"/>
            </a:pPr>
            <a:r>
              <a:rPr lang="tr-TR" sz="2000" dirty="0">
                <a:solidFill>
                  <a:schemeClr val="tx1">
                    <a:lumMod val="95000"/>
                    <a:lumOff val="5000"/>
                  </a:schemeClr>
                </a:solidFill>
                <a:latin typeface="Consolas" panose="020B0609020204030204" pitchFamily="49" charset="0"/>
              </a:rPr>
              <a:t>Bu stratejiyi kullanarak bir algoritmayı </a:t>
            </a:r>
            <a:r>
              <a:rPr lang="tr-TR" sz="2000" dirty="0" err="1">
                <a:solidFill>
                  <a:schemeClr val="tx1">
                    <a:lumMod val="95000"/>
                    <a:lumOff val="5000"/>
                  </a:schemeClr>
                </a:solidFill>
                <a:latin typeface="Consolas" panose="020B0609020204030204" pitchFamily="49" charset="0"/>
              </a:rPr>
              <a:t>paralelleştirmek</a:t>
            </a:r>
            <a:r>
              <a:rPr lang="tr-TR" sz="2000" dirty="0">
                <a:solidFill>
                  <a:schemeClr val="tx1">
                    <a:lumMod val="95000"/>
                    <a:lumOff val="5000"/>
                  </a:schemeClr>
                </a:solidFill>
                <a:latin typeface="Consolas" panose="020B0609020204030204" pitchFamily="49" charset="0"/>
              </a:rPr>
              <a:t>, büyük ve karmaşık bir problemi daha küçük ve yönetilebilir alt problemlere bölmek ve bu alt problemleri bağımsız olarak çözmek anlamına gelir. </a:t>
            </a:r>
          </a:p>
          <a:p>
            <a:pPr marL="800100" lvl="1" indent="-342900" algn="just">
              <a:buFont typeface="Wingdings" panose="05000000000000000000" pitchFamily="2" charset="2"/>
              <a:buChar char="ü"/>
            </a:pPr>
            <a:endParaRPr lang="tr-TR" sz="2000" dirty="0">
              <a:solidFill>
                <a:schemeClr val="tx1">
                  <a:lumMod val="95000"/>
                  <a:lumOff val="5000"/>
                </a:schemeClr>
              </a:solidFill>
              <a:latin typeface="Consolas" panose="020B0609020204030204" pitchFamily="49" charset="0"/>
            </a:endParaRPr>
          </a:p>
          <a:p>
            <a:pPr marL="800100" lvl="1" indent="-342900" algn="just">
              <a:buFont typeface="Wingdings" panose="05000000000000000000" pitchFamily="2" charset="2"/>
              <a:buChar char="ü"/>
            </a:pPr>
            <a:r>
              <a:rPr lang="tr-TR" sz="2000" dirty="0">
                <a:solidFill>
                  <a:schemeClr val="tx1">
                    <a:lumMod val="95000"/>
                    <a:lumOff val="5000"/>
                  </a:schemeClr>
                </a:solidFill>
                <a:latin typeface="Consolas" panose="020B0609020204030204" pitchFamily="49" charset="0"/>
              </a:rPr>
              <a:t>Paralelizm, bu alt problemleri aynı anda farklı işlemciler üzerinde çalıştırarak sağlanır.</a:t>
            </a:r>
          </a:p>
          <a:p>
            <a:pPr marL="914400" lvl="1" indent="-457200" algn="just">
              <a:buFont typeface="Wingdings" panose="05000000000000000000" pitchFamily="2" charset="2"/>
              <a:buChar char="ü"/>
            </a:pPr>
            <a:endParaRPr lang="tr-TR" sz="2000" dirty="0">
              <a:solidFill>
                <a:srgbClr val="0070C0"/>
              </a:solidFill>
              <a:latin typeface="Consolas" panose="020B0609020204030204" pitchFamily="49" charset="0"/>
            </a:endParaRPr>
          </a:p>
        </p:txBody>
      </p:sp>
    </p:spTree>
    <p:extLst>
      <p:ext uri="{BB962C8B-B14F-4D97-AF65-F5344CB8AC3E}">
        <p14:creationId xmlns:p14="http://schemas.microsoft.com/office/powerpoint/2010/main" val="68319823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973771-9CBA-4CED-16D1-EEDF831841FC}"/>
            </a:ext>
          </a:extLst>
        </p:cNvPr>
        <p:cNvGrpSpPr/>
        <p:nvPr/>
      </p:nvGrpSpPr>
      <p:grpSpPr>
        <a:xfrm>
          <a:off x="0" y="0"/>
          <a:ext cx="0" cy="0"/>
          <a:chOff x="0" y="0"/>
          <a:chExt cx="0" cy="0"/>
        </a:xfrm>
      </p:grpSpPr>
      <p:pic>
        <p:nvPicPr>
          <p:cNvPr id="4" name="Picture 2" descr="Parallel computing for high-performance simulations">
            <a:extLst>
              <a:ext uri="{FF2B5EF4-FFF2-40B4-BE49-F238E27FC236}">
                <a16:creationId xmlns:a16="http://schemas.microsoft.com/office/drawing/2014/main" id="{DB13D94C-A8D2-C303-592D-A1242C10CA38}"/>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51802" b="-1"/>
          <a:stretch/>
        </p:blipFill>
        <p:spPr bwMode="auto">
          <a:xfrm rot="5400000">
            <a:off x="-2989346" y="2971346"/>
            <a:ext cx="6876000" cy="914399"/>
          </a:xfrm>
          <a:prstGeom prst="rect">
            <a:avLst/>
          </a:prstGeom>
          <a:noFill/>
          <a:extLst>
            <a:ext uri="{909E8E84-426E-40DD-AFC4-6F175D3DCCD1}">
              <a14:hiddenFill xmlns:a14="http://schemas.microsoft.com/office/drawing/2010/main">
                <a:solidFill>
                  <a:srgbClr val="FFFFFF"/>
                </a:solidFill>
              </a14:hiddenFill>
            </a:ext>
          </a:extLst>
        </p:spPr>
      </p:pic>
      <p:sp>
        <p:nvSpPr>
          <p:cNvPr id="6" name="Metin kutusu 5">
            <a:extLst>
              <a:ext uri="{FF2B5EF4-FFF2-40B4-BE49-F238E27FC236}">
                <a16:creationId xmlns:a16="http://schemas.microsoft.com/office/drawing/2014/main" id="{68DBF6EA-4C4D-C4F2-AB9A-2CE64C2AE959}"/>
              </a:ext>
            </a:extLst>
          </p:cNvPr>
          <p:cNvSpPr txBox="1"/>
          <p:nvPr/>
        </p:nvSpPr>
        <p:spPr>
          <a:xfrm>
            <a:off x="1164349" y="184777"/>
            <a:ext cx="10688668" cy="553998"/>
          </a:xfrm>
          <a:prstGeom prst="rect">
            <a:avLst/>
          </a:prstGeom>
          <a:noFill/>
        </p:spPr>
        <p:txBody>
          <a:bodyPr wrap="square" rtlCol="0">
            <a:spAutoFit/>
          </a:bodyPr>
          <a:lstStyle/>
          <a:p>
            <a:r>
              <a:rPr lang="tr-TR" sz="3000" b="1" dirty="0">
                <a:latin typeface="Consolas" panose="020B0609020204030204" pitchFamily="49" charset="0"/>
              </a:rPr>
              <a:t>Bölme (</a:t>
            </a:r>
            <a:r>
              <a:rPr lang="tr-TR" sz="3000" b="1" dirty="0" err="1">
                <a:latin typeface="Consolas" panose="020B0609020204030204" pitchFamily="49" charset="0"/>
              </a:rPr>
              <a:t>Partitioning</a:t>
            </a:r>
            <a:r>
              <a:rPr lang="tr-TR" sz="3000" b="1" dirty="0">
                <a:latin typeface="Consolas" panose="020B0609020204030204" pitchFamily="49" charset="0"/>
              </a:rPr>
              <a:t>)</a:t>
            </a:r>
          </a:p>
        </p:txBody>
      </p:sp>
      <p:sp>
        <p:nvSpPr>
          <p:cNvPr id="7" name="Metin kutusu 6">
            <a:extLst>
              <a:ext uri="{FF2B5EF4-FFF2-40B4-BE49-F238E27FC236}">
                <a16:creationId xmlns:a16="http://schemas.microsoft.com/office/drawing/2014/main" id="{A10FF1FF-D648-9D8B-2317-B6ADEE656A7D}"/>
              </a:ext>
            </a:extLst>
          </p:cNvPr>
          <p:cNvSpPr txBox="1"/>
          <p:nvPr/>
        </p:nvSpPr>
        <p:spPr>
          <a:xfrm>
            <a:off x="1164349" y="759757"/>
            <a:ext cx="4931652" cy="6093976"/>
          </a:xfrm>
          <a:prstGeom prst="rect">
            <a:avLst/>
          </a:prstGeom>
          <a:noFill/>
        </p:spPr>
        <p:txBody>
          <a:bodyPr wrap="square" rtlCol="0">
            <a:spAutoFit/>
          </a:bodyPr>
          <a:lstStyle/>
          <a:p>
            <a:pPr marL="457200" indent="-457200" algn="just">
              <a:buFont typeface="Arial" panose="020B0604020202020204" pitchFamily="34" charset="0"/>
              <a:buChar char="•"/>
            </a:pPr>
            <a:r>
              <a:rPr lang="tr-TR" sz="2000" dirty="0">
                <a:latin typeface="Consolas" panose="020B0609020204030204" pitchFamily="49" charset="0"/>
              </a:rPr>
              <a:t>Böl ve Yönet stratejisi genellikle şu adımları içerir:</a:t>
            </a:r>
          </a:p>
          <a:p>
            <a:pPr marL="457200" indent="-457200" algn="just">
              <a:buFont typeface="Arial" panose="020B0604020202020204" pitchFamily="34" charset="0"/>
              <a:buChar char="•"/>
            </a:pPr>
            <a:endParaRPr lang="tr-TR" sz="1400" dirty="0">
              <a:latin typeface="Consolas" panose="020B0609020204030204" pitchFamily="49" charset="0"/>
            </a:endParaRPr>
          </a:p>
          <a:p>
            <a:pPr marL="457200" indent="-457200" algn="just">
              <a:buFont typeface="Arial" panose="020B0604020202020204" pitchFamily="34" charset="0"/>
              <a:buChar char="•"/>
            </a:pPr>
            <a:r>
              <a:rPr lang="tr-TR" sz="1400" dirty="0">
                <a:latin typeface="Consolas" panose="020B0609020204030204" pitchFamily="49" charset="0"/>
              </a:rPr>
              <a:t>Bölme (</a:t>
            </a:r>
            <a:r>
              <a:rPr lang="tr-TR" sz="1400" dirty="0" err="1">
                <a:latin typeface="Consolas" panose="020B0609020204030204" pitchFamily="49" charset="0"/>
              </a:rPr>
              <a:t>Divide</a:t>
            </a:r>
            <a:r>
              <a:rPr lang="tr-TR" sz="1400" dirty="0">
                <a:latin typeface="Consolas" panose="020B0609020204030204" pitchFamily="49" charset="0"/>
              </a:rPr>
              <a:t>):</a:t>
            </a:r>
          </a:p>
          <a:p>
            <a:pPr marL="914400" lvl="1" indent="-457200" algn="just">
              <a:buFont typeface="Arial" panose="020B0604020202020204" pitchFamily="34" charset="0"/>
              <a:buChar char="•"/>
            </a:pPr>
            <a:r>
              <a:rPr lang="tr-TR" sz="1400" dirty="0">
                <a:latin typeface="Consolas" panose="020B0609020204030204" pitchFamily="49" charset="0"/>
              </a:rPr>
              <a:t>Büyük problem, daha küçük ve daha yönetilebilir alt problemlere bölünür. Bu adımda, problemi çözmek için gereken işlem ve veri, mümkün olduğunca bağımsız alt problemlere ayrılır.</a:t>
            </a:r>
          </a:p>
          <a:p>
            <a:pPr marL="457200" indent="-457200" algn="just">
              <a:buFont typeface="Arial" panose="020B0604020202020204" pitchFamily="34" charset="0"/>
              <a:buChar char="•"/>
            </a:pPr>
            <a:endParaRPr lang="tr-TR" sz="1400" dirty="0">
              <a:latin typeface="Consolas" panose="020B0609020204030204" pitchFamily="49" charset="0"/>
            </a:endParaRPr>
          </a:p>
          <a:p>
            <a:pPr marL="457200" indent="-457200" algn="just">
              <a:buFont typeface="Arial" panose="020B0604020202020204" pitchFamily="34" charset="0"/>
              <a:buChar char="•"/>
            </a:pPr>
            <a:r>
              <a:rPr lang="tr-TR" sz="1400" dirty="0">
                <a:latin typeface="Consolas" panose="020B0609020204030204" pitchFamily="49" charset="0"/>
              </a:rPr>
              <a:t>Yönet (</a:t>
            </a:r>
            <a:r>
              <a:rPr lang="tr-TR" sz="1400" dirty="0" err="1">
                <a:latin typeface="Consolas" panose="020B0609020204030204" pitchFamily="49" charset="0"/>
              </a:rPr>
              <a:t>Conquer</a:t>
            </a:r>
            <a:r>
              <a:rPr lang="tr-TR" sz="1400" dirty="0">
                <a:latin typeface="Consolas" panose="020B0609020204030204" pitchFamily="49" charset="0"/>
              </a:rPr>
              <a:t>):</a:t>
            </a:r>
          </a:p>
          <a:p>
            <a:pPr marL="914400" lvl="1" indent="-457200" algn="just">
              <a:buFont typeface="Arial" panose="020B0604020202020204" pitchFamily="34" charset="0"/>
              <a:buChar char="•"/>
            </a:pPr>
            <a:r>
              <a:rPr lang="tr-TR" sz="1400" dirty="0">
                <a:latin typeface="Consolas" panose="020B0609020204030204" pitchFamily="49" charset="0"/>
              </a:rPr>
              <a:t>Alt problemler bağımsız olarak çözülür. Bu adımda, her bir alt problem için ayrı bir çözüm stratejisi uygulanır. Alt problemlerin çözümü için gereken işlemler ve hesaplamalar gerçekleştirilir.</a:t>
            </a:r>
          </a:p>
          <a:p>
            <a:pPr marL="457200" indent="-457200" algn="just">
              <a:buFont typeface="Arial" panose="020B0604020202020204" pitchFamily="34" charset="0"/>
              <a:buChar char="•"/>
            </a:pPr>
            <a:endParaRPr lang="tr-TR" sz="1400" dirty="0">
              <a:latin typeface="Consolas" panose="020B0609020204030204" pitchFamily="49" charset="0"/>
            </a:endParaRPr>
          </a:p>
          <a:p>
            <a:pPr marL="457200" indent="-457200" algn="just">
              <a:buFont typeface="Arial" panose="020B0604020202020204" pitchFamily="34" charset="0"/>
              <a:buChar char="•"/>
            </a:pPr>
            <a:r>
              <a:rPr lang="tr-TR" sz="1400" dirty="0">
                <a:latin typeface="Consolas" panose="020B0609020204030204" pitchFamily="49" charset="0"/>
              </a:rPr>
              <a:t>Birleştir (</a:t>
            </a:r>
            <a:r>
              <a:rPr lang="tr-TR" sz="1400" dirty="0" err="1">
                <a:latin typeface="Consolas" panose="020B0609020204030204" pitchFamily="49" charset="0"/>
              </a:rPr>
              <a:t>Combine</a:t>
            </a:r>
            <a:r>
              <a:rPr lang="tr-TR" sz="1400" dirty="0">
                <a:latin typeface="Consolas" panose="020B0609020204030204" pitchFamily="49" charset="0"/>
              </a:rPr>
              <a:t>/</a:t>
            </a:r>
            <a:r>
              <a:rPr lang="tr-TR" sz="1400" dirty="0" err="1">
                <a:latin typeface="Consolas" panose="020B0609020204030204" pitchFamily="49" charset="0"/>
              </a:rPr>
              <a:t>Merge</a:t>
            </a:r>
            <a:r>
              <a:rPr lang="tr-TR" sz="1400" dirty="0">
                <a:latin typeface="Consolas" panose="020B0609020204030204" pitchFamily="49" charset="0"/>
              </a:rPr>
              <a:t>):</a:t>
            </a:r>
          </a:p>
          <a:p>
            <a:pPr marL="914400" lvl="1" indent="-457200" algn="just">
              <a:buFont typeface="Arial" panose="020B0604020202020204" pitchFamily="34" charset="0"/>
              <a:buChar char="•"/>
            </a:pPr>
            <a:r>
              <a:rPr lang="tr-TR" sz="1400" dirty="0">
                <a:latin typeface="Consolas" panose="020B0609020204030204" pitchFamily="49" charset="0"/>
              </a:rPr>
              <a:t>Bağımsız olarak çözülen alt problemlerin sonuçları birleştirilir. Bu adımda, alt problemlerin çözümü için elde edilen sonuçlar toplanır veya birleştirilir. Bu, orijinal büyük problemi çözmek için gereken sonuçları üretir.</a:t>
            </a:r>
            <a:endParaRPr lang="tr-TR" sz="1400" dirty="0">
              <a:solidFill>
                <a:srgbClr val="0070C0"/>
              </a:solidFill>
              <a:latin typeface="Consolas" panose="020B0609020204030204" pitchFamily="49" charset="0"/>
            </a:endParaRPr>
          </a:p>
        </p:txBody>
      </p:sp>
      <p:pic>
        <p:nvPicPr>
          <p:cNvPr id="7170" name="Picture 2" descr="DivideAndConquer Design Pattern">
            <a:extLst>
              <a:ext uri="{FF2B5EF4-FFF2-40B4-BE49-F238E27FC236}">
                <a16:creationId xmlns:a16="http://schemas.microsoft.com/office/drawing/2014/main" id="{F30CD0D9-C55E-E7C6-98EB-5E34A51068A8}"/>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6816" r="865"/>
          <a:stretch/>
        </p:blipFill>
        <p:spPr bwMode="auto">
          <a:xfrm>
            <a:off x="6294073" y="1573664"/>
            <a:ext cx="5897927" cy="436993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4725641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973771-9CBA-4CED-16D1-EEDF831841FC}"/>
            </a:ext>
          </a:extLst>
        </p:cNvPr>
        <p:cNvGrpSpPr/>
        <p:nvPr/>
      </p:nvGrpSpPr>
      <p:grpSpPr>
        <a:xfrm>
          <a:off x="0" y="0"/>
          <a:ext cx="0" cy="0"/>
          <a:chOff x="0" y="0"/>
          <a:chExt cx="0" cy="0"/>
        </a:xfrm>
      </p:grpSpPr>
      <p:pic>
        <p:nvPicPr>
          <p:cNvPr id="4" name="Picture 2" descr="Parallel computing for high-performance simulations">
            <a:extLst>
              <a:ext uri="{FF2B5EF4-FFF2-40B4-BE49-F238E27FC236}">
                <a16:creationId xmlns:a16="http://schemas.microsoft.com/office/drawing/2014/main" id="{DB13D94C-A8D2-C303-592D-A1242C10CA38}"/>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51802" b="-1"/>
          <a:stretch/>
        </p:blipFill>
        <p:spPr bwMode="auto">
          <a:xfrm rot="5400000">
            <a:off x="-2989346" y="2971346"/>
            <a:ext cx="6876000" cy="914399"/>
          </a:xfrm>
          <a:prstGeom prst="rect">
            <a:avLst/>
          </a:prstGeom>
          <a:noFill/>
          <a:extLst>
            <a:ext uri="{909E8E84-426E-40DD-AFC4-6F175D3DCCD1}">
              <a14:hiddenFill xmlns:a14="http://schemas.microsoft.com/office/drawing/2010/main">
                <a:solidFill>
                  <a:srgbClr val="FFFFFF"/>
                </a:solidFill>
              </a14:hiddenFill>
            </a:ext>
          </a:extLst>
        </p:spPr>
      </p:pic>
      <p:sp>
        <p:nvSpPr>
          <p:cNvPr id="6" name="Metin kutusu 5">
            <a:extLst>
              <a:ext uri="{FF2B5EF4-FFF2-40B4-BE49-F238E27FC236}">
                <a16:creationId xmlns:a16="http://schemas.microsoft.com/office/drawing/2014/main" id="{68DBF6EA-4C4D-C4F2-AB9A-2CE64C2AE959}"/>
              </a:ext>
            </a:extLst>
          </p:cNvPr>
          <p:cNvSpPr txBox="1"/>
          <p:nvPr/>
        </p:nvSpPr>
        <p:spPr>
          <a:xfrm>
            <a:off x="1164349" y="184777"/>
            <a:ext cx="10688668" cy="553998"/>
          </a:xfrm>
          <a:prstGeom prst="rect">
            <a:avLst/>
          </a:prstGeom>
          <a:noFill/>
        </p:spPr>
        <p:txBody>
          <a:bodyPr wrap="square" rtlCol="0">
            <a:spAutoFit/>
          </a:bodyPr>
          <a:lstStyle/>
          <a:p>
            <a:r>
              <a:rPr lang="tr-TR" sz="3000" b="1" dirty="0">
                <a:latin typeface="Consolas" panose="020B0609020204030204" pitchFamily="49" charset="0"/>
              </a:rPr>
              <a:t>Haberleşme (</a:t>
            </a:r>
            <a:r>
              <a:rPr lang="tr-TR" sz="3000" b="1" dirty="0" err="1">
                <a:latin typeface="Consolas" panose="020B0609020204030204" pitchFamily="49" charset="0"/>
              </a:rPr>
              <a:t>Communication</a:t>
            </a:r>
            <a:r>
              <a:rPr lang="tr-TR" sz="3000" b="1" dirty="0">
                <a:latin typeface="Consolas" panose="020B0609020204030204" pitchFamily="49" charset="0"/>
              </a:rPr>
              <a:t>)</a:t>
            </a:r>
          </a:p>
        </p:txBody>
      </p:sp>
      <p:sp>
        <p:nvSpPr>
          <p:cNvPr id="7" name="Metin kutusu 6">
            <a:extLst>
              <a:ext uri="{FF2B5EF4-FFF2-40B4-BE49-F238E27FC236}">
                <a16:creationId xmlns:a16="http://schemas.microsoft.com/office/drawing/2014/main" id="{A10FF1FF-D648-9D8B-2317-B6ADEE656A7D}"/>
              </a:ext>
            </a:extLst>
          </p:cNvPr>
          <p:cNvSpPr txBox="1"/>
          <p:nvPr/>
        </p:nvSpPr>
        <p:spPr>
          <a:xfrm>
            <a:off x="1164348" y="759758"/>
            <a:ext cx="10688667" cy="2246769"/>
          </a:xfrm>
          <a:prstGeom prst="rect">
            <a:avLst/>
          </a:prstGeom>
          <a:noFill/>
        </p:spPr>
        <p:txBody>
          <a:bodyPr wrap="square" rtlCol="0">
            <a:spAutoFit/>
          </a:bodyPr>
          <a:lstStyle/>
          <a:p>
            <a:pPr marL="457200" indent="-457200" algn="just">
              <a:buFont typeface="Arial" panose="020B0604020202020204" pitchFamily="34" charset="0"/>
              <a:buChar char="•"/>
            </a:pPr>
            <a:r>
              <a:rPr lang="tr-TR" sz="2000" dirty="0">
                <a:latin typeface="Consolas" panose="020B0609020204030204" pitchFamily="49" charset="0"/>
              </a:rPr>
              <a:t>Bir önceki adımda tanımlanan görevler arasında hangi iletişimin yapılması gerektiği belirlenmelidir:</a:t>
            </a:r>
          </a:p>
          <a:p>
            <a:pPr marL="457200" indent="-457200" algn="just">
              <a:buFont typeface="Arial" panose="020B0604020202020204" pitchFamily="34" charset="0"/>
              <a:buChar char="•"/>
            </a:pPr>
            <a:endParaRPr lang="tr-TR" sz="2000" dirty="0">
              <a:latin typeface="Consolas" panose="020B0609020204030204" pitchFamily="49" charset="0"/>
            </a:endParaRPr>
          </a:p>
          <a:p>
            <a:pPr marL="914400" lvl="1" indent="-457200" algn="just">
              <a:buFont typeface="Wingdings" panose="05000000000000000000" pitchFamily="2" charset="2"/>
              <a:buChar char="ü"/>
            </a:pPr>
            <a:r>
              <a:rPr lang="tr-TR" sz="2000" dirty="0">
                <a:latin typeface="Consolas" panose="020B0609020204030204" pitchFamily="49" charset="0"/>
              </a:rPr>
              <a:t>Dağıtık bir sistem mi yoksa hafıza paylaşımlı bir sistem mi kullanılacak ?</a:t>
            </a:r>
          </a:p>
          <a:p>
            <a:pPr marL="914400" lvl="1" indent="-457200" algn="just">
              <a:buFont typeface="Wingdings" panose="05000000000000000000" pitchFamily="2" charset="2"/>
              <a:buChar char="ü"/>
            </a:pPr>
            <a:endParaRPr lang="tr-TR" sz="2000" dirty="0">
              <a:latin typeface="Consolas" panose="020B0609020204030204" pitchFamily="49" charset="0"/>
            </a:endParaRPr>
          </a:p>
          <a:p>
            <a:pPr marL="914400" lvl="1" indent="-457200" algn="just">
              <a:buFont typeface="Wingdings" panose="05000000000000000000" pitchFamily="2" charset="2"/>
              <a:buChar char="ü"/>
            </a:pPr>
            <a:r>
              <a:rPr lang="tr-TR" sz="2000" dirty="0">
                <a:latin typeface="Consolas" panose="020B0609020204030204" pitchFamily="49" charset="0"/>
              </a:rPr>
              <a:t>Paralel sistem görevleri arasında haberleşme nasıl olmalı?</a:t>
            </a:r>
          </a:p>
        </p:txBody>
      </p:sp>
    </p:spTree>
    <p:extLst>
      <p:ext uri="{BB962C8B-B14F-4D97-AF65-F5344CB8AC3E}">
        <p14:creationId xmlns:p14="http://schemas.microsoft.com/office/powerpoint/2010/main" val="280872415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973771-9CBA-4CED-16D1-EEDF831841FC}"/>
            </a:ext>
          </a:extLst>
        </p:cNvPr>
        <p:cNvGrpSpPr/>
        <p:nvPr/>
      </p:nvGrpSpPr>
      <p:grpSpPr>
        <a:xfrm>
          <a:off x="0" y="0"/>
          <a:ext cx="0" cy="0"/>
          <a:chOff x="0" y="0"/>
          <a:chExt cx="0" cy="0"/>
        </a:xfrm>
      </p:grpSpPr>
      <p:pic>
        <p:nvPicPr>
          <p:cNvPr id="4" name="Picture 2" descr="Parallel computing for high-performance simulations">
            <a:extLst>
              <a:ext uri="{FF2B5EF4-FFF2-40B4-BE49-F238E27FC236}">
                <a16:creationId xmlns:a16="http://schemas.microsoft.com/office/drawing/2014/main" id="{DB13D94C-A8D2-C303-592D-A1242C10CA38}"/>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51802" b="-1"/>
          <a:stretch/>
        </p:blipFill>
        <p:spPr bwMode="auto">
          <a:xfrm rot="5400000">
            <a:off x="-2989346" y="2971346"/>
            <a:ext cx="6876000" cy="914399"/>
          </a:xfrm>
          <a:prstGeom prst="rect">
            <a:avLst/>
          </a:prstGeom>
          <a:noFill/>
          <a:extLst>
            <a:ext uri="{909E8E84-426E-40DD-AFC4-6F175D3DCCD1}">
              <a14:hiddenFill xmlns:a14="http://schemas.microsoft.com/office/drawing/2010/main">
                <a:solidFill>
                  <a:srgbClr val="FFFFFF"/>
                </a:solidFill>
              </a14:hiddenFill>
            </a:ext>
          </a:extLst>
        </p:spPr>
      </p:pic>
      <p:sp>
        <p:nvSpPr>
          <p:cNvPr id="6" name="Metin kutusu 5">
            <a:extLst>
              <a:ext uri="{FF2B5EF4-FFF2-40B4-BE49-F238E27FC236}">
                <a16:creationId xmlns:a16="http://schemas.microsoft.com/office/drawing/2014/main" id="{68DBF6EA-4C4D-C4F2-AB9A-2CE64C2AE959}"/>
              </a:ext>
            </a:extLst>
          </p:cNvPr>
          <p:cNvSpPr txBox="1"/>
          <p:nvPr/>
        </p:nvSpPr>
        <p:spPr>
          <a:xfrm>
            <a:off x="1164349" y="184777"/>
            <a:ext cx="10688668" cy="553998"/>
          </a:xfrm>
          <a:prstGeom prst="rect">
            <a:avLst/>
          </a:prstGeom>
          <a:noFill/>
        </p:spPr>
        <p:txBody>
          <a:bodyPr wrap="square" rtlCol="0">
            <a:spAutoFit/>
          </a:bodyPr>
          <a:lstStyle/>
          <a:p>
            <a:r>
              <a:rPr lang="tr-TR" sz="3000" b="1" dirty="0">
                <a:latin typeface="Consolas" panose="020B0609020204030204" pitchFamily="49" charset="0"/>
              </a:rPr>
              <a:t>Birleştirme (</a:t>
            </a:r>
            <a:r>
              <a:rPr lang="tr-TR" sz="3000" b="1" dirty="0" err="1">
                <a:latin typeface="Consolas" panose="020B0609020204030204" pitchFamily="49" charset="0"/>
              </a:rPr>
              <a:t>Aggregation</a:t>
            </a:r>
            <a:r>
              <a:rPr lang="tr-TR" sz="3000" b="1" dirty="0">
                <a:latin typeface="Consolas" panose="020B0609020204030204" pitchFamily="49" charset="0"/>
              </a:rPr>
              <a:t>)</a:t>
            </a:r>
          </a:p>
        </p:txBody>
      </p:sp>
      <p:sp>
        <p:nvSpPr>
          <p:cNvPr id="7" name="Metin kutusu 6">
            <a:extLst>
              <a:ext uri="{FF2B5EF4-FFF2-40B4-BE49-F238E27FC236}">
                <a16:creationId xmlns:a16="http://schemas.microsoft.com/office/drawing/2014/main" id="{A10FF1FF-D648-9D8B-2317-B6ADEE656A7D}"/>
              </a:ext>
            </a:extLst>
          </p:cNvPr>
          <p:cNvSpPr txBox="1"/>
          <p:nvPr/>
        </p:nvSpPr>
        <p:spPr>
          <a:xfrm>
            <a:off x="1164348" y="759758"/>
            <a:ext cx="10688667" cy="6001643"/>
          </a:xfrm>
          <a:prstGeom prst="rect">
            <a:avLst/>
          </a:prstGeom>
          <a:noFill/>
        </p:spPr>
        <p:txBody>
          <a:bodyPr wrap="square" rtlCol="0">
            <a:spAutoFit/>
          </a:bodyPr>
          <a:lstStyle/>
          <a:p>
            <a:pPr marL="457200" indent="-457200" algn="just">
              <a:buFont typeface="Arial" panose="020B0604020202020204" pitchFamily="34" charset="0"/>
              <a:buChar char="•"/>
            </a:pPr>
            <a:r>
              <a:rPr lang="tr-TR" sz="1600" dirty="0">
                <a:latin typeface="Consolas" panose="020B0609020204030204" pitchFamily="49" charset="0"/>
              </a:rPr>
              <a:t>İlk adımda belirlenen görevleri ve iletişimleri daha büyük görevlerle birleştirmek.</a:t>
            </a:r>
          </a:p>
          <a:p>
            <a:pPr marL="457200" indent="-457200" algn="just">
              <a:buFont typeface="Arial" panose="020B0604020202020204" pitchFamily="34" charset="0"/>
              <a:buChar char="•"/>
            </a:pPr>
            <a:r>
              <a:rPr lang="tr-TR" sz="1600" dirty="0">
                <a:latin typeface="Consolas" panose="020B0609020204030204" pitchFamily="49" charset="0"/>
              </a:rPr>
              <a:t>Örneğin, görev A, görev B yürütülmeden önce yürütülmeliyse, bunları tek bir bileşik göreve toplamak mantıklı olabilir.</a:t>
            </a:r>
          </a:p>
          <a:p>
            <a:pPr marL="457200" indent="-457200" algn="just">
              <a:buFont typeface="Arial" panose="020B0604020202020204" pitchFamily="34" charset="0"/>
              <a:buChar char="•"/>
            </a:pPr>
            <a:r>
              <a:rPr lang="tr-TR" sz="1600" dirty="0" err="1">
                <a:latin typeface="Consolas" panose="020B0609020204030204" pitchFamily="49" charset="0"/>
              </a:rPr>
              <a:t>Aggregation</a:t>
            </a:r>
            <a:r>
              <a:rPr lang="tr-TR" sz="1600" dirty="0">
                <a:latin typeface="Consolas" panose="020B0609020204030204" pitchFamily="49" charset="0"/>
              </a:rPr>
              <a:t> teknikleri: </a:t>
            </a:r>
          </a:p>
          <a:p>
            <a:pPr marL="914400" lvl="1" indent="-457200" algn="just">
              <a:buFont typeface="Arial" panose="020B0604020202020204" pitchFamily="34" charset="0"/>
              <a:buChar char="•"/>
            </a:pPr>
            <a:r>
              <a:rPr lang="tr-TR" sz="1400" dirty="0">
                <a:latin typeface="Consolas" panose="020B0609020204030204" pitchFamily="49" charset="0"/>
              </a:rPr>
              <a:t>Toplama (</a:t>
            </a:r>
            <a:r>
              <a:rPr lang="tr-TR" sz="1400" dirty="0" err="1">
                <a:latin typeface="Consolas" panose="020B0609020204030204" pitchFamily="49" charset="0"/>
              </a:rPr>
              <a:t>Summation</a:t>
            </a:r>
            <a:r>
              <a:rPr lang="tr-TR" sz="1400" dirty="0">
                <a:latin typeface="Consolas" panose="020B0609020204030204" pitchFamily="49" charset="0"/>
              </a:rPr>
              <a:t>): Paralel hesaplama sonuçlarının toplanması en basit ve yaygın kullanılan </a:t>
            </a:r>
            <a:r>
              <a:rPr lang="tr-TR" sz="1400" dirty="0" err="1">
                <a:latin typeface="Consolas" panose="020B0609020204030204" pitchFamily="49" charset="0"/>
              </a:rPr>
              <a:t>aggregation</a:t>
            </a:r>
            <a:r>
              <a:rPr lang="tr-TR" sz="1400" dirty="0">
                <a:latin typeface="Consolas" panose="020B0609020204030204" pitchFamily="49" charset="0"/>
              </a:rPr>
              <a:t> yöntemlerinden biridir. Her bir işlemci veya iş parçacığından elde edilen sonuçlar toplanarak toplam sonuç elde edilir.</a:t>
            </a:r>
          </a:p>
          <a:p>
            <a:pPr marL="914400" lvl="1" indent="-457200" algn="just">
              <a:buFont typeface="Arial" panose="020B0604020202020204" pitchFamily="34" charset="0"/>
              <a:buChar char="•"/>
            </a:pPr>
            <a:endParaRPr lang="tr-TR" sz="1400" dirty="0">
              <a:latin typeface="Consolas" panose="020B0609020204030204" pitchFamily="49" charset="0"/>
            </a:endParaRPr>
          </a:p>
          <a:p>
            <a:pPr marL="914400" lvl="1" indent="-457200" algn="just">
              <a:buFont typeface="Arial" panose="020B0604020202020204" pitchFamily="34" charset="0"/>
              <a:buChar char="•"/>
            </a:pPr>
            <a:r>
              <a:rPr lang="tr-TR" sz="1400" dirty="0">
                <a:latin typeface="Consolas" panose="020B0609020204030204" pitchFamily="49" charset="0"/>
              </a:rPr>
              <a:t>Birleştirme (Combination): Paralel olarak çalışan işlemcilerden veya iş parçacıklarından gelen sonuçlar, birleştirme veya birleştirme adımlarıyla birleştirilir. Bu, paralel hesaplamaların sonuçlarını tek bir veri yapısında birleştirerek birleştirme işlemidir.</a:t>
            </a:r>
          </a:p>
          <a:p>
            <a:pPr marL="914400" lvl="1" indent="-457200" algn="just">
              <a:buFont typeface="Arial" panose="020B0604020202020204" pitchFamily="34" charset="0"/>
              <a:buChar char="•"/>
            </a:pPr>
            <a:endParaRPr lang="tr-TR" sz="1400" dirty="0">
              <a:latin typeface="Consolas" panose="020B0609020204030204" pitchFamily="49" charset="0"/>
            </a:endParaRPr>
          </a:p>
          <a:p>
            <a:pPr marL="914400" lvl="1" indent="-457200" algn="just">
              <a:buFont typeface="Arial" panose="020B0604020202020204" pitchFamily="34" charset="0"/>
              <a:buChar char="•"/>
            </a:pPr>
            <a:r>
              <a:rPr lang="tr-TR" sz="1400" dirty="0">
                <a:latin typeface="Consolas" panose="020B0609020204030204" pitchFamily="49" charset="0"/>
              </a:rPr>
              <a:t>Sıralama ve Birleştirme (</a:t>
            </a:r>
            <a:r>
              <a:rPr lang="tr-TR" sz="1400" dirty="0" err="1">
                <a:latin typeface="Consolas" panose="020B0609020204030204" pitchFamily="49" charset="0"/>
              </a:rPr>
              <a:t>Sorting</a:t>
            </a:r>
            <a:r>
              <a:rPr lang="tr-TR" sz="1400" dirty="0">
                <a:latin typeface="Consolas" panose="020B0609020204030204" pitchFamily="49" charset="0"/>
              </a:rPr>
              <a:t> </a:t>
            </a:r>
            <a:r>
              <a:rPr lang="tr-TR" sz="1400" dirty="0" err="1">
                <a:latin typeface="Consolas" panose="020B0609020204030204" pitchFamily="49" charset="0"/>
              </a:rPr>
              <a:t>and</a:t>
            </a:r>
            <a:r>
              <a:rPr lang="tr-TR" sz="1400" dirty="0">
                <a:latin typeface="Consolas" panose="020B0609020204030204" pitchFamily="49" charset="0"/>
              </a:rPr>
              <a:t> </a:t>
            </a:r>
            <a:r>
              <a:rPr lang="tr-TR" sz="1400" dirty="0" err="1">
                <a:latin typeface="Consolas" panose="020B0609020204030204" pitchFamily="49" charset="0"/>
              </a:rPr>
              <a:t>Merging</a:t>
            </a:r>
            <a:r>
              <a:rPr lang="tr-TR" sz="1400" dirty="0">
                <a:latin typeface="Consolas" panose="020B0609020204030204" pitchFamily="49" charset="0"/>
              </a:rPr>
              <a:t>): Paralel hesaplama sonuçlarını birleştirmek için sonuçlar öncelikle sıralanabilir ve ardından sıralı sonuçlar birleştirilebilir. Bu yöntem, sıralı veri yapılarının birleştirilmesi için etkili bir yaklaşımdır.</a:t>
            </a:r>
          </a:p>
          <a:p>
            <a:pPr marL="914400" lvl="1" indent="-457200" algn="just">
              <a:buFont typeface="Arial" panose="020B0604020202020204" pitchFamily="34" charset="0"/>
              <a:buChar char="•"/>
            </a:pPr>
            <a:endParaRPr lang="tr-TR" sz="1400" dirty="0">
              <a:latin typeface="Consolas" panose="020B0609020204030204" pitchFamily="49" charset="0"/>
            </a:endParaRPr>
          </a:p>
          <a:p>
            <a:pPr marL="914400" lvl="1" indent="-457200" algn="just">
              <a:buFont typeface="Arial" panose="020B0604020202020204" pitchFamily="34" charset="0"/>
              <a:buChar char="•"/>
            </a:pPr>
            <a:r>
              <a:rPr lang="tr-TR" sz="1400" dirty="0">
                <a:latin typeface="Consolas" panose="020B0609020204030204" pitchFamily="49" charset="0"/>
              </a:rPr>
              <a:t>Paralel Redüksiyon (</a:t>
            </a:r>
            <a:r>
              <a:rPr lang="tr-TR" sz="1400" dirty="0" err="1">
                <a:latin typeface="Consolas" panose="020B0609020204030204" pitchFamily="49" charset="0"/>
              </a:rPr>
              <a:t>Parallel</a:t>
            </a:r>
            <a:r>
              <a:rPr lang="tr-TR" sz="1400" dirty="0">
                <a:latin typeface="Consolas" panose="020B0609020204030204" pitchFamily="49" charset="0"/>
              </a:rPr>
              <a:t> </a:t>
            </a:r>
            <a:r>
              <a:rPr lang="tr-TR" sz="1400" dirty="0" err="1">
                <a:latin typeface="Consolas" panose="020B0609020204030204" pitchFamily="49" charset="0"/>
              </a:rPr>
              <a:t>Reduction</a:t>
            </a:r>
            <a:r>
              <a:rPr lang="tr-TR" sz="1400" dirty="0">
                <a:latin typeface="Consolas" panose="020B0609020204030204" pitchFamily="49" charset="0"/>
              </a:rPr>
              <a:t>): Paralel redüksiyon, bir veri kümesinin birleştirilmesi için paralel hesaplama ve toplama işlemlerini kullanır. Bu yöntem, paralel toplama veya azaltma algoritmaları aracılığıyla paralel hesaplama sonuçlarının birleştirilmesini sağlar.</a:t>
            </a:r>
          </a:p>
          <a:p>
            <a:pPr marL="914400" lvl="1" indent="-457200" algn="just">
              <a:buFont typeface="Arial" panose="020B0604020202020204" pitchFamily="34" charset="0"/>
              <a:buChar char="•"/>
            </a:pPr>
            <a:endParaRPr lang="tr-TR" sz="1400" dirty="0">
              <a:latin typeface="Consolas" panose="020B0609020204030204" pitchFamily="49" charset="0"/>
            </a:endParaRPr>
          </a:p>
          <a:p>
            <a:pPr marL="914400" lvl="1" indent="-457200" algn="just">
              <a:buFont typeface="Arial" panose="020B0604020202020204" pitchFamily="34" charset="0"/>
              <a:buChar char="•"/>
            </a:pPr>
            <a:r>
              <a:rPr lang="tr-TR" sz="1400" dirty="0">
                <a:latin typeface="Consolas" panose="020B0609020204030204" pitchFamily="49" charset="0"/>
              </a:rPr>
              <a:t>Histogram Oluşturma (Histogram </a:t>
            </a:r>
            <a:r>
              <a:rPr lang="tr-TR" sz="1400" dirty="0" err="1">
                <a:latin typeface="Consolas" panose="020B0609020204030204" pitchFamily="49" charset="0"/>
              </a:rPr>
              <a:t>Generation</a:t>
            </a:r>
            <a:r>
              <a:rPr lang="tr-TR" sz="1400" dirty="0">
                <a:latin typeface="Consolas" panose="020B0609020204030204" pitchFamily="49" charset="0"/>
              </a:rPr>
              <a:t>): Paralel hesaplama sonuçlarını birleştirmek için histogram oluşturma yöntemi kullanılabilir. Bu, veri dağılımını görselleştirmek ve sonuçları birleştirmek için kullanışlı bir tekniktir.</a:t>
            </a:r>
          </a:p>
          <a:p>
            <a:pPr marL="914400" lvl="1" indent="-457200" algn="just">
              <a:buFont typeface="Arial" panose="020B0604020202020204" pitchFamily="34" charset="0"/>
              <a:buChar char="•"/>
            </a:pPr>
            <a:endParaRPr lang="tr-TR" sz="1600" dirty="0">
              <a:latin typeface="Consolas" panose="020B0609020204030204" pitchFamily="49" charset="0"/>
            </a:endParaRPr>
          </a:p>
          <a:p>
            <a:pPr marL="285750" indent="-285750" algn="just">
              <a:buFont typeface="Arial" panose="020B0604020202020204" pitchFamily="34" charset="0"/>
              <a:buChar char="•"/>
            </a:pPr>
            <a:r>
              <a:rPr lang="tr-TR" sz="1600" dirty="0">
                <a:latin typeface="Consolas" panose="020B0609020204030204" pitchFamily="49" charset="0"/>
              </a:rPr>
              <a:t>Hangi yöntemin kullanılacağı, problem ve veri yapısına bağlıdır ve optimum sonuçlar için dikkatlice seçilmelidir.</a:t>
            </a:r>
          </a:p>
        </p:txBody>
      </p:sp>
    </p:spTree>
    <p:extLst>
      <p:ext uri="{BB962C8B-B14F-4D97-AF65-F5344CB8AC3E}">
        <p14:creationId xmlns:p14="http://schemas.microsoft.com/office/powerpoint/2010/main" val="194827915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973771-9CBA-4CED-16D1-EEDF831841FC}"/>
            </a:ext>
          </a:extLst>
        </p:cNvPr>
        <p:cNvGrpSpPr/>
        <p:nvPr/>
      </p:nvGrpSpPr>
      <p:grpSpPr>
        <a:xfrm>
          <a:off x="0" y="0"/>
          <a:ext cx="0" cy="0"/>
          <a:chOff x="0" y="0"/>
          <a:chExt cx="0" cy="0"/>
        </a:xfrm>
      </p:grpSpPr>
      <p:pic>
        <p:nvPicPr>
          <p:cNvPr id="4" name="Picture 2" descr="Parallel computing for high-performance simulations">
            <a:extLst>
              <a:ext uri="{FF2B5EF4-FFF2-40B4-BE49-F238E27FC236}">
                <a16:creationId xmlns:a16="http://schemas.microsoft.com/office/drawing/2014/main" id="{DB13D94C-A8D2-C303-592D-A1242C10CA38}"/>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51802" b="-1"/>
          <a:stretch/>
        </p:blipFill>
        <p:spPr bwMode="auto">
          <a:xfrm rot="5400000">
            <a:off x="-2989346" y="2971346"/>
            <a:ext cx="6876000" cy="914399"/>
          </a:xfrm>
          <a:prstGeom prst="rect">
            <a:avLst/>
          </a:prstGeom>
          <a:noFill/>
          <a:extLst>
            <a:ext uri="{909E8E84-426E-40DD-AFC4-6F175D3DCCD1}">
              <a14:hiddenFill xmlns:a14="http://schemas.microsoft.com/office/drawing/2010/main">
                <a:solidFill>
                  <a:srgbClr val="FFFFFF"/>
                </a:solidFill>
              </a14:hiddenFill>
            </a:ext>
          </a:extLst>
        </p:spPr>
      </p:pic>
      <p:sp>
        <p:nvSpPr>
          <p:cNvPr id="6" name="Metin kutusu 5">
            <a:extLst>
              <a:ext uri="{FF2B5EF4-FFF2-40B4-BE49-F238E27FC236}">
                <a16:creationId xmlns:a16="http://schemas.microsoft.com/office/drawing/2014/main" id="{68DBF6EA-4C4D-C4F2-AB9A-2CE64C2AE959}"/>
              </a:ext>
            </a:extLst>
          </p:cNvPr>
          <p:cNvSpPr txBox="1"/>
          <p:nvPr/>
        </p:nvSpPr>
        <p:spPr>
          <a:xfrm>
            <a:off x="1164349" y="184777"/>
            <a:ext cx="10688668" cy="553998"/>
          </a:xfrm>
          <a:prstGeom prst="rect">
            <a:avLst/>
          </a:prstGeom>
          <a:noFill/>
        </p:spPr>
        <p:txBody>
          <a:bodyPr wrap="square" rtlCol="0">
            <a:spAutoFit/>
          </a:bodyPr>
          <a:lstStyle/>
          <a:p>
            <a:r>
              <a:rPr lang="tr-TR" sz="3000" b="1" dirty="0">
                <a:latin typeface="Consolas" panose="020B0609020204030204" pitchFamily="49" charset="0"/>
              </a:rPr>
              <a:t>Planlama (</a:t>
            </a:r>
            <a:r>
              <a:rPr lang="tr-TR" sz="3000" b="1" dirty="0" err="1">
                <a:latin typeface="Consolas" panose="020B0609020204030204" pitchFamily="49" charset="0"/>
              </a:rPr>
              <a:t>Mapping</a:t>
            </a:r>
            <a:r>
              <a:rPr lang="tr-TR" sz="3000" b="1" dirty="0">
                <a:latin typeface="Consolas" panose="020B0609020204030204" pitchFamily="49" charset="0"/>
              </a:rPr>
              <a:t>)</a:t>
            </a:r>
          </a:p>
        </p:txBody>
      </p:sp>
      <p:sp>
        <p:nvSpPr>
          <p:cNvPr id="7" name="Metin kutusu 6">
            <a:extLst>
              <a:ext uri="{FF2B5EF4-FFF2-40B4-BE49-F238E27FC236}">
                <a16:creationId xmlns:a16="http://schemas.microsoft.com/office/drawing/2014/main" id="{A10FF1FF-D648-9D8B-2317-B6ADEE656A7D}"/>
              </a:ext>
            </a:extLst>
          </p:cNvPr>
          <p:cNvSpPr txBox="1"/>
          <p:nvPr/>
        </p:nvSpPr>
        <p:spPr>
          <a:xfrm>
            <a:off x="1164348" y="759758"/>
            <a:ext cx="10688667" cy="6186309"/>
          </a:xfrm>
          <a:prstGeom prst="rect">
            <a:avLst/>
          </a:prstGeom>
          <a:noFill/>
        </p:spPr>
        <p:txBody>
          <a:bodyPr wrap="square" rtlCol="0">
            <a:spAutoFit/>
          </a:bodyPr>
          <a:lstStyle/>
          <a:p>
            <a:pPr marL="457200" indent="-457200" algn="just">
              <a:buFont typeface="Arial" panose="020B0604020202020204" pitchFamily="34" charset="0"/>
              <a:buChar char="•"/>
            </a:pPr>
            <a:r>
              <a:rPr lang="tr-TR" sz="1600" dirty="0">
                <a:latin typeface="Consolas" panose="020B0609020204030204" pitchFamily="49" charset="0"/>
              </a:rPr>
              <a:t>Paralel hesaplamaların işlemciler veya iş parçacıkları arasında nasıl dağıtılacağını ve hangi işlemcinin veya iş parçacığının hangi alt problemleri veya veri parçalarını işleyeceğini belirtir. </a:t>
            </a:r>
          </a:p>
          <a:p>
            <a:pPr marL="457200" indent="-457200" algn="just">
              <a:buFont typeface="Arial" panose="020B0604020202020204" pitchFamily="34" charset="0"/>
              <a:buChar char="•"/>
            </a:pPr>
            <a:endParaRPr lang="tr-TR" sz="1600" dirty="0">
              <a:latin typeface="Consolas" panose="020B0609020204030204" pitchFamily="49" charset="0"/>
            </a:endParaRPr>
          </a:p>
          <a:p>
            <a:pPr marL="457200" indent="-457200" algn="just">
              <a:buFont typeface="Arial" panose="020B0604020202020204" pitchFamily="34" charset="0"/>
              <a:buChar char="•"/>
            </a:pPr>
            <a:r>
              <a:rPr lang="tr-TR" sz="1600" dirty="0">
                <a:latin typeface="Consolas" panose="020B0609020204030204" pitchFamily="49" charset="0"/>
              </a:rPr>
              <a:t>Bu, bir paralel hesaplamanın nasıl dağıtılacağı ve yürütüleceğiyle ilgili stratejileri ifade eder.</a:t>
            </a:r>
          </a:p>
          <a:p>
            <a:pPr marL="457200" indent="-457200" algn="just">
              <a:buFont typeface="Arial" panose="020B0604020202020204" pitchFamily="34" charset="0"/>
              <a:buChar char="•"/>
            </a:pPr>
            <a:endParaRPr lang="tr-TR" sz="1600" dirty="0">
              <a:latin typeface="Consolas" panose="020B0609020204030204" pitchFamily="49" charset="0"/>
            </a:endParaRPr>
          </a:p>
          <a:p>
            <a:pPr marL="457200" indent="-457200" algn="just">
              <a:buFont typeface="Arial" panose="020B0604020202020204" pitchFamily="34" charset="0"/>
              <a:buChar char="•"/>
            </a:pPr>
            <a:r>
              <a:rPr lang="tr-TR" sz="1600" dirty="0" err="1">
                <a:latin typeface="Consolas" panose="020B0609020204030204" pitchFamily="49" charset="0"/>
              </a:rPr>
              <a:t>Paralelizimde</a:t>
            </a:r>
            <a:r>
              <a:rPr lang="tr-TR" sz="1600" dirty="0">
                <a:latin typeface="Consolas" panose="020B0609020204030204" pitchFamily="49" charset="0"/>
              </a:rPr>
              <a:t> </a:t>
            </a:r>
            <a:r>
              <a:rPr lang="tr-TR" sz="1600" dirty="0" err="1">
                <a:latin typeface="Consolas" panose="020B0609020204030204" pitchFamily="49" charset="0"/>
              </a:rPr>
              <a:t>mapping</a:t>
            </a:r>
            <a:r>
              <a:rPr lang="tr-TR" sz="1600" dirty="0">
                <a:latin typeface="Consolas" panose="020B0609020204030204" pitchFamily="49" charset="0"/>
              </a:rPr>
              <a:t> yapılırken dikkate alınması gereken bazı önemli faktörler şunlardır:</a:t>
            </a:r>
          </a:p>
          <a:p>
            <a:pPr marL="457200" indent="-457200" algn="just">
              <a:buFont typeface="Arial" panose="020B0604020202020204" pitchFamily="34" charset="0"/>
              <a:buChar char="•"/>
            </a:pPr>
            <a:endParaRPr lang="tr-TR" sz="1600" dirty="0">
              <a:latin typeface="Consolas" panose="020B0609020204030204" pitchFamily="49" charset="0"/>
            </a:endParaRPr>
          </a:p>
          <a:p>
            <a:pPr marL="914400" lvl="1" indent="-457200" algn="just">
              <a:buFont typeface="Arial" panose="020B0604020202020204" pitchFamily="34" charset="0"/>
              <a:buChar char="•"/>
            </a:pPr>
            <a:r>
              <a:rPr lang="tr-TR" sz="1400" dirty="0">
                <a:latin typeface="Consolas" panose="020B0609020204030204" pitchFamily="49" charset="0"/>
              </a:rPr>
              <a:t>Problem ve Veri Yapısı: İşlemci veya iş parçacıklarına nasıl dağıtılacağı, problem ve veri yapısına bağlıdır. Problem, bağımsız alt problemlere veya veri parçalarına bölünebilir mi, yoksa daha karmaşık bir yapıya mı sahiptir?</a:t>
            </a:r>
          </a:p>
          <a:p>
            <a:pPr marL="914400" lvl="1" indent="-457200" algn="just">
              <a:buFont typeface="Arial" panose="020B0604020202020204" pitchFamily="34" charset="0"/>
              <a:buChar char="•"/>
            </a:pPr>
            <a:r>
              <a:rPr lang="tr-TR" sz="1400" dirty="0">
                <a:latin typeface="Consolas" panose="020B0609020204030204" pitchFamily="49" charset="0"/>
              </a:rPr>
              <a:t>İşlemci Topolojisi: Kullanılan işlemcilerin veya iş parçacıklarının topolojisi, </a:t>
            </a:r>
            <a:r>
              <a:rPr lang="tr-TR" sz="1400" dirty="0" err="1">
                <a:latin typeface="Consolas" panose="020B0609020204030204" pitchFamily="49" charset="0"/>
              </a:rPr>
              <a:t>mapping</a:t>
            </a:r>
            <a:r>
              <a:rPr lang="tr-TR" sz="1400" dirty="0">
                <a:latin typeface="Consolas" panose="020B0609020204030204" pitchFamily="49" charset="0"/>
              </a:rPr>
              <a:t> stratejisinin belirlenmesinde önemlidir. İşlemciler arasındaki iletişim maliyeti ve bağlantı tipi, veri dağıtımını ve işlemciler arası iletişimi etkiler.</a:t>
            </a:r>
          </a:p>
          <a:p>
            <a:pPr marL="914400" lvl="1" indent="-457200" algn="just">
              <a:buFont typeface="Arial" panose="020B0604020202020204" pitchFamily="34" charset="0"/>
              <a:buChar char="•"/>
            </a:pPr>
            <a:r>
              <a:rPr lang="tr-TR" sz="1400" dirty="0">
                <a:latin typeface="Consolas" panose="020B0609020204030204" pitchFamily="49" charset="0"/>
              </a:rPr>
              <a:t>Yük Dengesi: İşlemciler veya iş parçacıkları arasında yük dengesini sağlamak önemlidir. Her bir işlemcinin veya iş parçacığının eşit miktarda iş yükü alması, paralel hesaplamanın etkinliğini artırır.</a:t>
            </a:r>
          </a:p>
          <a:p>
            <a:pPr marL="914400" lvl="1" indent="-457200" algn="just">
              <a:buFont typeface="Arial" panose="020B0604020202020204" pitchFamily="34" charset="0"/>
              <a:buChar char="•"/>
            </a:pPr>
            <a:r>
              <a:rPr lang="tr-TR" sz="1400" dirty="0">
                <a:latin typeface="Consolas" panose="020B0609020204030204" pitchFamily="49" charset="0"/>
              </a:rPr>
              <a:t>İletişim Maliyeti: İşlemciler veya iş parçacıkları arasındaki iletişim maliyetini minimize etmek önemlidir. Veri transferi ve iletişim işlemleri, paralel hesaplama performansını etkileyebilir.</a:t>
            </a:r>
          </a:p>
          <a:p>
            <a:pPr marL="914400" lvl="1" indent="-457200" algn="just">
              <a:buFont typeface="Arial" panose="020B0604020202020204" pitchFamily="34" charset="0"/>
              <a:buChar char="•"/>
            </a:pPr>
            <a:r>
              <a:rPr lang="tr-TR" sz="1400" dirty="0" err="1">
                <a:latin typeface="Consolas" panose="020B0609020204030204" pitchFamily="49" charset="0"/>
              </a:rPr>
              <a:t>Cache</a:t>
            </a:r>
            <a:r>
              <a:rPr lang="tr-TR" sz="1400" dirty="0">
                <a:latin typeface="Consolas" panose="020B0609020204030204" pitchFamily="49" charset="0"/>
              </a:rPr>
              <a:t> ve Bellek Erişimi: İşlemciler veya iş parçacıklarının bellek erişimini optimize etmek önemlidir. </a:t>
            </a:r>
            <a:r>
              <a:rPr lang="tr-TR" sz="1400" dirty="0" err="1">
                <a:latin typeface="Consolas" panose="020B0609020204030204" pitchFamily="49" charset="0"/>
              </a:rPr>
              <a:t>Cache</a:t>
            </a:r>
            <a:r>
              <a:rPr lang="tr-TR" sz="1400" dirty="0">
                <a:latin typeface="Consolas" panose="020B0609020204030204" pitchFamily="49" charset="0"/>
              </a:rPr>
              <a:t> tutma ve veri yerelleştirme stratejileri, bellek erişimi performansını artırabilir.</a:t>
            </a:r>
          </a:p>
          <a:p>
            <a:pPr lvl="1" algn="just"/>
            <a:endParaRPr lang="tr-TR" sz="1400" dirty="0">
              <a:latin typeface="Consolas" panose="020B0609020204030204" pitchFamily="49" charset="0"/>
            </a:endParaRPr>
          </a:p>
          <a:p>
            <a:pPr lvl="1" algn="just"/>
            <a:r>
              <a:rPr lang="tr-TR" sz="1400" dirty="0" err="1">
                <a:solidFill>
                  <a:srgbClr val="0070C0"/>
                </a:solidFill>
                <a:latin typeface="Consolas" panose="020B0609020204030204" pitchFamily="49" charset="0"/>
              </a:rPr>
              <a:t>Mapping</a:t>
            </a:r>
            <a:r>
              <a:rPr lang="tr-TR" sz="1400" dirty="0">
                <a:solidFill>
                  <a:srgbClr val="0070C0"/>
                </a:solidFill>
                <a:latin typeface="Consolas" panose="020B0609020204030204" pitchFamily="49" charset="0"/>
              </a:rPr>
              <a:t>, paralel hesaplama performansını ve verimliliğini etkileyen önemli bir adımdır. Doğru bir </a:t>
            </a:r>
            <a:r>
              <a:rPr lang="tr-TR" sz="1400" dirty="0" err="1">
                <a:solidFill>
                  <a:srgbClr val="0070C0"/>
                </a:solidFill>
                <a:latin typeface="Consolas" panose="020B0609020204030204" pitchFamily="49" charset="0"/>
              </a:rPr>
              <a:t>mapping</a:t>
            </a:r>
            <a:r>
              <a:rPr lang="tr-TR" sz="1400" dirty="0">
                <a:solidFill>
                  <a:srgbClr val="0070C0"/>
                </a:solidFill>
                <a:latin typeface="Consolas" panose="020B0609020204030204" pitchFamily="49" charset="0"/>
              </a:rPr>
              <a:t> stratejisi seçmek, paralel hesaplamanın etkin bir şekilde dağıtılmasını ve yürütülmesini sağlar.</a:t>
            </a:r>
          </a:p>
        </p:txBody>
      </p:sp>
    </p:spTree>
    <p:extLst>
      <p:ext uri="{BB962C8B-B14F-4D97-AF65-F5344CB8AC3E}">
        <p14:creationId xmlns:p14="http://schemas.microsoft.com/office/powerpoint/2010/main" val="264590073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78939E-F339-D011-7B85-1D9A3D8BA3C1}"/>
            </a:ext>
          </a:extLst>
        </p:cNvPr>
        <p:cNvGrpSpPr/>
        <p:nvPr/>
      </p:nvGrpSpPr>
      <p:grpSpPr>
        <a:xfrm>
          <a:off x="0" y="0"/>
          <a:ext cx="0" cy="0"/>
          <a:chOff x="0" y="0"/>
          <a:chExt cx="0" cy="0"/>
        </a:xfrm>
      </p:grpSpPr>
      <p:pic>
        <p:nvPicPr>
          <p:cNvPr id="4" name="Picture 2" descr="Parallel computing for high-performance simulations">
            <a:extLst>
              <a:ext uri="{FF2B5EF4-FFF2-40B4-BE49-F238E27FC236}">
                <a16:creationId xmlns:a16="http://schemas.microsoft.com/office/drawing/2014/main" id="{79B52703-5F33-2DC3-D0FF-40262EE8AD43}"/>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51802" b="-1"/>
          <a:stretch/>
        </p:blipFill>
        <p:spPr bwMode="auto">
          <a:xfrm rot="5400000">
            <a:off x="-2989346" y="2971346"/>
            <a:ext cx="6876000" cy="914399"/>
          </a:xfrm>
          <a:prstGeom prst="rect">
            <a:avLst/>
          </a:prstGeom>
          <a:noFill/>
          <a:extLst>
            <a:ext uri="{909E8E84-426E-40DD-AFC4-6F175D3DCCD1}">
              <a14:hiddenFill xmlns:a14="http://schemas.microsoft.com/office/drawing/2010/main">
                <a:solidFill>
                  <a:srgbClr val="FFFFFF"/>
                </a:solidFill>
              </a14:hiddenFill>
            </a:ext>
          </a:extLst>
        </p:spPr>
      </p:pic>
      <p:sp>
        <p:nvSpPr>
          <p:cNvPr id="6" name="Metin kutusu 5">
            <a:extLst>
              <a:ext uri="{FF2B5EF4-FFF2-40B4-BE49-F238E27FC236}">
                <a16:creationId xmlns:a16="http://schemas.microsoft.com/office/drawing/2014/main" id="{2197574D-94FF-9637-7BF5-A1B5C29386E5}"/>
              </a:ext>
            </a:extLst>
          </p:cNvPr>
          <p:cNvSpPr txBox="1"/>
          <p:nvPr/>
        </p:nvSpPr>
        <p:spPr>
          <a:xfrm>
            <a:off x="1164349" y="184777"/>
            <a:ext cx="10688668" cy="553998"/>
          </a:xfrm>
          <a:prstGeom prst="rect">
            <a:avLst/>
          </a:prstGeom>
          <a:noFill/>
        </p:spPr>
        <p:txBody>
          <a:bodyPr wrap="square" rtlCol="0">
            <a:spAutoFit/>
          </a:bodyPr>
          <a:lstStyle/>
          <a:p>
            <a:r>
              <a:rPr lang="tr-TR" sz="3000" b="1" dirty="0">
                <a:latin typeface="Consolas" panose="020B0609020204030204" pitchFamily="49" charset="0"/>
              </a:rPr>
              <a:t>Kaynaklar</a:t>
            </a:r>
          </a:p>
        </p:txBody>
      </p:sp>
      <p:sp>
        <p:nvSpPr>
          <p:cNvPr id="7" name="Metin kutusu 6">
            <a:extLst>
              <a:ext uri="{FF2B5EF4-FFF2-40B4-BE49-F238E27FC236}">
                <a16:creationId xmlns:a16="http://schemas.microsoft.com/office/drawing/2014/main" id="{8F93D063-FF23-2E20-15B1-308D8304F671}"/>
              </a:ext>
            </a:extLst>
          </p:cNvPr>
          <p:cNvSpPr txBox="1"/>
          <p:nvPr/>
        </p:nvSpPr>
        <p:spPr>
          <a:xfrm>
            <a:off x="1164349" y="883739"/>
            <a:ext cx="10688668" cy="3693319"/>
          </a:xfrm>
          <a:prstGeom prst="rect">
            <a:avLst/>
          </a:prstGeom>
          <a:noFill/>
        </p:spPr>
        <p:txBody>
          <a:bodyPr wrap="square">
            <a:spAutoFit/>
          </a:bodyPr>
          <a:lstStyle/>
          <a:p>
            <a:pPr marL="0" indent="0">
              <a:buNone/>
            </a:pPr>
            <a:r>
              <a:rPr lang="tr-TR" i="1" dirty="0">
                <a:solidFill>
                  <a:schemeClr val="tx1">
                    <a:lumMod val="95000"/>
                    <a:lumOff val="5000"/>
                  </a:schemeClr>
                </a:solidFill>
                <a:latin typeface="Consolas" panose="020B0609020204030204" pitchFamily="49" charset="0"/>
              </a:rPr>
              <a:t>An </a:t>
            </a:r>
            <a:r>
              <a:rPr lang="tr-TR" i="1" dirty="0" err="1">
                <a:solidFill>
                  <a:schemeClr val="tx1">
                    <a:lumMod val="95000"/>
                    <a:lumOff val="5000"/>
                  </a:schemeClr>
                </a:solidFill>
                <a:latin typeface="Consolas" panose="020B0609020204030204" pitchFamily="49" charset="0"/>
              </a:rPr>
              <a:t>Introduction</a:t>
            </a:r>
            <a:r>
              <a:rPr lang="tr-TR" i="1" dirty="0">
                <a:solidFill>
                  <a:schemeClr val="tx1">
                    <a:lumMod val="95000"/>
                    <a:lumOff val="5000"/>
                  </a:schemeClr>
                </a:solidFill>
                <a:latin typeface="Consolas" panose="020B0609020204030204" pitchFamily="49" charset="0"/>
              </a:rPr>
              <a:t> </a:t>
            </a:r>
            <a:r>
              <a:rPr lang="tr-TR" i="1" dirty="0" err="1">
                <a:solidFill>
                  <a:schemeClr val="tx1">
                    <a:lumMod val="95000"/>
                    <a:lumOff val="5000"/>
                  </a:schemeClr>
                </a:solidFill>
                <a:latin typeface="Consolas" panose="020B0609020204030204" pitchFamily="49" charset="0"/>
              </a:rPr>
              <a:t>to</a:t>
            </a:r>
            <a:r>
              <a:rPr lang="tr-TR" i="1" dirty="0">
                <a:solidFill>
                  <a:schemeClr val="tx1">
                    <a:lumMod val="95000"/>
                    <a:lumOff val="5000"/>
                  </a:schemeClr>
                </a:solidFill>
                <a:latin typeface="Consolas" panose="020B0609020204030204" pitchFamily="49" charset="0"/>
              </a:rPr>
              <a:t> </a:t>
            </a:r>
            <a:r>
              <a:rPr lang="tr-TR" i="1" dirty="0" err="1">
                <a:solidFill>
                  <a:schemeClr val="tx1">
                    <a:lumMod val="95000"/>
                    <a:lumOff val="5000"/>
                  </a:schemeClr>
                </a:solidFill>
                <a:latin typeface="Consolas" panose="020B0609020204030204" pitchFamily="49" charset="0"/>
              </a:rPr>
              <a:t>Parallel</a:t>
            </a:r>
            <a:r>
              <a:rPr lang="tr-TR" i="1" dirty="0">
                <a:solidFill>
                  <a:schemeClr val="tx1">
                    <a:lumMod val="95000"/>
                    <a:lumOff val="5000"/>
                  </a:schemeClr>
                </a:solidFill>
                <a:latin typeface="Consolas" panose="020B0609020204030204" pitchFamily="49" charset="0"/>
              </a:rPr>
              <a:t> Programming, Peter </a:t>
            </a:r>
            <a:r>
              <a:rPr lang="tr-TR" i="1" dirty="0" err="1">
                <a:solidFill>
                  <a:schemeClr val="tx1">
                    <a:lumMod val="95000"/>
                    <a:lumOff val="5000"/>
                  </a:schemeClr>
                </a:solidFill>
                <a:latin typeface="Consolas" panose="020B0609020204030204" pitchFamily="49" charset="0"/>
              </a:rPr>
              <a:t>Pacheco</a:t>
            </a:r>
            <a:endParaRPr lang="tr-TR" i="1" dirty="0">
              <a:solidFill>
                <a:schemeClr val="tx1">
                  <a:lumMod val="95000"/>
                  <a:lumOff val="5000"/>
                </a:schemeClr>
              </a:solidFill>
              <a:latin typeface="Consolas" panose="020B0609020204030204" pitchFamily="49" charset="0"/>
            </a:endParaRPr>
          </a:p>
          <a:p>
            <a:pPr algn="l"/>
            <a:endParaRPr lang="tr-TR" b="0" i="1" dirty="0">
              <a:solidFill>
                <a:schemeClr val="tx1">
                  <a:lumMod val="95000"/>
                  <a:lumOff val="5000"/>
                </a:schemeClr>
              </a:solidFill>
              <a:effectLst/>
              <a:latin typeface="Consolas" panose="020B0609020204030204" pitchFamily="49" charset="0"/>
            </a:endParaRPr>
          </a:p>
          <a:p>
            <a:pPr algn="l"/>
            <a:endParaRPr lang="tr-TR" i="1" dirty="0">
              <a:solidFill>
                <a:schemeClr val="tx1">
                  <a:lumMod val="95000"/>
                  <a:lumOff val="5000"/>
                </a:schemeClr>
              </a:solidFill>
              <a:latin typeface="Consolas" panose="020B0609020204030204" pitchFamily="49" charset="0"/>
            </a:endParaRPr>
          </a:p>
          <a:p>
            <a:pPr algn="l"/>
            <a:endParaRPr lang="tr-TR" b="0" i="1" dirty="0">
              <a:solidFill>
                <a:schemeClr val="tx1">
                  <a:lumMod val="95000"/>
                  <a:lumOff val="5000"/>
                </a:schemeClr>
              </a:solidFill>
              <a:effectLst/>
              <a:latin typeface="Consolas" panose="020B0609020204030204" pitchFamily="49" charset="0"/>
            </a:endParaRPr>
          </a:p>
          <a:p>
            <a:pPr algn="l"/>
            <a:endParaRPr lang="tr-TR" i="1" dirty="0">
              <a:solidFill>
                <a:schemeClr val="tx1">
                  <a:lumMod val="95000"/>
                  <a:lumOff val="5000"/>
                </a:schemeClr>
              </a:solidFill>
              <a:latin typeface="Consolas" panose="020B0609020204030204" pitchFamily="49" charset="0"/>
            </a:endParaRPr>
          </a:p>
          <a:p>
            <a:pPr algn="l"/>
            <a:endParaRPr lang="tr-TR" b="0" i="1" dirty="0">
              <a:solidFill>
                <a:schemeClr val="tx1">
                  <a:lumMod val="95000"/>
                  <a:lumOff val="5000"/>
                </a:schemeClr>
              </a:solidFill>
              <a:effectLst/>
              <a:latin typeface="Consolas" panose="020B0609020204030204" pitchFamily="49" charset="0"/>
            </a:endParaRPr>
          </a:p>
          <a:p>
            <a:pPr algn="l"/>
            <a:endParaRPr lang="tr-TR" i="1" dirty="0">
              <a:solidFill>
                <a:schemeClr val="tx1">
                  <a:lumMod val="95000"/>
                  <a:lumOff val="5000"/>
                </a:schemeClr>
              </a:solidFill>
              <a:latin typeface="Consolas" panose="020B0609020204030204" pitchFamily="49" charset="0"/>
            </a:endParaRPr>
          </a:p>
          <a:p>
            <a:pPr algn="l"/>
            <a:endParaRPr lang="tr-TR" b="0" i="1" dirty="0">
              <a:solidFill>
                <a:schemeClr val="tx1">
                  <a:lumMod val="95000"/>
                  <a:lumOff val="5000"/>
                </a:schemeClr>
              </a:solidFill>
              <a:effectLst/>
              <a:latin typeface="Consolas" panose="020B0609020204030204" pitchFamily="49" charset="0"/>
            </a:endParaRPr>
          </a:p>
          <a:p>
            <a:pPr algn="l"/>
            <a:endParaRPr lang="tr-TR" i="1" dirty="0">
              <a:solidFill>
                <a:schemeClr val="tx1">
                  <a:lumMod val="95000"/>
                  <a:lumOff val="5000"/>
                </a:schemeClr>
              </a:solidFill>
              <a:latin typeface="Consolas" panose="020B0609020204030204" pitchFamily="49" charset="0"/>
            </a:endParaRPr>
          </a:p>
          <a:p>
            <a:pPr algn="l"/>
            <a:endParaRPr lang="tr-TR" b="0" i="1" dirty="0">
              <a:solidFill>
                <a:schemeClr val="tx1">
                  <a:lumMod val="95000"/>
                  <a:lumOff val="5000"/>
                </a:schemeClr>
              </a:solidFill>
              <a:effectLst/>
              <a:latin typeface="Consolas" panose="020B0609020204030204" pitchFamily="49" charset="0"/>
            </a:endParaRPr>
          </a:p>
          <a:p>
            <a:pPr algn="l"/>
            <a:r>
              <a:rPr lang="tr-TR" b="0" i="1" dirty="0">
                <a:solidFill>
                  <a:schemeClr val="tx1">
                    <a:lumMod val="95000"/>
                    <a:lumOff val="5000"/>
                  </a:schemeClr>
                </a:solidFill>
                <a:effectLst/>
                <a:latin typeface="Consolas" panose="020B0609020204030204" pitchFamily="49" charset="0"/>
              </a:rPr>
              <a:t>Paralel Programlama, </a:t>
            </a:r>
            <a:r>
              <a:rPr lang="tr-TR" b="0" i="1" dirty="0" err="1">
                <a:solidFill>
                  <a:schemeClr val="tx1">
                    <a:lumMod val="95000"/>
                    <a:lumOff val="5000"/>
                  </a:schemeClr>
                </a:solidFill>
                <a:effectLst/>
                <a:latin typeface="Consolas" panose="020B0609020204030204" pitchFamily="49" charset="0"/>
              </a:rPr>
              <a:t>Basher</a:t>
            </a:r>
            <a:r>
              <a:rPr lang="tr-TR" b="0" i="1" dirty="0">
                <a:solidFill>
                  <a:schemeClr val="tx1">
                    <a:lumMod val="95000"/>
                    <a:lumOff val="5000"/>
                  </a:schemeClr>
                </a:solidFill>
                <a:effectLst/>
                <a:latin typeface="Consolas" panose="020B0609020204030204" pitchFamily="49" charset="0"/>
              </a:rPr>
              <a:t> </a:t>
            </a:r>
            <a:r>
              <a:rPr lang="tr-TR" b="0" i="1" dirty="0" err="1">
                <a:solidFill>
                  <a:schemeClr val="tx1">
                    <a:lumMod val="95000"/>
                    <a:lumOff val="5000"/>
                  </a:schemeClr>
                </a:solidFill>
                <a:effectLst/>
                <a:latin typeface="Consolas" panose="020B0609020204030204" pitchFamily="49" charset="0"/>
              </a:rPr>
              <a:t>Alhaj</a:t>
            </a:r>
            <a:r>
              <a:rPr lang="tr-TR" b="0" i="1" dirty="0">
                <a:solidFill>
                  <a:schemeClr val="tx1">
                    <a:lumMod val="95000"/>
                    <a:lumOff val="5000"/>
                  </a:schemeClr>
                </a:solidFill>
                <a:effectLst/>
                <a:latin typeface="Consolas" panose="020B0609020204030204" pitchFamily="49" charset="0"/>
              </a:rPr>
              <a:t> </a:t>
            </a:r>
            <a:r>
              <a:rPr lang="tr-TR" b="0" i="1" dirty="0" err="1">
                <a:solidFill>
                  <a:schemeClr val="tx1">
                    <a:lumMod val="95000"/>
                    <a:lumOff val="5000"/>
                  </a:schemeClr>
                </a:solidFill>
                <a:effectLst/>
                <a:latin typeface="Consolas" panose="020B0609020204030204" pitchFamily="49" charset="0"/>
              </a:rPr>
              <a:t>Ahmad</a:t>
            </a:r>
            <a:endParaRPr lang="tr-TR" b="0" i="1" dirty="0">
              <a:solidFill>
                <a:schemeClr val="tx1">
                  <a:lumMod val="95000"/>
                  <a:lumOff val="5000"/>
                </a:schemeClr>
              </a:solidFill>
              <a:effectLst/>
              <a:latin typeface="Consolas" panose="020B0609020204030204" pitchFamily="49" charset="0"/>
            </a:endParaRPr>
          </a:p>
          <a:p>
            <a:pPr marL="0" indent="0">
              <a:buNone/>
            </a:pPr>
            <a:endParaRPr lang="tr-TR" i="1" dirty="0">
              <a:solidFill>
                <a:schemeClr val="tx1">
                  <a:lumMod val="95000"/>
                  <a:lumOff val="5000"/>
                </a:schemeClr>
              </a:solidFill>
              <a:latin typeface="Consolas" panose="020B0609020204030204" pitchFamily="49" charset="0"/>
            </a:endParaRPr>
          </a:p>
          <a:p>
            <a:pPr marL="0" indent="0">
              <a:buNone/>
            </a:pPr>
            <a:endParaRPr lang="tr-TR" i="1" dirty="0">
              <a:solidFill>
                <a:schemeClr val="tx1">
                  <a:lumMod val="95000"/>
                  <a:lumOff val="5000"/>
                </a:schemeClr>
              </a:solidFill>
              <a:latin typeface="Consolas" panose="020B0609020204030204" pitchFamily="49" charset="0"/>
            </a:endParaRPr>
          </a:p>
        </p:txBody>
      </p:sp>
      <p:pic>
        <p:nvPicPr>
          <p:cNvPr id="2050" name="Picture 2" descr="An Introduction to Parallel Programming : Pacheco, Peter: Amazon.com.tr:  Kitap">
            <a:extLst>
              <a:ext uri="{FF2B5EF4-FFF2-40B4-BE49-F238E27FC236}">
                <a16:creationId xmlns:a16="http://schemas.microsoft.com/office/drawing/2014/main" id="{3BBEAF06-E47E-A286-796C-B47F5415F6D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49045" y="1442265"/>
            <a:ext cx="1457917" cy="1800000"/>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Paralel Programlama (Basher Alhaj Ahmad) Fiyatı, Yorumları, Satın Al -  Kitapyurdu.com">
            <a:extLst>
              <a:ext uri="{FF2B5EF4-FFF2-40B4-BE49-F238E27FC236}">
                <a16:creationId xmlns:a16="http://schemas.microsoft.com/office/drawing/2014/main" id="{53A24B0C-F05E-F851-F5A6-CF9217580FD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66962" y="4217735"/>
            <a:ext cx="1440000" cy="205344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39787917"/>
      </p:ext>
    </p:extLst>
  </p:cSld>
  <p:clrMapOvr>
    <a:masterClrMapping/>
  </p:clrMapOvr>
</p:sld>
</file>

<file path=ppt/theme/theme1.xml><?xml version="1.0" encoding="utf-8"?>
<a:theme xmlns:a="http://schemas.openxmlformats.org/drawingml/2006/main" name="Office Teması">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D481CB4D0A077842BDED2766925F818C" ma:contentTypeVersion="4" ma:contentTypeDescription="Create a new document." ma:contentTypeScope="" ma:versionID="7ca4d40561e50098215b272a582dbe93">
  <xsd:schema xmlns:xsd="http://www.w3.org/2001/XMLSchema" xmlns:xs="http://www.w3.org/2001/XMLSchema" xmlns:p="http://schemas.microsoft.com/office/2006/metadata/properties" xmlns:ns3="5bc41a94-bbf5-40ca-b5ce-8a510d22409b" targetNamespace="http://schemas.microsoft.com/office/2006/metadata/properties" ma:root="true" ma:fieldsID="5674e0e6df6ae38d59263ca524813a9f" ns3:_="">
    <xsd:import namespace="5bc41a94-bbf5-40ca-b5ce-8a510d22409b"/>
    <xsd:element name="properties">
      <xsd:complexType>
        <xsd:sequence>
          <xsd:element name="documentManagement">
            <xsd:complexType>
              <xsd:all>
                <xsd:element ref="ns3:MediaServiceMetadata" minOccurs="0"/>
                <xsd:element ref="ns3:MediaServiceFastMetadata" minOccurs="0"/>
                <xsd:element ref="ns3:MediaServiceAutoKeyPoints" minOccurs="0"/>
                <xsd:element ref="ns3:MediaServiceKeyPoint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5bc41a94-bbf5-40ca-b5ce-8a510d22409b"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46203C7A-D26A-4DAA-A04B-F28D85DA9E46}">
  <ds:schemaRefs>
    <ds:schemaRef ds:uri="http://purl.org/dc/dcmitype/"/>
    <ds:schemaRef ds:uri="http://schemas.microsoft.com/office/2006/documentManagement/types"/>
    <ds:schemaRef ds:uri="http://purl.org/dc/terms/"/>
    <ds:schemaRef ds:uri="http://purl.org/dc/elements/1.1/"/>
    <ds:schemaRef ds:uri="http://www.w3.org/XML/1998/namespace"/>
    <ds:schemaRef ds:uri="5bc41a94-bbf5-40ca-b5ce-8a510d22409b"/>
    <ds:schemaRef ds:uri="http://schemas.microsoft.com/office/infopath/2007/PartnerControls"/>
    <ds:schemaRef ds:uri="http://schemas.openxmlformats.org/package/2006/metadata/core-properties"/>
    <ds:schemaRef ds:uri="http://schemas.microsoft.com/office/2006/metadata/properties"/>
  </ds:schemaRefs>
</ds:datastoreItem>
</file>

<file path=customXml/itemProps2.xml><?xml version="1.0" encoding="utf-8"?>
<ds:datastoreItem xmlns:ds="http://schemas.openxmlformats.org/officeDocument/2006/customXml" ds:itemID="{E304DF61-7D71-4B90-8ACC-B33C63B02442}">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5bc41a94-bbf5-40ca-b5ce-8a510d22409b"/>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8C365A7B-4A65-4DFE-8B06-484DB27340DF}">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4422</TotalTime>
  <Words>2857</Words>
  <Application>Microsoft Office PowerPoint</Application>
  <PresentationFormat>Geniş ekran</PresentationFormat>
  <Paragraphs>336</Paragraphs>
  <Slides>39</Slides>
  <Notes>0</Notes>
  <HiddenSlides>0</HiddenSlides>
  <MMClips>0</MMClips>
  <ScaleCrop>false</ScaleCrop>
  <HeadingPairs>
    <vt:vector size="6" baseType="variant">
      <vt:variant>
        <vt:lpstr>Kullanılan Yazı Tipleri</vt:lpstr>
      </vt:variant>
      <vt:variant>
        <vt:i4>8</vt:i4>
      </vt:variant>
      <vt:variant>
        <vt:lpstr>Tema</vt:lpstr>
      </vt:variant>
      <vt:variant>
        <vt:i4>1</vt:i4>
      </vt:variant>
      <vt:variant>
        <vt:lpstr>Slayt Başlıkları</vt:lpstr>
      </vt:variant>
      <vt:variant>
        <vt:i4>39</vt:i4>
      </vt:variant>
    </vt:vector>
  </HeadingPairs>
  <TitlesOfParts>
    <vt:vector size="48" baseType="lpstr">
      <vt:lpstr>Aptos</vt:lpstr>
      <vt:lpstr>Aptos Display</vt:lpstr>
      <vt:lpstr>Arial</vt:lpstr>
      <vt:lpstr>Consolas</vt:lpstr>
      <vt:lpstr>KaTeX_Main</vt:lpstr>
      <vt:lpstr>Söhne</vt:lpstr>
      <vt:lpstr>Söhne Mono</vt:lpstr>
      <vt:lpstr>Wingdings</vt:lpstr>
      <vt:lpstr>Office Teması</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Sunusu</dc:title>
  <dc:creator>FUNDA KUTLU ONAY</dc:creator>
  <cp:lastModifiedBy>FUNDA KUTLU ONAY</cp:lastModifiedBy>
  <cp:revision>10</cp:revision>
  <dcterms:created xsi:type="dcterms:W3CDTF">2024-02-17T09:49:24Z</dcterms:created>
  <dcterms:modified xsi:type="dcterms:W3CDTF">2024-03-11T08:09:23Z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0x010100D481CB4D0A077842BDED2766925F818C</vt:lpwstr>
  </property>
</Properties>
</file>