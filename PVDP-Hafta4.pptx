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Lst>
  <p:sldSz cy="6858000" cx="12192000"/>
  <p:notesSz cx="6858000" cy="9144000"/>
  <p:embeddedFontLst>
    <p:embeddedFont>
      <p:font typeface="Play"/>
      <p:regular r:id="rId55"/>
      <p:bold r:id="rId56"/>
    </p:embeddedFont>
    <p:embeddedFont>
      <p:font typeface="Comfortaa"/>
      <p:regular r:id="rId57"/>
      <p:bold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9" roundtripDataSignature="AMtx7mhaW+syufnIGoIl41B26q3astArd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0B359DD-8B4D-4153-A7F3-C1FC773B2797}">
  <a:tblStyle styleId="{C0B359DD-8B4D-4153-A7F3-C1FC773B2797}" styleName="Table_0">
    <a:wholeTbl>
      <a:tcTxStyle b="off" i="off">
        <a:font>
          <a:latin typeface="Aptos"/>
          <a:ea typeface="Aptos"/>
          <a:cs typeface="Aptos"/>
        </a:font>
        <a:schemeClr val="dk1"/>
      </a:tcTxStyle>
      <a:tcStyle>
        <a:tcBdr>
          <a:left>
            <a:ln cap="flat" cmpd="sng" w="12700">
              <a:solidFill>
                <a:schemeClr val="accent1"/>
              </a:solidFill>
              <a:prstDash val="solid"/>
              <a:round/>
              <a:headEnd len="sm" w="sm" type="none"/>
              <a:tailEnd len="sm" w="sm" type="none"/>
            </a:ln>
          </a:left>
          <a:right>
            <a:ln cap="flat" cmpd="sng" w="12700">
              <a:solidFill>
                <a:schemeClr val="accent1"/>
              </a:solidFill>
              <a:prstDash val="solid"/>
              <a:round/>
              <a:headEnd len="sm" w="sm" type="none"/>
              <a:tailEnd len="sm" w="sm" type="none"/>
            </a:ln>
          </a:right>
          <a:top>
            <a:ln cap="flat" cmpd="sng" w="12700">
              <a:solidFill>
                <a:schemeClr val="accent1"/>
              </a:solidFill>
              <a:prstDash val="solid"/>
              <a:round/>
              <a:headEnd len="sm" w="sm" type="none"/>
              <a:tailEnd len="sm" w="sm" type="none"/>
            </a:ln>
          </a:top>
          <a:bottom>
            <a:ln cap="flat" cmpd="sng" w="12700">
              <a:solidFill>
                <a:schemeClr val="accent1"/>
              </a:solidFill>
              <a:prstDash val="solid"/>
              <a:round/>
              <a:headEnd len="sm" w="sm" type="none"/>
              <a:tailEnd len="sm" w="sm" type="none"/>
            </a:ln>
          </a:bottom>
          <a:insideH>
            <a:ln cap="flat" cmpd="sng" w="12700">
              <a:solidFill>
                <a:schemeClr val="accent1"/>
              </a:solidFill>
              <a:prstDash val="solid"/>
              <a:round/>
              <a:headEnd len="sm" w="sm" type="none"/>
              <a:tailEnd len="sm" w="sm" type="none"/>
            </a:ln>
          </a:insideH>
          <a:insideV>
            <a:ln cap="flat" cmpd="sng" w="12700">
              <a:solidFill>
                <a:schemeClr val="accent1"/>
              </a:solidFill>
              <a:prstDash val="solid"/>
              <a:round/>
              <a:headEnd len="sm" w="sm" type="none"/>
              <a:tailEnd len="sm" w="sm" type="none"/>
            </a:ln>
          </a:insideV>
        </a:tcBdr>
        <a:fill>
          <a:solidFill>
            <a:srgbClr val="FFFFFF">
              <a:alpha val="0"/>
            </a:srgbClr>
          </a:solidFill>
        </a:fill>
      </a:tcStyle>
    </a:wholeTbl>
    <a:band1H>
      <a:tcTxStyle/>
      <a:tcStyle>
        <a:fill>
          <a:solidFill>
            <a:schemeClr val="accent1">
              <a:alpha val="20000"/>
            </a:schemeClr>
          </a:solidFill>
        </a:fill>
      </a:tcStyle>
    </a:band1H>
    <a:band2H>
      <a:tcTxStyle/>
    </a:band2H>
    <a:band1V>
      <a:tcTxStyle/>
      <a:tcStyle>
        <a:fill>
          <a:solidFill>
            <a:schemeClr val="accent1">
              <a:alpha val="20000"/>
            </a:schemeClr>
          </a:solidFill>
        </a:fill>
      </a:tcStyle>
    </a:band1V>
    <a:band2V>
      <a:tcTxStyle/>
    </a:band2V>
    <a:lastCol>
      <a:tcTxStyle b="on" i="off"/>
    </a:lastCol>
    <a:firstCol>
      <a:tcTxStyle b="on" i="off"/>
    </a:firstCol>
    <a:lastRow>
      <a:tcTxStyle b="on" i="off"/>
      <a:tcStyle>
        <a:tcBdr>
          <a:top>
            <a:ln cap="flat" cmpd="sng" w="50800">
              <a:solidFill>
                <a:schemeClr val="accent1"/>
              </a:solidFill>
              <a:prstDash val="solid"/>
              <a:round/>
              <a:headEnd len="sm" w="sm" type="none"/>
              <a:tailEnd len="sm" w="sm" type="none"/>
            </a:ln>
          </a:top>
        </a:tcBdr>
        <a:fill>
          <a:solidFill>
            <a:srgbClr val="FFFFFF">
              <a:alpha val="0"/>
            </a:srgbClr>
          </a:solidFill>
        </a:fill>
      </a:tcStyle>
    </a:lastRow>
    <a:seCell>
      <a:tcTxStyle/>
    </a:seCell>
    <a:swCell>
      <a:tcTxStyle/>
    </a:swCell>
    <a:firstRow>
      <a:tcTxStyle b="on" i="off"/>
      <a:tcStyle>
        <a:tcBdr>
          <a:bottom>
            <a:ln cap="flat" cmpd="sng" w="25400">
              <a:solidFill>
                <a:schemeClr val="accent1"/>
              </a:solidFill>
              <a:prstDash val="solid"/>
              <a:round/>
              <a:headEnd len="sm" w="sm" type="none"/>
              <a:tailEnd len="sm" w="sm" type="none"/>
            </a:ln>
          </a:bottom>
        </a:tcBdr>
        <a:fill>
          <a:solidFill>
            <a:srgbClr val="FFFFFF">
              <a:alpha val="0"/>
            </a:srgbClr>
          </a:solidFill>
        </a:fill>
      </a:tcStyle>
    </a:firstRow>
    <a:neCell>
      <a:tcTxStyle/>
    </a:neCell>
    <a:nwCell>
      <a:tcTxStyle/>
    </a:nwCell>
  </a:tblStyle>
  <a:tblStyle styleId="{F16F06B3-EFA5-48B0-B39D-601996B61450}"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font" Target="fonts/Play-regular.fntdata"/><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font" Target="fonts/Comfortaa-regular.fntdata"/><Relationship Id="rId12" Type="http://schemas.openxmlformats.org/officeDocument/2006/relationships/slide" Target="slides/slide7.xml"/><Relationship Id="rId56" Type="http://schemas.openxmlformats.org/officeDocument/2006/relationships/font" Target="fonts/Play-bold.fntdata"/><Relationship Id="rId15" Type="http://schemas.openxmlformats.org/officeDocument/2006/relationships/slide" Target="slides/slide10.xml"/><Relationship Id="rId59" Type="http://customschemas.google.com/relationships/presentationmetadata" Target="metadata"/><Relationship Id="rId14" Type="http://schemas.openxmlformats.org/officeDocument/2006/relationships/slide" Target="slides/slide9.xml"/><Relationship Id="rId58" Type="http://schemas.openxmlformats.org/officeDocument/2006/relationships/font" Target="fonts/Comfortaa-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cc0b476a7a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g3cc0b476a7a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cc0b476a7a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g3cc0b476a7a_0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3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cc0b476a7a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g3cc0b476a7a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3cc0b476a7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cc0b476a7a_0_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cc0b476a7a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3cc0b476a7a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g3cc0b476a7a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g3cc0b476a7a_0_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g3cc0b476a7a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g3cc0b476a7a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p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3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cc0b476a7a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cc0b476a7a_0_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3cc0b476a7a_0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g3cc0b476a7a_0_1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3cc0b476a7a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g3cc0b476a7a_0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şlık Slaydı" type="title">
  <p:cSld name="TITLE">
    <p:spTree>
      <p:nvGrpSpPr>
        <p:cNvPr id="11" name="Shape 11"/>
        <p:cNvGrpSpPr/>
        <p:nvPr/>
      </p:nvGrpSpPr>
      <p:grpSpPr>
        <a:xfrm>
          <a:off x="0" y="0"/>
          <a:ext cx="0" cy="0"/>
          <a:chOff x="0" y="0"/>
          <a:chExt cx="0" cy="0"/>
        </a:xfrm>
      </p:grpSpPr>
      <p:sp>
        <p:nvSpPr>
          <p:cNvPr id="12" name="Google Shape;12;p41"/>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41"/>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4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4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şlık ve İçerik" type="obj">
  <p:cSld name="OBJECT">
    <p:spTree>
      <p:nvGrpSpPr>
        <p:cNvPr id="17" name="Shape 17"/>
        <p:cNvGrpSpPr/>
        <p:nvPr/>
      </p:nvGrpSpPr>
      <p:grpSpPr>
        <a:xfrm>
          <a:off x="0" y="0"/>
          <a:ext cx="0" cy="0"/>
          <a:chOff x="0" y="0"/>
          <a:chExt cx="0" cy="0"/>
        </a:xfrm>
      </p:grpSpPr>
      <p:sp>
        <p:nvSpPr>
          <p:cNvPr id="18" name="Google Shape;18;p4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42"/>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4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4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4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ölüm Üst Bilgisi" type="secHead">
  <p:cSld name="SECTION_HEADER">
    <p:spTree>
      <p:nvGrpSpPr>
        <p:cNvPr id="23" name="Shape 23"/>
        <p:cNvGrpSpPr/>
        <p:nvPr/>
      </p:nvGrpSpPr>
      <p:grpSpPr>
        <a:xfrm>
          <a:off x="0" y="0"/>
          <a:ext cx="0" cy="0"/>
          <a:chOff x="0" y="0"/>
          <a:chExt cx="0" cy="0"/>
        </a:xfrm>
      </p:grpSpPr>
      <p:sp>
        <p:nvSpPr>
          <p:cNvPr id="24" name="Google Shape;24;p43"/>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3"/>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26" name="Google Shape;26;p4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ki İçerik" type="twoObj">
  <p:cSld name="TWO_OBJECTS">
    <p:spTree>
      <p:nvGrpSpPr>
        <p:cNvPr id="29" name="Shape 29"/>
        <p:cNvGrpSpPr/>
        <p:nvPr/>
      </p:nvGrpSpPr>
      <p:grpSpPr>
        <a:xfrm>
          <a:off x="0" y="0"/>
          <a:ext cx="0" cy="0"/>
          <a:chOff x="0" y="0"/>
          <a:chExt cx="0" cy="0"/>
        </a:xfrm>
      </p:grpSpPr>
      <p:sp>
        <p:nvSpPr>
          <p:cNvPr id="30" name="Google Shape;30;p4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44"/>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44"/>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4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Karşılaştırma" type="twoTxTwoObj">
  <p:cSld name="TWO_OBJECTS_WITH_TEXT">
    <p:spTree>
      <p:nvGrpSpPr>
        <p:cNvPr id="36" name="Shape 36"/>
        <p:cNvGrpSpPr/>
        <p:nvPr/>
      </p:nvGrpSpPr>
      <p:grpSpPr>
        <a:xfrm>
          <a:off x="0" y="0"/>
          <a:ext cx="0" cy="0"/>
          <a:chOff x="0" y="0"/>
          <a:chExt cx="0" cy="0"/>
        </a:xfrm>
      </p:grpSpPr>
      <p:sp>
        <p:nvSpPr>
          <p:cNvPr id="37" name="Google Shape;37;p45"/>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45"/>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45"/>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45"/>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45"/>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4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4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4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Yalnızca Başlık" type="titleOnly">
  <p:cSld name="TITLE_ONLY">
    <p:spTree>
      <p:nvGrpSpPr>
        <p:cNvPr id="45" name="Shape 45"/>
        <p:cNvGrpSpPr/>
        <p:nvPr/>
      </p:nvGrpSpPr>
      <p:grpSpPr>
        <a:xfrm>
          <a:off x="0" y="0"/>
          <a:ext cx="0" cy="0"/>
          <a:chOff x="0" y="0"/>
          <a:chExt cx="0" cy="0"/>
        </a:xfrm>
      </p:grpSpPr>
      <p:sp>
        <p:nvSpPr>
          <p:cNvPr id="46" name="Google Shape;46;p4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4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4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4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oş" type="blank">
  <p:cSld name="BLANK">
    <p:spTree>
      <p:nvGrpSpPr>
        <p:cNvPr id="50" name="Shape 50"/>
        <p:cNvGrpSpPr/>
        <p:nvPr/>
      </p:nvGrpSpPr>
      <p:grpSpPr>
        <a:xfrm>
          <a:off x="0" y="0"/>
          <a:ext cx="0" cy="0"/>
          <a:chOff x="0" y="0"/>
          <a:chExt cx="0" cy="0"/>
        </a:xfrm>
      </p:grpSpPr>
      <p:sp>
        <p:nvSpPr>
          <p:cNvPr id="51" name="Google Shape;51;p4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4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4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şlıklı İçerik" type="objTx">
  <p:cSld name="OBJECT_WITH_CAPTION_TEXT">
    <p:spTree>
      <p:nvGrpSpPr>
        <p:cNvPr id="54" name="Shape 54"/>
        <p:cNvGrpSpPr/>
        <p:nvPr/>
      </p:nvGrpSpPr>
      <p:grpSpPr>
        <a:xfrm>
          <a:off x="0" y="0"/>
          <a:ext cx="0" cy="0"/>
          <a:chOff x="0" y="0"/>
          <a:chExt cx="0" cy="0"/>
        </a:xfrm>
      </p:grpSpPr>
      <p:sp>
        <p:nvSpPr>
          <p:cNvPr id="55" name="Google Shape;55;p48"/>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48"/>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48"/>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4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4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4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şlıklı Resim" type="picTx">
  <p:cSld name="PICTURE_WITH_CAPTION_TEXT">
    <p:spTree>
      <p:nvGrpSpPr>
        <p:cNvPr id="61" name="Shape 61"/>
        <p:cNvGrpSpPr/>
        <p:nvPr/>
      </p:nvGrpSpPr>
      <p:grpSpPr>
        <a:xfrm>
          <a:off x="0" y="0"/>
          <a:ext cx="0" cy="0"/>
          <a:chOff x="0" y="0"/>
          <a:chExt cx="0" cy="0"/>
        </a:xfrm>
      </p:grpSpPr>
      <p:sp>
        <p:nvSpPr>
          <p:cNvPr id="62" name="Google Shape;62;p4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49"/>
          <p:cNvSpPr/>
          <p:nvPr>
            <p:ph idx="2" type="pic"/>
          </p:nvPr>
        </p:nvSpPr>
        <p:spPr>
          <a:xfrm>
            <a:off x="5183188" y="987425"/>
            <a:ext cx="6172200" cy="4873625"/>
          </a:xfrm>
          <a:prstGeom prst="rect">
            <a:avLst/>
          </a:prstGeom>
          <a:noFill/>
          <a:ln>
            <a:noFill/>
          </a:ln>
        </p:spPr>
      </p:sp>
      <p:sp>
        <p:nvSpPr>
          <p:cNvPr id="64" name="Google Shape;64;p49"/>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4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4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4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şlık ve Dikey Metin" type="vertTx">
  <p:cSld name="VERTICAL_TEXT">
    <p:spTree>
      <p:nvGrpSpPr>
        <p:cNvPr id="68" name="Shape 68"/>
        <p:cNvGrpSpPr/>
        <p:nvPr/>
      </p:nvGrpSpPr>
      <p:grpSpPr>
        <a:xfrm>
          <a:off x="0" y="0"/>
          <a:ext cx="0" cy="0"/>
          <a:chOff x="0" y="0"/>
          <a:chExt cx="0" cy="0"/>
        </a:xfrm>
      </p:grpSpPr>
      <p:sp>
        <p:nvSpPr>
          <p:cNvPr id="69" name="Google Shape;69;p5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0"/>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5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key Başlık ve Metin" type="vertTitleAndTx">
  <p:cSld name="VERTICAL_TITLE_AND_VERTICAL_TEXT">
    <p:spTree>
      <p:nvGrpSpPr>
        <p:cNvPr id="74" name="Shape 74"/>
        <p:cNvGrpSpPr/>
        <p:nvPr/>
      </p:nvGrpSpPr>
      <p:grpSpPr>
        <a:xfrm>
          <a:off x="0" y="0"/>
          <a:ext cx="0" cy="0"/>
          <a:chOff x="0" y="0"/>
          <a:chExt cx="0" cy="0"/>
        </a:xfrm>
      </p:grpSpPr>
      <p:sp>
        <p:nvSpPr>
          <p:cNvPr id="75" name="Google Shape;75;p51"/>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1"/>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5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tr-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0"/>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4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4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4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tr-T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jp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jpg"/><Relationship Id="rId4" Type="http://schemas.openxmlformats.org/officeDocument/2006/relationships/image" Target="../media/image10.png"/><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jp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jp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jp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jp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jp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jp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jp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jp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jpg"/><Relationship Id="rId4" Type="http://schemas.openxmlformats.org/officeDocument/2006/relationships/image" Target="../media/image8.png"/><Relationship Id="rId5"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jpg"/><Relationship Id="rId4" Type="http://schemas.openxmlformats.org/officeDocument/2006/relationships/image" Target="../media/image13.png"/><Relationship Id="rId5"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jp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jp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jpg"/><Relationship Id="rId4" Type="http://schemas.openxmlformats.org/officeDocument/2006/relationships/image" Target="../media/image27.png"/><Relationship Id="rId5"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2.jpg"/><Relationship Id="rId5"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jp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jpg"/><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jpg"/><Relationship Id="rId4" Type="http://schemas.openxmlformats.org/officeDocument/2006/relationships/image" Target="../media/image25.png"/><Relationship Id="rId5"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jpg"/><Relationship Id="rId4" Type="http://schemas.openxmlformats.org/officeDocument/2006/relationships/image" Target="../media/image28.gi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jpg"/><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jpg"/><Relationship Id="rId4" Type="http://schemas.openxmlformats.org/officeDocument/2006/relationships/image" Target="../media/image22.jpg"/><Relationship Id="rId5" Type="http://schemas.openxmlformats.org/officeDocument/2006/relationships/image" Target="../media/image2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descr="Parallel computing for high-performance simulations" id="84" name="Google Shape;84;p1"/>
          <p:cNvPicPr preferRelativeResize="0"/>
          <p:nvPr/>
        </p:nvPicPr>
        <p:blipFill rotWithShape="1">
          <a:blip r:embed="rId3">
            <a:alphaModFix/>
          </a:blip>
          <a:srcRect b="0" l="0" r="0" t="61472"/>
          <a:stretch/>
        </p:blipFill>
        <p:spPr>
          <a:xfrm flipH="1" rot="10800000">
            <a:off x="-8546" y="5596983"/>
            <a:ext cx="12200546" cy="1296961"/>
          </a:xfrm>
          <a:prstGeom prst="rect">
            <a:avLst/>
          </a:prstGeom>
          <a:noFill/>
          <a:ln>
            <a:noFill/>
          </a:ln>
        </p:spPr>
      </p:pic>
      <p:sp>
        <p:nvSpPr>
          <p:cNvPr id="85" name="Google Shape;85;p1"/>
          <p:cNvSpPr txBox="1"/>
          <p:nvPr/>
        </p:nvSpPr>
        <p:spPr>
          <a:xfrm>
            <a:off x="1877537" y="3019872"/>
            <a:ext cx="8436925"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tr-TR" sz="3000" u="none" cap="none" strike="noStrike">
                <a:solidFill>
                  <a:schemeClr val="dk1"/>
                </a:solidFill>
                <a:latin typeface="Consolas"/>
                <a:ea typeface="Consolas"/>
                <a:cs typeface="Consolas"/>
                <a:sym typeface="Consolas"/>
              </a:rPr>
              <a:t>BIL406 – Paralel ve Dağıtık Programlama</a:t>
            </a:r>
            <a:endParaRPr/>
          </a:p>
        </p:txBody>
      </p:sp>
      <p:sp>
        <p:nvSpPr>
          <p:cNvPr id="86" name="Google Shape;86;p1"/>
          <p:cNvSpPr txBox="1"/>
          <p:nvPr/>
        </p:nvSpPr>
        <p:spPr>
          <a:xfrm>
            <a:off x="1665941" y="1497296"/>
            <a:ext cx="8860118" cy="1015663"/>
          </a:xfrm>
          <a:prstGeom prst="rect">
            <a:avLst/>
          </a:prstGeom>
          <a:noFill/>
          <a:ln cap="flat" cmpd="sng" w="9525">
            <a:solidFill>
              <a:srgbClr val="1B83A7"/>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lang="tr-TR" sz="3000">
                <a:solidFill>
                  <a:srgbClr val="0B203C"/>
                </a:solidFill>
                <a:latin typeface="Consolas"/>
                <a:ea typeface="Consolas"/>
                <a:cs typeface="Consolas"/>
                <a:sym typeface="Consolas"/>
              </a:rPr>
              <a:t>Amasya Üniversitesi Mühendislik Fakültesi</a:t>
            </a:r>
            <a:endParaRPr/>
          </a:p>
          <a:p>
            <a:pPr indent="0" lvl="0" marL="0" marR="0" rtl="0" algn="ctr">
              <a:spcBef>
                <a:spcPts val="0"/>
              </a:spcBef>
              <a:spcAft>
                <a:spcPts val="0"/>
              </a:spcAft>
              <a:buNone/>
            </a:pPr>
            <a:r>
              <a:rPr lang="tr-TR" sz="3000">
                <a:solidFill>
                  <a:srgbClr val="0B203C"/>
                </a:solidFill>
                <a:latin typeface="Consolas"/>
                <a:ea typeface="Consolas"/>
                <a:cs typeface="Consolas"/>
                <a:sym typeface="Consolas"/>
              </a:rPr>
              <a:t>Bilgisayar Mühendisliği Bölümü</a:t>
            </a:r>
            <a:endParaRPr/>
          </a:p>
        </p:txBody>
      </p:sp>
      <p:sp>
        <p:nvSpPr>
          <p:cNvPr id="87" name="Google Shape;87;p1"/>
          <p:cNvSpPr txBox="1"/>
          <p:nvPr/>
        </p:nvSpPr>
        <p:spPr>
          <a:xfrm>
            <a:off x="4249555" y="3816742"/>
            <a:ext cx="3214341" cy="56938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tr-TR" sz="1500">
                <a:solidFill>
                  <a:schemeClr val="dk1"/>
                </a:solidFill>
                <a:latin typeface="Consolas"/>
                <a:ea typeface="Consolas"/>
                <a:cs typeface="Consolas"/>
                <a:sym typeface="Consolas"/>
              </a:rPr>
              <a:t>Hafta 4</a:t>
            </a:r>
            <a:endParaRPr/>
          </a:p>
          <a:p>
            <a:pPr indent="0" lvl="0" marL="0" marR="0" rtl="0" algn="ctr">
              <a:spcBef>
                <a:spcPts val="0"/>
              </a:spcBef>
              <a:spcAft>
                <a:spcPts val="0"/>
              </a:spcAft>
              <a:buNone/>
            </a:pPr>
            <a:r>
              <a:rPr b="1" lang="tr-TR" sz="1600">
                <a:solidFill>
                  <a:schemeClr val="dk1"/>
                </a:solidFill>
                <a:latin typeface="Consolas"/>
                <a:ea typeface="Consolas"/>
                <a:cs typeface="Consolas"/>
                <a:sym typeface="Consolas"/>
              </a:rPr>
              <a:t>PARALEL YAZILIM MİMARİLERİ</a:t>
            </a:r>
            <a:endParaRPr/>
          </a:p>
        </p:txBody>
      </p:sp>
      <p:sp>
        <p:nvSpPr>
          <p:cNvPr id="88" name="Google Shape;88;p1"/>
          <p:cNvSpPr txBox="1"/>
          <p:nvPr/>
        </p:nvSpPr>
        <p:spPr>
          <a:xfrm>
            <a:off x="3713080" y="4896000"/>
            <a:ext cx="42873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tr-TR" sz="2000">
                <a:solidFill>
                  <a:schemeClr val="dk1"/>
                </a:solidFill>
                <a:latin typeface="Consolas"/>
                <a:ea typeface="Consolas"/>
                <a:cs typeface="Consolas"/>
                <a:sym typeface="Consolas"/>
              </a:rPr>
              <a:t>Doç. </a:t>
            </a:r>
            <a:r>
              <a:rPr lang="tr-TR" sz="2000">
                <a:solidFill>
                  <a:schemeClr val="dk1"/>
                </a:solidFill>
                <a:latin typeface="Consolas"/>
                <a:ea typeface="Consolas"/>
                <a:cs typeface="Consolas"/>
                <a:sym typeface="Consolas"/>
              </a:rPr>
              <a:t>Dr. Funda KUTLU ONAY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descr="Parallel computing for high-performance simulations" id="93" name="Google Shape;93;p2"/>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94" name="Google Shape;94;p2"/>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Ders İçeriği</a:t>
            </a:r>
            <a:endParaRPr/>
          </a:p>
        </p:txBody>
      </p:sp>
      <p:sp>
        <p:nvSpPr>
          <p:cNvPr id="95" name="Google Shape;95;p2"/>
          <p:cNvSpPr txBox="1"/>
          <p:nvPr/>
        </p:nvSpPr>
        <p:spPr>
          <a:xfrm>
            <a:off x="1164349" y="759758"/>
            <a:ext cx="10688700" cy="4248300"/>
          </a:xfrm>
          <a:prstGeom prst="rect">
            <a:avLst/>
          </a:prstGeom>
          <a:noFill/>
          <a:ln>
            <a:noFill/>
          </a:ln>
        </p:spPr>
        <p:txBody>
          <a:bodyPr anchorCtr="0" anchor="t" bIns="45700" lIns="91425" spcFirstLastPara="1" rIns="91425" wrap="square" tIns="45700">
            <a:spAutoFit/>
          </a:bodyPr>
          <a:lstStyle/>
          <a:p>
            <a:pPr indent="-457200" lvl="0" marL="457200" marR="0" rtl="0" algn="l">
              <a:spcBef>
                <a:spcPts val="0"/>
              </a:spcBef>
              <a:spcAft>
                <a:spcPts val="0"/>
              </a:spcAft>
              <a:buClr>
                <a:schemeClr val="dk1"/>
              </a:buClr>
              <a:buSzPts val="3000"/>
              <a:buFont typeface="Arial"/>
              <a:buChar char="•"/>
            </a:pPr>
            <a:r>
              <a:rPr lang="tr-TR" sz="3000">
                <a:solidFill>
                  <a:schemeClr val="dk1"/>
                </a:solidFill>
                <a:latin typeface="Consolas"/>
                <a:ea typeface="Consolas"/>
                <a:cs typeface="Consolas"/>
                <a:sym typeface="Consolas"/>
              </a:rPr>
              <a:t>Paralel Yazılımlar</a:t>
            </a:r>
            <a:endParaRPr/>
          </a:p>
          <a:p>
            <a:pPr indent="-457200" lvl="1" marL="914400" marR="0" rtl="0" algn="l">
              <a:spcBef>
                <a:spcPts val="0"/>
              </a:spcBef>
              <a:spcAft>
                <a:spcPts val="0"/>
              </a:spcAft>
              <a:buClr>
                <a:schemeClr val="dk1"/>
              </a:buClr>
              <a:buSzPts val="3000"/>
              <a:buFont typeface="Noto Sans Symbols"/>
              <a:buChar char="✔"/>
            </a:pPr>
            <a:r>
              <a:rPr b="0" i="0" lang="tr-TR" sz="3000" u="none" cap="none" strike="noStrike">
                <a:solidFill>
                  <a:schemeClr val="dk1"/>
                </a:solidFill>
                <a:latin typeface="Consolas"/>
                <a:ea typeface="Consolas"/>
                <a:cs typeface="Consolas"/>
                <a:sym typeface="Consolas"/>
              </a:rPr>
              <a:t>Hafıza Paylaşımlı Programlar</a:t>
            </a:r>
            <a:endParaRPr/>
          </a:p>
          <a:p>
            <a:pPr indent="-457200" lvl="1" marL="914400" marR="0" rtl="0" algn="l">
              <a:spcBef>
                <a:spcPts val="0"/>
              </a:spcBef>
              <a:spcAft>
                <a:spcPts val="0"/>
              </a:spcAft>
              <a:buClr>
                <a:schemeClr val="dk1"/>
              </a:buClr>
              <a:buSzPts val="3000"/>
              <a:buFont typeface="Noto Sans Symbols"/>
              <a:buChar char="✔"/>
            </a:pPr>
            <a:r>
              <a:rPr b="0" i="0" lang="tr-TR" sz="3000" u="none" cap="none" strike="noStrike">
                <a:solidFill>
                  <a:schemeClr val="dk1"/>
                </a:solidFill>
                <a:latin typeface="Consolas"/>
                <a:ea typeface="Consolas"/>
                <a:cs typeface="Consolas"/>
                <a:sym typeface="Consolas"/>
              </a:rPr>
              <a:t>Dağıtık Hafızalı Programlar</a:t>
            </a:r>
            <a:endParaRPr/>
          </a:p>
          <a:p>
            <a:pPr indent="-457200" lvl="0" marL="457200" marR="0" rtl="0" algn="l">
              <a:spcBef>
                <a:spcPts val="0"/>
              </a:spcBef>
              <a:spcAft>
                <a:spcPts val="0"/>
              </a:spcAft>
              <a:buClr>
                <a:schemeClr val="dk1"/>
              </a:buClr>
              <a:buSzPts val="3000"/>
              <a:buFont typeface="Arial"/>
              <a:buChar char="•"/>
            </a:pPr>
            <a:r>
              <a:rPr lang="tr-TR" sz="3000">
                <a:solidFill>
                  <a:schemeClr val="dk1"/>
                </a:solidFill>
                <a:latin typeface="Consolas"/>
                <a:ea typeface="Consolas"/>
                <a:cs typeface="Consolas"/>
                <a:sym typeface="Consolas"/>
              </a:rPr>
              <a:t>Performans</a:t>
            </a:r>
            <a:endParaRPr/>
          </a:p>
          <a:p>
            <a:pPr indent="-457200" lvl="1" marL="914400" marR="0" rtl="0" algn="l">
              <a:spcBef>
                <a:spcPts val="0"/>
              </a:spcBef>
              <a:spcAft>
                <a:spcPts val="0"/>
              </a:spcAft>
              <a:buClr>
                <a:schemeClr val="dk1"/>
              </a:buClr>
              <a:buSzPts val="3000"/>
              <a:buFont typeface="Noto Sans Symbols"/>
              <a:buChar char="✔"/>
            </a:pPr>
            <a:r>
              <a:rPr b="0" i="0" lang="tr-TR" sz="3000" u="none" cap="none" strike="noStrike">
                <a:solidFill>
                  <a:schemeClr val="dk1"/>
                </a:solidFill>
                <a:latin typeface="Consolas"/>
                <a:ea typeface="Consolas"/>
                <a:cs typeface="Consolas"/>
                <a:sym typeface="Consolas"/>
              </a:rPr>
              <a:t>Speedup ve Verimlilik</a:t>
            </a:r>
            <a:endParaRPr/>
          </a:p>
          <a:p>
            <a:pPr indent="-457200" lvl="1" marL="914400" marR="0" rtl="0" algn="l">
              <a:spcBef>
                <a:spcPts val="0"/>
              </a:spcBef>
              <a:spcAft>
                <a:spcPts val="0"/>
              </a:spcAft>
              <a:buClr>
                <a:schemeClr val="dk1"/>
              </a:buClr>
              <a:buSzPts val="3000"/>
              <a:buFont typeface="Noto Sans Symbols"/>
              <a:buChar char="✔"/>
            </a:pPr>
            <a:r>
              <a:rPr b="0" i="0" lang="tr-TR" sz="3000" u="none" cap="none" strike="noStrike">
                <a:solidFill>
                  <a:schemeClr val="dk1"/>
                </a:solidFill>
                <a:latin typeface="Consolas"/>
                <a:ea typeface="Consolas"/>
                <a:cs typeface="Consolas"/>
                <a:sym typeface="Consolas"/>
              </a:rPr>
              <a:t>Amdahl Yasası</a:t>
            </a:r>
            <a:endParaRPr/>
          </a:p>
          <a:p>
            <a:pPr indent="-457200" lvl="1" marL="914400" marR="0" rtl="0" algn="l">
              <a:spcBef>
                <a:spcPts val="0"/>
              </a:spcBef>
              <a:spcAft>
                <a:spcPts val="0"/>
              </a:spcAft>
              <a:buClr>
                <a:schemeClr val="dk1"/>
              </a:buClr>
              <a:buSzPts val="3000"/>
              <a:buFont typeface="Noto Sans Symbols"/>
              <a:buChar char="✔"/>
            </a:pPr>
            <a:r>
              <a:rPr b="0" i="0" lang="tr-TR" sz="3000" u="none" cap="none" strike="noStrike">
                <a:solidFill>
                  <a:schemeClr val="dk1"/>
                </a:solidFill>
                <a:latin typeface="Consolas"/>
                <a:ea typeface="Consolas"/>
                <a:cs typeface="Consolas"/>
                <a:sym typeface="Consolas"/>
              </a:rPr>
              <a:t>Ölçeklenebilirlik</a:t>
            </a:r>
            <a:endParaRPr/>
          </a:p>
          <a:p>
            <a:pPr indent="-457200" lvl="0" marL="457200" marR="0" rtl="0" algn="l">
              <a:spcBef>
                <a:spcPts val="0"/>
              </a:spcBef>
              <a:spcAft>
                <a:spcPts val="0"/>
              </a:spcAft>
              <a:buClr>
                <a:schemeClr val="dk1"/>
              </a:buClr>
              <a:buSzPts val="3000"/>
              <a:buFont typeface="Arial"/>
              <a:buChar char="•"/>
            </a:pPr>
            <a:r>
              <a:rPr lang="tr-TR" sz="3000">
                <a:solidFill>
                  <a:schemeClr val="dk1"/>
                </a:solidFill>
                <a:latin typeface="Consolas"/>
                <a:ea typeface="Consolas"/>
                <a:cs typeface="Consolas"/>
                <a:sym typeface="Consolas"/>
              </a:rPr>
              <a:t>Paralel Program Tasarımı</a:t>
            </a:r>
            <a:endParaRPr/>
          </a:p>
          <a:p>
            <a:pPr indent="-457200" lvl="1" marL="914400" marR="0" rtl="0" algn="l">
              <a:spcBef>
                <a:spcPts val="0"/>
              </a:spcBef>
              <a:spcAft>
                <a:spcPts val="0"/>
              </a:spcAft>
              <a:buClr>
                <a:schemeClr val="dk1"/>
              </a:buClr>
              <a:buSzPts val="3000"/>
              <a:buFont typeface="Noto Sans Symbols"/>
              <a:buChar char="✔"/>
            </a:pPr>
            <a:r>
              <a:rPr b="0" i="0" lang="tr-TR" sz="3000" u="none" cap="none" strike="noStrike">
                <a:solidFill>
                  <a:schemeClr val="dk1"/>
                </a:solidFill>
                <a:latin typeface="Consolas"/>
                <a:ea typeface="Consolas"/>
                <a:cs typeface="Consolas"/>
                <a:sym typeface="Consolas"/>
              </a:rPr>
              <a:t>Foster Yöntemi</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descr="Parallel computing for high-performance simulations" id="100" name="Google Shape;100;p3"/>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01" name="Google Shape;101;p3"/>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Paralel Donanım ve Yazılımlar</a:t>
            </a:r>
            <a:endParaRPr/>
          </a:p>
        </p:txBody>
      </p:sp>
      <p:sp>
        <p:nvSpPr>
          <p:cNvPr id="102" name="Google Shape;102;p3"/>
          <p:cNvSpPr txBox="1"/>
          <p:nvPr/>
        </p:nvSpPr>
        <p:spPr>
          <a:xfrm>
            <a:off x="1164348" y="759758"/>
            <a:ext cx="10688667" cy="1569660"/>
          </a:xfrm>
          <a:prstGeom prst="rect">
            <a:avLst/>
          </a:prstGeom>
          <a:noFill/>
          <a:ln>
            <a:noFill/>
          </a:ln>
        </p:spPr>
        <p:txBody>
          <a:bodyPr anchorCtr="0" anchor="t" bIns="45700" lIns="91425" spcFirstLastPara="1" rIns="91425" wrap="square" tIns="45700">
            <a:spAutoFit/>
          </a:bodyPr>
          <a:lstStyle/>
          <a:p>
            <a:pPr indent="-457200" lvl="0" marL="457200" marR="0" rtl="0" algn="l">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Verimli paralel programlar yazabilmek için paralel olarak çalışacak programın üzerinde çalışacağı bilgisayar donanımı ve işletim sistemi hakkında bilgi sahibi olunması gerekir.</a:t>
            </a:r>
            <a:endParaRPr/>
          </a:p>
          <a:p>
            <a:pPr indent="-457200" lvl="0" marL="457200" marR="0" rtl="0" algn="l">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Bu bölümde paralel yazılım yöntemlerinden bahsedilecektir.</a:t>
            </a:r>
            <a:endParaRPr/>
          </a:p>
        </p:txBody>
      </p:sp>
      <p:pic>
        <p:nvPicPr>
          <p:cNvPr id="103" name="Google Shape;103;p3"/>
          <p:cNvPicPr preferRelativeResize="0"/>
          <p:nvPr/>
        </p:nvPicPr>
        <p:blipFill>
          <a:blip r:embed="rId4">
            <a:alphaModFix/>
          </a:blip>
          <a:stretch>
            <a:fillRect/>
          </a:stretch>
        </p:blipFill>
        <p:spPr>
          <a:xfrm>
            <a:off x="3536774" y="2628853"/>
            <a:ext cx="5667200" cy="36836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descr="Parallel computing for high-performance simulations" id="108" name="Google Shape;108;p4"/>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09" name="Google Shape;109;p4"/>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Paralel Yazılım Nedir?</a:t>
            </a:r>
            <a:endParaRPr/>
          </a:p>
        </p:txBody>
      </p:sp>
      <p:sp>
        <p:nvSpPr>
          <p:cNvPr id="110" name="Google Shape;110;p4"/>
          <p:cNvSpPr txBox="1"/>
          <p:nvPr/>
        </p:nvSpPr>
        <p:spPr>
          <a:xfrm>
            <a:off x="1164348" y="759758"/>
            <a:ext cx="10688700" cy="5633700"/>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Günlük hayatta </a:t>
            </a:r>
            <a:r>
              <a:rPr b="1" lang="tr-TR" sz="2400">
                <a:solidFill>
                  <a:schemeClr val="dk1"/>
                </a:solidFill>
                <a:latin typeface="Consolas"/>
                <a:ea typeface="Consolas"/>
                <a:cs typeface="Consolas"/>
                <a:sym typeface="Consolas"/>
              </a:rPr>
              <a:t>paralel donanımlar </a:t>
            </a:r>
            <a:r>
              <a:rPr lang="tr-TR" sz="2400">
                <a:solidFill>
                  <a:schemeClr val="dk1"/>
                </a:solidFill>
                <a:latin typeface="Consolas"/>
                <a:ea typeface="Consolas"/>
                <a:cs typeface="Consolas"/>
                <a:sym typeface="Consolas"/>
              </a:rPr>
              <a:t>PC’ler ve Sunucu bilgisayarlarda yaygın olarak kullanılmaktadır, ancak aynı durum paralel yazılımlar için geçerli mi? </a:t>
            </a:r>
            <a:endParaRPr sz="2400">
              <a:solidFill>
                <a:schemeClr val="dk1"/>
              </a:solidFill>
              <a:latin typeface="Consolas"/>
              <a:ea typeface="Consolas"/>
              <a:cs typeface="Consolas"/>
              <a:sym typeface="Consolas"/>
            </a:endParaRPr>
          </a:p>
          <a:p>
            <a:pPr indent="0" lvl="0" marL="457200" marR="0" rtl="0" algn="just">
              <a:spcBef>
                <a:spcPts val="0"/>
              </a:spcBef>
              <a:spcAft>
                <a:spcPts val="0"/>
              </a:spcAft>
              <a:buNone/>
            </a:pPr>
            <a:r>
              <a:t/>
            </a:r>
            <a:endParaRPr sz="24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Paralel yazılımlar iki alt başlıkta incelenmektedir:</a:t>
            </a:r>
            <a:endParaRPr/>
          </a:p>
          <a:p>
            <a:pPr indent="-457200" lvl="1" marL="914400" marR="0" rtl="0" algn="just">
              <a:spcBef>
                <a:spcPts val="0"/>
              </a:spcBef>
              <a:spcAft>
                <a:spcPts val="0"/>
              </a:spcAft>
              <a:buClr>
                <a:schemeClr val="dk1"/>
              </a:buClr>
              <a:buSzPts val="2400"/>
              <a:buFont typeface="Noto Sans Symbols"/>
              <a:buChar char="✔"/>
            </a:pPr>
            <a:r>
              <a:rPr b="0" i="0" lang="tr-TR" sz="2400" u="none" cap="none" strike="noStrike">
                <a:solidFill>
                  <a:schemeClr val="dk1"/>
                </a:solidFill>
                <a:latin typeface="Consolas"/>
                <a:ea typeface="Consolas"/>
                <a:cs typeface="Consolas"/>
                <a:sym typeface="Consolas"/>
              </a:rPr>
              <a:t>Hafıza Paylaşımlı Sistemler</a:t>
            </a:r>
            <a:endParaRPr/>
          </a:p>
          <a:p>
            <a:pPr indent="-457200" lvl="1" marL="914400" marR="0" rtl="0" algn="just">
              <a:spcBef>
                <a:spcPts val="0"/>
              </a:spcBef>
              <a:spcAft>
                <a:spcPts val="0"/>
              </a:spcAft>
              <a:buClr>
                <a:schemeClr val="dk1"/>
              </a:buClr>
              <a:buSzPts val="2400"/>
              <a:buFont typeface="Noto Sans Symbols"/>
              <a:buChar char="✔"/>
            </a:pPr>
            <a:r>
              <a:rPr b="0" i="0" lang="tr-TR" sz="2400" u="none" cap="none" strike="noStrike">
                <a:solidFill>
                  <a:schemeClr val="dk1"/>
                </a:solidFill>
                <a:latin typeface="Consolas"/>
                <a:ea typeface="Consolas"/>
                <a:cs typeface="Consolas"/>
                <a:sym typeface="Consolas"/>
              </a:rPr>
              <a:t>Dağıtık Hafızalı Sistemler</a:t>
            </a:r>
            <a:endParaRPr b="0" i="0" sz="2400" u="none" cap="none" strike="noStrike">
              <a:solidFill>
                <a:schemeClr val="dk1"/>
              </a:solidFill>
              <a:latin typeface="Consolas"/>
              <a:ea typeface="Consolas"/>
              <a:cs typeface="Consolas"/>
              <a:sym typeface="Consolas"/>
            </a:endParaRPr>
          </a:p>
          <a:p>
            <a:pPr indent="0" lvl="0" marL="914400" marR="0" rtl="0" algn="just">
              <a:spcBef>
                <a:spcPts val="0"/>
              </a:spcBef>
              <a:spcAft>
                <a:spcPts val="0"/>
              </a:spcAft>
              <a:buNone/>
            </a:pPr>
            <a:r>
              <a:t/>
            </a:r>
            <a:endParaRPr sz="24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Paylaşımlı hafızalarda çalışan programlar tek bir işlem (process) üzerinden çoklu iş parçacıkları (thread) kullanarak çalışırlar.</a:t>
            </a:r>
            <a:endParaRPr sz="2400">
              <a:solidFill>
                <a:schemeClr val="dk1"/>
              </a:solidFill>
              <a:latin typeface="Consolas"/>
              <a:ea typeface="Consolas"/>
              <a:cs typeface="Consolas"/>
              <a:sym typeface="Consolas"/>
            </a:endParaRPr>
          </a:p>
          <a:p>
            <a:pPr indent="0" lvl="0" marL="457200" marR="0" rtl="0" algn="just">
              <a:spcBef>
                <a:spcPts val="0"/>
              </a:spcBef>
              <a:spcAft>
                <a:spcPts val="0"/>
              </a:spcAft>
              <a:buNone/>
            </a:pPr>
            <a:r>
              <a:t/>
            </a:r>
            <a:endParaRPr sz="24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Dağıtık sistemlerde ise görevleri (tasks) gerçekleştirmek için çoklu işlem (multiprocess) yapılarına ihtiyaç duyulmaktadır.</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pic>
        <p:nvPicPr>
          <p:cNvPr descr="Parallel computing for high-performance simulations" id="115" name="Google Shape;115;p5"/>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16" name="Google Shape;116;p5"/>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Hafıza Paylaşımlı Programlar</a:t>
            </a:r>
            <a:endParaRPr/>
          </a:p>
        </p:txBody>
      </p:sp>
      <p:sp>
        <p:nvSpPr>
          <p:cNvPr id="117" name="Google Shape;117;p5"/>
          <p:cNvSpPr txBox="1"/>
          <p:nvPr/>
        </p:nvSpPr>
        <p:spPr>
          <a:xfrm>
            <a:off x="1164348" y="759758"/>
            <a:ext cx="10688667" cy="3785652"/>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Hafıza paylaşımlı programlarda değişkenler (variables) paylaşılabilir ve public veya özel (private) olabilir.</a:t>
            </a:r>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Paylaşılan (public) değişkenler herhangi bir iş parçacığı (thread) tarafından okunabilir ve yazılabilirken, özel (private) değişkenler normalde </a:t>
            </a:r>
            <a:r>
              <a:rPr b="1" lang="tr-TR" sz="2400">
                <a:solidFill>
                  <a:schemeClr val="dk1"/>
                </a:solidFill>
                <a:latin typeface="Consolas"/>
                <a:ea typeface="Consolas"/>
                <a:cs typeface="Consolas"/>
                <a:sym typeface="Consolas"/>
              </a:rPr>
              <a:t>yalnızca bir iş parçacığı </a:t>
            </a:r>
            <a:r>
              <a:rPr lang="tr-TR" sz="2400">
                <a:solidFill>
                  <a:schemeClr val="dk1"/>
                </a:solidFill>
                <a:latin typeface="Consolas"/>
                <a:ea typeface="Consolas"/>
                <a:cs typeface="Consolas"/>
                <a:sym typeface="Consolas"/>
              </a:rPr>
              <a:t>üzerinden erişilebilir.</a:t>
            </a:r>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İş parçacıkları (thread) arasındaki iletişim genellikle paylaşılan değişkenler aracılığıyla yapılır.</a:t>
            </a:r>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Bu nedenle iş parçacıkları (thread) ile iletişim örtülü (implict) bir şekilde gerçekleştirilir.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pic>
        <p:nvPicPr>
          <p:cNvPr descr="Parallel computing for high-performance simulations" id="122" name="Google Shape;122;p6"/>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23" name="Google Shape;123;p6"/>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Dinamik ve Statik Thread’ler</a:t>
            </a:r>
            <a:endParaRPr b="1" sz="3000">
              <a:solidFill>
                <a:schemeClr val="dk1"/>
              </a:solidFill>
              <a:latin typeface="Consolas"/>
              <a:ea typeface="Consolas"/>
              <a:cs typeface="Consolas"/>
              <a:sym typeface="Consolas"/>
            </a:endParaRPr>
          </a:p>
        </p:txBody>
      </p:sp>
      <p:sp>
        <p:nvSpPr>
          <p:cNvPr id="124" name="Google Shape;124;p6"/>
          <p:cNvSpPr txBox="1"/>
          <p:nvPr/>
        </p:nvSpPr>
        <p:spPr>
          <a:xfrm>
            <a:off x="1164348" y="759758"/>
            <a:ext cx="10688667" cy="4893647"/>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Birçok yazılım geliştirme ortamı paylaşımlı hafıza programları için </a:t>
            </a:r>
            <a:r>
              <a:rPr b="1" lang="tr-TR" sz="2400">
                <a:solidFill>
                  <a:schemeClr val="dk1"/>
                </a:solidFill>
                <a:latin typeface="Consolas"/>
                <a:ea typeface="Consolas"/>
                <a:cs typeface="Consolas"/>
                <a:sym typeface="Consolas"/>
              </a:rPr>
              <a:t>dinamik iş parçacıkları </a:t>
            </a:r>
            <a:r>
              <a:rPr lang="tr-TR" sz="2400">
                <a:solidFill>
                  <a:schemeClr val="dk1"/>
                </a:solidFill>
                <a:latin typeface="Consolas"/>
                <a:ea typeface="Consolas"/>
                <a:cs typeface="Consolas"/>
                <a:sym typeface="Consolas"/>
              </a:rPr>
              <a:t>(threads) kullanır.</a:t>
            </a:r>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Genellikle bu tür yapılar bir ana iş parçacığı ve buna bağlı işçi thread’lerden oluşmaktadır. Yeni bir görev (task) geldiğinde ana iş parçacığı bu görevi bir iş parçacığına atar.</a:t>
            </a:r>
            <a:endParaRPr/>
          </a:p>
          <a:p>
            <a:pPr indent="-457200" lvl="0" marL="457200" marR="0" rtl="0" algn="just">
              <a:spcBef>
                <a:spcPts val="0"/>
              </a:spcBef>
              <a:spcAft>
                <a:spcPts val="0"/>
              </a:spcAft>
              <a:buClr>
                <a:schemeClr val="dk1"/>
              </a:buClr>
              <a:buSzPts val="2400"/>
              <a:buFont typeface="Arial"/>
              <a:buChar char="•"/>
            </a:pPr>
            <a:r>
              <a:rPr b="1" lang="tr-TR" sz="2400">
                <a:solidFill>
                  <a:schemeClr val="dk1"/>
                </a:solidFill>
                <a:latin typeface="Consolas"/>
                <a:ea typeface="Consolas"/>
                <a:cs typeface="Consolas"/>
                <a:sym typeface="Consolas"/>
              </a:rPr>
              <a:t>Statik Thread yapısında ise; </a:t>
            </a:r>
            <a:r>
              <a:rPr lang="tr-TR" sz="2400">
                <a:solidFill>
                  <a:schemeClr val="dk1"/>
                </a:solidFill>
                <a:latin typeface="Consolas"/>
                <a:ea typeface="Consolas"/>
                <a:cs typeface="Consolas"/>
                <a:sym typeface="Consolas"/>
              </a:rPr>
              <a:t>tüm iş parçacıkları ana iş parçacığı tarafından gerekli ayarlamanın ardından çatallanır (fork) ve tüm iş tamamlanıncaya kadar iş parçacıkları çalıştırılır.</a:t>
            </a:r>
            <a:endParaRPr/>
          </a:p>
          <a:p>
            <a:pPr indent="-4572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Statik Thread’ler dinamiklere göre genellikle daha hızlı çalışırlar.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pic>
        <p:nvPicPr>
          <p:cNvPr descr="Parallel computing for high-performance simulations" id="129" name="Google Shape;129;p7"/>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30" name="Google Shape;130;p7"/>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Dinamik ve Statik Thread’ler</a:t>
            </a:r>
            <a:endParaRPr b="1" sz="3000">
              <a:solidFill>
                <a:schemeClr val="dk1"/>
              </a:solidFill>
              <a:latin typeface="Consolas"/>
              <a:ea typeface="Consolas"/>
              <a:cs typeface="Consolas"/>
              <a:sym typeface="Consolas"/>
            </a:endParaRPr>
          </a:p>
        </p:txBody>
      </p:sp>
      <p:graphicFrame>
        <p:nvGraphicFramePr>
          <p:cNvPr id="131" name="Google Shape;131;p7"/>
          <p:cNvGraphicFramePr/>
          <p:nvPr/>
        </p:nvGraphicFramePr>
        <p:xfrm>
          <a:off x="1604613" y="1125013"/>
          <a:ext cx="3000000" cy="3000000"/>
        </p:xfrm>
        <a:graphic>
          <a:graphicData uri="http://schemas.openxmlformats.org/drawingml/2006/table">
            <a:tbl>
              <a:tblPr>
                <a:noFill/>
                <a:tableStyleId>{C0B359DD-8B4D-4153-A7F3-C1FC773B2797}</a:tableStyleId>
              </a:tblPr>
              <a:tblGrid>
                <a:gridCol w="3209175"/>
                <a:gridCol w="3209175"/>
                <a:gridCol w="3209175"/>
              </a:tblGrid>
              <a:tr h="405275">
                <a:tc>
                  <a:txBody>
                    <a:bodyPr/>
                    <a:lstStyle/>
                    <a:p>
                      <a:pPr indent="0" lvl="0" marL="0" marR="0" rtl="0" algn="l">
                        <a:spcBef>
                          <a:spcPts val="0"/>
                        </a:spcBef>
                        <a:spcAft>
                          <a:spcPts val="0"/>
                        </a:spcAft>
                        <a:buNone/>
                      </a:pPr>
                      <a:r>
                        <a:rPr b="1" lang="tr-TR" sz="2000" u="none" cap="none" strike="noStrike"/>
                        <a:t>Özellikler</a:t>
                      </a:r>
                      <a:endParaRPr/>
                    </a:p>
                  </a:txBody>
                  <a:tcPr marT="36875" marB="36875" marR="73750" marL="73750" anchor="b">
                    <a:solidFill>
                      <a:srgbClr val="4892DC"/>
                    </a:solidFill>
                  </a:tcPr>
                </a:tc>
                <a:tc>
                  <a:txBody>
                    <a:bodyPr/>
                    <a:lstStyle/>
                    <a:p>
                      <a:pPr indent="0" lvl="0" marL="0" marR="0" rtl="0" algn="l">
                        <a:spcBef>
                          <a:spcPts val="0"/>
                        </a:spcBef>
                        <a:spcAft>
                          <a:spcPts val="0"/>
                        </a:spcAft>
                        <a:buNone/>
                      </a:pPr>
                      <a:r>
                        <a:rPr b="1" lang="tr-TR" sz="2000" u="none" cap="none" strike="noStrike"/>
                        <a:t>Static Threadler</a:t>
                      </a:r>
                      <a:endParaRPr b="1" sz="2000" u="none" cap="none" strike="noStrike"/>
                    </a:p>
                  </a:txBody>
                  <a:tcPr marT="36875" marB="36875" marR="73750" marL="73750" anchor="b">
                    <a:solidFill>
                      <a:srgbClr val="4892DC"/>
                    </a:solidFill>
                  </a:tcPr>
                </a:tc>
                <a:tc>
                  <a:txBody>
                    <a:bodyPr/>
                    <a:lstStyle/>
                    <a:p>
                      <a:pPr indent="0" lvl="0" marL="0" marR="0" rtl="0" algn="l">
                        <a:spcBef>
                          <a:spcPts val="0"/>
                        </a:spcBef>
                        <a:spcAft>
                          <a:spcPts val="0"/>
                        </a:spcAft>
                        <a:buNone/>
                      </a:pPr>
                      <a:r>
                        <a:rPr b="1" lang="tr-TR" sz="2000" u="none" cap="none" strike="noStrike"/>
                        <a:t>Dinamik Threadler</a:t>
                      </a:r>
                      <a:endParaRPr b="1" sz="2000" u="none" cap="none" strike="noStrike"/>
                    </a:p>
                  </a:txBody>
                  <a:tcPr marT="36875" marB="36875" marR="73750" marL="73750" anchor="b">
                    <a:solidFill>
                      <a:srgbClr val="4892DC"/>
                    </a:solidFill>
                  </a:tcPr>
                </a:tc>
              </a:tr>
              <a:tr h="858250">
                <a:tc>
                  <a:txBody>
                    <a:bodyPr/>
                    <a:lstStyle/>
                    <a:p>
                      <a:pPr indent="0" lvl="0" marL="0" marR="0" rtl="0" algn="l">
                        <a:spcBef>
                          <a:spcPts val="0"/>
                        </a:spcBef>
                        <a:spcAft>
                          <a:spcPts val="0"/>
                        </a:spcAft>
                        <a:buNone/>
                      </a:pPr>
                      <a:r>
                        <a:rPr lang="tr-TR" sz="2000" u="none" cap="none" strike="noStrike"/>
                        <a:t>Oluşturulma Zamanı</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Program başlatıldığında</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Çalışma zamanında ihtiyaç duyulduğunda</a:t>
                      </a:r>
                      <a:endParaRPr/>
                    </a:p>
                  </a:txBody>
                  <a:tcPr marT="36875" marB="36875" marR="73750" marL="73750" anchor="ctr"/>
                </a:tc>
              </a:tr>
              <a:tr h="1373200">
                <a:tc>
                  <a:txBody>
                    <a:bodyPr/>
                    <a:lstStyle/>
                    <a:p>
                      <a:pPr indent="0" lvl="0" marL="0" marR="0" rtl="0" algn="l">
                        <a:spcBef>
                          <a:spcPts val="0"/>
                        </a:spcBef>
                        <a:spcAft>
                          <a:spcPts val="0"/>
                        </a:spcAft>
                        <a:buNone/>
                      </a:pPr>
                      <a:r>
                        <a:rPr lang="tr-TR" sz="2000" u="none" cap="none" strike="noStrike"/>
                        <a:t>Sayı ve Özellikler</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Derleme zamanında belirlenir, çalışma zamanında değiştirilemez</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Çalışma zamanında belirlenebilir, programın gereksinimlerine göre ayarlanabilir</a:t>
                      </a:r>
                      <a:endParaRPr/>
                    </a:p>
                  </a:txBody>
                  <a:tcPr marT="36875" marB="36875" marR="73750" marL="73750" anchor="ctr"/>
                </a:tc>
              </a:tr>
              <a:tr h="1115725">
                <a:tc>
                  <a:txBody>
                    <a:bodyPr/>
                    <a:lstStyle/>
                    <a:p>
                      <a:pPr indent="0" lvl="0" marL="0" marR="0" rtl="0" algn="l">
                        <a:spcBef>
                          <a:spcPts val="0"/>
                        </a:spcBef>
                        <a:spcAft>
                          <a:spcPts val="0"/>
                        </a:spcAft>
                        <a:buNone/>
                      </a:pPr>
                      <a:r>
                        <a:rPr lang="tr-TR" sz="2000" u="none" cap="none" strike="noStrike"/>
                        <a:t>Yaşam Döngüsü</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Programın sona ermesine kadar devam eder</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Oluşturulduktan sonra bir süre çalışır, sonra sonlandırılabilir</a:t>
                      </a:r>
                      <a:endParaRPr/>
                    </a:p>
                  </a:txBody>
                  <a:tcPr marT="36875" marB="36875" marR="73750" marL="73750" anchor="ctr"/>
                </a:tc>
              </a:tr>
              <a:tr h="1373200">
                <a:tc>
                  <a:txBody>
                    <a:bodyPr/>
                    <a:lstStyle/>
                    <a:p>
                      <a:pPr indent="0" lvl="0" marL="0" marR="0" rtl="0" algn="l">
                        <a:spcBef>
                          <a:spcPts val="0"/>
                        </a:spcBef>
                        <a:spcAft>
                          <a:spcPts val="0"/>
                        </a:spcAft>
                        <a:buNone/>
                      </a:pPr>
                      <a:r>
                        <a:rPr lang="tr-TR" sz="2000" u="none" cap="none" strike="noStrike"/>
                        <a:t>Örnek</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C veya C++'ta pthreads kütüphanesi ile oluşturulan threadler</a:t>
                      </a:r>
                      <a:endParaRPr/>
                    </a:p>
                  </a:txBody>
                  <a:tcPr marT="36875" marB="36875" marR="73750" marL="73750" anchor="ctr"/>
                </a:tc>
                <a:tc>
                  <a:txBody>
                    <a:bodyPr/>
                    <a:lstStyle/>
                    <a:p>
                      <a:pPr indent="0" lvl="0" marL="0" marR="0" rtl="0" algn="l">
                        <a:spcBef>
                          <a:spcPts val="0"/>
                        </a:spcBef>
                        <a:spcAft>
                          <a:spcPts val="0"/>
                        </a:spcAft>
                        <a:buNone/>
                      </a:pPr>
                      <a:r>
                        <a:rPr lang="tr-TR" sz="2000" u="none" cap="none" strike="noStrike"/>
                        <a:t>Java'da Thread sınıfından türetilen threadler</a:t>
                      </a:r>
                      <a:endParaRPr sz="2000" u="none" cap="none" strike="noStrike"/>
                    </a:p>
                  </a:txBody>
                  <a:tcPr marT="36875" marB="36875" marR="73750" marL="73750" anchor="ct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descr="Parallel computing for high-performance simulations" id="136" name="Google Shape;136;p8"/>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37" name="Google Shape;137;p8"/>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Nondeterminisim (Belirsizlik)</a:t>
            </a:r>
            <a:endParaRPr/>
          </a:p>
        </p:txBody>
      </p:sp>
      <p:sp>
        <p:nvSpPr>
          <p:cNvPr id="138" name="Google Shape;138;p8"/>
          <p:cNvSpPr txBox="1"/>
          <p:nvPr/>
        </p:nvSpPr>
        <p:spPr>
          <a:xfrm>
            <a:off x="1164348" y="759758"/>
            <a:ext cx="10688667" cy="2862322"/>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İşlemcilerin </a:t>
            </a:r>
            <a:r>
              <a:rPr b="1" lang="tr-TR" sz="2000">
                <a:solidFill>
                  <a:schemeClr val="dk1"/>
                </a:solidFill>
                <a:latin typeface="Consolas"/>
                <a:ea typeface="Consolas"/>
                <a:cs typeface="Consolas"/>
                <a:sym typeface="Consolas"/>
              </a:rPr>
              <a:t>asenkron</a:t>
            </a:r>
            <a:r>
              <a:rPr lang="tr-TR" sz="2000">
                <a:solidFill>
                  <a:schemeClr val="dk1"/>
                </a:solidFill>
                <a:latin typeface="Consolas"/>
                <a:ea typeface="Consolas"/>
                <a:cs typeface="Consolas"/>
                <a:sym typeface="Consolas"/>
              </a:rPr>
              <a:t> olarak çalıştığı </a:t>
            </a:r>
            <a:r>
              <a:rPr b="1" lang="tr-TR" sz="2000">
                <a:solidFill>
                  <a:schemeClr val="dk1"/>
                </a:solidFill>
                <a:latin typeface="Consolas"/>
                <a:ea typeface="Consolas"/>
                <a:cs typeface="Consolas"/>
                <a:sym typeface="Consolas"/>
              </a:rPr>
              <a:t>MIMD</a:t>
            </a:r>
            <a:r>
              <a:rPr lang="tr-TR" sz="2000">
                <a:solidFill>
                  <a:schemeClr val="dk1"/>
                </a:solidFill>
                <a:latin typeface="Consolas"/>
                <a:ea typeface="Consolas"/>
                <a:cs typeface="Consolas"/>
                <a:sym typeface="Consolas"/>
              </a:rPr>
              <a:t> sistemlerinde muhtemel belirsizlikler söz konusudur.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Belirli bir girdi farklı çıktılarla sonuçlanırsa hesaplama belirsizdir.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Birden çok iş parçacığı bağımsız olarak çalışıyorsa, deyimleri tamamladıkları göreceli hız her çalıştırmada değişir ve dolayısıyla programın sonuçları her çalıştırmada farklı olabilir.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Bu durum genelde büyük sorunlara yol açmaz.</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Bazı durumlarda ise eğer sistem kaynakları ortak kullanıyorsa bir iş parçacığının çıktısı diğer bir iş parçacığını engelleyebilir.</a:t>
            </a:r>
            <a:endParaRPr/>
          </a:p>
        </p:txBody>
      </p:sp>
      <p:pic>
        <p:nvPicPr>
          <p:cNvPr descr="Example of non-determinism in concurrent programs. | Download Scientific  Diagram" id="139" name="Google Shape;139;p8"/>
          <p:cNvPicPr preferRelativeResize="0"/>
          <p:nvPr/>
        </p:nvPicPr>
        <p:blipFill rotWithShape="1">
          <a:blip r:embed="rId4">
            <a:alphaModFix/>
          </a:blip>
          <a:srcRect b="0" l="0" r="0" t="0"/>
          <a:stretch/>
        </p:blipFill>
        <p:spPr>
          <a:xfrm>
            <a:off x="2251982" y="3941989"/>
            <a:ext cx="8096250" cy="20764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pic>
        <p:nvPicPr>
          <p:cNvPr descr="Parallel computing for high-performance simulations" id="144" name="Google Shape;144;p9"/>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45" name="Google Shape;145;p9"/>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Nondeterminisim (Belirsizlik) - Örnek</a:t>
            </a:r>
            <a:endParaRPr/>
          </a:p>
        </p:txBody>
      </p:sp>
      <p:sp>
        <p:nvSpPr>
          <p:cNvPr id="146" name="Google Shape;146;p9"/>
          <p:cNvSpPr txBox="1"/>
          <p:nvPr/>
        </p:nvSpPr>
        <p:spPr>
          <a:xfrm>
            <a:off x="1164348" y="759758"/>
            <a:ext cx="10688700" cy="6249300"/>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Farz edelim ki 2 adet iş parçacığımız var; Thread 0 ve Thread 1</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Bu iş parçacıkları my_x adı verilen özel bir değişken hesaplıyorlar. Thread 0 için my_x = 7  ve Thread 1 için my_x = 19 olsun. Her iki iş parçacığı aşağıdaki kodu çalıştırdığında;</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a:p>
            <a:pPr indent="0" lvl="0" marL="457200" marR="0" rtl="0" algn="just">
              <a:lnSpc>
                <a:spcPct val="100000"/>
              </a:lnSpc>
              <a:spcBef>
                <a:spcPts val="0"/>
              </a:spcBef>
              <a:spcAft>
                <a:spcPts val="0"/>
              </a:spcAft>
              <a:buNone/>
            </a:pPr>
            <a:r>
              <a:t/>
            </a:r>
            <a:endParaRPr sz="2000">
              <a:solidFill>
                <a:schemeClr val="dk1"/>
              </a:solidFill>
              <a:latin typeface="Consolas"/>
              <a:ea typeface="Consolas"/>
              <a:cs typeface="Consolas"/>
              <a:sym typeface="Consolas"/>
            </a:endParaRPr>
          </a:p>
          <a:p>
            <a:pPr indent="-457200" lvl="0" marL="457200" marR="0" rtl="0" algn="just">
              <a:lnSpc>
                <a:spcPct val="100000"/>
              </a:lnSpc>
              <a:spcBef>
                <a:spcPts val="0"/>
              </a:spcBef>
              <a:spcAft>
                <a:spcPts val="0"/>
              </a:spcAft>
              <a:buClr>
                <a:schemeClr val="dk1"/>
              </a:buClr>
              <a:buSzPts val="2000"/>
              <a:buChar char="•"/>
            </a:pPr>
            <a:r>
              <a:rPr lang="tr-TR" sz="2000">
                <a:solidFill>
                  <a:schemeClr val="dk1"/>
                </a:solidFill>
                <a:latin typeface="Consolas"/>
                <a:ea typeface="Consolas"/>
                <a:cs typeface="Consolas"/>
                <a:sym typeface="Consolas"/>
              </a:rPr>
              <a:t>Programı çalıştırdığında ekranda ne göreceğini önceden kesin olarak bilemezsin. Çünkü işletim sisteminin bu thread'leri hangi sırayla işlemciye sokacağı (scheduling) değişkendir.</a:t>
            </a:r>
            <a:endParaRPr sz="2000">
              <a:solidFill>
                <a:schemeClr val="dk1"/>
              </a:solidFill>
              <a:latin typeface="Consolas"/>
              <a:ea typeface="Consolas"/>
              <a:cs typeface="Consolas"/>
              <a:sym typeface="Consolas"/>
            </a:endParaRPr>
          </a:p>
          <a:p>
            <a:pPr indent="0" lvl="0" marL="457200" marR="0" rtl="0" algn="just">
              <a:lnSpc>
                <a:spcPct val="100000"/>
              </a:lnSpc>
              <a:spcBef>
                <a:spcPts val="0"/>
              </a:spcBef>
              <a:spcAft>
                <a:spcPts val="0"/>
              </a:spcAft>
              <a:buNone/>
            </a:pPr>
            <a:r>
              <a:t/>
            </a:r>
            <a:endParaRPr sz="2000">
              <a:solidFill>
                <a:schemeClr val="dk1"/>
              </a:solidFill>
              <a:latin typeface="Consolas"/>
              <a:ea typeface="Consolas"/>
              <a:cs typeface="Consolas"/>
              <a:sym typeface="Consolas"/>
            </a:endParaRPr>
          </a:p>
          <a:p>
            <a:pPr indent="0" lvl="0" marL="3200400" rtl="0" algn="just">
              <a:spcBef>
                <a:spcPts val="0"/>
              </a:spcBef>
              <a:spcAft>
                <a:spcPts val="0"/>
              </a:spcAft>
              <a:buNone/>
            </a:pPr>
            <a:r>
              <a:rPr lang="tr-TR" sz="2000">
                <a:solidFill>
                  <a:schemeClr val="dk1"/>
                </a:solidFill>
                <a:latin typeface="Consolas"/>
                <a:ea typeface="Consolas"/>
                <a:cs typeface="Consolas"/>
                <a:sym typeface="Consolas"/>
              </a:rPr>
              <a:t>Thread 0 &gt; my_val = 7</a:t>
            </a:r>
            <a:endParaRPr sz="2000">
              <a:solidFill>
                <a:schemeClr val="dk1"/>
              </a:solidFill>
              <a:latin typeface="Consolas"/>
              <a:ea typeface="Consolas"/>
              <a:cs typeface="Consolas"/>
              <a:sym typeface="Consolas"/>
            </a:endParaRPr>
          </a:p>
          <a:p>
            <a:pPr indent="0" lvl="0" marL="3200400" rtl="0" algn="just">
              <a:spcBef>
                <a:spcPts val="0"/>
              </a:spcBef>
              <a:spcAft>
                <a:spcPts val="0"/>
              </a:spcAft>
              <a:buNone/>
            </a:pPr>
            <a:r>
              <a:rPr lang="tr-TR" sz="2000">
                <a:solidFill>
                  <a:schemeClr val="dk1"/>
                </a:solidFill>
                <a:latin typeface="Consolas"/>
                <a:ea typeface="Consolas"/>
                <a:cs typeface="Consolas"/>
                <a:sym typeface="Consolas"/>
              </a:rPr>
              <a:t>Thread 1 &gt; my_val = 19</a:t>
            </a:r>
            <a:endParaRPr sz="2000">
              <a:solidFill>
                <a:schemeClr val="dk1"/>
              </a:solidFill>
              <a:latin typeface="Consolas"/>
              <a:ea typeface="Consolas"/>
              <a:cs typeface="Consolas"/>
              <a:sym typeface="Consolas"/>
            </a:endParaRPr>
          </a:p>
          <a:p>
            <a:pPr indent="0" lvl="0" marL="3200400" rtl="0" algn="just">
              <a:spcBef>
                <a:spcPts val="0"/>
              </a:spcBef>
              <a:spcAft>
                <a:spcPts val="0"/>
              </a:spcAft>
              <a:buNone/>
            </a:pPr>
            <a:r>
              <a:t/>
            </a:r>
            <a:endParaRPr sz="2000">
              <a:solidFill>
                <a:schemeClr val="dk1"/>
              </a:solidFill>
              <a:latin typeface="Consolas"/>
              <a:ea typeface="Consolas"/>
              <a:cs typeface="Consolas"/>
              <a:sym typeface="Consolas"/>
            </a:endParaRPr>
          </a:p>
          <a:p>
            <a:pPr indent="0" lvl="0" marL="3200400" marR="0" rtl="0" algn="l">
              <a:lnSpc>
                <a:spcPct val="100000"/>
              </a:lnSpc>
              <a:spcBef>
                <a:spcPts val="0"/>
              </a:spcBef>
              <a:spcAft>
                <a:spcPts val="0"/>
              </a:spcAft>
              <a:buNone/>
            </a:pPr>
            <a:r>
              <a:rPr lang="tr-TR" sz="2000">
                <a:solidFill>
                  <a:schemeClr val="dk1"/>
                </a:solidFill>
                <a:latin typeface="Consolas"/>
                <a:ea typeface="Consolas"/>
                <a:cs typeface="Consolas"/>
                <a:sym typeface="Consolas"/>
              </a:rPr>
              <a:t>         veya</a:t>
            </a:r>
            <a:endParaRPr sz="2000">
              <a:solidFill>
                <a:schemeClr val="dk1"/>
              </a:solidFill>
              <a:latin typeface="Consolas"/>
              <a:ea typeface="Consolas"/>
              <a:cs typeface="Consolas"/>
              <a:sym typeface="Consolas"/>
            </a:endParaRPr>
          </a:p>
          <a:p>
            <a:pPr indent="0" lvl="0" marL="3200400" marR="0" rtl="0" algn="l">
              <a:lnSpc>
                <a:spcPct val="100000"/>
              </a:lnSpc>
              <a:spcBef>
                <a:spcPts val="0"/>
              </a:spcBef>
              <a:spcAft>
                <a:spcPts val="0"/>
              </a:spcAft>
              <a:buNone/>
            </a:pPr>
            <a:r>
              <a:t/>
            </a:r>
            <a:endParaRPr sz="2000">
              <a:solidFill>
                <a:schemeClr val="dk1"/>
              </a:solidFill>
              <a:latin typeface="Consolas"/>
              <a:ea typeface="Consolas"/>
              <a:cs typeface="Consolas"/>
              <a:sym typeface="Consolas"/>
            </a:endParaRPr>
          </a:p>
          <a:p>
            <a:pPr indent="0" lvl="0" marL="3200400" rtl="0" algn="just">
              <a:spcBef>
                <a:spcPts val="0"/>
              </a:spcBef>
              <a:spcAft>
                <a:spcPts val="0"/>
              </a:spcAft>
              <a:buClr>
                <a:schemeClr val="dk1"/>
              </a:buClr>
              <a:buSzPts val="1100"/>
              <a:buFont typeface="Arial"/>
              <a:buNone/>
            </a:pPr>
            <a:r>
              <a:rPr lang="tr-TR" sz="2000">
                <a:solidFill>
                  <a:schemeClr val="dk1"/>
                </a:solidFill>
                <a:latin typeface="Consolas"/>
                <a:ea typeface="Consolas"/>
                <a:cs typeface="Consolas"/>
                <a:sym typeface="Consolas"/>
              </a:rPr>
              <a:t>Thread 1 &gt; my_val = 19</a:t>
            </a:r>
            <a:endParaRPr sz="2000">
              <a:solidFill>
                <a:schemeClr val="dk1"/>
              </a:solidFill>
              <a:latin typeface="Consolas"/>
              <a:ea typeface="Consolas"/>
              <a:cs typeface="Consolas"/>
              <a:sym typeface="Consolas"/>
            </a:endParaRPr>
          </a:p>
          <a:p>
            <a:pPr indent="0" lvl="0" marL="3200400" rtl="0" algn="just">
              <a:spcBef>
                <a:spcPts val="0"/>
              </a:spcBef>
              <a:spcAft>
                <a:spcPts val="0"/>
              </a:spcAft>
              <a:buClr>
                <a:schemeClr val="dk1"/>
              </a:buClr>
              <a:buSzPts val="1100"/>
              <a:buFont typeface="Arial"/>
              <a:buNone/>
            </a:pPr>
            <a:r>
              <a:rPr lang="tr-TR" sz="2000">
                <a:solidFill>
                  <a:schemeClr val="dk1"/>
                </a:solidFill>
                <a:latin typeface="Consolas"/>
                <a:ea typeface="Consolas"/>
                <a:cs typeface="Consolas"/>
                <a:sym typeface="Consolas"/>
              </a:rPr>
              <a:t>Thread 0 &gt; my_val = 7</a:t>
            </a:r>
            <a:endParaRPr sz="2000">
              <a:solidFill>
                <a:schemeClr val="dk1"/>
              </a:solidFill>
              <a:latin typeface="Consolas"/>
              <a:ea typeface="Consolas"/>
              <a:cs typeface="Consolas"/>
              <a:sym typeface="Consolas"/>
            </a:endParaRPr>
          </a:p>
          <a:p>
            <a:pPr indent="0" lvl="0" marL="0" marR="0" rtl="0" algn="just">
              <a:lnSpc>
                <a:spcPct val="100000"/>
              </a:lnSpc>
              <a:spcBef>
                <a:spcPts val="0"/>
              </a:spcBef>
              <a:spcAft>
                <a:spcPts val="0"/>
              </a:spcAft>
              <a:buNone/>
            </a:pPr>
            <a:r>
              <a:t/>
            </a:r>
            <a:endParaRPr sz="2000">
              <a:solidFill>
                <a:schemeClr val="dk1"/>
              </a:solidFill>
              <a:latin typeface="Consolas"/>
              <a:ea typeface="Consolas"/>
              <a:cs typeface="Consolas"/>
              <a:sym typeface="Consolas"/>
            </a:endParaRPr>
          </a:p>
        </p:txBody>
      </p:sp>
      <p:pic>
        <p:nvPicPr>
          <p:cNvPr id="147" name="Google Shape;147;p9"/>
          <p:cNvPicPr preferRelativeResize="0"/>
          <p:nvPr/>
        </p:nvPicPr>
        <p:blipFill rotWithShape="1">
          <a:blip r:embed="rId4">
            <a:alphaModFix/>
          </a:blip>
          <a:srcRect b="43974" l="0" r="0" t="0"/>
          <a:stretch/>
        </p:blipFill>
        <p:spPr>
          <a:xfrm>
            <a:off x="1297100" y="2101100"/>
            <a:ext cx="10810875" cy="9977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pic>
        <p:nvPicPr>
          <p:cNvPr descr="Parallel computing for high-performance simulations" id="152" name="Google Shape;152;g3cc0b476a7a_0_3"/>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153" name="Google Shape;153;g3cc0b476a7a_0_3"/>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Nondeterminisim (Belirsizlik) - Örnek</a:t>
            </a:r>
            <a:endParaRPr/>
          </a:p>
        </p:txBody>
      </p:sp>
      <p:sp>
        <p:nvSpPr>
          <p:cNvPr id="154" name="Google Shape;154;g3cc0b476a7a_0_3"/>
          <p:cNvSpPr txBox="1"/>
          <p:nvPr/>
        </p:nvSpPr>
        <p:spPr>
          <a:xfrm>
            <a:off x="1164348" y="759758"/>
            <a:ext cx="10688700" cy="36711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0"/>
              </a:spcAft>
              <a:buClr>
                <a:schemeClr val="dk1"/>
              </a:buClr>
              <a:buSzPts val="1100"/>
              <a:buFont typeface="Arial"/>
              <a:buNone/>
            </a:pPr>
            <a:r>
              <a:rPr lang="tr-TR" sz="1700">
                <a:solidFill>
                  <a:schemeClr val="dk1"/>
                </a:solidFill>
                <a:latin typeface="Consolas"/>
                <a:ea typeface="Consolas"/>
                <a:cs typeface="Consolas"/>
                <a:sym typeface="Consolas"/>
              </a:rPr>
              <a:t>Bu örnek bize şunu öğretir:</a:t>
            </a:r>
            <a:endParaRPr sz="1700">
              <a:solidFill>
                <a:schemeClr val="dk1"/>
              </a:solidFill>
              <a:latin typeface="Consolas"/>
              <a:ea typeface="Consolas"/>
              <a:cs typeface="Consolas"/>
              <a:sym typeface="Consolas"/>
            </a:endParaRPr>
          </a:p>
          <a:p>
            <a:pPr indent="-336550" lvl="0" marL="457200" rtl="0" algn="l">
              <a:lnSpc>
                <a:spcPct val="115000"/>
              </a:lnSpc>
              <a:spcBef>
                <a:spcPts val="1200"/>
              </a:spcBef>
              <a:spcAft>
                <a:spcPts val="0"/>
              </a:spcAft>
              <a:buClr>
                <a:schemeClr val="dk1"/>
              </a:buClr>
              <a:buSzPts val="1700"/>
              <a:buChar char="●"/>
            </a:pPr>
            <a:r>
              <a:rPr b="1" lang="tr-TR" sz="1700">
                <a:solidFill>
                  <a:schemeClr val="dk1"/>
                </a:solidFill>
                <a:latin typeface="Consolas"/>
                <a:ea typeface="Consolas"/>
                <a:cs typeface="Consolas"/>
                <a:sym typeface="Consolas"/>
              </a:rPr>
              <a:t>Zamanlama:</a:t>
            </a:r>
            <a:r>
              <a:rPr lang="tr-TR" sz="1700">
                <a:solidFill>
                  <a:schemeClr val="dk1"/>
                </a:solidFill>
                <a:latin typeface="Consolas"/>
                <a:ea typeface="Consolas"/>
                <a:cs typeface="Consolas"/>
                <a:sym typeface="Consolas"/>
              </a:rPr>
              <a:t> Thread'ler birbirlerinden bağımsız ve eşzamanlı çalışırlar. Bir thread'in diğerinden daha önce kod satırına ulaşacağını varsayamazsın.</a:t>
            </a:r>
            <a:endParaRPr sz="1700">
              <a:solidFill>
                <a:schemeClr val="dk1"/>
              </a:solidFill>
              <a:latin typeface="Consolas"/>
              <a:ea typeface="Consolas"/>
              <a:cs typeface="Consolas"/>
              <a:sym typeface="Consolas"/>
            </a:endParaRPr>
          </a:p>
          <a:p>
            <a:pPr indent="-336550" lvl="0" marL="457200" rtl="0" algn="l">
              <a:lnSpc>
                <a:spcPct val="115000"/>
              </a:lnSpc>
              <a:spcBef>
                <a:spcPts val="0"/>
              </a:spcBef>
              <a:spcAft>
                <a:spcPts val="0"/>
              </a:spcAft>
              <a:buClr>
                <a:schemeClr val="dk1"/>
              </a:buClr>
              <a:buSzPts val="1700"/>
              <a:buChar char="●"/>
            </a:pPr>
            <a:r>
              <a:rPr b="1" lang="tr-TR" sz="1700">
                <a:solidFill>
                  <a:schemeClr val="dk1"/>
                </a:solidFill>
                <a:latin typeface="Consolas"/>
                <a:ea typeface="Consolas"/>
                <a:cs typeface="Consolas"/>
                <a:sym typeface="Consolas"/>
              </a:rPr>
              <a:t>Yarış Durumu (Race Condition):</a:t>
            </a:r>
            <a:r>
              <a:rPr lang="tr-TR" sz="1700">
                <a:solidFill>
                  <a:schemeClr val="dk1"/>
                </a:solidFill>
                <a:latin typeface="Consolas"/>
                <a:ea typeface="Consolas"/>
                <a:cs typeface="Consolas"/>
                <a:sym typeface="Consolas"/>
              </a:rPr>
              <a:t> Eğer bu iki thread aynı çıktı ekranını (standart output) kullanıyorsa, kimin önce yazdıracağı tamamen o anki işlemci zamanlamasına bağlıdır.</a:t>
            </a:r>
            <a:endParaRPr sz="1700">
              <a:solidFill>
                <a:schemeClr val="dk1"/>
              </a:solidFill>
              <a:latin typeface="Consolas"/>
              <a:ea typeface="Consolas"/>
              <a:cs typeface="Consolas"/>
              <a:sym typeface="Consolas"/>
            </a:endParaRPr>
          </a:p>
          <a:p>
            <a:pPr indent="-336550" lvl="0" marL="457200" rtl="0" algn="l">
              <a:lnSpc>
                <a:spcPct val="115000"/>
              </a:lnSpc>
              <a:spcBef>
                <a:spcPts val="0"/>
              </a:spcBef>
              <a:spcAft>
                <a:spcPts val="0"/>
              </a:spcAft>
              <a:buClr>
                <a:schemeClr val="dk1"/>
              </a:buClr>
              <a:buSzPts val="1700"/>
              <a:buChar char="●"/>
            </a:pPr>
            <a:r>
              <a:rPr b="1" lang="tr-TR" sz="1700">
                <a:solidFill>
                  <a:schemeClr val="dk1"/>
                </a:solidFill>
                <a:latin typeface="Consolas"/>
                <a:ea typeface="Consolas"/>
                <a:cs typeface="Consolas"/>
                <a:sym typeface="Consolas"/>
              </a:rPr>
              <a:t>Hata Ayıklama Zorluğu:</a:t>
            </a:r>
            <a:r>
              <a:rPr lang="tr-TR" sz="1700">
                <a:solidFill>
                  <a:schemeClr val="dk1"/>
                </a:solidFill>
                <a:latin typeface="Consolas"/>
                <a:ea typeface="Consolas"/>
                <a:cs typeface="Consolas"/>
                <a:sym typeface="Consolas"/>
              </a:rPr>
              <a:t> Programın bir kez çalıştırdığında A sonucunu vermesi, her zaman öyle çalışacağı anlamına gelmez. Bir sonraki denemede B sonucu çıkabilir.</a:t>
            </a:r>
            <a:endParaRPr sz="1700">
              <a:solidFill>
                <a:schemeClr val="dk1"/>
              </a:solidFill>
              <a:latin typeface="Consolas"/>
              <a:ea typeface="Consolas"/>
              <a:cs typeface="Consolas"/>
              <a:sym typeface="Consolas"/>
            </a:endParaRPr>
          </a:p>
          <a:p>
            <a:pPr indent="-336550" lvl="0" marL="457200" rtl="0" algn="l">
              <a:lnSpc>
                <a:spcPct val="115000"/>
              </a:lnSpc>
              <a:spcBef>
                <a:spcPts val="0"/>
              </a:spcBef>
              <a:spcAft>
                <a:spcPts val="0"/>
              </a:spcAft>
              <a:buClr>
                <a:schemeClr val="dk1"/>
              </a:buClr>
              <a:buSzPts val="1700"/>
              <a:buFont typeface="Consolas"/>
              <a:buChar char="●"/>
            </a:pPr>
            <a:r>
              <a:rPr lang="tr-TR" sz="1700">
                <a:solidFill>
                  <a:schemeClr val="dk1"/>
                </a:solidFill>
                <a:latin typeface="Consolas"/>
                <a:ea typeface="Consolas"/>
                <a:cs typeface="Consolas"/>
                <a:sym typeface="Consolas"/>
              </a:rPr>
              <a:t>Bu belirsizliği (sıralamayı) kontrol altına almak istersen, "Semafor" veya "Mutex" gibi </a:t>
            </a:r>
            <a:r>
              <a:rPr b="1" lang="tr-TR" sz="1700">
                <a:solidFill>
                  <a:schemeClr val="dk1"/>
                </a:solidFill>
                <a:latin typeface="Consolas"/>
                <a:ea typeface="Consolas"/>
                <a:cs typeface="Consolas"/>
                <a:sym typeface="Consolas"/>
              </a:rPr>
              <a:t>senkronizasyon</a:t>
            </a:r>
            <a:r>
              <a:rPr lang="tr-TR" sz="1700">
                <a:solidFill>
                  <a:schemeClr val="dk1"/>
                </a:solidFill>
                <a:latin typeface="Consolas"/>
                <a:ea typeface="Consolas"/>
                <a:cs typeface="Consolas"/>
                <a:sym typeface="Consolas"/>
              </a:rPr>
              <a:t> araçlarını kullanman gerekir.</a:t>
            </a:r>
            <a:endParaRPr sz="1700">
              <a:solidFill>
                <a:schemeClr val="dk1"/>
              </a:solidFill>
              <a:latin typeface="Consolas"/>
              <a:ea typeface="Consolas"/>
              <a:cs typeface="Consolas"/>
              <a:sym typeface="Consolas"/>
            </a:endParaRPr>
          </a:p>
          <a:p>
            <a:pPr indent="0" lvl="0" marL="0" marR="0" rtl="0" algn="just">
              <a:lnSpc>
                <a:spcPct val="100000"/>
              </a:lnSpc>
              <a:spcBef>
                <a:spcPts val="1200"/>
              </a:spcBef>
              <a:spcAft>
                <a:spcPts val="0"/>
              </a:spcAft>
              <a:buNone/>
            </a:pPr>
            <a:r>
              <a:t/>
            </a:r>
            <a:endParaRPr sz="1700">
              <a:solidFill>
                <a:schemeClr val="dk1"/>
              </a:solidFill>
              <a:latin typeface="Consolas"/>
              <a:ea typeface="Consolas"/>
              <a:cs typeface="Consolas"/>
              <a:sym typeface="Consolas"/>
            </a:endParaRPr>
          </a:p>
        </p:txBody>
      </p:sp>
      <p:pic>
        <p:nvPicPr>
          <p:cNvPr id="155" name="Google Shape;155;g3cc0b476a7a_0_3"/>
          <p:cNvPicPr preferRelativeResize="0"/>
          <p:nvPr/>
        </p:nvPicPr>
        <p:blipFill rotWithShape="1">
          <a:blip r:embed="rId4">
            <a:alphaModFix/>
          </a:blip>
          <a:srcRect b="6270" l="0" r="0" t="0"/>
          <a:stretch/>
        </p:blipFill>
        <p:spPr>
          <a:xfrm>
            <a:off x="7773900" y="3749550"/>
            <a:ext cx="4079150" cy="28675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pic>
        <p:nvPicPr>
          <p:cNvPr descr="Parallel computing for high-performance simulations" id="160" name="Google Shape;160;p10"/>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61" name="Google Shape;161;p10"/>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Dağıtık Hafızalı Programlar</a:t>
            </a:r>
            <a:endParaRPr/>
          </a:p>
        </p:txBody>
      </p:sp>
      <p:sp>
        <p:nvSpPr>
          <p:cNvPr id="162" name="Google Shape;162;p10"/>
          <p:cNvSpPr txBox="1"/>
          <p:nvPr/>
        </p:nvSpPr>
        <p:spPr>
          <a:xfrm>
            <a:off x="1164348" y="759758"/>
            <a:ext cx="5260945" cy="5324535"/>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Dağıtık hafızalı programlarda, çekirdekler doğrudan sadece kendi özel hafızalarına erişebilir.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Bu yapı için en yaygın kullanım yöntem </a:t>
            </a:r>
            <a:r>
              <a:rPr b="1" lang="tr-TR" sz="2000">
                <a:solidFill>
                  <a:schemeClr val="dk1"/>
                </a:solidFill>
                <a:latin typeface="Consolas"/>
                <a:ea typeface="Consolas"/>
                <a:cs typeface="Consolas"/>
                <a:sym typeface="Consolas"/>
              </a:rPr>
              <a:t>mesaj-geçişi (message-passing) </a:t>
            </a:r>
            <a:r>
              <a:rPr lang="tr-TR" sz="2000">
                <a:solidFill>
                  <a:schemeClr val="dk1"/>
                </a:solidFill>
                <a:latin typeface="Consolas"/>
                <a:ea typeface="Consolas"/>
                <a:cs typeface="Consolas"/>
                <a:sym typeface="Consolas"/>
              </a:rPr>
              <a:t>yöntemidir.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Dağıtık hafızalı sistemler paylaşımlı bir hafıza üzerinde de kolaylıkla uygulanabilir.</a:t>
            </a:r>
            <a:endParaRPr/>
          </a:p>
          <a:p>
            <a:pPr indent="-457200" lvl="0" marL="457200" marR="0" rtl="0" algn="just">
              <a:spcBef>
                <a:spcPts val="0"/>
              </a:spcBef>
              <a:spcAft>
                <a:spcPts val="0"/>
              </a:spcAft>
              <a:buClr>
                <a:schemeClr val="dk1"/>
              </a:buClr>
              <a:buSzPts val="2000"/>
              <a:buFont typeface="Arial"/>
              <a:buChar char="•"/>
            </a:pPr>
            <a:r>
              <a:rPr b="1" lang="tr-TR" sz="2000">
                <a:solidFill>
                  <a:schemeClr val="dk1"/>
                </a:solidFill>
                <a:latin typeface="Consolas"/>
                <a:ea typeface="Consolas"/>
                <a:cs typeface="Consolas"/>
                <a:sym typeface="Consolas"/>
              </a:rPr>
              <a:t>Programcı mantıksal olarak ortak belleği çeşitli iş parçacıkları için özel adres alanlarına bölebilir</a:t>
            </a:r>
            <a:r>
              <a:rPr lang="tr-TR" sz="2000">
                <a:solidFill>
                  <a:schemeClr val="dk1"/>
                </a:solidFill>
                <a:latin typeface="Consolas"/>
                <a:ea typeface="Consolas"/>
                <a:cs typeface="Consolas"/>
                <a:sym typeface="Consolas"/>
              </a:rPr>
              <a:t>.</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Daha sonra bir kitaplık veya derleyici iş parçacıkları arasında gereken iletişimi uygulayabilir.</a:t>
            </a:r>
            <a:endParaRPr/>
          </a:p>
        </p:txBody>
      </p:sp>
      <p:pic>
        <p:nvPicPr>
          <p:cNvPr descr="What is Distributed shared memory and its advantages - GeeksforGeeks" id="163" name="Google Shape;163;p10"/>
          <p:cNvPicPr preferRelativeResize="0"/>
          <p:nvPr/>
        </p:nvPicPr>
        <p:blipFill rotWithShape="1">
          <a:blip r:embed="rId4">
            <a:alphaModFix/>
          </a:blip>
          <a:srcRect b="0" l="0" r="0" t="0"/>
          <a:stretch/>
        </p:blipFill>
        <p:spPr>
          <a:xfrm>
            <a:off x="6569001" y="738771"/>
            <a:ext cx="5484164" cy="3273879"/>
          </a:xfrm>
          <a:prstGeom prst="rect">
            <a:avLst/>
          </a:prstGeom>
          <a:noFill/>
          <a:ln>
            <a:noFill/>
          </a:ln>
        </p:spPr>
      </p:pic>
      <p:pic>
        <p:nvPicPr>
          <p:cNvPr id="164" name="Google Shape;164;p10"/>
          <p:cNvPicPr preferRelativeResize="0"/>
          <p:nvPr/>
        </p:nvPicPr>
        <p:blipFill>
          <a:blip r:embed="rId5">
            <a:alphaModFix/>
          </a:blip>
          <a:stretch>
            <a:fillRect/>
          </a:stretch>
        </p:blipFill>
        <p:spPr>
          <a:xfrm>
            <a:off x="6683793" y="4175550"/>
            <a:ext cx="5461906" cy="251324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pic>
        <p:nvPicPr>
          <p:cNvPr descr="Parallel computing for high-performance simulations" id="169" name="Google Shape;169;p11"/>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70" name="Google Shape;170;p11"/>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Mesaj-geçişi (Message-passing)</a:t>
            </a:r>
            <a:endParaRPr/>
          </a:p>
        </p:txBody>
      </p:sp>
      <p:sp>
        <p:nvSpPr>
          <p:cNvPr id="171" name="Google Shape;171;p11"/>
          <p:cNvSpPr txBox="1"/>
          <p:nvPr/>
        </p:nvSpPr>
        <p:spPr>
          <a:xfrm>
            <a:off x="1164349" y="738775"/>
            <a:ext cx="10486088" cy="2246769"/>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Mesaj-geçişi API (Application Program Interface) en azından bir mesaj gönderim </a:t>
            </a:r>
            <a:r>
              <a:rPr b="1" lang="tr-TR" sz="2000">
                <a:solidFill>
                  <a:schemeClr val="dk1"/>
                </a:solidFill>
                <a:latin typeface="Consolas"/>
                <a:ea typeface="Consolas"/>
                <a:cs typeface="Consolas"/>
                <a:sym typeface="Consolas"/>
              </a:rPr>
              <a:t>(send) </a:t>
            </a:r>
            <a:r>
              <a:rPr lang="tr-TR" sz="2000">
                <a:solidFill>
                  <a:schemeClr val="dk1"/>
                </a:solidFill>
                <a:latin typeface="Consolas"/>
                <a:ea typeface="Consolas"/>
                <a:cs typeface="Consolas"/>
                <a:sym typeface="Consolas"/>
              </a:rPr>
              <a:t>ve alım </a:t>
            </a:r>
            <a:r>
              <a:rPr b="1" lang="tr-TR" sz="2000">
                <a:solidFill>
                  <a:schemeClr val="dk1"/>
                </a:solidFill>
                <a:latin typeface="Consolas"/>
                <a:ea typeface="Consolas"/>
                <a:cs typeface="Consolas"/>
                <a:sym typeface="Consolas"/>
              </a:rPr>
              <a:t>(receive) </a:t>
            </a:r>
            <a:r>
              <a:rPr lang="tr-TR" sz="2000">
                <a:solidFill>
                  <a:schemeClr val="dk1"/>
                </a:solidFill>
                <a:latin typeface="Consolas"/>
                <a:ea typeface="Consolas"/>
                <a:cs typeface="Consolas"/>
                <a:sym typeface="Consolas"/>
              </a:rPr>
              <a:t>fonksiyonu içermelidir.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İşlemler tipik olarak birbirlerini rütbeleri (rank) ile tanımlarlar. </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p adet işlem içeren dağıtık bir sistemde işlem rütbeleri (rank) 0, 1, …, p-1 olarak tanımlanır.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Mesaj-geçişi için en yaygın kullanılan API, </a:t>
            </a:r>
            <a:r>
              <a:rPr b="1" lang="tr-TR" sz="2000">
                <a:solidFill>
                  <a:schemeClr val="dk1"/>
                </a:solidFill>
                <a:latin typeface="Consolas"/>
                <a:ea typeface="Consolas"/>
                <a:cs typeface="Consolas"/>
                <a:sym typeface="Consolas"/>
              </a:rPr>
              <a:t>Message Passing Interface</a:t>
            </a:r>
            <a:r>
              <a:rPr lang="tr-TR" sz="2000">
                <a:solidFill>
                  <a:schemeClr val="dk1"/>
                </a:solidFill>
                <a:latin typeface="Consolas"/>
                <a:ea typeface="Consolas"/>
                <a:cs typeface="Consolas"/>
                <a:sym typeface="Consolas"/>
              </a:rPr>
              <a:t> veya </a:t>
            </a:r>
            <a:r>
              <a:rPr b="1" lang="tr-TR" sz="2000">
                <a:solidFill>
                  <a:schemeClr val="dk1"/>
                </a:solidFill>
                <a:latin typeface="Consolas"/>
                <a:ea typeface="Consolas"/>
                <a:cs typeface="Consolas"/>
                <a:sym typeface="Consolas"/>
              </a:rPr>
              <a:t>MPI</a:t>
            </a:r>
            <a:r>
              <a:rPr lang="tr-TR" sz="2000">
                <a:solidFill>
                  <a:schemeClr val="dk1"/>
                </a:solidFill>
                <a:latin typeface="Consolas"/>
                <a:ea typeface="Consolas"/>
                <a:cs typeface="Consolas"/>
                <a:sym typeface="Consolas"/>
              </a:rPr>
              <a:t>’dir.</a:t>
            </a:r>
            <a:endParaRPr/>
          </a:p>
        </p:txBody>
      </p:sp>
      <p:pic>
        <p:nvPicPr>
          <p:cNvPr descr="All About Message Passing Interface (MPI)" id="172" name="Google Shape;172;p11"/>
          <p:cNvPicPr preferRelativeResize="0"/>
          <p:nvPr/>
        </p:nvPicPr>
        <p:blipFill rotWithShape="1">
          <a:blip r:embed="rId4">
            <a:alphaModFix/>
          </a:blip>
          <a:srcRect b="23896" l="25519" r="25113" t="22201"/>
          <a:stretch/>
        </p:blipFill>
        <p:spPr>
          <a:xfrm>
            <a:off x="1240971" y="3105015"/>
            <a:ext cx="5641521" cy="3464844"/>
          </a:xfrm>
          <a:prstGeom prst="rect">
            <a:avLst/>
          </a:prstGeom>
          <a:noFill/>
          <a:ln>
            <a:noFill/>
          </a:ln>
        </p:spPr>
      </p:pic>
      <p:pic>
        <p:nvPicPr>
          <p:cNvPr descr="Message Passing Interface :: High Performance Computing" id="173" name="Google Shape;173;p11"/>
          <p:cNvPicPr preferRelativeResize="0"/>
          <p:nvPr/>
        </p:nvPicPr>
        <p:blipFill rotWithShape="1">
          <a:blip r:embed="rId5">
            <a:alphaModFix/>
          </a:blip>
          <a:srcRect b="0" l="0" r="0" t="0"/>
          <a:stretch/>
        </p:blipFill>
        <p:spPr>
          <a:xfrm>
            <a:off x="7217609" y="3539542"/>
            <a:ext cx="4963449" cy="2246768"/>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pic>
        <p:nvPicPr>
          <p:cNvPr descr="Parallel computing for high-performance simulations" id="178" name="Google Shape;178;p12"/>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79" name="Google Shape;179;p12"/>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Mesaj-geçişi (Message-passing) - Örnek</a:t>
            </a:r>
            <a:endParaRPr/>
          </a:p>
        </p:txBody>
      </p:sp>
      <p:pic>
        <p:nvPicPr>
          <p:cNvPr id="180" name="Google Shape;180;p12"/>
          <p:cNvPicPr preferRelativeResize="0"/>
          <p:nvPr/>
        </p:nvPicPr>
        <p:blipFill rotWithShape="1">
          <a:blip r:embed="rId4">
            <a:alphaModFix/>
          </a:blip>
          <a:srcRect b="0" l="0" r="0" t="0"/>
          <a:stretch/>
        </p:blipFill>
        <p:spPr>
          <a:xfrm>
            <a:off x="1410198" y="1178434"/>
            <a:ext cx="10612576" cy="450022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pic>
        <p:nvPicPr>
          <p:cNvPr descr="Parallel computing for high-performance simulations" id="185" name="Google Shape;185;p13"/>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86" name="Google Shape;186;p13"/>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Mesaj-geçişi (Message-passing) - Örnek</a:t>
            </a:r>
            <a:endParaRPr/>
          </a:p>
        </p:txBody>
      </p:sp>
      <p:pic>
        <p:nvPicPr>
          <p:cNvPr id="187" name="Google Shape;187;p13"/>
          <p:cNvPicPr preferRelativeResize="0"/>
          <p:nvPr/>
        </p:nvPicPr>
        <p:blipFill rotWithShape="1">
          <a:blip r:embed="rId4">
            <a:alphaModFix/>
          </a:blip>
          <a:srcRect b="0" l="0" r="0" t="0"/>
          <a:stretch/>
        </p:blipFill>
        <p:spPr>
          <a:xfrm>
            <a:off x="1410198" y="1178434"/>
            <a:ext cx="10612576" cy="4500221"/>
          </a:xfrm>
          <a:prstGeom prst="rect">
            <a:avLst/>
          </a:prstGeom>
          <a:noFill/>
          <a:ln>
            <a:noFill/>
          </a:ln>
        </p:spPr>
      </p:pic>
      <p:sp>
        <p:nvSpPr>
          <p:cNvPr id="188" name="Google Shape;188;p13"/>
          <p:cNvSpPr txBox="1"/>
          <p:nvPr/>
        </p:nvSpPr>
        <p:spPr>
          <a:xfrm>
            <a:off x="5868785" y="1950365"/>
            <a:ext cx="6040863"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tr-TR" sz="1800">
                <a:solidFill>
                  <a:srgbClr val="FF0000"/>
                </a:solidFill>
                <a:latin typeface="Arial"/>
                <a:ea typeface="Arial"/>
                <a:cs typeface="Arial"/>
                <a:sym typeface="Arial"/>
              </a:rPr>
              <a:t>Çağrılan işlemin rütbesini döndürür. Ardından işlemler rütbelerine göre dallanır. </a:t>
            </a:r>
            <a:endParaRPr/>
          </a:p>
        </p:txBody>
      </p:sp>
      <p:sp>
        <p:nvSpPr>
          <p:cNvPr id="189" name="Google Shape;189;p13"/>
          <p:cNvSpPr/>
          <p:nvPr/>
        </p:nvSpPr>
        <p:spPr>
          <a:xfrm>
            <a:off x="3541222" y="2036618"/>
            <a:ext cx="2327563" cy="473826"/>
          </a:xfrm>
          <a:prstGeom prst="roundRect">
            <a:avLst>
              <a:gd fmla="val 16667" name="adj"/>
            </a:avLst>
          </a:prstGeom>
          <a:noFill/>
          <a:ln cap="flat" cmpd="sng" w="1905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pic>
        <p:nvPicPr>
          <p:cNvPr descr="Parallel computing for high-performance simulations" id="194" name="Google Shape;194;p14"/>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195" name="Google Shape;195;p14"/>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Mesaj-geçişi (Message-passing) - Örnek</a:t>
            </a:r>
            <a:endParaRPr/>
          </a:p>
        </p:txBody>
      </p:sp>
      <p:pic>
        <p:nvPicPr>
          <p:cNvPr id="196" name="Google Shape;196;p14"/>
          <p:cNvPicPr preferRelativeResize="0"/>
          <p:nvPr/>
        </p:nvPicPr>
        <p:blipFill rotWithShape="1">
          <a:blip r:embed="rId4">
            <a:alphaModFix/>
          </a:blip>
          <a:srcRect b="0" l="0" r="0" t="0"/>
          <a:stretch/>
        </p:blipFill>
        <p:spPr>
          <a:xfrm>
            <a:off x="1410198" y="1178434"/>
            <a:ext cx="10612576" cy="4500221"/>
          </a:xfrm>
          <a:prstGeom prst="rect">
            <a:avLst/>
          </a:prstGeom>
          <a:noFill/>
          <a:ln>
            <a:noFill/>
          </a:ln>
        </p:spPr>
      </p:pic>
      <p:sp>
        <p:nvSpPr>
          <p:cNvPr id="197" name="Google Shape;197;p14"/>
          <p:cNvSpPr txBox="1"/>
          <p:nvPr/>
        </p:nvSpPr>
        <p:spPr>
          <a:xfrm>
            <a:off x="5491460" y="2512048"/>
            <a:ext cx="653131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tr-TR" sz="1800">
                <a:solidFill>
                  <a:srgbClr val="FF0000"/>
                </a:solidFill>
                <a:latin typeface="Arial"/>
                <a:ea typeface="Arial"/>
                <a:cs typeface="Arial"/>
                <a:sym typeface="Arial"/>
              </a:rPr>
              <a:t>Rütbesi 1 olan işlem, sprintf() fonksiyonu ile bir mesaj oluşturur. </a:t>
            </a:r>
            <a:endParaRPr/>
          </a:p>
        </p:txBody>
      </p:sp>
      <p:sp>
        <p:nvSpPr>
          <p:cNvPr id="198" name="Google Shape;198;p14"/>
          <p:cNvSpPr/>
          <p:nvPr/>
        </p:nvSpPr>
        <p:spPr>
          <a:xfrm>
            <a:off x="2377440" y="2921466"/>
            <a:ext cx="9326880" cy="473826"/>
          </a:xfrm>
          <a:prstGeom prst="roundRect">
            <a:avLst>
              <a:gd fmla="val 16667" name="adj"/>
            </a:avLst>
          </a:prstGeom>
          <a:noFill/>
          <a:ln cap="flat" cmpd="sng" w="1905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pic>
        <p:nvPicPr>
          <p:cNvPr descr="Parallel computing for high-performance simulations" id="203" name="Google Shape;203;p15"/>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04" name="Google Shape;204;p15"/>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Mesaj-geçişi (Message-passing) - Örnek</a:t>
            </a:r>
            <a:endParaRPr/>
          </a:p>
        </p:txBody>
      </p:sp>
      <p:pic>
        <p:nvPicPr>
          <p:cNvPr id="205" name="Google Shape;205;p15"/>
          <p:cNvPicPr preferRelativeResize="0"/>
          <p:nvPr/>
        </p:nvPicPr>
        <p:blipFill rotWithShape="1">
          <a:blip r:embed="rId4">
            <a:alphaModFix/>
          </a:blip>
          <a:srcRect b="0" l="0" r="0" t="0"/>
          <a:stretch/>
        </p:blipFill>
        <p:spPr>
          <a:xfrm>
            <a:off x="1410198" y="1178434"/>
            <a:ext cx="10612576" cy="4500221"/>
          </a:xfrm>
          <a:prstGeom prst="rect">
            <a:avLst/>
          </a:prstGeom>
          <a:noFill/>
          <a:ln>
            <a:noFill/>
          </a:ln>
        </p:spPr>
      </p:pic>
      <p:sp>
        <p:nvSpPr>
          <p:cNvPr id="206" name="Google Shape;206;p15"/>
          <p:cNvSpPr txBox="1"/>
          <p:nvPr/>
        </p:nvSpPr>
        <p:spPr>
          <a:xfrm>
            <a:off x="5556179" y="2614434"/>
            <a:ext cx="6733791"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tr-TR" sz="1600">
                <a:solidFill>
                  <a:srgbClr val="FF0000"/>
                </a:solidFill>
                <a:latin typeface="Arial"/>
                <a:ea typeface="Arial"/>
                <a:cs typeface="Arial"/>
                <a:sym typeface="Arial"/>
              </a:rPr>
              <a:t>Rütbesi 1 olan işlem, sprintf() ile oluşturduğu mesajı işlem 0’a gönderir. </a:t>
            </a:r>
            <a:endParaRPr/>
          </a:p>
        </p:txBody>
      </p:sp>
      <p:sp>
        <p:nvSpPr>
          <p:cNvPr id="207" name="Google Shape;207;p15"/>
          <p:cNvSpPr/>
          <p:nvPr/>
        </p:nvSpPr>
        <p:spPr>
          <a:xfrm>
            <a:off x="2319251" y="3284652"/>
            <a:ext cx="9326880" cy="473826"/>
          </a:xfrm>
          <a:prstGeom prst="roundRect">
            <a:avLst>
              <a:gd fmla="val 16667" name="adj"/>
            </a:avLst>
          </a:prstGeom>
          <a:noFill/>
          <a:ln cap="flat" cmpd="sng" w="1905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pic>
        <p:nvPicPr>
          <p:cNvPr descr="Parallel computing for high-performance simulations" id="212" name="Google Shape;212;p16"/>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13" name="Google Shape;213;p16"/>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Mesaj-geçişi (Message-passing) - Örnek</a:t>
            </a:r>
            <a:endParaRPr/>
          </a:p>
        </p:txBody>
      </p:sp>
      <p:pic>
        <p:nvPicPr>
          <p:cNvPr id="214" name="Google Shape;214;p16"/>
          <p:cNvPicPr preferRelativeResize="0"/>
          <p:nvPr/>
        </p:nvPicPr>
        <p:blipFill rotWithShape="1">
          <a:blip r:embed="rId4">
            <a:alphaModFix/>
          </a:blip>
          <a:srcRect b="0" l="0" r="0" t="0"/>
          <a:stretch/>
        </p:blipFill>
        <p:spPr>
          <a:xfrm>
            <a:off x="1410198" y="1178434"/>
            <a:ext cx="10612576" cy="4500221"/>
          </a:xfrm>
          <a:prstGeom prst="rect">
            <a:avLst/>
          </a:prstGeom>
          <a:noFill/>
          <a:ln>
            <a:noFill/>
          </a:ln>
        </p:spPr>
      </p:pic>
      <p:sp>
        <p:nvSpPr>
          <p:cNvPr id="215" name="Google Shape;215;p16"/>
          <p:cNvSpPr txBox="1"/>
          <p:nvPr/>
        </p:nvSpPr>
        <p:spPr>
          <a:xfrm>
            <a:off x="5556179" y="2614434"/>
            <a:ext cx="6733791"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tr-TR" sz="1600">
                <a:solidFill>
                  <a:srgbClr val="FF0000"/>
                </a:solidFill>
                <a:latin typeface="Arial"/>
                <a:ea typeface="Arial"/>
                <a:cs typeface="Arial"/>
                <a:sym typeface="Arial"/>
              </a:rPr>
              <a:t>İşlem 0, receive() fonksiyonu ile gelen mesajı alır. </a:t>
            </a:r>
            <a:endParaRPr/>
          </a:p>
        </p:txBody>
      </p:sp>
      <p:sp>
        <p:nvSpPr>
          <p:cNvPr id="216" name="Google Shape;216;p16"/>
          <p:cNvSpPr/>
          <p:nvPr/>
        </p:nvSpPr>
        <p:spPr>
          <a:xfrm>
            <a:off x="2409058" y="4078908"/>
            <a:ext cx="9326880" cy="473826"/>
          </a:xfrm>
          <a:prstGeom prst="roundRect">
            <a:avLst>
              <a:gd fmla="val 16667" name="adj"/>
            </a:avLst>
          </a:prstGeom>
          <a:noFill/>
          <a:ln cap="flat" cmpd="sng" w="1905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pic>
        <p:nvPicPr>
          <p:cNvPr descr="Parallel computing for high-performance simulations" id="221" name="Google Shape;221;p17"/>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22" name="Google Shape;222;p17"/>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Mesaj-geçişi (Message-passing) - Örnek</a:t>
            </a:r>
            <a:endParaRPr/>
          </a:p>
        </p:txBody>
      </p:sp>
      <p:pic>
        <p:nvPicPr>
          <p:cNvPr id="223" name="Google Shape;223;p17"/>
          <p:cNvPicPr preferRelativeResize="0"/>
          <p:nvPr/>
        </p:nvPicPr>
        <p:blipFill rotWithShape="1">
          <a:blip r:embed="rId4">
            <a:alphaModFix/>
          </a:blip>
          <a:srcRect b="25018" l="9411" r="21105" t="66882"/>
          <a:stretch/>
        </p:blipFill>
        <p:spPr>
          <a:xfrm>
            <a:off x="2686643" y="1469572"/>
            <a:ext cx="7373884" cy="364454"/>
          </a:xfrm>
          <a:prstGeom prst="rect">
            <a:avLst/>
          </a:prstGeom>
          <a:noFill/>
          <a:ln>
            <a:noFill/>
          </a:ln>
        </p:spPr>
      </p:pic>
      <p:sp>
        <p:nvSpPr>
          <p:cNvPr id="224" name="Google Shape;224;p17"/>
          <p:cNvSpPr/>
          <p:nvPr/>
        </p:nvSpPr>
        <p:spPr>
          <a:xfrm>
            <a:off x="4384815" y="1398084"/>
            <a:ext cx="1444485" cy="435942"/>
          </a:xfrm>
          <a:prstGeom prst="roundRect">
            <a:avLst>
              <a:gd fmla="val 16667" name="adj"/>
            </a:avLst>
          </a:prstGeom>
          <a:noFill/>
          <a:ln cap="flat" cmpd="sng" w="1905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5" name="Google Shape;225;p17"/>
          <p:cNvSpPr/>
          <p:nvPr/>
        </p:nvSpPr>
        <p:spPr>
          <a:xfrm>
            <a:off x="6165604" y="1398084"/>
            <a:ext cx="1753753" cy="435942"/>
          </a:xfrm>
          <a:prstGeom prst="roundRect">
            <a:avLst>
              <a:gd fmla="val 16667" name="adj"/>
            </a:avLst>
          </a:prstGeom>
          <a:noFill/>
          <a:ln cap="flat" cmpd="sng" w="19050">
            <a:solidFill>
              <a:srgbClr val="0B769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6" name="Google Shape;226;p17"/>
          <p:cNvSpPr/>
          <p:nvPr/>
        </p:nvSpPr>
        <p:spPr>
          <a:xfrm>
            <a:off x="8162158" y="1398084"/>
            <a:ext cx="720585" cy="435942"/>
          </a:xfrm>
          <a:prstGeom prst="roundRect">
            <a:avLst>
              <a:gd fmla="val 16667" name="adj"/>
            </a:avLst>
          </a:prstGeom>
          <a:noFill/>
          <a:ln cap="flat" cmpd="sng" w="19050">
            <a:solidFill>
              <a:srgbClr val="43D658"/>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7" name="Google Shape;227;p17"/>
          <p:cNvSpPr/>
          <p:nvPr/>
        </p:nvSpPr>
        <p:spPr>
          <a:xfrm>
            <a:off x="9166364" y="1398084"/>
            <a:ext cx="379813" cy="435942"/>
          </a:xfrm>
          <a:prstGeom prst="roundRect">
            <a:avLst>
              <a:gd fmla="val 16667" name="adj"/>
            </a:avLst>
          </a:prstGeom>
          <a:noFill/>
          <a:ln cap="flat" cmpd="sng" w="19050">
            <a:solidFill>
              <a:srgbClr val="FFC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8" name="Google Shape;228;p17"/>
          <p:cNvSpPr txBox="1"/>
          <p:nvPr/>
        </p:nvSpPr>
        <p:spPr>
          <a:xfrm>
            <a:off x="4792435" y="1933035"/>
            <a:ext cx="1104899"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tr-TR" sz="1600">
                <a:solidFill>
                  <a:srgbClr val="FF0000"/>
                </a:solidFill>
                <a:latin typeface="Arial"/>
                <a:ea typeface="Arial"/>
                <a:cs typeface="Arial"/>
                <a:sym typeface="Arial"/>
              </a:rPr>
              <a:t>Mesaj içeriği</a:t>
            </a:r>
            <a:endParaRPr/>
          </a:p>
        </p:txBody>
      </p:sp>
      <p:sp>
        <p:nvSpPr>
          <p:cNvPr id="229" name="Google Shape;229;p17"/>
          <p:cNvSpPr txBox="1"/>
          <p:nvPr/>
        </p:nvSpPr>
        <p:spPr>
          <a:xfrm>
            <a:off x="6566809" y="1933035"/>
            <a:ext cx="1039585" cy="58477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tr-TR" sz="1600">
                <a:solidFill>
                  <a:srgbClr val="0F4861"/>
                </a:solidFill>
                <a:latin typeface="Arial"/>
                <a:ea typeface="Arial"/>
                <a:cs typeface="Arial"/>
                <a:sym typeface="Arial"/>
              </a:rPr>
              <a:t>Mesaj türü</a:t>
            </a:r>
            <a:endParaRPr/>
          </a:p>
        </p:txBody>
      </p:sp>
      <p:sp>
        <p:nvSpPr>
          <p:cNvPr id="230" name="Google Shape;230;p17"/>
          <p:cNvSpPr txBox="1"/>
          <p:nvPr/>
        </p:nvSpPr>
        <p:spPr>
          <a:xfrm>
            <a:off x="8002657" y="1908559"/>
            <a:ext cx="1039585"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tr-TR" sz="1600">
                <a:solidFill>
                  <a:srgbClr val="43D658"/>
                </a:solidFill>
                <a:latin typeface="Arial"/>
                <a:ea typeface="Arial"/>
                <a:cs typeface="Arial"/>
                <a:sym typeface="Arial"/>
              </a:rPr>
              <a:t>Mesaj uzunluğu</a:t>
            </a:r>
            <a:endParaRPr/>
          </a:p>
        </p:txBody>
      </p:sp>
      <p:sp>
        <p:nvSpPr>
          <p:cNvPr id="231" name="Google Shape;231;p17"/>
          <p:cNvSpPr txBox="1"/>
          <p:nvPr/>
        </p:nvSpPr>
        <p:spPr>
          <a:xfrm>
            <a:off x="9264122" y="1905514"/>
            <a:ext cx="2294167"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tr-TR" sz="1600">
                <a:solidFill>
                  <a:srgbClr val="FFC000"/>
                </a:solidFill>
                <a:latin typeface="Arial"/>
                <a:ea typeface="Arial"/>
                <a:cs typeface="Arial"/>
                <a:sym typeface="Arial"/>
              </a:rPr>
              <a:t>Mesajı gönderen işlem (kaynak)</a:t>
            </a:r>
            <a:endParaRPr/>
          </a:p>
        </p:txBody>
      </p:sp>
      <p:sp>
        <p:nvSpPr>
          <p:cNvPr id="232" name="Google Shape;232;p17"/>
          <p:cNvSpPr txBox="1"/>
          <p:nvPr/>
        </p:nvSpPr>
        <p:spPr>
          <a:xfrm>
            <a:off x="1433426" y="2816618"/>
            <a:ext cx="4088946" cy="3693319"/>
          </a:xfrm>
          <a:prstGeom prst="rect">
            <a:avLst/>
          </a:prstGeom>
          <a:noFill/>
          <a:ln cap="flat" cmpd="sng" w="9525">
            <a:solidFill>
              <a:srgbClr val="00B0F0"/>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b="0" i="0" lang="tr-TR" sz="1800">
                <a:solidFill>
                  <a:srgbClr val="0C0C0C"/>
                </a:solidFill>
                <a:latin typeface="Arial"/>
                <a:ea typeface="Arial"/>
                <a:cs typeface="Arial"/>
                <a:sym typeface="Arial"/>
              </a:rPr>
              <a:t>process A</a:t>
            </a:r>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 Başka bir işlemciden mesaj al</a:t>
            </a:r>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message = </a:t>
            </a:r>
            <a:r>
              <a:rPr b="0" i="0" lang="tr-TR" sz="1800">
                <a:solidFill>
                  <a:srgbClr val="00B0F0"/>
                </a:solidFill>
                <a:latin typeface="Arial"/>
                <a:ea typeface="Arial"/>
                <a:cs typeface="Arial"/>
                <a:sym typeface="Arial"/>
              </a:rPr>
              <a:t>receive_message()</a:t>
            </a:r>
            <a:endParaRPr/>
          </a:p>
          <a:p>
            <a:pPr indent="0" lvl="0" marL="0" marR="0" rtl="0" algn="l">
              <a:spcBef>
                <a:spcPts val="0"/>
              </a:spcBef>
              <a:spcAft>
                <a:spcPts val="0"/>
              </a:spcAft>
              <a:buNone/>
            </a:pPr>
            <a:r>
              <a:t/>
            </a:r>
            <a:endParaRPr b="0" i="0" sz="1800">
              <a:solidFill>
                <a:srgbClr val="0C0C0C"/>
              </a:solidFill>
              <a:latin typeface="Arial"/>
              <a:ea typeface="Arial"/>
              <a:cs typeface="Arial"/>
              <a:sym typeface="Arial"/>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 Mesajı işle</a:t>
            </a:r>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a:t>
            </a:r>
            <a:r>
              <a:rPr b="0" i="0" lang="tr-TR" sz="1800">
                <a:solidFill>
                  <a:srgbClr val="FFC000"/>
                </a:solidFill>
                <a:latin typeface="Arial"/>
                <a:ea typeface="Arial"/>
                <a:cs typeface="Arial"/>
                <a:sym typeface="Arial"/>
              </a:rPr>
              <a:t>process_message</a:t>
            </a:r>
            <a:r>
              <a:rPr b="0" i="0" lang="tr-TR" sz="1800">
                <a:solidFill>
                  <a:srgbClr val="0C0C0C"/>
                </a:solidFill>
                <a:latin typeface="Arial"/>
                <a:ea typeface="Arial"/>
                <a:cs typeface="Arial"/>
                <a:sym typeface="Arial"/>
              </a:rPr>
              <a:t>(message)</a:t>
            </a:r>
            <a:endParaRPr/>
          </a:p>
          <a:p>
            <a:pPr indent="0" lvl="0" marL="0" marR="0" rtl="0" algn="l">
              <a:spcBef>
                <a:spcPts val="0"/>
              </a:spcBef>
              <a:spcAft>
                <a:spcPts val="0"/>
              </a:spcAft>
              <a:buNone/>
            </a:pPr>
            <a:r>
              <a:t/>
            </a:r>
            <a:endParaRPr b="0" i="0" sz="1800">
              <a:solidFill>
                <a:srgbClr val="0C0C0C"/>
              </a:solidFill>
              <a:latin typeface="Arial"/>
              <a:ea typeface="Arial"/>
              <a:cs typeface="Arial"/>
              <a:sym typeface="Arial"/>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process B</a:t>
            </a:r>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 Mesajı oluştur</a:t>
            </a:r>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message = </a:t>
            </a:r>
            <a:r>
              <a:rPr b="0" i="0" lang="tr-TR" sz="1800">
                <a:solidFill>
                  <a:srgbClr val="FFC000"/>
                </a:solidFill>
                <a:latin typeface="Arial"/>
                <a:ea typeface="Arial"/>
                <a:cs typeface="Arial"/>
                <a:sym typeface="Arial"/>
              </a:rPr>
              <a:t>create_message</a:t>
            </a:r>
            <a:r>
              <a:rPr b="0" i="0" lang="tr-TR" sz="1800">
                <a:solidFill>
                  <a:srgbClr val="0C0C0C"/>
                </a:solidFill>
                <a:latin typeface="Arial"/>
                <a:ea typeface="Arial"/>
                <a:cs typeface="Arial"/>
                <a:sym typeface="Arial"/>
              </a:rPr>
              <a:t>(data)</a:t>
            </a:r>
            <a:endParaRPr/>
          </a:p>
          <a:p>
            <a:pPr indent="0" lvl="0" marL="0" marR="0" rtl="0" algn="l">
              <a:spcBef>
                <a:spcPts val="0"/>
              </a:spcBef>
              <a:spcAft>
                <a:spcPts val="0"/>
              </a:spcAft>
              <a:buNone/>
            </a:pPr>
            <a:r>
              <a:t/>
            </a:r>
            <a:endParaRPr b="0" i="0" sz="1800">
              <a:solidFill>
                <a:srgbClr val="0C0C0C"/>
              </a:solidFill>
              <a:latin typeface="Arial"/>
              <a:ea typeface="Arial"/>
              <a:cs typeface="Arial"/>
              <a:sym typeface="Arial"/>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 Mesajı başka bir işlemciye gönder</a:t>
            </a:r>
            <a:endParaRPr/>
          </a:p>
          <a:p>
            <a:pPr indent="0" lvl="0" marL="0" marR="0" rtl="0" algn="l">
              <a:spcBef>
                <a:spcPts val="0"/>
              </a:spcBef>
              <a:spcAft>
                <a:spcPts val="0"/>
              </a:spcAft>
              <a:buNone/>
            </a:pPr>
            <a:r>
              <a:rPr b="0" i="0" lang="tr-TR" sz="1800">
                <a:solidFill>
                  <a:srgbClr val="0C0C0C"/>
                </a:solidFill>
                <a:latin typeface="Arial"/>
                <a:ea typeface="Arial"/>
                <a:cs typeface="Arial"/>
                <a:sym typeface="Arial"/>
              </a:rPr>
              <a:t>    </a:t>
            </a:r>
            <a:r>
              <a:rPr b="0" i="0" lang="tr-TR" sz="1800">
                <a:solidFill>
                  <a:srgbClr val="00B0F0"/>
                </a:solidFill>
                <a:latin typeface="Arial"/>
                <a:ea typeface="Arial"/>
                <a:cs typeface="Arial"/>
                <a:sym typeface="Arial"/>
              </a:rPr>
              <a:t>send_message(message, destination)</a:t>
            </a:r>
            <a:endParaRPr/>
          </a:p>
        </p:txBody>
      </p:sp>
      <p:sp>
        <p:nvSpPr>
          <p:cNvPr id="233" name="Google Shape;233;p17"/>
          <p:cNvSpPr txBox="1"/>
          <p:nvPr/>
        </p:nvSpPr>
        <p:spPr>
          <a:xfrm>
            <a:off x="5681278" y="3657028"/>
            <a:ext cx="6261546" cy="1815882"/>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0" i="0" lang="tr-TR" sz="1600">
                <a:solidFill>
                  <a:srgbClr val="262626"/>
                </a:solidFill>
                <a:latin typeface="Arial"/>
                <a:ea typeface="Arial"/>
                <a:cs typeface="Arial"/>
                <a:sym typeface="Arial"/>
              </a:rPr>
              <a:t>Bu pseudo code'da, işlemci A bir mesaj alır ve bu mesajı işler. İşlemci B ise bir mesaj oluşturur ve bu mesajı belirli bir hedef işlemciye gönderir. Mesaj iletimi, işlemciler arasında iletişimi sağlamak için kullanılan belirli bir iletişim mekanizmasına (örneğin, network socket veya shared memory) dayanır. </a:t>
            </a:r>
            <a:endParaRPr/>
          </a:p>
          <a:p>
            <a:pPr indent="0" lvl="0" marL="0" marR="0" rtl="0" algn="just">
              <a:spcBef>
                <a:spcPts val="0"/>
              </a:spcBef>
              <a:spcAft>
                <a:spcPts val="0"/>
              </a:spcAft>
              <a:buNone/>
            </a:pPr>
            <a:r>
              <a:rPr b="0" i="0" lang="tr-TR" sz="1600">
                <a:solidFill>
                  <a:srgbClr val="262626"/>
                </a:solidFill>
                <a:latin typeface="Arial"/>
                <a:ea typeface="Arial"/>
                <a:cs typeface="Arial"/>
                <a:sym typeface="Arial"/>
              </a:rPr>
              <a:t>Gerçek mesaj geçiş uygulaması, kullanılan programlama diline, platforma ve iletişim ihtiyaçlarına bağlı olarak değişebilir.</a:t>
            </a:r>
            <a:endParaRPr sz="1600">
              <a:solidFill>
                <a:srgbClr val="262626"/>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pic>
        <p:nvPicPr>
          <p:cNvPr descr="Parallel computing for high-performance simulations" id="238" name="Google Shape;238;p18"/>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39" name="Google Shape;239;p18"/>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Tek taraflı iletişim (One-sided communication)</a:t>
            </a:r>
            <a:endParaRPr b="1" sz="3000">
              <a:solidFill>
                <a:schemeClr val="dk1"/>
              </a:solidFill>
              <a:latin typeface="Consolas"/>
              <a:ea typeface="Consolas"/>
              <a:cs typeface="Consolas"/>
              <a:sym typeface="Consolas"/>
            </a:endParaRPr>
          </a:p>
        </p:txBody>
      </p:sp>
      <p:sp>
        <p:nvSpPr>
          <p:cNvPr id="240" name="Google Shape;240;p18"/>
          <p:cNvSpPr txBox="1"/>
          <p:nvPr/>
        </p:nvSpPr>
        <p:spPr>
          <a:xfrm>
            <a:off x="1164348" y="759758"/>
            <a:ext cx="10688700" cy="42624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400"/>
              </a:spcBef>
              <a:spcAft>
                <a:spcPts val="0"/>
              </a:spcAft>
              <a:buNone/>
            </a:pPr>
            <a:r>
              <a:rPr b="1" lang="tr-TR" sz="2100">
                <a:solidFill>
                  <a:schemeClr val="dk1"/>
                </a:solidFill>
                <a:latin typeface="Consolas"/>
                <a:ea typeface="Consolas"/>
                <a:cs typeface="Consolas"/>
                <a:sym typeface="Consolas"/>
              </a:rPr>
              <a:t>1. Mesaj Geçişli (Message Passing)</a:t>
            </a:r>
            <a:endParaRPr b="1" sz="2100">
              <a:solidFill>
                <a:schemeClr val="dk1"/>
              </a:solidFill>
              <a:latin typeface="Consolas"/>
              <a:ea typeface="Consolas"/>
              <a:cs typeface="Consolas"/>
              <a:sym typeface="Consolas"/>
            </a:endParaRPr>
          </a:p>
          <a:p>
            <a:pPr indent="-349250" lvl="0" marL="457200" rtl="0" algn="l">
              <a:lnSpc>
                <a:spcPct val="115000"/>
              </a:lnSpc>
              <a:spcBef>
                <a:spcPts val="1200"/>
              </a:spcBef>
              <a:spcAft>
                <a:spcPts val="0"/>
              </a:spcAft>
              <a:buClr>
                <a:schemeClr val="dk1"/>
              </a:buClr>
              <a:buSzPts val="1900"/>
              <a:buChar char="●"/>
            </a:pPr>
            <a:r>
              <a:rPr b="1" lang="tr-TR" sz="1900">
                <a:solidFill>
                  <a:schemeClr val="dk1"/>
                </a:solidFill>
                <a:latin typeface="Consolas"/>
                <a:ea typeface="Consolas"/>
                <a:cs typeface="Consolas"/>
                <a:sym typeface="Consolas"/>
              </a:rPr>
              <a:t>Kural:</a:t>
            </a:r>
            <a:r>
              <a:rPr lang="tr-TR" sz="1900">
                <a:solidFill>
                  <a:schemeClr val="dk1"/>
                </a:solidFill>
                <a:latin typeface="Consolas"/>
                <a:ea typeface="Consolas"/>
                <a:cs typeface="Consolas"/>
                <a:sym typeface="Consolas"/>
              </a:rPr>
              <a:t> İletişim iki taraflıdır; bir taraf "gönder" (send) diyorsa, diğer taraf mutlaka "al" (receive) demelidir.</a:t>
            </a:r>
            <a:endParaRPr sz="1900">
              <a:solidFill>
                <a:schemeClr val="dk1"/>
              </a:solidFill>
              <a:latin typeface="Consolas"/>
              <a:ea typeface="Consolas"/>
              <a:cs typeface="Consolas"/>
              <a:sym typeface="Consolas"/>
            </a:endParaRPr>
          </a:p>
          <a:p>
            <a:pPr indent="-349250" lvl="0" marL="457200" rtl="0" algn="l">
              <a:lnSpc>
                <a:spcPct val="115000"/>
              </a:lnSpc>
              <a:spcBef>
                <a:spcPts val="0"/>
              </a:spcBef>
              <a:spcAft>
                <a:spcPts val="0"/>
              </a:spcAft>
              <a:buClr>
                <a:schemeClr val="dk1"/>
              </a:buClr>
              <a:buSzPts val="1900"/>
              <a:buChar char="●"/>
            </a:pPr>
            <a:r>
              <a:rPr b="1" lang="tr-TR" sz="1900">
                <a:solidFill>
                  <a:schemeClr val="dk1"/>
                </a:solidFill>
                <a:latin typeface="Consolas"/>
                <a:ea typeface="Consolas"/>
                <a:cs typeface="Consolas"/>
                <a:sym typeface="Consolas"/>
              </a:rPr>
              <a:t>Eşleşme:</a:t>
            </a:r>
            <a:r>
              <a:rPr lang="tr-TR" sz="1900">
                <a:solidFill>
                  <a:schemeClr val="dk1"/>
                </a:solidFill>
                <a:latin typeface="Consolas"/>
                <a:ea typeface="Consolas"/>
                <a:cs typeface="Consolas"/>
                <a:sym typeface="Consolas"/>
              </a:rPr>
              <a:t> İki işlemin (process) birbiriyle senkronize olması şarttır.</a:t>
            </a:r>
            <a:endParaRPr sz="1900">
              <a:solidFill>
                <a:schemeClr val="dk1"/>
              </a:solidFill>
              <a:latin typeface="Consolas"/>
              <a:ea typeface="Consolas"/>
              <a:cs typeface="Consolas"/>
              <a:sym typeface="Consolas"/>
            </a:endParaRPr>
          </a:p>
          <a:p>
            <a:pPr indent="0" lvl="0" marL="0" rtl="0" algn="l">
              <a:lnSpc>
                <a:spcPct val="115000"/>
              </a:lnSpc>
              <a:spcBef>
                <a:spcPts val="1400"/>
              </a:spcBef>
              <a:spcAft>
                <a:spcPts val="0"/>
              </a:spcAft>
              <a:buNone/>
            </a:pPr>
            <a:r>
              <a:rPr b="1" lang="tr-TR" sz="2100">
                <a:solidFill>
                  <a:schemeClr val="dk1"/>
                </a:solidFill>
                <a:latin typeface="Consolas"/>
                <a:ea typeface="Consolas"/>
                <a:cs typeface="Consolas"/>
                <a:sym typeface="Consolas"/>
              </a:rPr>
              <a:t>2. Tek Taraflı İletişim (Remote Memory Access - RMA)</a:t>
            </a:r>
            <a:endParaRPr b="1" sz="2100">
              <a:solidFill>
                <a:schemeClr val="dk1"/>
              </a:solidFill>
              <a:latin typeface="Consolas"/>
              <a:ea typeface="Consolas"/>
              <a:cs typeface="Consolas"/>
              <a:sym typeface="Consolas"/>
            </a:endParaRPr>
          </a:p>
          <a:p>
            <a:pPr indent="-349250" lvl="0" marL="457200" rtl="0" algn="l">
              <a:lnSpc>
                <a:spcPct val="115000"/>
              </a:lnSpc>
              <a:spcBef>
                <a:spcPts val="1200"/>
              </a:spcBef>
              <a:spcAft>
                <a:spcPts val="0"/>
              </a:spcAft>
              <a:buClr>
                <a:schemeClr val="dk1"/>
              </a:buClr>
              <a:buSzPts val="1900"/>
              <a:buChar char="●"/>
            </a:pPr>
            <a:r>
              <a:rPr b="1" lang="tr-TR" sz="1900">
                <a:solidFill>
                  <a:schemeClr val="dk1"/>
                </a:solidFill>
                <a:latin typeface="Consolas"/>
                <a:ea typeface="Consolas"/>
                <a:cs typeface="Consolas"/>
                <a:sym typeface="Consolas"/>
              </a:rPr>
              <a:t>Kural:</a:t>
            </a:r>
            <a:r>
              <a:rPr lang="tr-TR" sz="1900">
                <a:solidFill>
                  <a:schemeClr val="dk1"/>
                </a:solidFill>
                <a:latin typeface="Consolas"/>
                <a:ea typeface="Consolas"/>
                <a:cs typeface="Consolas"/>
                <a:sym typeface="Consolas"/>
              </a:rPr>
              <a:t> Bir işlem, karşı tarafın onayına veya işlemine gerek duymadan onun belleğine veri yazar veya oradan veri okur.</a:t>
            </a:r>
            <a:endParaRPr sz="1900">
              <a:solidFill>
                <a:schemeClr val="dk1"/>
              </a:solidFill>
              <a:latin typeface="Consolas"/>
              <a:ea typeface="Consolas"/>
              <a:cs typeface="Consolas"/>
              <a:sym typeface="Consolas"/>
            </a:endParaRPr>
          </a:p>
          <a:p>
            <a:pPr indent="-349250" lvl="0" marL="457200" rtl="0" algn="l">
              <a:lnSpc>
                <a:spcPct val="115000"/>
              </a:lnSpc>
              <a:spcBef>
                <a:spcPts val="0"/>
              </a:spcBef>
              <a:spcAft>
                <a:spcPts val="0"/>
              </a:spcAft>
              <a:buClr>
                <a:schemeClr val="dk1"/>
              </a:buClr>
              <a:buSzPts val="1900"/>
              <a:buChar char="●"/>
            </a:pPr>
            <a:r>
              <a:rPr b="1" lang="tr-TR" sz="1900">
                <a:solidFill>
                  <a:schemeClr val="dk1"/>
                </a:solidFill>
                <a:latin typeface="Consolas"/>
                <a:ea typeface="Consolas"/>
                <a:cs typeface="Consolas"/>
                <a:sym typeface="Consolas"/>
              </a:rPr>
              <a:t>Yön:</a:t>
            </a:r>
            <a:r>
              <a:rPr lang="tr-TR" sz="1900">
                <a:solidFill>
                  <a:schemeClr val="dk1"/>
                </a:solidFill>
                <a:latin typeface="Consolas"/>
                <a:ea typeface="Consolas"/>
                <a:cs typeface="Consolas"/>
                <a:sym typeface="Consolas"/>
              </a:rPr>
              <a:t> İletişim o an için sadece </a:t>
            </a:r>
            <a:r>
              <a:rPr b="1" lang="tr-TR" sz="1900">
                <a:solidFill>
                  <a:schemeClr val="dk1"/>
                </a:solidFill>
                <a:latin typeface="Consolas"/>
                <a:ea typeface="Consolas"/>
                <a:cs typeface="Consolas"/>
                <a:sym typeface="Consolas"/>
              </a:rPr>
              <a:t>tek yönlüdür</a:t>
            </a:r>
            <a:r>
              <a:rPr lang="tr-TR" sz="1900">
                <a:solidFill>
                  <a:schemeClr val="dk1"/>
                </a:solidFill>
                <a:latin typeface="Consolas"/>
                <a:ea typeface="Consolas"/>
                <a:cs typeface="Consolas"/>
                <a:sym typeface="Consolas"/>
              </a:rPr>
              <a:t>. Aynı anda hem gönderici hem alıcı olunamaz.</a:t>
            </a:r>
            <a:endParaRPr sz="1900">
              <a:solidFill>
                <a:schemeClr val="dk1"/>
              </a:solidFill>
              <a:latin typeface="Consolas"/>
              <a:ea typeface="Consolas"/>
              <a:cs typeface="Consolas"/>
              <a:sym typeface="Consolas"/>
            </a:endParaRPr>
          </a:p>
          <a:p>
            <a:pPr indent="0" lvl="0" marL="0" marR="0" rtl="0" algn="just">
              <a:spcBef>
                <a:spcPts val="1200"/>
              </a:spcBef>
              <a:spcAft>
                <a:spcPts val="0"/>
              </a:spcAft>
              <a:buNone/>
            </a:pPr>
            <a:r>
              <a:t/>
            </a:r>
            <a:endParaRPr sz="2800">
              <a:solidFill>
                <a:schemeClr val="dk1"/>
              </a:solidFill>
              <a:latin typeface="Consolas"/>
              <a:ea typeface="Consolas"/>
              <a:cs typeface="Consolas"/>
              <a:sym typeface="Consolas"/>
            </a:endParaRPr>
          </a:p>
        </p:txBody>
      </p:sp>
      <p:graphicFrame>
        <p:nvGraphicFramePr>
          <p:cNvPr id="241" name="Google Shape;241;p18"/>
          <p:cNvGraphicFramePr/>
          <p:nvPr/>
        </p:nvGraphicFramePr>
        <p:xfrm>
          <a:off x="1534750" y="4731400"/>
          <a:ext cx="3000000" cy="3000000"/>
        </p:xfrm>
        <a:graphic>
          <a:graphicData uri="http://schemas.openxmlformats.org/drawingml/2006/table">
            <a:tbl>
              <a:tblPr>
                <a:noFill/>
                <a:tableStyleId>{F16F06B3-EFA5-48B0-B39D-601996B61450}</a:tableStyleId>
              </a:tblPr>
              <a:tblGrid>
                <a:gridCol w="1403750"/>
                <a:gridCol w="3762625"/>
                <a:gridCol w="5065075"/>
              </a:tblGrid>
              <a:tr h="352425">
                <a:tc>
                  <a:txBody>
                    <a:bodyPr/>
                    <a:lstStyle/>
                    <a:p>
                      <a:pPr indent="0" lvl="0" marL="0" rtl="0" algn="l">
                        <a:lnSpc>
                          <a:spcPct val="115000"/>
                        </a:lnSpc>
                        <a:spcBef>
                          <a:spcPts val="0"/>
                        </a:spcBef>
                        <a:spcAft>
                          <a:spcPts val="0"/>
                        </a:spcAft>
                        <a:buNone/>
                      </a:pPr>
                      <a:r>
                        <a:rPr b="1" lang="tr-TR" sz="1500">
                          <a:solidFill>
                            <a:srgbClr val="1F1F1F"/>
                          </a:solidFill>
                        </a:rPr>
                        <a:t>Özellik</a:t>
                      </a:r>
                      <a:endParaRPr b="1"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tr-TR" sz="1500">
                          <a:solidFill>
                            <a:srgbClr val="1F1F1F"/>
                          </a:solidFill>
                        </a:rPr>
                        <a:t>Mesaj Geçişli</a:t>
                      </a:r>
                      <a:endParaRPr b="1"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tr-TR" sz="1500">
                          <a:solidFill>
                            <a:srgbClr val="1F1F1F"/>
                          </a:solidFill>
                        </a:rPr>
                        <a:t>Tek Taraflı (RMA)</a:t>
                      </a:r>
                      <a:endParaRPr b="1"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solidFill>
                      <a:srgbClr val="EFEFEF"/>
                    </a:solidFill>
                  </a:tcPr>
                </a:tc>
              </a:tr>
              <a:tr h="352425">
                <a:tc>
                  <a:txBody>
                    <a:bodyPr/>
                    <a:lstStyle/>
                    <a:p>
                      <a:pPr indent="0" lvl="0" marL="0" rtl="0" algn="l">
                        <a:lnSpc>
                          <a:spcPct val="115000"/>
                        </a:lnSpc>
                        <a:spcBef>
                          <a:spcPts val="0"/>
                        </a:spcBef>
                        <a:spcAft>
                          <a:spcPts val="0"/>
                        </a:spcAft>
                        <a:buNone/>
                      </a:pPr>
                      <a:r>
                        <a:rPr b="1" lang="tr-TR" sz="1500">
                          <a:solidFill>
                            <a:srgbClr val="1F1F1F"/>
                          </a:solidFill>
                        </a:rPr>
                        <a:t>Etkileşim</a:t>
                      </a:r>
                      <a:endParaRPr b="1"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rPr>
                        <a:t>Çift taraflı (Send/Recv eşleşmeli)</a:t>
                      </a:r>
                      <a:endParaRPr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rPr>
                        <a:t>Tek taraflı (Doğrudan bellek erişimi)</a:t>
                      </a:r>
                      <a:endParaRPr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r h="352425">
                <a:tc>
                  <a:txBody>
                    <a:bodyPr/>
                    <a:lstStyle/>
                    <a:p>
                      <a:pPr indent="0" lvl="0" marL="0" rtl="0" algn="l">
                        <a:lnSpc>
                          <a:spcPct val="115000"/>
                        </a:lnSpc>
                        <a:spcBef>
                          <a:spcPts val="0"/>
                        </a:spcBef>
                        <a:spcAft>
                          <a:spcPts val="0"/>
                        </a:spcAft>
                        <a:buNone/>
                      </a:pPr>
                      <a:r>
                        <a:rPr b="1" lang="tr-TR" sz="1500">
                          <a:solidFill>
                            <a:srgbClr val="1F1F1F"/>
                          </a:solidFill>
                        </a:rPr>
                        <a:t>Esneklik</a:t>
                      </a:r>
                      <a:endParaRPr b="1"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rPr>
                        <a:t>Yüksek</a:t>
                      </a:r>
                      <a:endParaRPr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rPr>
                        <a:t>Daha kısıtlı</a:t>
                      </a:r>
                      <a:endParaRPr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r h="352425">
                <a:tc>
                  <a:txBody>
                    <a:bodyPr/>
                    <a:lstStyle/>
                    <a:p>
                      <a:pPr indent="0" lvl="0" marL="0" rtl="0" algn="l">
                        <a:lnSpc>
                          <a:spcPct val="115000"/>
                        </a:lnSpc>
                        <a:spcBef>
                          <a:spcPts val="0"/>
                        </a:spcBef>
                        <a:spcAft>
                          <a:spcPts val="0"/>
                        </a:spcAft>
                        <a:buNone/>
                      </a:pPr>
                      <a:r>
                        <a:rPr b="1" lang="tr-TR" sz="1500">
                          <a:solidFill>
                            <a:srgbClr val="1F1F1F"/>
                          </a:solidFill>
                        </a:rPr>
                        <a:t>Verimlilik</a:t>
                      </a:r>
                      <a:endParaRPr b="1"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rPr>
                        <a:t>Senkronizasyon yükü olabilir</a:t>
                      </a:r>
                      <a:endParaRPr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rPr>
                        <a:t>İletişim maliyeti yüksek sistemlerde daha hızlı</a:t>
                      </a:r>
                      <a:endParaRPr sz="1500">
                        <a:solidFill>
                          <a:srgbClr val="1F1F1F"/>
                        </a:solidFill>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pic>
        <p:nvPicPr>
          <p:cNvPr descr="Parallel computing for high-performance simulations" id="246" name="Google Shape;246;g3cc0b476a7a_0_17"/>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247" name="Google Shape;247;g3cc0b476a7a_0_17"/>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Tek taraflı iletişim vs Mesaj Geçişli Model</a:t>
            </a:r>
            <a:endParaRPr b="1" sz="3000">
              <a:solidFill>
                <a:schemeClr val="dk1"/>
              </a:solidFill>
              <a:latin typeface="Consolas"/>
              <a:ea typeface="Consolas"/>
              <a:cs typeface="Consolas"/>
              <a:sym typeface="Consolas"/>
            </a:endParaRPr>
          </a:p>
        </p:txBody>
      </p:sp>
      <p:sp>
        <p:nvSpPr>
          <p:cNvPr id="248" name="Google Shape;248;g3cc0b476a7a_0_17"/>
          <p:cNvSpPr txBox="1"/>
          <p:nvPr/>
        </p:nvSpPr>
        <p:spPr>
          <a:xfrm>
            <a:off x="1164348" y="759758"/>
            <a:ext cx="10688700" cy="57609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400"/>
              </a:spcBef>
              <a:spcAft>
                <a:spcPts val="0"/>
              </a:spcAft>
              <a:buClr>
                <a:schemeClr val="dk1"/>
              </a:buClr>
              <a:buSzPts val="1100"/>
              <a:buFont typeface="Arial"/>
              <a:buNone/>
            </a:pPr>
            <a:r>
              <a:rPr b="1" lang="tr-TR" sz="1800">
                <a:solidFill>
                  <a:schemeClr val="dk1"/>
                </a:solidFill>
                <a:latin typeface="Consolas"/>
                <a:ea typeface="Consolas"/>
                <a:cs typeface="Consolas"/>
                <a:sym typeface="Consolas"/>
              </a:rPr>
              <a:t>1. Mesaj Geçişli Model (Çift Taraflı)</a:t>
            </a:r>
            <a:endParaRPr b="1" sz="1800">
              <a:solidFill>
                <a:schemeClr val="dk1"/>
              </a:solidFill>
              <a:latin typeface="Consolas"/>
              <a:ea typeface="Consolas"/>
              <a:cs typeface="Consolas"/>
              <a:sym typeface="Consolas"/>
            </a:endParaRPr>
          </a:p>
          <a:p>
            <a:pPr indent="0" lvl="0" marL="0" rtl="0" algn="l">
              <a:lnSpc>
                <a:spcPct val="115000"/>
              </a:lnSpc>
              <a:spcBef>
                <a:spcPts val="1200"/>
              </a:spcBef>
              <a:spcAft>
                <a:spcPts val="0"/>
              </a:spcAft>
              <a:buClr>
                <a:schemeClr val="dk1"/>
              </a:buClr>
              <a:buSzPts val="1100"/>
              <a:buFont typeface="Arial"/>
              <a:buNone/>
            </a:pPr>
            <a:r>
              <a:rPr lang="tr-TR" sz="1600">
                <a:solidFill>
                  <a:schemeClr val="dk1"/>
                </a:solidFill>
                <a:latin typeface="Consolas"/>
                <a:ea typeface="Consolas"/>
                <a:cs typeface="Consolas"/>
                <a:sym typeface="Consolas"/>
              </a:rPr>
              <a:t>Bu model, bir </a:t>
            </a:r>
            <a:r>
              <a:rPr b="1" lang="tr-TR" sz="1600">
                <a:solidFill>
                  <a:schemeClr val="dk1"/>
                </a:solidFill>
                <a:latin typeface="Consolas"/>
                <a:ea typeface="Consolas"/>
                <a:cs typeface="Consolas"/>
                <a:sym typeface="Consolas"/>
              </a:rPr>
              <a:t>Kargo Teslimatına</a:t>
            </a:r>
            <a:r>
              <a:rPr lang="tr-TR" sz="1600">
                <a:solidFill>
                  <a:schemeClr val="dk1"/>
                </a:solidFill>
                <a:latin typeface="Consolas"/>
                <a:ea typeface="Consolas"/>
                <a:cs typeface="Consolas"/>
                <a:sym typeface="Consolas"/>
              </a:rPr>
              <a:t> benzer.</a:t>
            </a:r>
            <a:endParaRPr sz="1600">
              <a:solidFill>
                <a:schemeClr val="dk1"/>
              </a:solidFill>
              <a:latin typeface="Consolas"/>
              <a:ea typeface="Consolas"/>
              <a:cs typeface="Consolas"/>
              <a:sym typeface="Consolas"/>
            </a:endParaRPr>
          </a:p>
          <a:p>
            <a:pPr indent="-330200" lvl="0" marL="457200" rtl="0" algn="l">
              <a:lnSpc>
                <a:spcPct val="115000"/>
              </a:lnSpc>
              <a:spcBef>
                <a:spcPts val="1200"/>
              </a:spcBef>
              <a:spcAft>
                <a:spcPts val="0"/>
              </a:spcAft>
              <a:buClr>
                <a:schemeClr val="dk1"/>
              </a:buClr>
              <a:buSzPts val="1600"/>
              <a:buChar char="●"/>
            </a:pPr>
            <a:r>
              <a:rPr b="1" lang="tr-TR" sz="1600">
                <a:solidFill>
                  <a:schemeClr val="dk1"/>
                </a:solidFill>
                <a:latin typeface="Consolas"/>
                <a:ea typeface="Consolas"/>
                <a:cs typeface="Consolas"/>
                <a:sym typeface="Consolas"/>
              </a:rPr>
              <a:t>Senaryo:</a:t>
            </a:r>
            <a:r>
              <a:rPr lang="tr-TR" sz="1600">
                <a:solidFill>
                  <a:schemeClr val="dk1"/>
                </a:solidFill>
                <a:latin typeface="Consolas"/>
                <a:ea typeface="Consolas"/>
                <a:cs typeface="Consolas"/>
                <a:sym typeface="Consolas"/>
              </a:rPr>
              <a:t> Bir paket gönderiyorsunuz.</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Char char="●"/>
            </a:pPr>
            <a:r>
              <a:rPr b="1" lang="tr-TR" sz="1600">
                <a:solidFill>
                  <a:schemeClr val="dk1"/>
                </a:solidFill>
                <a:latin typeface="Consolas"/>
                <a:ea typeface="Consolas"/>
                <a:cs typeface="Consolas"/>
                <a:sym typeface="Consolas"/>
              </a:rPr>
              <a:t>İşleyiş:</a:t>
            </a:r>
            <a:r>
              <a:rPr lang="tr-TR" sz="1600">
                <a:solidFill>
                  <a:schemeClr val="dk1"/>
                </a:solidFill>
                <a:latin typeface="Consolas"/>
                <a:ea typeface="Consolas"/>
                <a:cs typeface="Consolas"/>
                <a:sym typeface="Consolas"/>
              </a:rPr>
              <a:t> Sizin paketi "göndermeniz" (send) yetmez; karşı tarafın da kapıyı açıp o paketi "teslim alması" (receive) gerekir.</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Char char="●"/>
            </a:pPr>
            <a:r>
              <a:rPr b="1" lang="tr-TR" sz="1600">
                <a:solidFill>
                  <a:schemeClr val="dk1"/>
                </a:solidFill>
                <a:latin typeface="Consolas"/>
                <a:ea typeface="Consolas"/>
                <a:cs typeface="Consolas"/>
                <a:sym typeface="Consolas"/>
              </a:rPr>
              <a:t>Eşleşme:</a:t>
            </a:r>
            <a:r>
              <a:rPr lang="tr-TR" sz="1600">
                <a:solidFill>
                  <a:schemeClr val="dk1"/>
                </a:solidFill>
                <a:latin typeface="Consolas"/>
                <a:ea typeface="Consolas"/>
                <a:cs typeface="Consolas"/>
                <a:sym typeface="Consolas"/>
              </a:rPr>
              <a:t> İki taraf da o an orada bulunmalı ve iletişim karşılıklı onay ile tamamlanmalıdır. Eğer alıcı kapıda değilse, gönderici beklemek zorunda kalabilir (senkronizasyon).</a:t>
            </a:r>
            <a:endParaRPr sz="1600">
              <a:solidFill>
                <a:schemeClr val="dk1"/>
              </a:solidFill>
              <a:latin typeface="Consolas"/>
              <a:ea typeface="Consolas"/>
              <a:cs typeface="Consolas"/>
              <a:sym typeface="Consolas"/>
            </a:endParaRPr>
          </a:p>
          <a:p>
            <a:pPr indent="0" lvl="0" marL="0" rtl="0" algn="l">
              <a:lnSpc>
                <a:spcPct val="115000"/>
              </a:lnSpc>
              <a:spcBef>
                <a:spcPts val="1400"/>
              </a:spcBef>
              <a:spcAft>
                <a:spcPts val="0"/>
              </a:spcAft>
              <a:buClr>
                <a:schemeClr val="dk1"/>
              </a:buClr>
              <a:buSzPts val="1100"/>
              <a:buFont typeface="Arial"/>
              <a:buNone/>
            </a:pPr>
            <a:r>
              <a:rPr b="1" lang="tr-TR" sz="1800">
                <a:solidFill>
                  <a:schemeClr val="dk1"/>
                </a:solidFill>
                <a:latin typeface="Consolas"/>
                <a:ea typeface="Consolas"/>
                <a:cs typeface="Consolas"/>
                <a:sym typeface="Consolas"/>
              </a:rPr>
              <a:t>2. Tek Taraflı İletişim (Uzak Hafıza Erişimi)</a:t>
            </a:r>
            <a:endParaRPr b="1" sz="1800">
              <a:solidFill>
                <a:schemeClr val="dk1"/>
              </a:solidFill>
              <a:latin typeface="Consolas"/>
              <a:ea typeface="Consolas"/>
              <a:cs typeface="Consolas"/>
              <a:sym typeface="Consolas"/>
            </a:endParaRPr>
          </a:p>
          <a:p>
            <a:pPr indent="0" lvl="0" marL="0" rtl="0" algn="l">
              <a:lnSpc>
                <a:spcPct val="115000"/>
              </a:lnSpc>
              <a:spcBef>
                <a:spcPts val="1200"/>
              </a:spcBef>
              <a:spcAft>
                <a:spcPts val="0"/>
              </a:spcAft>
              <a:buClr>
                <a:schemeClr val="dk1"/>
              </a:buClr>
              <a:buSzPts val="1100"/>
              <a:buFont typeface="Arial"/>
              <a:buNone/>
            </a:pPr>
            <a:r>
              <a:rPr lang="tr-TR" sz="1600">
                <a:solidFill>
                  <a:schemeClr val="dk1"/>
                </a:solidFill>
                <a:latin typeface="Consolas"/>
                <a:ea typeface="Consolas"/>
                <a:cs typeface="Consolas"/>
                <a:sym typeface="Consolas"/>
              </a:rPr>
              <a:t>Bu model, bir </a:t>
            </a:r>
            <a:r>
              <a:rPr b="1" lang="tr-TR" sz="1600">
                <a:solidFill>
                  <a:schemeClr val="dk1"/>
                </a:solidFill>
                <a:latin typeface="Consolas"/>
                <a:ea typeface="Consolas"/>
                <a:cs typeface="Consolas"/>
                <a:sym typeface="Consolas"/>
              </a:rPr>
              <a:t>Emanet Kasasına veya Posta Kutusuna</a:t>
            </a:r>
            <a:r>
              <a:rPr lang="tr-TR" sz="1600">
                <a:solidFill>
                  <a:schemeClr val="dk1"/>
                </a:solidFill>
                <a:latin typeface="Consolas"/>
                <a:ea typeface="Consolas"/>
                <a:cs typeface="Consolas"/>
                <a:sym typeface="Consolas"/>
              </a:rPr>
              <a:t> benzer.</a:t>
            </a:r>
            <a:endParaRPr sz="1600">
              <a:solidFill>
                <a:schemeClr val="dk1"/>
              </a:solidFill>
              <a:latin typeface="Consolas"/>
              <a:ea typeface="Consolas"/>
              <a:cs typeface="Consolas"/>
              <a:sym typeface="Consolas"/>
            </a:endParaRPr>
          </a:p>
          <a:p>
            <a:pPr indent="-330200" lvl="0" marL="457200" rtl="0" algn="l">
              <a:lnSpc>
                <a:spcPct val="115000"/>
              </a:lnSpc>
              <a:spcBef>
                <a:spcPts val="1200"/>
              </a:spcBef>
              <a:spcAft>
                <a:spcPts val="0"/>
              </a:spcAft>
              <a:buClr>
                <a:schemeClr val="dk1"/>
              </a:buClr>
              <a:buSzPts val="1600"/>
              <a:buChar char="●"/>
            </a:pPr>
            <a:r>
              <a:rPr b="1" lang="tr-TR" sz="1600">
                <a:solidFill>
                  <a:schemeClr val="dk1"/>
                </a:solidFill>
                <a:latin typeface="Consolas"/>
                <a:ea typeface="Consolas"/>
                <a:cs typeface="Consolas"/>
                <a:sym typeface="Consolas"/>
              </a:rPr>
              <a:t>Senaryo:</a:t>
            </a:r>
            <a:r>
              <a:rPr lang="tr-TR" sz="1600">
                <a:solidFill>
                  <a:schemeClr val="dk1"/>
                </a:solidFill>
                <a:latin typeface="Consolas"/>
                <a:ea typeface="Consolas"/>
                <a:cs typeface="Consolas"/>
                <a:sym typeface="Consolas"/>
              </a:rPr>
              <a:t> Karşı tarafın evinin önündeki posta kutusuna bir mektup bırakıyorsunuz.</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Char char="●"/>
            </a:pPr>
            <a:r>
              <a:rPr b="1" lang="tr-TR" sz="1600">
                <a:solidFill>
                  <a:schemeClr val="dk1"/>
                </a:solidFill>
                <a:latin typeface="Consolas"/>
                <a:ea typeface="Consolas"/>
                <a:cs typeface="Consolas"/>
                <a:sym typeface="Consolas"/>
              </a:rPr>
              <a:t>İşleyiş:</a:t>
            </a:r>
            <a:r>
              <a:rPr lang="tr-TR" sz="1600">
                <a:solidFill>
                  <a:schemeClr val="dk1"/>
                </a:solidFill>
                <a:latin typeface="Consolas"/>
                <a:ea typeface="Consolas"/>
                <a:cs typeface="Consolas"/>
                <a:sym typeface="Consolas"/>
              </a:rPr>
              <a:t> Alıcının o an kapıyı açmasına veya orada olmasına gerek yoktur. Siz gidip veriyi (mektubu) onun bölmesine bırakırsınız (put) veya oradan bir belge alırsınız (get).</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Char char="●"/>
            </a:pPr>
            <a:r>
              <a:rPr b="1" lang="tr-TR" sz="1600">
                <a:solidFill>
                  <a:schemeClr val="dk1"/>
                </a:solidFill>
                <a:latin typeface="Consolas"/>
                <a:ea typeface="Consolas"/>
                <a:cs typeface="Consolas"/>
                <a:sym typeface="Consolas"/>
              </a:rPr>
              <a:t>Tek Yönlülük:</a:t>
            </a:r>
            <a:r>
              <a:rPr lang="tr-TR" sz="1600">
                <a:solidFill>
                  <a:schemeClr val="dk1"/>
                </a:solidFill>
                <a:latin typeface="Consolas"/>
                <a:ea typeface="Consolas"/>
                <a:cs typeface="Consolas"/>
                <a:sym typeface="Consolas"/>
              </a:rPr>
              <a:t> O an sadece siz işlem yaparsınız; karşı tarafın bu işlemden o saniyede haberi olması gerekmez. Sadece "tek taraf" aktiftir.</a:t>
            </a:r>
            <a:endParaRPr sz="1600">
              <a:solidFill>
                <a:schemeClr val="dk1"/>
              </a:solidFill>
              <a:latin typeface="Consolas"/>
              <a:ea typeface="Consolas"/>
              <a:cs typeface="Consolas"/>
              <a:sym typeface="Consolas"/>
            </a:endParaRPr>
          </a:p>
          <a:p>
            <a:pPr indent="0" lvl="0" marL="0" marR="0" rtl="0" algn="just">
              <a:spcBef>
                <a:spcPts val="1200"/>
              </a:spcBef>
              <a:spcAft>
                <a:spcPts val="0"/>
              </a:spcAft>
              <a:buNone/>
            </a:pPr>
            <a:r>
              <a:t/>
            </a:r>
            <a:endParaRPr b="1" sz="2600">
              <a:solidFill>
                <a:schemeClr val="dk1"/>
              </a:solidFill>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pic>
        <p:nvPicPr>
          <p:cNvPr descr="Parallel computing for high-performance simulations" id="253" name="Google Shape;253;p19"/>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54" name="Google Shape;254;p19"/>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Performans Kriterleri</a:t>
            </a:r>
            <a:endParaRPr/>
          </a:p>
        </p:txBody>
      </p:sp>
      <p:sp>
        <p:nvSpPr>
          <p:cNvPr id="255" name="Google Shape;255;p19"/>
          <p:cNvSpPr txBox="1"/>
          <p:nvPr/>
        </p:nvSpPr>
        <p:spPr>
          <a:xfrm>
            <a:off x="1164348" y="759758"/>
            <a:ext cx="10688667" cy="1631216"/>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Paralel programlara ihtiyaç duyulmasının en büyük nedeni programın performansını (çalışma hızı, işlem kapasitesi vs) arttırmaktadır.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Peki paralel programlar hangi performans kriterlere göre değerlendirilir?</a:t>
            </a:r>
            <a:endParaRPr/>
          </a:p>
        </p:txBody>
      </p:sp>
      <p:pic>
        <p:nvPicPr>
          <p:cNvPr id="256" name="Google Shape;256;p19"/>
          <p:cNvPicPr preferRelativeResize="0"/>
          <p:nvPr/>
        </p:nvPicPr>
        <p:blipFill rotWithShape="1">
          <a:blip r:embed="rId4">
            <a:alphaModFix/>
          </a:blip>
          <a:srcRect b="0" l="0" r="0" t="15282"/>
          <a:stretch/>
        </p:blipFill>
        <p:spPr>
          <a:xfrm>
            <a:off x="2749150" y="2804775"/>
            <a:ext cx="7403174" cy="35261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pic>
        <p:nvPicPr>
          <p:cNvPr descr="Parallel computing for high-performance simulations" id="261" name="Google Shape;261;p20"/>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62" name="Google Shape;262;p20"/>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Hızlanma (Speedup) ve Verimlilik (Efficiency)</a:t>
            </a:r>
            <a:endParaRPr/>
          </a:p>
        </p:txBody>
      </p:sp>
      <p:sp>
        <p:nvSpPr>
          <p:cNvPr id="263" name="Google Shape;263;p20"/>
          <p:cNvSpPr txBox="1"/>
          <p:nvPr/>
        </p:nvSpPr>
        <p:spPr>
          <a:xfrm>
            <a:off x="1164348" y="759758"/>
            <a:ext cx="10688667" cy="5940088"/>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Farz edelim ki programımız p adet core bulunan bir sistem üzerinde tamamen paralel çalışıyor. Bu durumda programın çalışma süresi:</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chemeClr val="dk1"/>
                </a:solidFill>
                <a:latin typeface="Consolas"/>
                <a:ea typeface="Consolas"/>
                <a:cs typeface="Consolas"/>
                <a:sym typeface="Consolas"/>
              </a:rPr>
              <a:t>ile ifade edilebilir. Bu, ideal durum olarak kabul edilir. Bu duruma doğrusal hızlanma (linear speedup) denmektedir.</a:t>
            </a:r>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Fakat bu durum gerçekte pek mümkün olmayabilir ve speedup aşağıdaki formül ile hesaplanır. </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i="1" lang="tr-TR" sz="2000">
                <a:solidFill>
                  <a:srgbClr val="800000"/>
                </a:solidFill>
                <a:latin typeface="Consolas"/>
                <a:ea typeface="Consolas"/>
                <a:cs typeface="Consolas"/>
                <a:sym typeface="Consolas"/>
              </a:rPr>
              <a:t>S(Speedup): </a:t>
            </a:r>
            <a:r>
              <a:rPr lang="tr-TR" sz="2000">
                <a:solidFill>
                  <a:schemeClr val="dk1"/>
                </a:solidFill>
                <a:latin typeface="Consolas"/>
                <a:ea typeface="Consolas"/>
                <a:cs typeface="Consolas"/>
                <a:sym typeface="Consolas"/>
              </a:rPr>
              <a:t>Paralel programın hızlanma kriteri</a:t>
            </a:r>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p:txBody>
      </p:sp>
      <p:pic>
        <p:nvPicPr>
          <p:cNvPr id="264" name="Google Shape;264;p20"/>
          <p:cNvPicPr preferRelativeResize="0"/>
          <p:nvPr/>
        </p:nvPicPr>
        <p:blipFill rotWithShape="1">
          <a:blip r:embed="rId4">
            <a:alphaModFix/>
          </a:blip>
          <a:srcRect b="0" l="0" r="0" t="0"/>
          <a:stretch/>
        </p:blipFill>
        <p:spPr>
          <a:xfrm>
            <a:off x="4276861" y="1553392"/>
            <a:ext cx="3114675" cy="1028700"/>
          </a:xfrm>
          <a:prstGeom prst="rect">
            <a:avLst/>
          </a:prstGeom>
          <a:noFill/>
          <a:ln>
            <a:noFill/>
          </a:ln>
        </p:spPr>
      </p:pic>
      <p:pic>
        <p:nvPicPr>
          <p:cNvPr id="265" name="Google Shape;265;p20"/>
          <p:cNvPicPr preferRelativeResize="0"/>
          <p:nvPr/>
        </p:nvPicPr>
        <p:blipFill rotWithShape="1">
          <a:blip r:embed="rId5">
            <a:alphaModFix/>
          </a:blip>
          <a:srcRect b="0" l="0" r="0" t="0"/>
          <a:stretch/>
        </p:blipFill>
        <p:spPr>
          <a:xfrm>
            <a:off x="4662470" y="4275908"/>
            <a:ext cx="2187123" cy="121865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pic>
        <p:nvPicPr>
          <p:cNvPr descr="Parallel computing for high-performance simulations" id="270" name="Google Shape;270;p21"/>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71" name="Google Shape;271;p21"/>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Hızlanma (Speedup) ve Verimlilik (Efficiency)</a:t>
            </a:r>
            <a:endParaRPr/>
          </a:p>
        </p:txBody>
      </p:sp>
      <p:sp>
        <p:nvSpPr>
          <p:cNvPr id="272" name="Google Shape;272;p21"/>
          <p:cNvSpPr txBox="1"/>
          <p:nvPr/>
        </p:nvSpPr>
        <p:spPr>
          <a:xfrm>
            <a:off x="1164348" y="759758"/>
            <a:ext cx="10688667" cy="3170099"/>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İdeal durumda (bu gerçek hayatta pek mümkün değil) S = p  olacaktır.</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Sistemin verimliliği (Efficiency - E) ise:</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chemeClr val="dk1"/>
                </a:solidFill>
                <a:latin typeface="Consolas"/>
                <a:ea typeface="Consolas"/>
                <a:cs typeface="Consolas"/>
                <a:sym typeface="Consolas"/>
              </a:rPr>
              <a:t> 						 formülü ile hesaplanır.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(E: Verimlilik, S: Hızlanma, p: Çekirdek sayısı) formülü biraz daha açarsak:</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p:txBody>
      </p:sp>
      <p:pic>
        <p:nvPicPr>
          <p:cNvPr id="273" name="Google Shape;273;p21"/>
          <p:cNvPicPr preferRelativeResize="0"/>
          <p:nvPr/>
        </p:nvPicPr>
        <p:blipFill rotWithShape="1">
          <a:blip r:embed="rId4">
            <a:alphaModFix/>
          </a:blip>
          <a:srcRect b="0" l="0" r="0" t="0"/>
          <a:stretch/>
        </p:blipFill>
        <p:spPr>
          <a:xfrm>
            <a:off x="5289355" y="1485899"/>
            <a:ext cx="1258402" cy="890688"/>
          </a:xfrm>
          <a:prstGeom prst="rect">
            <a:avLst/>
          </a:prstGeom>
          <a:noFill/>
          <a:ln>
            <a:noFill/>
          </a:ln>
        </p:spPr>
      </p:pic>
      <p:pic>
        <p:nvPicPr>
          <p:cNvPr id="274" name="Google Shape;274;p21"/>
          <p:cNvPicPr preferRelativeResize="0"/>
          <p:nvPr/>
        </p:nvPicPr>
        <p:blipFill rotWithShape="1">
          <a:blip r:embed="rId5">
            <a:alphaModFix/>
          </a:blip>
          <a:srcRect b="0" l="0" r="0" t="0"/>
          <a:stretch/>
        </p:blipFill>
        <p:spPr>
          <a:xfrm>
            <a:off x="3667329" y="2784621"/>
            <a:ext cx="4857342" cy="169679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pic>
        <p:nvPicPr>
          <p:cNvPr descr="Parallel computing for high-performance simulations" id="279" name="Google Shape;279;p22"/>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80" name="Google Shape;280;p22"/>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Hızlanma (Speedup) ve Verimlilik (Efficiency)</a:t>
            </a:r>
            <a:endParaRPr/>
          </a:p>
        </p:txBody>
      </p:sp>
      <p:sp>
        <p:nvSpPr>
          <p:cNvPr id="281" name="Google Shape;281;p22"/>
          <p:cNvSpPr txBox="1"/>
          <p:nvPr/>
        </p:nvSpPr>
        <p:spPr>
          <a:xfrm>
            <a:off x="1164348" y="759758"/>
            <a:ext cx="10688667" cy="1015663"/>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Tparallel , E ve S değerleri p sayısına bağlıdır. </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Aynı zamanda problem uzayının büyüklüğü bu değerlerin değişmesine neden olacaktır.</a:t>
            </a:r>
            <a:endParaRPr/>
          </a:p>
        </p:txBody>
      </p:sp>
      <p:pic>
        <p:nvPicPr>
          <p:cNvPr id="282" name="Google Shape;282;p22"/>
          <p:cNvPicPr preferRelativeResize="0"/>
          <p:nvPr/>
        </p:nvPicPr>
        <p:blipFill rotWithShape="1">
          <a:blip r:embed="rId4">
            <a:alphaModFix/>
          </a:blip>
          <a:srcRect b="0" l="0" r="0" t="0"/>
          <a:stretch/>
        </p:blipFill>
        <p:spPr>
          <a:xfrm>
            <a:off x="1314018" y="2152298"/>
            <a:ext cx="10389326" cy="340161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pic>
        <p:nvPicPr>
          <p:cNvPr descr="Parallel computing for high-performance simulations" id="287" name="Google Shape;287;p23"/>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88" name="Google Shape;288;p23"/>
          <p:cNvSpPr txBox="1"/>
          <p:nvPr/>
        </p:nvSpPr>
        <p:spPr>
          <a:xfrm>
            <a:off x="1164349" y="184777"/>
            <a:ext cx="10688668"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2400">
                <a:solidFill>
                  <a:schemeClr val="dk1"/>
                </a:solidFill>
                <a:latin typeface="Consolas"/>
                <a:ea typeface="Consolas"/>
                <a:cs typeface="Consolas"/>
                <a:sym typeface="Consolas"/>
              </a:rPr>
              <a:t>Örnek: Hızlanma (Speedup) ve Verimlilik (Efficiency)</a:t>
            </a:r>
            <a:endParaRPr/>
          </a:p>
        </p:txBody>
      </p:sp>
      <p:sp>
        <p:nvSpPr>
          <p:cNvPr id="289" name="Google Shape;289;p23"/>
          <p:cNvSpPr txBox="1"/>
          <p:nvPr/>
        </p:nvSpPr>
        <p:spPr>
          <a:xfrm>
            <a:off x="1164348" y="759758"/>
            <a:ext cx="10688700" cy="5325600"/>
          </a:xfrm>
          <a:prstGeom prst="rect">
            <a:avLst/>
          </a:prstGeom>
          <a:noFill/>
          <a:ln>
            <a:noFill/>
          </a:ln>
        </p:spPr>
        <p:txBody>
          <a:bodyPr anchorCtr="0" anchor="t" bIns="45700" lIns="91425" spcFirstLastPara="1" rIns="91425" wrap="square" tIns="45700">
            <a:spAutoFit/>
          </a:bodyPr>
          <a:lstStyle/>
          <a:p>
            <a:pPr indent="-482600" lvl="0" marL="457200" marR="0" rtl="0" algn="just">
              <a:spcBef>
                <a:spcPts val="0"/>
              </a:spcBef>
              <a:spcAft>
                <a:spcPts val="0"/>
              </a:spcAft>
              <a:buClr>
                <a:schemeClr val="dk1"/>
              </a:buClr>
              <a:buSzPts val="2400"/>
              <a:buFont typeface="Arial"/>
              <a:buChar char="•"/>
            </a:pPr>
            <a:r>
              <a:rPr lang="tr-TR" sz="2400">
                <a:solidFill>
                  <a:schemeClr val="dk1"/>
                </a:solidFill>
                <a:latin typeface="Consolas"/>
                <a:ea typeface="Consolas"/>
                <a:cs typeface="Consolas"/>
                <a:sym typeface="Consolas"/>
              </a:rPr>
              <a:t>Diyelim ki bir algoritma, tek işlemci üzerinde çalışırken 100 birimlik bir süreye ihtiyaç duyuyor. Bu algoritmanın paralel versiyonunu 4 işlemci üzerinde çalıştırmak istiyoruz.</a:t>
            </a:r>
            <a:endParaRPr sz="1800"/>
          </a:p>
          <a:p>
            <a:pPr indent="-330200" lvl="0" marL="457200" marR="0" rtl="0" algn="just">
              <a:spcBef>
                <a:spcPts val="0"/>
              </a:spcBef>
              <a:spcAft>
                <a:spcPts val="0"/>
              </a:spcAft>
              <a:buClr>
                <a:schemeClr val="dk1"/>
              </a:buClr>
              <a:buSzPts val="2000"/>
              <a:buFont typeface="Arial"/>
              <a:buNone/>
            </a:pPr>
            <a:r>
              <a:t/>
            </a:r>
            <a:endParaRPr sz="2400">
              <a:solidFill>
                <a:schemeClr val="dk1"/>
              </a:solidFill>
              <a:latin typeface="Consolas"/>
              <a:ea typeface="Consolas"/>
              <a:cs typeface="Consolas"/>
              <a:sym typeface="Consolas"/>
            </a:endParaRPr>
          </a:p>
          <a:p>
            <a:pPr indent="-482600" lvl="1" marL="914400" marR="0" rtl="0" algn="just">
              <a:spcBef>
                <a:spcPts val="0"/>
              </a:spcBef>
              <a:spcAft>
                <a:spcPts val="0"/>
              </a:spcAft>
              <a:buClr>
                <a:schemeClr val="dk1"/>
              </a:buClr>
              <a:buSzPts val="2000"/>
              <a:buFont typeface="Arial"/>
              <a:buChar char="•"/>
            </a:pPr>
            <a:r>
              <a:rPr b="0" i="0" lang="tr-TR" sz="2000" u="none" cap="none" strike="noStrike">
                <a:solidFill>
                  <a:schemeClr val="dk1"/>
                </a:solidFill>
                <a:latin typeface="Consolas"/>
                <a:ea typeface="Consolas"/>
                <a:cs typeface="Consolas"/>
                <a:sym typeface="Consolas"/>
              </a:rPr>
              <a:t>Tek işlemci süresi = 100 birim (verildi)</a:t>
            </a:r>
            <a:endParaRPr sz="1800"/>
          </a:p>
          <a:p>
            <a:pPr indent="-482600" lvl="1" marL="914400" marR="0" rtl="0" algn="just">
              <a:spcBef>
                <a:spcPts val="0"/>
              </a:spcBef>
              <a:spcAft>
                <a:spcPts val="0"/>
              </a:spcAft>
              <a:buClr>
                <a:schemeClr val="dk1"/>
              </a:buClr>
              <a:buSzPts val="2000"/>
              <a:buFont typeface="Arial"/>
              <a:buChar char="•"/>
            </a:pPr>
            <a:r>
              <a:rPr b="0" i="0" lang="tr-TR" sz="2000" u="none" cap="none" strike="noStrike">
                <a:solidFill>
                  <a:schemeClr val="dk1"/>
                </a:solidFill>
                <a:latin typeface="Consolas"/>
                <a:ea typeface="Consolas"/>
                <a:cs typeface="Consolas"/>
                <a:sym typeface="Consolas"/>
              </a:rPr>
              <a:t>Paralel işlemci süresi = 100 birim / 4 işlemci = 25 birim</a:t>
            </a:r>
            <a:endParaRPr sz="1800"/>
          </a:p>
          <a:p>
            <a:pPr indent="-355600" lvl="1" marL="914400" marR="0" rtl="0" algn="just">
              <a:spcBef>
                <a:spcPts val="0"/>
              </a:spcBef>
              <a:spcAft>
                <a:spcPts val="0"/>
              </a:spcAft>
              <a:buClr>
                <a:schemeClr val="dk1"/>
              </a:buClr>
              <a:buSzPts val="1600"/>
              <a:buFont typeface="Arial"/>
              <a:buNone/>
            </a:pPr>
            <a:r>
              <a:t/>
            </a:r>
            <a:endParaRPr b="0" i="0" sz="2000" u="none" cap="none" strike="noStrike">
              <a:solidFill>
                <a:schemeClr val="dk1"/>
              </a:solidFill>
              <a:latin typeface="Consolas"/>
              <a:ea typeface="Consolas"/>
              <a:cs typeface="Consolas"/>
              <a:sym typeface="Consolas"/>
            </a:endParaRPr>
          </a:p>
          <a:p>
            <a:pPr indent="-355600" lvl="1" marL="914400" marR="0" rtl="0" algn="just">
              <a:spcBef>
                <a:spcPts val="0"/>
              </a:spcBef>
              <a:spcAft>
                <a:spcPts val="0"/>
              </a:spcAft>
              <a:buClr>
                <a:schemeClr val="dk1"/>
              </a:buClr>
              <a:buSzPts val="1600"/>
              <a:buFont typeface="Arial"/>
              <a:buNone/>
            </a:pPr>
            <a:r>
              <a:t/>
            </a:r>
            <a:endParaRPr b="0" i="0" sz="2000" u="none" cap="none" strike="noStrike">
              <a:solidFill>
                <a:schemeClr val="dk1"/>
              </a:solidFill>
              <a:latin typeface="Consolas"/>
              <a:ea typeface="Consolas"/>
              <a:cs typeface="Consolas"/>
              <a:sym typeface="Consolas"/>
            </a:endParaRPr>
          </a:p>
          <a:p>
            <a:pPr indent="-355600" lvl="1" marL="914400" marR="0" rtl="0" algn="just">
              <a:spcBef>
                <a:spcPts val="0"/>
              </a:spcBef>
              <a:spcAft>
                <a:spcPts val="0"/>
              </a:spcAft>
              <a:buClr>
                <a:schemeClr val="dk1"/>
              </a:buClr>
              <a:buSzPts val="1600"/>
              <a:buFont typeface="Arial"/>
              <a:buNone/>
            </a:pPr>
            <a:r>
              <a:t/>
            </a:r>
            <a:endParaRPr b="0" i="0" sz="2000" u="none" cap="none" strike="noStrike">
              <a:solidFill>
                <a:schemeClr val="dk1"/>
              </a:solidFill>
              <a:latin typeface="Consolas"/>
              <a:ea typeface="Consolas"/>
              <a:cs typeface="Consolas"/>
              <a:sym typeface="Consolas"/>
            </a:endParaRPr>
          </a:p>
          <a:p>
            <a:pPr indent="-355600" lvl="1" marL="914400" marR="0" rtl="0" algn="just">
              <a:spcBef>
                <a:spcPts val="0"/>
              </a:spcBef>
              <a:spcAft>
                <a:spcPts val="0"/>
              </a:spcAft>
              <a:buClr>
                <a:schemeClr val="dk1"/>
              </a:buClr>
              <a:buSzPts val="1600"/>
              <a:buFont typeface="Arial"/>
              <a:buNone/>
            </a:pPr>
            <a:r>
              <a:t/>
            </a:r>
            <a:endParaRPr b="0" i="0" sz="2000" u="none" cap="none" strike="noStrike">
              <a:solidFill>
                <a:schemeClr val="dk1"/>
              </a:solidFill>
              <a:latin typeface="Consolas"/>
              <a:ea typeface="Consolas"/>
              <a:cs typeface="Consolas"/>
              <a:sym typeface="Consolas"/>
            </a:endParaRPr>
          </a:p>
          <a:p>
            <a:pPr indent="-355600" lvl="1" marL="914400" marR="0" rtl="0" algn="just">
              <a:spcBef>
                <a:spcPts val="0"/>
              </a:spcBef>
              <a:spcAft>
                <a:spcPts val="0"/>
              </a:spcAft>
              <a:buClr>
                <a:schemeClr val="dk1"/>
              </a:buClr>
              <a:buSzPts val="1600"/>
              <a:buFont typeface="Arial"/>
              <a:buNone/>
            </a:pPr>
            <a:r>
              <a:t/>
            </a:r>
            <a:endParaRPr b="0" i="0" sz="2000" u="none" cap="none" strike="noStrike">
              <a:solidFill>
                <a:schemeClr val="dk1"/>
              </a:solidFill>
              <a:latin typeface="Consolas"/>
              <a:ea typeface="Consolas"/>
              <a:cs typeface="Consolas"/>
              <a:sym typeface="Consolas"/>
            </a:endParaRPr>
          </a:p>
          <a:p>
            <a:pPr indent="-482600" lvl="1" marL="914400" marR="0" rtl="0" algn="just">
              <a:spcBef>
                <a:spcPts val="0"/>
              </a:spcBef>
              <a:spcAft>
                <a:spcPts val="0"/>
              </a:spcAft>
              <a:buClr>
                <a:schemeClr val="dk1"/>
              </a:buClr>
              <a:buSzPts val="2000"/>
              <a:buFont typeface="Arial"/>
              <a:buChar char="•"/>
            </a:pPr>
            <a:r>
              <a:rPr b="1" i="0" lang="tr-TR" sz="2000" u="none" cap="none" strike="noStrike">
                <a:solidFill>
                  <a:schemeClr val="dk1"/>
                </a:solidFill>
                <a:latin typeface="Consolas"/>
                <a:ea typeface="Consolas"/>
                <a:cs typeface="Consolas"/>
                <a:sym typeface="Consolas"/>
              </a:rPr>
              <a:t>Speedup = 100 / 25 = 4</a:t>
            </a:r>
            <a:endParaRPr sz="1800"/>
          </a:p>
          <a:p>
            <a:pPr indent="0" lvl="1" marL="457200" marR="0" rtl="0" algn="just">
              <a:spcBef>
                <a:spcPts val="0"/>
              </a:spcBef>
              <a:spcAft>
                <a:spcPts val="0"/>
              </a:spcAft>
              <a:buNone/>
            </a:pPr>
            <a:r>
              <a:t/>
            </a:r>
            <a:endParaRPr b="1" i="0" sz="2000" u="none" cap="none" strike="noStrike">
              <a:solidFill>
                <a:schemeClr val="dk1"/>
              </a:solidFill>
              <a:latin typeface="Consolas"/>
              <a:ea typeface="Consolas"/>
              <a:cs typeface="Consolas"/>
              <a:sym typeface="Consolas"/>
            </a:endParaRPr>
          </a:p>
          <a:p>
            <a:pPr indent="0" lvl="0" marL="0" marR="0" rtl="0" algn="just">
              <a:spcBef>
                <a:spcPts val="0"/>
              </a:spcBef>
              <a:spcAft>
                <a:spcPts val="0"/>
              </a:spcAft>
              <a:buNone/>
            </a:pPr>
            <a:r>
              <a:rPr b="1" lang="tr-TR" sz="2000">
                <a:solidFill>
                  <a:schemeClr val="dk1"/>
                </a:solidFill>
                <a:latin typeface="Consolas"/>
                <a:ea typeface="Consolas"/>
                <a:cs typeface="Consolas"/>
                <a:sym typeface="Consolas"/>
              </a:rPr>
              <a:t>Bu durumda, speedup değeri 4'tür. Yani, 4 işlemci üzerinde çalışan paralel versiyon, tek işlemciye göre 4 kat daha hızlıdır.</a:t>
            </a:r>
            <a:endParaRPr sz="1800"/>
          </a:p>
        </p:txBody>
      </p:sp>
      <p:pic>
        <p:nvPicPr>
          <p:cNvPr id="290" name="Google Shape;290;p23"/>
          <p:cNvPicPr preferRelativeResize="0"/>
          <p:nvPr/>
        </p:nvPicPr>
        <p:blipFill rotWithShape="1">
          <a:blip r:embed="rId4">
            <a:alphaModFix/>
          </a:blip>
          <a:srcRect b="0" l="0" r="0" t="0"/>
          <a:stretch/>
        </p:blipFill>
        <p:spPr>
          <a:xfrm>
            <a:off x="3758321" y="3381324"/>
            <a:ext cx="5500750" cy="11668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pic>
        <p:nvPicPr>
          <p:cNvPr descr="Parallel computing for high-performance simulations" id="295" name="Google Shape;295;p24"/>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296" name="Google Shape;296;p24"/>
          <p:cNvSpPr txBox="1"/>
          <p:nvPr/>
        </p:nvSpPr>
        <p:spPr>
          <a:xfrm>
            <a:off x="1164349" y="184777"/>
            <a:ext cx="10688668"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2400">
                <a:solidFill>
                  <a:schemeClr val="dk1"/>
                </a:solidFill>
                <a:latin typeface="Consolas"/>
                <a:ea typeface="Consolas"/>
                <a:cs typeface="Consolas"/>
                <a:sym typeface="Consolas"/>
              </a:rPr>
              <a:t>Örnek: Hızlanma (Speedup) ve Verimlilik (Efficiency)</a:t>
            </a:r>
            <a:endParaRPr/>
          </a:p>
        </p:txBody>
      </p:sp>
      <p:sp>
        <p:nvSpPr>
          <p:cNvPr id="297" name="Google Shape;297;p24"/>
          <p:cNvSpPr txBox="1"/>
          <p:nvPr/>
        </p:nvSpPr>
        <p:spPr>
          <a:xfrm>
            <a:off x="1164348" y="759758"/>
            <a:ext cx="10688700" cy="5571900"/>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Efficiency, paralel işlemin verimliliğini ifade eder. Efficiency, aşağıdaki formülle hesaplanır: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İşlemci sayısı = 4 (verildi)</a:t>
            </a:r>
            <a:endParaRPr/>
          </a:p>
          <a:p>
            <a:pPr indent="-457200" lvl="0" marL="457200" marR="0" rtl="0" algn="just">
              <a:spcBef>
                <a:spcPts val="0"/>
              </a:spcBef>
              <a:spcAft>
                <a:spcPts val="0"/>
              </a:spcAft>
              <a:buClr>
                <a:schemeClr val="dk1"/>
              </a:buClr>
              <a:buSzPts val="2000"/>
              <a:buFont typeface="Arial"/>
              <a:buChar char="•"/>
            </a:pPr>
            <a:r>
              <a:rPr b="1" lang="tr-TR" sz="2000">
                <a:solidFill>
                  <a:schemeClr val="dk1"/>
                </a:solidFill>
                <a:latin typeface="Consolas"/>
                <a:ea typeface="Consolas"/>
                <a:cs typeface="Consolas"/>
                <a:sym typeface="Consolas"/>
              </a:rPr>
              <a:t>Efficiency = 4 / 4 = 1</a:t>
            </a:r>
            <a:endParaRPr/>
          </a:p>
          <a:p>
            <a:pPr indent="-330200" lvl="0" marL="457200" marR="0" rtl="0" algn="just">
              <a:spcBef>
                <a:spcPts val="0"/>
              </a:spcBef>
              <a:spcAft>
                <a:spcPts val="0"/>
              </a:spcAft>
              <a:buClr>
                <a:schemeClr val="dk1"/>
              </a:buClr>
              <a:buSzPts val="2000"/>
              <a:buFont typeface="Arial"/>
              <a:buNone/>
            </a:pPr>
            <a:r>
              <a:t/>
            </a:r>
            <a:endParaRPr b="1"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chemeClr val="dk1"/>
                </a:solidFill>
                <a:latin typeface="Consolas"/>
                <a:ea typeface="Consolas"/>
                <a:cs typeface="Consolas"/>
                <a:sym typeface="Consolas"/>
              </a:rPr>
              <a:t>Bu durumda, efficiency değeri 1'dir. Yani, her işlemcinin tam kapasiteyle çalıştığı durumda, paralel işlemin verimliliği %100'dür.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b="1"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b="1" sz="2000">
              <a:solidFill>
                <a:schemeClr val="dk1"/>
              </a:solidFill>
              <a:latin typeface="Consolas"/>
              <a:ea typeface="Consolas"/>
              <a:cs typeface="Consolas"/>
              <a:sym typeface="Consolas"/>
            </a:endParaRPr>
          </a:p>
          <a:p>
            <a:pPr indent="-355600" lvl="0" marL="457200" marR="0" rtl="0" algn="just">
              <a:spcBef>
                <a:spcPts val="0"/>
              </a:spcBef>
              <a:spcAft>
                <a:spcPts val="0"/>
              </a:spcAft>
              <a:buClr>
                <a:schemeClr val="dk1"/>
              </a:buClr>
              <a:buSzPts val="1600"/>
              <a:buFont typeface="Arial"/>
              <a:buNone/>
            </a:pPr>
            <a:r>
              <a:t/>
            </a:r>
            <a:endParaRPr b="1" sz="1600">
              <a:solidFill>
                <a:schemeClr val="dk1"/>
              </a:solidFill>
              <a:latin typeface="Consolas"/>
              <a:ea typeface="Consolas"/>
              <a:cs typeface="Consolas"/>
              <a:sym typeface="Consolas"/>
            </a:endParaRPr>
          </a:p>
        </p:txBody>
      </p:sp>
      <p:pic>
        <p:nvPicPr>
          <p:cNvPr id="298" name="Google Shape;298;p24"/>
          <p:cNvPicPr preferRelativeResize="0"/>
          <p:nvPr/>
        </p:nvPicPr>
        <p:blipFill rotWithShape="1">
          <a:blip r:embed="rId4">
            <a:alphaModFix/>
          </a:blip>
          <a:srcRect b="0" l="0" r="0" t="0"/>
          <a:stretch/>
        </p:blipFill>
        <p:spPr>
          <a:xfrm>
            <a:off x="4165649" y="1624369"/>
            <a:ext cx="3939900" cy="1243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pic>
        <p:nvPicPr>
          <p:cNvPr descr="Parallel computing for high-performance simulations" id="303" name="Google Shape;303;p25"/>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04" name="Google Shape;304;p25"/>
          <p:cNvSpPr txBox="1"/>
          <p:nvPr/>
        </p:nvSpPr>
        <p:spPr>
          <a:xfrm>
            <a:off x="1164349" y="184777"/>
            <a:ext cx="10688668"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2400">
                <a:solidFill>
                  <a:schemeClr val="dk1"/>
                </a:solidFill>
                <a:latin typeface="Consolas"/>
                <a:ea typeface="Consolas"/>
                <a:cs typeface="Consolas"/>
                <a:sym typeface="Consolas"/>
              </a:rPr>
              <a:t>Örnek 2: Hızlanma (Speedup) ve Verimlilik (Efficiency)</a:t>
            </a:r>
            <a:endParaRPr/>
          </a:p>
        </p:txBody>
      </p:sp>
      <p:sp>
        <p:nvSpPr>
          <p:cNvPr id="305" name="Google Shape;305;p25"/>
          <p:cNvSpPr txBox="1"/>
          <p:nvPr/>
        </p:nvSpPr>
        <p:spPr>
          <a:xfrm>
            <a:off x="1164348" y="759758"/>
            <a:ext cx="10688667" cy="6001643"/>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Diyelim ki, bir işlemci tek başına bir işi 10 saatte tamamlayabiliyor. Bu işi 5 işlemcili bir paralel sistemde 3 saatte bitirmek istiyoruz. Bu durumda, speedup ve efficiency hesaplayabiliriz.</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1" marL="457200" marR="0" rtl="0" algn="just">
              <a:spcBef>
                <a:spcPts val="0"/>
              </a:spcBef>
              <a:spcAft>
                <a:spcPts val="0"/>
              </a:spcAft>
              <a:buNone/>
            </a:pPr>
            <a:r>
              <a:rPr b="0" i="0" lang="tr-TR" sz="2000" u="none" cap="none" strike="noStrike">
                <a:solidFill>
                  <a:schemeClr val="dk1"/>
                </a:solidFill>
                <a:latin typeface="Consolas"/>
                <a:ea typeface="Consolas"/>
                <a:cs typeface="Consolas"/>
                <a:sym typeface="Consolas"/>
              </a:rPr>
              <a:t>Tek işlemci süresi = 10 saat</a:t>
            </a:r>
            <a:endParaRPr/>
          </a:p>
          <a:p>
            <a:pPr indent="0" lvl="1" marL="457200" marR="0" rtl="0" algn="just">
              <a:spcBef>
                <a:spcPts val="0"/>
              </a:spcBef>
              <a:spcAft>
                <a:spcPts val="0"/>
              </a:spcAft>
              <a:buNone/>
            </a:pPr>
            <a:r>
              <a:rPr b="0" i="0" lang="tr-TR" sz="2000" u="none" cap="none" strike="noStrike">
                <a:solidFill>
                  <a:schemeClr val="dk1"/>
                </a:solidFill>
                <a:latin typeface="Consolas"/>
                <a:ea typeface="Consolas"/>
                <a:cs typeface="Consolas"/>
                <a:sym typeface="Consolas"/>
              </a:rPr>
              <a:t>Paralel sistem süresi = 3 saat</a:t>
            </a:r>
            <a:endParaRPr/>
          </a:p>
          <a:p>
            <a:pPr indent="0" lvl="1" marL="457200" marR="0" rtl="0" algn="just">
              <a:spcBef>
                <a:spcPts val="0"/>
              </a:spcBef>
              <a:spcAft>
                <a:spcPts val="0"/>
              </a:spcAft>
              <a:buNone/>
            </a:pPr>
            <a:r>
              <a:t/>
            </a:r>
            <a:endParaRPr b="0" i="0" sz="2000" u="none" cap="none" strike="noStrike">
              <a:solidFill>
                <a:schemeClr val="dk1"/>
              </a:solidFill>
              <a:latin typeface="Consolas"/>
              <a:ea typeface="Consolas"/>
              <a:cs typeface="Consolas"/>
              <a:sym typeface="Consolas"/>
            </a:endParaRPr>
          </a:p>
          <a:p>
            <a:pPr indent="0" lvl="1" marL="457200" marR="0" rtl="0" algn="just">
              <a:spcBef>
                <a:spcPts val="0"/>
              </a:spcBef>
              <a:spcAft>
                <a:spcPts val="0"/>
              </a:spcAft>
              <a:buNone/>
            </a:pPr>
            <a:r>
              <a:rPr b="0" i="0" lang="tr-TR" sz="2000" u="none" cap="none" strike="noStrike">
                <a:solidFill>
                  <a:schemeClr val="dk1"/>
                </a:solidFill>
                <a:latin typeface="Consolas"/>
                <a:ea typeface="Consolas"/>
                <a:cs typeface="Consolas"/>
                <a:sym typeface="Consolas"/>
              </a:rPr>
              <a:t>	</a:t>
            </a:r>
            <a:r>
              <a:rPr b="1" i="0" lang="tr-TR" sz="2000" u="none" cap="none" strike="noStrike">
                <a:solidFill>
                  <a:schemeClr val="dk1"/>
                </a:solidFill>
                <a:latin typeface="Consolas"/>
                <a:ea typeface="Consolas"/>
                <a:cs typeface="Consolas"/>
                <a:sym typeface="Consolas"/>
              </a:rPr>
              <a:t>Speedup = </a:t>
            </a:r>
            <a:r>
              <a:rPr b="1" i="0" lang="tr-TR" sz="2000" u="none" cap="none" strike="noStrike">
                <a:solidFill>
                  <a:srgbClr val="0C0C0C"/>
                </a:solidFill>
                <a:latin typeface="Consolas"/>
                <a:ea typeface="Consolas"/>
                <a:cs typeface="Consolas"/>
                <a:sym typeface="Consolas"/>
              </a:rPr>
              <a:t>10 / 3 </a:t>
            </a:r>
            <a:r>
              <a:rPr b="1" i="0" lang="tr-TR" sz="2000" u="none" cap="none" strike="noStrike">
                <a:solidFill>
                  <a:srgbClr val="0C0C0C"/>
                </a:solidFill>
                <a:latin typeface="Arial"/>
                <a:ea typeface="Arial"/>
                <a:cs typeface="Arial"/>
                <a:sym typeface="Arial"/>
              </a:rPr>
              <a:t>≈</a:t>
            </a:r>
            <a:r>
              <a:rPr b="1" i="0" lang="tr-TR" sz="2000" u="none" cap="none" strike="noStrike">
                <a:solidFill>
                  <a:srgbClr val="0C0C0C"/>
                </a:solidFill>
                <a:latin typeface="Consolas"/>
                <a:ea typeface="Consolas"/>
                <a:cs typeface="Consolas"/>
                <a:sym typeface="Consolas"/>
              </a:rPr>
              <a:t> 3.33 </a:t>
            </a:r>
            <a:endParaRPr b="1" i="0" sz="1600" u="none" cap="none" strike="noStrike">
              <a:solidFill>
                <a:srgbClr val="0C0C0C"/>
              </a:solidFill>
              <a:latin typeface="Consolas"/>
              <a:ea typeface="Consolas"/>
              <a:cs typeface="Consolas"/>
              <a:sym typeface="Consolas"/>
            </a:endParaRPr>
          </a:p>
          <a:p>
            <a:pPr indent="0" lvl="1" marL="457200" marR="0" rtl="0" algn="just">
              <a:spcBef>
                <a:spcPts val="0"/>
              </a:spcBef>
              <a:spcAft>
                <a:spcPts val="0"/>
              </a:spcAft>
              <a:buNone/>
            </a:pPr>
            <a:r>
              <a:t/>
            </a:r>
            <a:endParaRPr b="1" i="0" sz="1600" u="none" cap="none" strike="noStrike">
              <a:solidFill>
                <a:srgbClr val="0C0C0C"/>
              </a:solidFill>
              <a:latin typeface="Consolas"/>
              <a:ea typeface="Consolas"/>
              <a:cs typeface="Consolas"/>
              <a:sym typeface="Consolas"/>
            </a:endParaRPr>
          </a:p>
          <a:p>
            <a:pPr indent="0" lvl="1" marL="457200" marR="0" rtl="0" algn="just">
              <a:spcBef>
                <a:spcPts val="0"/>
              </a:spcBef>
              <a:spcAft>
                <a:spcPts val="0"/>
              </a:spcAft>
              <a:buNone/>
            </a:pPr>
            <a:r>
              <a:rPr b="0" i="0" lang="tr-TR" sz="2000" u="none" cap="none" strike="noStrike">
                <a:solidFill>
                  <a:schemeClr val="dk1"/>
                </a:solidFill>
                <a:latin typeface="Consolas"/>
                <a:ea typeface="Consolas"/>
                <a:cs typeface="Consolas"/>
                <a:sym typeface="Consolas"/>
              </a:rPr>
              <a:t>İşlemci Sayısı = 5</a:t>
            </a:r>
            <a:endParaRPr/>
          </a:p>
          <a:p>
            <a:pPr indent="0" lvl="1" marL="457200" marR="0" rtl="0" algn="just">
              <a:spcBef>
                <a:spcPts val="0"/>
              </a:spcBef>
              <a:spcAft>
                <a:spcPts val="0"/>
              </a:spcAft>
              <a:buNone/>
            </a:pPr>
            <a:r>
              <a:t/>
            </a:r>
            <a:endParaRPr b="1" i="0" sz="1600" u="none" cap="none" strike="noStrike">
              <a:solidFill>
                <a:srgbClr val="0C0C0C"/>
              </a:solidFill>
              <a:latin typeface="Consolas"/>
              <a:ea typeface="Consolas"/>
              <a:cs typeface="Consolas"/>
              <a:sym typeface="Consolas"/>
            </a:endParaRPr>
          </a:p>
          <a:p>
            <a:pPr indent="0" lvl="2" marL="914400" marR="0" rtl="0" algn="just">
              <a:spcBef>
                <a:spcPts val="0"/>
              </a:spcBef>
              <a:spcAft>
                <a:spcPts val="0"/>
              </a:spcAft>
              <a:buNone/>
            </a:pPr>
            <a:r>
              <a:rPr b="1" i="0" lang="tr-TR" sz="2000" u="none" cap="none" strike="noStrike">
                <a:solidFill>
                  <a:srgbClr val="0C0C0C"/>
                </a:solidFill>
                <a:latin typeface="Consolas"/>
                <a:ea typeface="Consolas"/>
                <a:cs typeface="Consolas"/>
                <a:sym typeface="Consolas"/>
              </a:rPr>
              <a:t>Efficiency = 3.33 / 5 = 0.666</a:t>
            </a:r>
            <a:endParaRPr/>
          </a:p>
          <a:p>
            <a:pPr indent="0" lvl="1" marL="457200" marR="0" rtl="0" algn="just">
              <a:spcBef>
                <a:spcPts val="0"/>
              </a:spcBef>
              <a:spcAft>
                <a:spcPts val="0"/>
              </a:spcAft>
              <a:buNone/>
            </a:pPr>
            <a:r>
              <a:t/>
            </a:r>
            <a:endParaRPr b="1" i="0" sz="1600" u="none" cap="none" strike="noStrike">
              <a:solidFill>
                <a:srgbClr val="0C0C0C"/>
              </a:solidFill>
              <a:latin typeface="Consolas"/>
              <a:ea typeface="Consolas"/>
              <a:cs typeface="Consolas"/>
              <a:sym typeface="Consolas"/>
            </a:endParaRPr>
          </a:p>
          <a:p>
            <a:pPr indent="0" lvl="1" marL="457200" marR="0" rtl="0" algn="just">
              <a:spcBef>
                <a:spcPts val="0"/>
              </a:spcBef>
              <a:spcAft>
                <a:spcPts val="0"/>
              </a:spcAft>
              <a:buNone/>
            </a:pPr>
            <a:r>
              <a:t/>
            </a:r>
            <a:endParaRPr b="1" i="0" sz="1600" u="none" cap="none" strike="noStrike">
              <a:solidFill>
                <a:srgbClr val="0C0C0C"/>
              </a:solidFill>
              <a:latin typeface="Consolas"/>
              <a:ea typeface="Consolas"/>
              <a:cs typeface="Consolas"/>
              <a:sym typeface="Consolas"/>
            </a:endParaRPr>
          </a:p>
          <a:p>
            <a:pPr indent="0" lvl="1" marL="457200" marR="0" rtl="0" algn="just">
              <a:spcBef>
                <a:spcPts val="0"/>
              </a:spcBef>
              <a:spcAft>
                <a:spcPts val="0"/>
              </a:spcAft>
              <a:buNone/>
            </a:pPr>
            <a:r>
              <a:rPr b="0" i="0" lang="tr-TR" sz="2000" u="none" cap="none" strike="noStrike">
                <a:solidFill>
                  <a:schemeClr val="dk1"/>
                </a:solidFill>
                <a:latin typeface="Consolas"/>
                <a:ea typeface="Consolas"/>
                <a:cs typeface="Consolas"/>
                <a:sym typeface="Consolas"/>
              </a:rPr>
              <a:t>Bu durumda, efficiency yaklaşık olarak 0.666'dır veya %66.6'dır. Bu, sistemdeki işlemcilerin yaklaşık %66.6'sının aktif olduğunu gösterir.</a:t>
            </a:r>
            <a:endParaRPr/>
          </a:p>
          <a:p>
            <a:pPr indent="0" lvl="1" marL="457200" marR="0" rtl="0" algn="just">
              <a:spcBef>
                <a:spcPts val="0"/>
              </a:spcBef>
              <a:spcAft>
                <a:spcPts val="0"/>
              </a:spcAft>
              <a:buNone/>
            </a:pPr>
            <a:r>
              <a:t/>
            </a:r>
            <a:endParaRPr b="0" i="0" sz="2000" u="none" cap="none" strike="noStrike">
              <a:solidFill>
                <a:schemeClr val="dk1"/>
              </a:solidFill>
              <a:latin typeface="Consolas"/>
              <a:ea typeface="Consolas"/>
              <a:cs typeface="Consolas"/>
              <a:sym typeface="Consolas"/>
            </a:endParaRPr>
          </a:p>
          <a:p>
            <a:pPr indent="0" lvl="1" marL="457200" marR="0" rtl="0" algn="just">
              <a:spcBef>
                <a:spcPts val="0"/>
              </a:spcBef>
              <a:spcAft>
                <a:spcPts val="0"/>
              </a:spcAft>
              <a:buNone/>
            </a:pPr>
            <a:r>
              <a:rPr b="0" i="0" lang="tr-TR" sz="2000" u="none" cap="none" strike="noStrike">
                <a:solidFill>
                  <a:schemeClr val="dk1"/>
                </a:solidFill>
                <a:latin typeface="Consolas"/>
                <a:ea typeface="Consolas"/>
                <a:cs typeface="Consolas"/>
                <a:sym typeface="Consolas"/>
              </a:rPr>
              <a:t>Bu örnekte, 5 işlemcili bir paralel sistemde işi 3 saatte bitirebilmenin, tek işlemciye göre yaklaşık 3.33 kat hızlı olduğunu ve sistemdeki işlemcilerin %66.6'sının aktif olduğunu gösterir.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pic>
        <p:nvPicPr>
          <p:cNvPr descr="Parallel computing for high-performance simulations" id="310" name="Google Shape;310;p26"/>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11" name="Google Shape;311;p26"/>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Paralelliştirme Maliyeti (Parallel Overhead)</a:t>
            </a:r>
            <a:endParaRPr/>
          </a:p>
        </p:txBody>
      </p:sp>
      <p:sp>
        <p:nvSpPr>
          <p:cNvPr id="312" name="Google Shape;312;p26"/>
          <p:cNvSpPr txBox="1"/>
          <p:nvPr/>
        </p:nvSpPr>
        <p:spPr>
          <a:xfrm>
            <a:off x="1164348" y="759758"/>
            <a:ext cx="10688667" cy="4401205"/>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Gerçek hayatta herhangi bir program paralleştirilirken verinin core’lara dağıtılması ve tekrar birleştirilmesi gibi ek maliyetler ortaya çıkmaktadır ve bu da sistemin paralelleştirme süresinin üzerine bir yük olarak eklenmelidir.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İşlemlerin core’lara dağıtılıp toplanması süresi Seri hesaplama süresinden çok daha küçüktür.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p:txBody>
      </p:sp>
      <p:pic>
        <p:nvPicPr>
          <p:cNvPr id="313" name="Google Shape;313;p26"/>
          <p:cNvPicPr preferRelativeResize="0"/>
          <p:nvPr/>
        </p:nvPicPr>
        <p:blipFill rotWithShape="1">
          <a:blip r:embed="rId4">
            <a:alphaModFix/>
          </a:blip>
          <a:srcRect b="0" l="0" r="0" t="0"/>
          <a:stretch/>
        </p:blipFill>
        <p:spPr>
          <a:xfrm>
            <a:off x="4007303" y="2024165"/>
            <a:ext cx="4177393" cy="1260633"/>
          </a:xfrm>
          <a:prstGeom prst="rect">
            <a:avLst/>
          </a:prstGeom>
          <a:noFill/>
          <a:ln>
            <a:noFill/>
          </a:ln>
        </p:spPr>
      </p:pic>
      <p:pic>
        <p:nvPicPr>
          <p:cNvPr id="314" name="Google Shape;314;p26"/>
          <p:cNvPicPr preferRelativeResize="0"/>
          <p:nvPr/>
        </p:nvPicPr>
        <p:blipFill rotWithShape="1">
          <a:blip r:embed="rId5">
            <a:alphaModFix/>
          </a:blip>
          <a:srcRect b="0" l="0" r="0" t="0"/>
          <a:stretch/>
        </p:blipFill>
        <p:spPr>
          <a:xfrm>
            <a:off x="4431151" y="4345097"/>
            <a:ext cx="3329696" cy="922513"/>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pic>
        <p:nvPicPr>
          <p:cNvPr descr="Parallel computing for high-performance simulations" id="319" name="Google Shape;319;p27"/>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20" name="Google Shape;320;p27"/>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Paralelliştirme Maliyeti (Parallel Overhead)</a:t>
            </a:r>
            <a:endParaRPr/>
          </a:p>
        </p:txBody>
      </p:sp>
      <p:sp>
        <p:nvSpPr>
          <p:cNvPr id="321" name="Google Shape;321;p27"/>
          <p:cNvSpPr txBox="1"/>
          <p:nvPr/>
        </p:nvSpPr>
        <p:spPr>
          <a:xfrm>
            <a:off x="1164348" y="759758"/>
            <a:ext cx="10688667" cy="5170646"/>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Bir algoritmayı paralelleştirmenin maliyetini hesaplarken bazı faktörler göz önünde bulundurulmalıdır: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1" marL="914400" marR="0" rtl="0" algn="just">
              <a:spcBef>
                <a:spcPts val="0"/>
              </a:spcBef>
              <a:spcAft>
                <a:spcPts val="0"/>
              </a:spcAft>
              <a:buClr>
                <a:schemeClr val="dk1"/>
              </a:buClr>
              <a:buSzPts val="1800"/>
              <a:buFont typeface="Noto Sans Symbols"/>
              <a:buChar char="✔"/>
            </a:pPr>
            <a:r>
              <a:rPr b="1" i="0" lang="tr-TR" sz="1800" u="none" cap="none" strike="noStrike">
                <a:solidFill>
                  <a:schemeClr val="dk1"/>
                </a:solidFill>
                <a:latin typeface="Consolas"/>
                <a:ea typeface="Consolas"/>
                <a:cs typeface="Consolas"/>
                <a:sym typeface="Consolas"/>
              </a:rPr>
              <a:t>Ekstra İşlemci Kaynakları: </a:t>
            </a:r>
            <a:r>
              <a:rPr b="0" i="0" lang="tr-TR" sz="1800" u="none" cap="none" strike="noStrike">
                <a:solidFill>
                  <a:schemeClr val="dk1"/>
                </a:solidFill>
                <a:latin typeface="Consolas"/>
                <a:ea typeface="Consolas"/>
                <a:cs typeface="Consolas"/>
                <a:sym typeface="Consolas"/>
              </a:rPr>
              <a:t>Paralelleştirilmiş bir algoritma, her bir işlemci için ekstra işlemci kaynakları gerektirir. Bu kaynaklar, işlemci saat hızı, bellek kapasitesi ve bellek bant genişliği gibi unsurları içerebilir.</a:t>
            </a:r>
            <a:endParaRPr/>
          </a:p>
          <a:p>
            <a:pPr indent="-342900" lvl="1" marL="914400" marR="0" rtl="0" algn="just">
              <a:spcBef>
                <a:spcPts val="0"/>
              </a:spcBef>
              <a:spcAft>
                <a:spcPts val="0"/>
              </a:spcAft>
              <a:buClr>
                <a:schemeClr val="dk1"/>
              </a:buClr>
              <a:buSzPts val="1800"/>
              <a:buFont typeface="Noto Sans Symbols"/>
              <a:buNone/>
            </a:pPr>
            <a:r>
              <a:t/>
            </a:r>
            <a:endParaRPr b="0" i="0" sz="1800" u="none" cap="none" strike="noStrike">
              <a:solidFill>
                <a:schemeClr val="dk1"/>
              </a:solidFill>
              <a:latin typeface="Consolas"/>
              <a:ea typeface="Consolas"/>
              <a:cs typeface="Consolas"/>
              <a:sym typeface="Consolas"/>
            </a:endParaRPr>
          </a:p>
          <a:p>
            <a:pPr indent="-457200" lvl="1" marL="914400" marR="0" rtl="0" algn="just">
              <a:spcBef>
                <a:spcPts val="0"/>
              </a:spcBef>
              <a:spcAft>
                <a:spcPts val="0"/>
              </a:spcAft>
              <a:buClr>
                <a:schemeClr val="dk1"/>
              </a:buClr>
              <a:buSzPts val="1800"/>
              <a:buFont typeface="Noto Sans Symbols"/>
              <a:buChar char="✔"/>
            </a:pPr>
            <a:r>
              <a:rPr b="1" i="0" lang="tr-TR" sz="1800" u="none" cap="none" strike="noStrike">
                <a:solidFill>
                  <a:schemeClr val="dk1"/>
                </a:solidFill>
                <a:latin typeface="Consolas"/>
                <a:ea typeface="Consolas"/>
                <a:cs typeface="Consolas"/>
                <a:sym typeface="Consolas"/>
              </a:rPr>
              <a:t>Ekstra Bellek Gereksinimleri: </a:t>
            </a:r>
            <a:r>
              <a:rPr b="0" i="0" lang="tr-TR" sz="1800" u="none" cap="none" strike="noStrike">
                <a:solidFill>
                  <a:schemeClr val="dk1"/>
                </a:solidFill>
                <a:latin typeface="Consolas"/>
                <a:ea typeface="Consolas"/>
                <a:cs typeface="Consolas"/>
                <a:sym typeface="Consolas"/>
              </a:rPr>
              <a:t>Paralel bir algoritma, her bir işlemci için ayrı bellek alanı gerektirebilir. Bu, paralelleştirilmiş veri yapılarının kullanımını ve veri kopyalama işlemlerini içerebilir.</a:t>
            </a:r>
            <a:endParaRPr/>
          </a:p>
          <a:p>
            <a:pPr indent="-342900" lvl="1" marL="914400" marR="0" rtl="0" algn="just">
              <a:spcBef>
                <a:spcPts val="0"/>
              </a:spcBef>
              <a:spcAft>
                <a:spcPts val="0"/>
              </a:spcAft>
              <a:buClr>
                <a:schemeClr val="dk1"/>
              </a:buClr>
              <a:buSzPts val="1800"/>
              <a:buFont typeface="Noto Sans Symbols"/>
              <a:buNone/>
            </a:pPr>
            <a:r>
              <a:t/>
            </a:r>
            <a:endParaRPr b="0" i="0" sz="1800" u="none" cap="none" strike="noStrike">
              <a:solidFill>
                <a:schemeClr val="dk1"/>
              </a:solidFill>
              <a:latin typeface="Consolas"/>
              <a:ea typeface="Consolas"/>
              <a:cs typeface="Consolas"/>
              <a:sym typeface="Consolas"/>
            </a:endParaRPr>
          </a:p>
          <a:p>
            <a:pPr indent="-457200" lvl="1" marL="914400" marR="0" rtl="0" algn="just">
              <a:spcBef>
                <a:spcPts val="0"/>
              </a:spcBef>
              <a:spcAft>
                <a:spcPts val="0"/>
              </a:spcAft>
              <a:buClr>
                <a:schemeClr val="dk1"/>
              </a:buClr>
              <a:buSzPts val="1800"/>
              <a:buFont typeface="Noto Sans Symbols"/>
              <a:buChar char="✔"/>
            </a:pPr>
            <a:r>
              <a:rPr b="1" i="0" lang="tr-TR" sz="1800" u="none" cap="none" strike="noStrike">
                <a:solidFill>
                  <a:schemeClr val="dk1"/>
                </a:solidFill>
                <a:latin typeface="Consolas"/>
                <a:ea typeface="Consolas"/>
                <a:cs typeface="Consolas"/>
                <a:sym typeface="Consolas"/>
              </a:rPr>
              <a:t>İletişim Maliyeti: </a:t>
            </a:r>
            <a:r>
              <a:rPr b="0" i="0" lang="tr-TR" sz="1800" u="none" cap="none" strike="noStrike">
                <a:solidFill>
                  <a:schemeClr val="dk1"/>
                </a:solidFill>
                <a:latin typeface="Consolas"/>
                <a:ea typeface="Consolas"/>
                <a:cs typeface="Consolas"/>
                <a:sym typeface="Consolas"/>
              </a:rPr>
              <a:t>Birden fazla işlemcinin birlikte çalışması, işlemciler arasında veri alışverişi gerektirebilir. Bu veri alışverişi, iletişim bant genişliği, iletişim protokolleri ve gecikme süreleri gibi faktörler nedeniyle ekstra maliyetlerle ilişkilendirilebilir.</a:t>
            </a:r>
            <a:endParaRPr/>
          </a:p>
          <a:p>
            <a:pPr indent="-342900" lvl="1" marL="914400" marR="0" rtl="0" algn="just">
              <a:spcBef>
                <a:spcPts val="0"/>
              </a:spcBef>
              <a:spcAft>
                <a:spcPts val="0"/>
              </a:spcAft>
              <a:buClr>
                <a:schemeClr val="dk1"/>
              </a:buClr>
              <a:buSzPts val="1800"/>
              <a:buFont typeface="Noto Sans Symbols"/>
              <a:buNone/>
            </a:pPr>
            <a:r>
              <a:t/>
            </a:r>
            <a:endParaRPr b="0" i="0" sz="1800" u="none" cap="none" strike="noStrike">
              <a:solidFill>
                <a:schemeClr val="dk1"/>
              </a:solidFill>
              <a:latin typeface="Consolas"/>
              <a:ea typeface="Consolas"/>
              <a:cs typeface="Consolas"/>
              <a:sym typeface="Consolas"/>
            </a:endParaRPr>
          </a:p>
          <a:p>
            <a:pPr indent="-457200" lvl="1" marL="914400" marR="0" rtl="0" algn="just">
              <a:spcBef>
                <a:spcPts val="0"/>
              </a:spcBef>
              <a:spcAft>
                <a:spcPts val="0"/>
              </a:spcAft>
              <a:buClr>
                <a:schemeClr val="dk1"/>
              </a:buClr>
              <a:buSzPts val="1800"/>
              <a:buFont typeface="Noto Sans Symbols"/>
              <a:buChar char="✔"/>
            </a:pPr>
            <a:r>
              <a:rPr b="1" i="0" lang="tr-TR" sz="1800" u="none" cap="none" strike="noStrike">
                <a:solidFill>
                  <a:schemeClr val="dk1"/>
                </a:solidFill>
                <a:latin typeface="Consolas"/>
                <a:ea typeface="Consolas"/>
                <a:cs typeface="Consolas"/>
                <a:sym typeface="Consolas"/>
              </a:rPr>
              <a:t>Paralelleştirme Zamanı: </a:t>
            </a:r>
            <a:r>
              <a:rPr b="0" i="0" lang="tr-TR" sz="1800" u="none" cap="none" strike="noStrike">
                <a:solidFill>
                  <a:schemeClr val="dk1"/>
                </a:solidFill>
                <a:latin typeface="Consolas"/>
                <a:ea typeface="Consolas"/>
                <a:cs typeface="Consolas"/>
                <a:sym typeface="Consolas"/>
              </a:rPr>
              <a:t>Algoritmayı paralelleştirmek ve paralel kodu optimize etmek için harcanan zaman da bir maliyet unsuru olabilir.</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pic>
        <p:nvPicPr>
          <p:cNvPr descr="Parallel computing for high-performance simulations" id="326" name="Google Shape;326;p28"/>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27" name="Google Shape;327;p28"/>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Paralelliştirme Maliyeti (Parallel Overhead)</a:t>
            </a:r>
            <a:endParaRPr/>
          </a:p>
        </p:txBody>
      </p:sp>
      <p:sp>
        <p:nvSpPr>
          <p:cNvPr id="328" name="Google Shape;328;p28"/>
          <p:cNvSpPr txBox="1"/>
          <p:nvPr/>
        </p:nvSpPr>
        <p:spPr>
          <a:xfrm>
            <a:off x="1164348" y="759758"/>
            <a:ext cx="10688667" cy="5940088"/>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Örnek bir hesaplama yapalım:</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Bir algoritmanın seri versiyonu 100 birimlik işlemci süresi gerektiriyor. Algoritmayı paralelleştirmek için ekstra 20 birimlik işlemci süresi harcanması gerekiyor. Ayrıca, paralel versiyonun çalışması için her bir işlemci için 10 birimlik ekstra bellek alanı gerekiyor ve işlemciler arasındaki veri alışverişi için her bir işlemci için 5 birimlik iletişim maliyeti var.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Toplam paralelleştirme maliyet:</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b="1" lang="tr-TR" sz="2000">
                <a:solidFill>
                  <a:schemeClr val="dk1"/>
                </a:solidFill>
                <a:latin typeface="Consolas"/>
                <a:ea typeface="Consolas"/>
                <a:cs typeface="Consolas"/>
                <a:sym typeface="Consolas"/>
              </a:rPr>
              <a:t>Toplam Maliyet = İşlemci Maliyeti + Bellek Maliyeti + </a:t>
            </a:r>
            <a:endParaRPr/>
          </a:p>
          <a:p>
            <a:pPr indent="0" lvl="0" marL="0" marR="0" rtl="0" algn="just">
              <a:spcBef>
                <a:spcPts val="0"/>
              </a:spcBef>
              <a:spcAft>
                <a:spcPts val="0"/>
              </a:spcAft>
              <a:buNone/>
            </a:pPr>
            <a:r>
              <a:rPr b="1" lang="tr-TR" sz="2000">
                <a:solidFill>
                  <a:schemeClr val="dk1"/>
                </a:solidFill>
                <a:latin typeface="Consolas"/>
                <a:ea typeface="Consolas"/>
                <a:cs typeface="Consolas"/>
                <a:sym typeface="Consolas"/>
              </a:rPr>
              <a:t>                 İletişim Maliyeti + Paralelleştirme Zamanı</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rgbClr val="1F5C99"/>
                </a:solidFill>
                <a:latin typeface="Consolas"/>
                <a:ea typeface="Consolas"/>
                <a:cs typeface="Consolas"/>
                <a:sym typeface="Consolas"/>
              </a:rPr>
              <a:t>Toplam Maliyet=(20×1)+(10×1)+(5×1)+(Paralelleş​tirme Zamanı)</a:t>
            </a:r>
            <a:endParaRPr/>
          </a:p>
          <a:p>
            <a:pPr indent="0" lvl="0" marL="0" marR="0" rtl="0" algn="just">
              <a:spcBef>
                <a:spcPts val="0"/>
              </a:spcBef>
              <a:spcAft>
                <a:spcPts val="0"/>
              </a:spcAft>
              <a:buNone/>
            </a:pPr>
            <a:r>
              <a:t/>
            </a:r>
            <a:endParaRPr sz="2000">
              <a:solidFill>
                <a:srgbClr val="1F5C99"/>
              </a:solidFill>
              <a:latin typeface="Consolas"/>
              <a:ea typeface="Consolas"/>
              <a:cs typeface="Consolas"/>
              <a:sym typeface="Consolas"/>
            </a:endParaRPr>
          </a:p>
          <a:p>
            <a:pPr indent="0" lvl="0" marL="0" marR="0" rtl="0" algn="just">
              <a:spcBef>
                <a:spcPts val="0"/>
              </a:spcBef>
              <a:spcAft>
                <a:spcPts val="0"/>
              </a:spcAft>
              <a:buNone/>
            </a:pPr>
            <a:r>
              <a:rPr lang="tr-TR" sz="2000">
                <a:solidFill>
                  <a:srgbClr val="0C0C0C"/>
                </a:solidFill>
                <a:latin typeface="Consolas"/>
                <a:ea typeface="Consolas"/>
                <a:cs typeface="Consolas"/>
                <a:sym typeface="Consolas"/>
              </a:rPr>
              <a:t>Paralelleştirme maliyetini hesaplamak için belirli bir paralelleştirme zamanı değeri gerekecektir. Bu değer, algoritmanın boyutu, karmaşıklığı ve paralelleştirme sürecinin karmaşıklığına bağlı olacaktır.</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pic>
        <p:nvPicPr>
          <p:cNvPr descr="Amdahl Kanununu biliyor musunuz ? | by Ertan Tike | Medium" id="333" name="Google Shape;333;p29"/>
          <p:cNvPicPr preferRelativeResize="0"/>
          <p:nvPr/>
        </p:nvPicPr>
        <p:blipFill rotWithShape="1">
          <a:blip r:embed="rId3">
            <a:alphaModFix/>
          </a:blip>
          <a:srcRect b="226" l="1714" r="8237" t="-227"/>
          <a:stretch/>
        </p:blipFill>
        <p:spPr>
          <a:xfrm>
            <a:off x="7527471" y="2171700"/>
            <a:ext cx="4664529" cy="4048818"/>
          </a:xfrm>
          <a:prstGeom prst="rect">
            <a:avLst/>
          </a:prstGeom>
          <a:noFill/>
          <a:ln>
            <a:noFill/>
          </a:ln>
        </p:spPr>
      </p:pic>
      <p:pic>
        <p:nvPicPr>
          <p:cNvPr descr="Parallel computing for high-performance simulations" id="334" name="Google Shape;334;p29"/>
          <p:cNvPicPr preferRelativeResize="0"/>
          <p:nvPr/>
        </p:nvPicPr>
        <p:blipFill rotWithShape="1">
          <a:blip r:embed="rId4">
            <a:alphaModFix/>
          </a:blip>
          <a:srcRect b="-1" l="0" r="0" t="51802"/>
          <a:stretch/>
        </p:blipFill>
        <p:spPr>
          <a:xfrm rot="5400000">
            <a:off x="-2989346" y="2971346"/>
            <a:ext cx="6876000" cy="914399"/>
          </a:xfrm>
          <a:prstGeom prst="rect">
            <a:avLst/>
          </a:prstGeom>
          <a:noFill/>
          <a:ln>
            <a:noFill/>
          </a:ln>
        </p:spPr>
      </p:pic>
      <p:sp>
        <p:nvSpPr>
          <p:cNvPr id="335" name="Google Shape;335;p29"/>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Amdahl Yasası</a:t>
            </a:r>
            <a:endParaRPr/>
          </a:p>
        </p:txBody>
      </p:sp>
      <p:sp>
        <p:nvSpPr>
          <p:cNvPr id="336" name="Google Shape;336;p29"/>
          <p:cNvSpPr txBox="1"/>
          <p:nvPr/>
        </p:nvSpPr>
        <p:spPr>
          <a:xfrm>
            <a:off x="1164348" y="759758"/>
            <a:ext cx="10688667" cy="2554545"/>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Amdahl'ın Yasası, bir programın paralelleştirilmesinin potansiyel hız kazancını tahmin etmek için kullanılır. Bu yasa, paralelleştirilebilir kısmın oranını ve bu kısmın işlemci üzerindeki zaman dilimini dikkate alarak paralelleştirilmiş bir programın hız kazancını hesaplar.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Amdahl'ın Yasası şu formülle ifade edilir: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p:txBody>
      </p:sp>
      <p:pic>
        <p:nvPicPr>
          <p:cNvPr id="337" name="Google Shape;337;p29"/>
          <p:cNvPicPr preferRelativeResize="0"/>
          <p:nvPr/>
        </p:nvPicPr>
        <p:blipFill rotWithShape="1">
          <a:blip r:embed="rId5">
            <a:alphaModFix/>
          </a:blip>
          <a:srcRect b="0" l="0" r="0" t="0"/>
          <a:stretch/>
        </p:blipFill>
        <p:spPr>
          <a:xfrm>
            <a:off x="1615555" y="2838244"/>
            <a:ext cx="4167275" cy="1636375"/>
          </a:xfrm>
          <a:prstGeom prst="rect">
            <a:avLst/>
          </a:prstGeom>
          <a:noFill/>
          <a:ln>
            <a:noFill/>
          </a:ln>
        </p:spPr>
      </p:pic>
      <p:sp>
        <p:nvSpPr>
          <p:cNvPr id="338" name="Google Shape;338;p29"/>
          <p:cNvSpPr txBox="1"/>
          <p:nvPr/>
        </p:nvSpPr>
        <p:spPr>
          <a:xfrm>
            <a:off x="1234054" y="4662422"/>
            <a:ext cx="6645600" cy="203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tr-TR" sz="2100">
                <a:solidFill>
                  <a:srgbClr val="0C0C0C"/>
                </a:solidFill>
                <a:latin typeface="Consolas"/>
                <a:ea typeface="Consolas"/>
                <a:cs typeface="Consolas"/>
                <a:sym typeface="Consolas"/>
              </a:rPr>
              <a:t>Burada:</a:t>
            </a:r>
            <a:endParaRPr sz="2100"/>
          </a:p>
          <a:p>
            <a:pPr indent="-133350" lvl="0" marL="0" marR="0" rtl="0" algn="l">
              <a:spcBef>
                <a:spcPts val="0"/>
              </a:spcBef>
              <a:spcAft>
                <a:spcPts val="0"/>
              </a:spcAft>
              <a:buClr>
                <a:srgbClr val="0C0C0C"/>
              </a:buClr>
              <a:buSzPts val="2100"/>
              <a:buFont typeface="Arial"/>
              <a:buChar char="•"/>
            </a:pPr>
            <a:r>
              <a:rPr b="0" i="0" lang="tr-TR" sz="2100">
                <a:solidFill>
                  <a:srgbClr val="0C0C0C"/>
                </a:solidFill>
                <a:latin typeface="Consolas"/>
                <a:ea typeface="Consolas"/>
                <a:cs typeface="Consolas"/>
                <a:sym typeface="Consolas"/>
              </a:rPr>
              <a:t>Speedup = Paralelleştirilmiş programın hız kazancı</a:t>
            </a:r>
            <a:endParaRPr sz="2100"/>
          </a:p>
          <a:p>
            <a:pPr indent="-133350" lvl="0" marL="0" marR="0" rtl="0" algn="l">
              <a:spcBef>
                <a:spcPts val="0"/>
              </a:spcBef>
              <a:spcAft>
                <a:spcPts val="0"/>
              </a:spcAft>
              <a:buClr>
                <a:srgbClr val="0C0C0C"/>
              </a:buClr>
              <a:buSzPts val="2100"/>
              <a:buFont typeface="Arial"/>
              <a:buChar char="•"/>
            </a:pPr>
            <a:r>
              <a:rPr b="0" i="1" lang="tr-TR" sz="2100">
                <a:solidFill>
                  <a:srgbClr val="0C0C0C"/>
                </a:solidFill>
                <a:latin typeface="Consolas"/>
                <a:ea typeface="Consolas"/>
                <a:cs typeface="Consolas"/>
                <a:sym typeface="Consolas"/>
              </a:rPr>
              <a:t>P</a:t>
            </a:r>
            <a:r>
              <a:rPr b="0" i="0" lang="tr-TR" sz="2100">
                <a:solidFill>
                  <a:srgbClr val="0C0C0C"/>
                </a:solidFill>
                <a:latin typeface="Consolas"/>
                <a:ea typeface="Consolas"/>
                <a:cs typeface="Consolas"/>
                <a:sym typeface="Consolas"/>
              </a:rPr>
              <a:t> = Paralelleştirilebilir kısım oranı (0 ile 1 arasında bir değer)</a:t>
            </a:r>
            <a:endParaRPr sz="2100"/>
          </a:p>
          <a:p>
            <a:pPr indent="-133350" lvl="0" marL="0" marR="0" rtl="0" algn="l">
              <a:spcBef>
                <a:spcPts val="0"/>
              </a:spcBef>
              <a:spcAft>
                <a:spcPts val="0"/>
              </a:spcAft>
              <a:buClr>
                <a:srgbClr val="0C0C0C"/>
              </a:buClr>
              <a:buSzPts val="2100"/>
              <a:buFont typeface="Arial"/>
              <a:buChar char="•"/>
            </a:pPr>
            <a:r>
              <a:rPr b="0" i="1" lang="tr-TR" sz="2100">
                <a:solidFill>
                  <a:srgbClr val="0C0C0C"/>
                </a:solidFill>
                <a:latin typeface="Consolas"/>
                <a:ea typeface="Consolas"/>
                <a:cs typeface="Consolas"/>
                <a:sym typeface="Consolas"/>
              </a:rPr>
              <a:t>N</a:t>
            </a:r>
            <a:r>
              <a:rPr b="0" i="0" lang="tr-TR" sz="2100">
                <a:solidFill>
                  <a:srgbClr val="0C0C0C"/>
                </a:solidFill>
                <a:latin typeface="Consolas"/>
                <a:ea typeface="Consolas"/>
                <a:cs typeface="Consolas"/>
                <a:sym typeface="Consolas"/>
              </a:rPr>
              <a:t> = İşlemci sayısı</a:t>
            </a:r>
            <a:endParaRPr sz="21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pic>
        <p:nvPicPr>
          <p:cNvPr descr="Parallel computing for high-performance simulations" id="343" name="Google Shape;343;p30"/>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44" name="Google Shape;344;p30"/>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Amdahl Yasası - Örnek</a:t>
            </a:r>
            <a:endParaRPr/>
          </a:p>
        </p:txBody>
      </p:sp>
      <p:sp>
        <p:nvSpPr>
          <p:cNvPr id="345" name="Google Shape;345;p30"/>
          <p:cNvSpPr txBox="1"/>
          <p:nvPr/>
        </p:nvSpPr>
        <p:spPr>
          <a:xfrm>
            <a:off x="1164348" y="759758"/>
            <a:ext cx="10688667" cy="6247864"/>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Örnek olarak, bir programın %80'i paralelleştirilebilir ve 4 işlemci kullanılarak çalıştırılmak isteniyor. Bu durumda, Amdahl'ın Yasası'nı kullanarak hız kazancını hesaplayabiliriz:</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Bu durumda, paralelleştirilmiş program, tek işlemciye göre yaklaşık 2.5 kat daha hızlı çalışacaktır. </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Ayrıca, bu hesaplamadan, paralelleştirilebilir kısmın oranının ve işlemci sayısının hız kazancı üzerindeki etkisini gözlemleyebiliriz.</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Paralelleştirilebilir kısım oranı arttıkça ve işlemci sayısı arttıkça, hız kazancı da artacaktır.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p:txBody>
      </p:sp>
      <p:pic>
        <p:nvPicPr>
          <p:cNvPr id="346" name="Google Shape;346;p30"/>
          <p:cNvPicPr preferRelativeResize="0"/>
          <p:nvPr/>
        </p:nvPicPr>
        <p:blipFill rotWithShape="1">
          <a:blip r:embed="rId4">
            <a:alphaModFix/>
          </a:blip>
          <a:srcRect b="0" l="0" r="0" t="0"/>
          <a:stretch/>
        </p:blipFill>
        <p:spPr>
          <a:xfrm>
            <a:off x="4028436" y="1891454"/>
            <a:ext cx="4135128" cy="1479941"/>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pic>
        <p:nvPicPr>
          <p:cNvPr descr="Parallel computing for high-performance simulations" id="351" name="Google Shape;351;p31"/>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52" name="Google Shape;352;p31"/>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Ölçeklenebilirlik</a:t>
            </a:r>
            <a:endParaRPr/>
          </a:p>
        </p:txBody>
      </p:sp>
      <p:sp>
        <p:nvSpPr>
          <p:cNvPr id="353" name="Google Shape;353;p31"/>
          <p:cNvSpPr txBox="1"/>
          <p:nvPr/>
        </p:nvSpPr>
        <p:spPr>
          <a:xfrm>
            <a:off x="1164348" y="759758"/>
            <a:ext cx="10688667" cy="3170099"/>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Geliştirilen yazılım her geçen gün mevcut problemin boyutlarının artmasına rağmen çalışmaya devam edebiliyorsa ölçeklenebilirdir.</a:t>
            </a:r>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chemeClr val="dk1"/>
                </a:solidFill>
                <a:latin typeface="Consolas"/>
                <a:ea typeface="Consolas"/>
                <a:cs typeface="Consolas"/>
                <a:sym typeface="Consolas"/>
              </a:rPr>
              <a:t>Örneğin:</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Tserial = n micro saniye sürsün. Aynı zamanda problem boyutumuzun da n olduğunu varsayalım. </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Tparalel = (n/p)+1 paralel işlem süremiz olsun. </a:t>
            </a:r>
            <a:endParaRPr/>
          </a:p>
          <a:p>
            <a:pPr indent="0" lvl="0" marL="0" marR="0" rtl="0" algn="just">
              <a:spcBef>
                <a:spcPts val="0"/>
              </a:spcBef>
              <a:spcAft>
                <a:spcPts val="0"/>
              </a:spcAft>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chemeClr val="dk1"/>
                </a:solidFill>
                <a:latin typeface="Consolas"/>
                <a:ea typeface="Consolas"/>
                <a:cs typeface="Consolas"/>
                <a:sym typeface="Consolas"/>
              </a:rPr>
              <a:t>Bu durumda:</a:t>
            </a:r>
            <a:endParaRPr/>
          </a:p>
        </p:txBody>
      </p:sp>
      <p:pic>
        <p:nvPicPr>
          <p:cNvPr id="354" name="Google Shape;354;p31"/>
          <p:cNvPicPr preferRelativeResize="0"/>
          <p:nvPr/>
        </p:nvPicPr>
        <p:blipFill rotWithShape="1">
          <a:blip r:embed="rId4">
            <a:alphaModFix/>
          </a:blip>
          <a:srcRect b="0" l="0" r="0" t="0"/>
          <a:stretch/>
        </p:blipFill>
        <p:spPr>
          <a:xfrm>
            <a:off x="3320238" y="3308738"/>
            <a:ext cx="5551524" cy="1418384"/>
          </a:xfrm>
          <a:prstGeom prst="rect">
            <a:avLst/>
          </a:prstGeom>
          <a:noFill/>
          <a:ln>
            <a:noFill/>
          </a:ln>
        </p:spPr>
      </p:pic>
      <p:sp>
        <p:nvSpPr>
          <p:cNvPr id="355" name="Google Shape;355;p31"/>
          <p:cNvSpPr/>
          <p:nvPr/>
        </p:nvSpPr>
        <p:spPr>
          <a:xfrm>
            <a:off x="7862207" y="3428545"/>
            <a:ext cx="1009555" cy="947512"/>
          </a:xfrm>
          <a:prstGeom prst="roundRect">
            <a:avLst>
              <a:gd fmla="val 16667" name="adj"/>
            </a:avLst>
          </a:prstGeom>
          <a:noFill/>
          <a:ln cap="flat" cmpd="sng" w="19050">
            <a:solidFill>
              <a:srgbClr val="00B0F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pic>
        <p:nvPicPr>
          <p:cNvPr descr="Parallel computing for high-performance simulations" id="360" name="Google Shape;360;p32"/>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61" name="Google Shape;361;p32"/>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Ölçeklenebilirlik</a:t>
            </a:r>
            <a:endParaRPr/>
          </a:p>
        </p:txBody>
      </p:sp>
      <p:sp>
        <p:nvSpPr>
          <p:cNvPr id="362" name="Google Shape;362;p32"/>
          <p:cNvSpPr txBox="1"/>
          <p:nvPr/>
        </p:nvSpPr>
        <p:spPr>
          <a:xfrm>
            <a:off x="1164348" y="759758"/>
            <a:ext cx="10688667" cy="5324535"/>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Geliştirilen programın ölçeklenebilirliğini test etmek için problem boyumuzu k oranında işlemci sayımızı da x oranında arttıralım. Bu şartlar altında verimlilik: </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chemeClr val="dk1"/>
                </a:solidFill>
                <a:latin typeface="Consolas"/>
                <a:ea typeface="Consolas"/>
                <a:cs typeface="Consolas"/>
                <a:sym typeface="Consolas"/>
              </a:rPr>
              <a:t>olarak hesaplanacaktır. Eğer x = k olursa bu denklem:</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000">
                <a:solidFill>
                  <a:schemeClr val="dk1"/>
                </a:solidFill>
                <a:latin typeface="Consolas"/>
                <a:ea typeface="Consolas"/>
                <a:cs typeface="Consolas"/>
                <a:sym typeface="Consolas"/>
              </a:rPr>
              <a:t>olarak bulunur. Kısaca problem boyutunu işlemci sayısı ile aynı oranda büyütürsek paralel sistemin verimliliği </a:t>
            </a:r>
            <a:r>
              <a:rPr lang="tr-TR" sz="2000">
                <a:solidFill>
                  <a:srgbClr val="0070C0"/>
                </a:solidFill>
                <a:latin typeface="Consolas"/>
                <a:ea typeface="Consolas"/>
                <a:cs typeface="Consolas"/>
                <a:sym typeface="Consolas"/>
              </a:rPr>
              <a:t>değişmeyecektir</a:t>
            </a:r>
            <a:r>
              <a:rPr lang="tr-TR" sz="2000">
                <a:solidFill>
                  <a:schemeClr val="dk1"/>
                </a:solidFill>
                <a:latin typeface="Consolas"/>
                <a:ea typeface="Consolas"/>
                <a:cs typeface="Consolas"/>
                <a:sym typeface="Consolas"/>
              </a:rPr>
              <a:t> ve </a:t>
            </a:r>
            <a:r>
              <a:rPr lang="tr-TR" sz="2000">
                <a:solidFill>
                  <a:srgbClr val="0070C0"/>
                </a:solidFill>
                <a:latin typeface="Consolas"/>
                <a:ea typeface="Consolas"/>
                <a:cs typeface="Consolas"/>
                <a:sym typeface="Consolas"/>
              </a:rPr>
              <a:t>ölçeklenebilirlik</a:t>
            </a:r>
            <a:r>
              <a:rPr lang="tr-TR" sz="2000">
                <a:solidFill>
                  <a:schemeClr val="dk1"/>
                </a:solidFill>
                <a:latin typeface="Consolas"/>
                <a:ea typeface="Consolas"/>
                <a:cs typeface="Consolas"/>
                <a:sym typeface="Consolas"/>
              </a:rPr>
              <a:t> sağlanmış olacaktır. </a:t>
            </a:r>
            <a:endParaRPr/>
          </a:p>
        </p:txBody>
      </p:sp>
      <p:pic>
        <p:nvPicPr>
          <p:cNvPr id="363" name="Google Shape;363;p32"/>
          <p:cNvPicPr preferRelativeResize="0"/>
          <p:nvPr/>
        </p:nvPicPr>
        <p:blipFill rotWithShape="1">
          <a:blip r:embed="rId4">
            <a:alphaModFix/>
          </a:blip>
          <a:srcRect b="0" l="0" r="0" t="0"/>
          <a:stretch/>
        </p:blipFill>
        <p:spPr>
          <a:xfrm>
            <a:off x="4787673" y="2025274"/>
            <a:ext cx="3441928" cy="1038301"/>
          </a:xfrm>
          <a:prstGeom prst="rect">
            <a:avLst/>
          </a:prstGeom>
          <a:noFill/>
          <a:ln>
            <a:noFill/>
          </a:ln>
        </p:spPr>
      </p:pic>
      <p:pic>
        <p:nvPicPr>
          <p:cNvPr id="364" name="Google Shape;364;p32"/>
          <p:cNvPicPr preferRelativeResize="0"/>
          <p:nvPr/>
        </p:nvPicPr>
        <p:blipFill rotWithShape="1">
          <a:blip r:embed="rId5">
            <a:alphaModFix/>
          </a:blip>
          <a:srcRect b="0" l="0" r="0" t="0"/>
          <a:stretch/>
        </p:blipFill>
        <p:spPr>
          <a:xfrm>
            <a:off x="3942278" y="3648850"/>
            <a:ext cx="4921024" cy="105884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pic>
        <p:nvPicPr>
          <p:cNvPr descr="Parallel computing for high-performance simulations" id="369" name="Google Shape;369;p33"/>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70" name="Google Shape;370;p33"/>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Paralel Program Tasarımı</a:t>
            </a:r>
            <a:endParaRPr/>
          </a:p>
        </p:txBody>
      </p:sp>
      <p:sp>
        <p:nvSpPr>
          <p:cNvPr id="371" name="Google Shape;371;p33"/>
          <p:cNvSpPr txBox="1"/>
          <p:nvPr/>
        </p:nvSpPr>
        <p:spPr>
          <a:xfrm>
            <a:off x="1164348" y="759758"/>
            <a:ext cx="10688667" cy="4093428"/>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Paralel donanım mimarileri belirli kriterler çerçevesinde tasarlanarak üretilebilmesine rağmen seri bir programı paralel bir programa çevirebilmek için kesin bir çözüm yolu bulunmamaktadır. </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Yine de Ian Foster’in geliştirmiş olduğu Paralel Program Tasarımı ve Mimarisi başlıklı eserde Paralel Programlama metodolojisi 4 adımda ele alınmıştır </a:t>
            </a:r>
            <a:r>
              <a:rPr b="1" lang="tr-TR" sz="2000">
                <a:solidFill>
                  <a:srgbClr val="0070C0"/>
                </a:solidFill>
                <a:latin typeface="Consolas"/>
                <a:ea typeface="Consolas"/>
                <a:cs typeface="Consolas"/>
                <a:sym typeface="Consolas"/>
              </a:rPr>
              <a:t>(Foster’s methodology)</a:t>
            </a:r>
            <a:r>
              <a:rPr lang="tr-TR" sz="2000">
                <a:solidFill>
                  <a:schemeClr val="dk1"/>
                </a:solidFill>
                <a:latin typeface="Consolas"/>
                <a:ea typeface="Consolas"/>
                <a:cs typeface="Consolas"/>
                <a:sym typeface="Consolas"/>
              </a:rPr>
              <a:t>:</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1" marL="914400" marR="0" rtl="0" algn="just">
              <a:spcBef>
                <a:spcPts val="0"/>
              </a:spcBef>
              <a:spcAft>
                <a:spcPts val="0"/>
              </a:spcAft>
              <a:buClr>
                <a:schemeClr val="dk1"/>
              </a:buClr>
              <a:buSzPts val="2000"/>
              <a:buFont typeface="Noto Sans Symbols"/>
              <a:buChar char="✔"/>
            </a:pPr>
            <a:r>
              <a:rPr b="0" i="0" lang="tr-TR" sz="2000" u="none" cap="none" strike="noStrike">
                <a:solidFill>
                  <a:schemeClr val="dk1"/>
                </a:solidFill>
                <a:latin typeface="Consolas"/>
                <a:ea typeface="Consolas"/>
                <a:cs typeface="Consolas"/>
                <a:sym typeface="Consolas"/>
              </a:rPr>
              <a:t>Bölme (Partitioning)</a:t>
            </a:r>
            <a:endParaRPr/>
          </a:p>
          <a:p>
            <a:pPr indent="-457200" lvl="1" marL="914400" marR="0" rtl="0" algn="just">
              <a:spcBef>
                <a:spcPts val="0"/>
              </a:spcBef>
              <a:spcAft>
                <a:spcPts val="0"/>
              </a:spcAft>
              <a:buClr>
                <a:schemeClr val="dk1"/>
              </a:buClr>
              <a:buSzPts val="2000"/>
              <a:buFont typeface="Noto Sans Symbols"/>
              <a:buChar char="✔"/>
            </a:pPr>
            <a:r>
              <a:rPr b="0" i="0" lang="tr-TR" sz="2000" u="none" cap="none" strike="noStrike">
                <a:solidFill>
                  <a:schemeClr val="dk1"/>
                </a:solidFill>
                <a:latin typeface="Consolas"/>
                <a:ea typeface="Consolas"/>
                <a:cs typeface="Consolas"/>
                <a:sym typeface="Consolas"/>
              </a:rPr>
              <a:t>Haberleşme (Communication)</a:t>
            </a:r>
            <a:endParaRPr/>
          </a:p>
          <a:p>
            <a:pPr indent="-457200" lvl="1" marL="914400" marR="0" rtl="0" algn="just">
              <a:spcBef>
                <a:spcPts val="0"/>
              </a:spcBef>
              <a:spcAft>
                <a:spcPts val="0"/>
              </a:spcAft>
              <a:buClr>
                <a:schemeClr val="dk1"/>
              </a:buClr>
              <a:buSzPts val="2000"/>
              <a:buFont typeface="Noto Sans Symbols"/>
              <a:buChar char="✔"/>
            </a:pPr>
            <a:r>
              <a:rPr b="0" i="0" lang="tr-TR" sz="2000" u="none" cap="none" strike="noStrike">
                <a:solidFill>
                  <a:schemeClr val="dk1"/>
                </a:solidFill>
                <a:latin typeface="Consolas"/>
                <a:ea typeface="Consolas"/>
                <a:cs typeface="Consolas"/>
                <a:sym typeface="Consolas"/>
              </a:rPr>
              <a:t>Birleştirme (Aggregation)</a:t>
            </a:r>
            <a:endParaRPr/>
          </a:p>
          <a:p>
            <a:pPr indent="-457200" lvl="1" marL="914400" marR="0" rtl="0" algn="just">
              <a:spcBef>
                <a:spcPts val="0"/>
              </a:spcBef>
              <a:spcAft>
                <a:spcPts val="0"/>
              </a:spcAft>
              <a:buClr>
                <a:schemeClr val="dk1"/>
              </a:buClr>
              <a:buSzPts val="2000"/>
              <a:buFont typeface="Noto Sans Symbols"/>
              <a:buChar char="✔"/>
            </a:pPr>
            <a:r>
              <a:rPr b="0" i="0" lang="tr-TR" sz="2000" u="none" cap="none" strike="noStrike">
                <a:solidFill>
                  <a:schemeClr val="dk1"/>
                </a:solidFill>
                <a:latin typeface="Consolas"/>
                <a:ea typeface="Consolas"/>
                <a:cs typeface="Consolas"/>
                <a:sym typeface="Consolas"/>
              </a:rPr>
              <a:t>Planlama (Mapping)</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pic>
        <p:nvPicPr>
          <p:cNvPr descr="Parallel computing for high-performance simulations" id="376" name="Google Shape;376;p34"/>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77" name="Google Shape;377;p34"/>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Bölme (Partitioning)</a:t>
            </a:r>
            <a:endParaRPr/>
          </a:p>
        </p:txBody>
      </p:sp>
      <p:sp>
        <p:nvSpPr>
          <p:cNvPr id="378" name="Google Shape;378;p34"/>
          <p:cNvSpPr txBox="1"/>
          <p:nvPr/>
        </p:nvSpPr>
        <p:spPr>
          <a:xfrm>
            <a:off x="1164348" y="759758"/>
            <a:ext cx="10688667" cy="5016758"/>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Gerçekleştirilecek hesaplama ve hesaplamada kullanılacak olan veriler  küçük görevlere bölünmelidir. </a:t>
            </a:r>
            <a:endParaRPr/>
          </a:p>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Buradaki odaklanma, paralel olarak yürütülebilecek görevlerin tanımlanması üzerine olmalıdır.</a:t>
            </a:r>
            <a:endParaRPr/>
          </a:p>
          <a:p>
            <a:pPr indent="0" lvl="1" marL="457200" marR="0" rtl="0" algn="just">
              <a:spcBef>
                <a:spcPts val="0"/>
              </a:spcBef>
              <a:spcAft>
                <a:spcPts val="0"/>
              </a:spcAft>
              <a:buNone/>
            </a:pPr>
            <a:r>
              <a:t/>
            </a:r>
            <a:endParaRPr b="0" i="0" sz="2000" u="none" cap="none" strike="noStrike">
              <a:solidFill>
                <a:schemeClr val="dk1"/>
              </a:solidFill>
              <a:latin typeface="Consolas"/>
              <a:ea typeface="Consolas"/>
              <a:cs typeface="Consolas"/>
              <a:sym typeface="Consolas"/>
            </a:endParaRPr>
          </a:p>
          <a:p>
            <a:pPr indent="0" lvl="1" marL="457200" marR="0" rtl="0" algn="just">
              <a:spcBef>
                <a:spcPts val="0"/>
              </a:spcBef>
              <a:spcAft>
                <a:spcPts val="0"/>
              </a:spcAft>
              <a:buNone/>
            </a:pPr>
            <a:r>
              <a:rPr b="0" i="0" lang="tr-TR" sz="2000" u="none" cap="none" strike="noStrike">
                <a:solidFill>
                  <a:srgbClr val="0070C0"/>
                </a:solidFill>
                <a:latin typeface="Consolas"/>
                <a:ea typeface="Consolas"/>
                <a:cs typeface="Consolas"/>
                <a:sym typeface="Consolas"/>
              </a:rPr>
              <a:t>Divide and Conquer (Böl ve Yönet) : </a:t>
            </a:r>
            <a:endParaRPr/>
          </a:p>
          <a:p>
            <a:pPr indent="0" lvl="1" marL="457200" marR="0" rtl="0" algn="just">
              <a:spcBef>
                <a:spcPts val="0"/>
              </a:spcBef>
              <a:spcAft>
                <a:spcPts val="0"/>
              </a:spcAft>
              <a:buNone/>
            </a:pPr>
            <a:r>
              <a:t/>
            </a:r>
            <a:endParaRPr b="0" i="0" sz="2000" u="none" cap="none" strike="noStrike">
              <a:solidFill>
                <a:srgbClr val="0070C0"/>
              </a:solidFill>
              <a:latin typeface="Consolas"/>
              <a:ea typeface="Consolas"/>
              <a:cs typeface="Consolas"/>
              <a:sym typeface="Consolas"/>
            </a:endParaRPr>
          </a:p>
          <a:p>
            <a:pPr indent="-342900" lvl="1" marL="800100" marR="0" rtl="0" algn="just">
              <a:spcBef>
                <a:spcPts val="0"/>
              </a:spcBef>
              <a:spcAft>
                <a:spcPts val="0"/>
              </a:spcAft>
              <a:buClr>
                <a:srgbClr val="0C0C0C"/>
              </a:buClr>
              <a:buSzPts val="2000"/>
              <a:buFont typeface="Noto Sans Symbols"/>
              <a:buChar char="✔"/>
            </a:pPr>
            <a:r>
              <a:rPr b="0" i="0" lang="tr-TR" sz="2000" u="none" cap="none" strike="noStrike">
                <a:solidFill>
                  <a:srgbClr val="0C0C0C"/>
                </a:solidFill>
                <a:latin typeface="Consolas"/>
                <a:ea typeface="Consolas"/>
                <a:cs typeface="Consolas"/>
                <a:sym typeface="Consolas"/>
              </a:rPr>
              <a:t>Paralelizm için çok etkili bir algoritma tasarlama stratejisidir. </a:t>
            </a:r>
            <a:endParaRPr/>
          </a:p>
          <a:p>
            <a:pPr indent="-215900" lvl="1" marL="800100" marR="0" rtl="0" algn="just">
              <a:spcBef>
                <a:spcPts val="0"/>
              </a:spcBef>
              <a:spcAft>
                <a:spcPts val="0"/>
              </a:spcAft>
              <a:buClr>
                <a:schemeClr val="dk1"/>
              </a:buClr>
              <a:buSzPts val="2000"/>
              <a:buFont typeface="Noto Sans Symbols"/>
              <a:buNone/>
            </a:pPr>
            <a:r>
              <a:t/>
            </a:r>
            <a:endParaRPr b="0" i="0" sz="2000" u="none" cap="none" strike="noStrike">
              <a:solidFill>
                <a:srgbClr val="0C0C0C"/>
              </a:solidFill>
              <a:latin typeface="Consolas"/>
              <a:ea typeface="Consolas"/>
              <a:cs typeface="Consolas"/>
              <a:sym typeface="Consolas"/>
            </a:endParaRPr>
          </a:p>
          <a:p>
            <a:pPr indent="-342900" lvl="1" marL="800100" marR="0" rtl="0" algn="just">
              <a:spcBef>
                <a:spcPts val="0"/>
              </a:spcBef>
              <a:spcAft>
                <a:spcPts val="0"/>
              </a:spcAft>
              <a:buClr>
                <a:srgbClr val="0C0C0C"/>
              </a:buClr>
              <a:buSzPts val="2000"/>
              <a:buFont typeface="Noto Sans Symbols"/>
              <a:buChar char="✔"/>
            </a:pPr>
            <a:r>
              <a:rPr b="0" i="0" lang="tr-TR" sz="2000" u="none" cap="none" strike="noStrike">
                <a:solidFill>
                  <a:srgbClr val="0C0C0C"/>
                </a:solidFill>
                <a:latin typeface="Consolas"/>
                <a:ea typeface="Consolas"/>
                <a:cs typeface="Consolas"/>
                <a:sym typeface="Consolas"/>
              </a:rPr>
              <a:t>Bu stratejiyi kullanarak bir algoritmayı paralelleştirmek, büyük ve karmaşık bir problemi daha küçük ve yönetilebilir alt problemlere bölmek ve bu alt problemleri bağımsız olarak çözmek anlamına gelir. </a:t>
            </a:r>
            <a:endParaRPr/>
          </a:p>
          <a:p>
            <a:pPr indent="-215900" lvl="1" marL="800100" marR="0" rtl="0" algn="just">
              <a:spcBef>
                <a:spcPts val="0"/>
              </a:spcBef>
              <a:spcAft>
                <a:spcPts val="0"/>
              </a:spcAft>
              <a:buClr>
                <a:schemeClr val="dk1"/>
              </a:buClr>
              <a:buSzPts val="2000"/>
              <a:buFont typeface="Noto Sans Symbols"/>
              <a:buNone/>
            </a:pPr>
            <a:r>
              <a:t/>
            </a:r>
            <a:endParaRPr b="0" i="0" sz="2000" u="none" cap="none" strike="noStrike">
              <a:solidFill>
                <a:srgbClr val="0C0C0C"/>
              </a:solidFill>
              <a:latin typeface="Consolas"/>
              <a:ea typeface="Consolas"/>
              <a:cs typeface="Consolas"/>
              <a:sym typeface="Consolas"/>
            </a:endParaRPr>
          </a:p>
          <a:p>
            <a:pPr indent="-342900" lvl="1" marL="800100" marR="0" rtl="0" algn="just">
              <a:spcBef>
                <a:spcPts val="0"/>
              </a:spcBef>
              <a:spcAft>
                <a:spcPts val="0"/>
              </a:spcAft>
              <a:buClr>
                <a:srgbClr val="0C0C0C"/>
              </a:buClr>
              <a:buSzPts val="2000"/>
              <a:buFont typeface="Noto Sans Symbols"/>
              <a:buChar char="✔"/>
            </a:pPr>
            <a:r>
              <a:rPr b="0" i="0" lang="tr-TR" sz="2000" u="none" cap="none" strike="noStrike">
                <a:solidFill>
                  <a:srgbClr val="0C0C0C"/>
                </a:solidFill>
                <a:latin typeface="Consolas"/>
                <a:ea typeface="Consolas"/>
                <a:cs typeface="Consolas"/>
                <a:sym typeface="Consolas"/>
              </a:rPr>
              <a:t>Paralelizm, bu alt problemleri aynı anda farklı işlemciler üzerinde çalıştırarak sağlanır.</a:t>
            </a:r>
            <a:endParaRPr/>
          </a:p>
          <a:p>
            <a:pPr indent="-330200" lvl="1" marL="914400" marR="0" rtl="0" algn="just">
              <a:spcBef>
                <a:spcPts val="0"/>
              </a:spcBef>
              <a:spcAft>
                <a:spcPts val="0"/>
              </a:spcAft>
              <a:buClr>
                <a:schemeClr val="dk1"/>
              </a:buClr>
              <a:buSzPts val="2000"/>
              <a:buFont typeface="Noto Sans Symbols"/>
              <a:buNone/>
            </a:pPr>
            <a:r>
              <a:t/>
            </a:r>
            <a:endParaRPr b="0" i="0" sz="2000" u="none" cap="none" strike="noStrike">
              <a:solidFill>
                <a:srgbClr val="0070C0"/>
              </a:solidFill>
              <a:latin typeface="Consolas"/>
              <a:ea typeface="Consolas"/>
              <a:cs typeface="Consolas"/>
              <a:sym typeface="Consolas"/>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pic>
        <p:nvPicPr>
          <p:cNvPr descr="Parallel computing for high-performance simulations" id="383" name="Google Shape;383;p35"/>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84" name="Google Shape;384;p35"/>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Bölme (Partitioning)</a:t>
            </a:r>
            <a:endParaRPr/>
          </a:p>
        </p:txBody>
      </p:sp>
      <p:sp>
        <p:nvSpPr>
          <p:cNvPr id="385" name="Google Shape;385;p35"/>
          <p:cNvSpPr txBox="1"/>
          <p:nvPr/>
        </p:nvSpPr>
        <p:spPr>
          <a:xfrm>
            <a:off x="1164349" y="759757"/>
            <a:ext cx="4931652" cy="6093976"/>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Böl ve Yönet stratejisi genellikle şu adımları içerir:</a:t>
            </a:r>
            <a:endParaRPr/>
          </a:p>
          <a:p>
            <a:pPr indent="-368300" lvl="0" marL="457200" marR="0" rtl="0" algn="just">
              <a:spcBef>
                <a:spcPts val="0"/>
              </a:spcBef>
              <a:spcAft>
                <a:spcPts val="0"/>
              </a:spcAft>
              <a:buClr>
                <a:schemeClr val="dk1"/>
              </a:buClr>
              <a:buSzPts val="1400"/>
              <a:buFont typeface="Arial"/>
              <a:buNone/>
            </a:pPr>
            <a:r>
              <a:t/>
            </a:r>
            <a:endParaRPr sz="14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1400"/>
              <a:buFont typeface="Arial"/>
              <a:buChar char="•"/>
            </a:pPr>
            <a:r>
              <a:rPr lang="tr-TR" sz="1400">
                <a:solidFill>
                  <a:schemeClr val="dk1"/>
                </a:solidFill>
                <a:latin typeface="Consolas"/>
                <a:ea typeface="Consolas"/>
                <a:cs typeface="Consolas"/>
                <a:sym typeface="Consolas"/>
              </a:rPr>
              <a:t>Bölme (Divide):</a:t>
            </a:r>
            <a:endParaRPr/>
          </a:p>
          <a:p>
            <a:pPr indent="-457200" lvl="1" marL="914400" marR="0" rtl="0" algn="just">
              <a:spcBef>
                <a:spcPts val="0"/>
              </a:spcBef>
              <a:spcAft>
                <a:spcPts val="0"/>
              </a:spcAft>
              <a:buClr>
                <a:schemeClr val="dk1"/>
              </a:buClr>
              <a:buSzPts val="1400"/>
              <a:buFont typeface="Arial"/>
              <a:buChar char="•"/>
            </a:pPr>
            <a:r>
              <a:rPr b="0" i="0" lang="tr-TR" sz="1400" u="none" cap="none" strike="noStrike">
                <a:solidFill>
                  <a:schemeClr val="dk1"/>
                </a:solidFill>
                <a:latin typeface="Consolas"/>
                <a:ea typeface="Consolas"/>
                <a:cs typeface="Consolas"/>
                <a:sym typeface="Consolas"/>
              </a:rPr>
              <a:t>Büyük problem, daha küçük ve daha yönetilebilir alt problemlere bölünür. Bu adımda, problemi çözmek için gereken işlem ve veri, mümkün olduğunca bağımsız alt problemlere ayrılır.</a:t>
            </a:r>
            <a:endParaRPr/>
          </a:p>
          <a:p>
            <a:pPr indent="-368300" lvl="0" marL="457200" marR="0" rtl="0" algn="just">
              <a:spcBef>
                <a:spcPts val="0"/>
              </a:spcBef>
              <a:spcAft>
                <a:spcPts val="0"/>
              </a:spcAft>
              <a:buClr>
                <a:schemeClr val="dk1"/>
              </a:buClr>
              <a:buSzPts val="1400"/>
              <a:buFont typeface="Arial"/>
              <a:buNone/>
            </a:pPr>
            <a:r>
              <a:t/>
            </a:r>
            <a:endParaRPr sz="14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1400"/>
              <a:buFont typeface="Arial"/>
              <a:buChar char="•"/>
            </a:pPr>
            <a:r>
              <a:rPr lang="tr-TR" sz="1400">
                <a:solidFill>
                  <a:schemeClr val="dk1"/>
                </a:solidFill>
                <a:latin typeface="Consolas"/>
                <a:ea typeface="Consolas"/>
                <a:cs typeface="Consolas"/>
                <a:sym typeface="Consolas"/>
              </a:rPr>
              <a:t>Yönet (Conquer):</a:t>
            </a:r>
            <a:endParaRPr/>
          </a:p>
          <a:p>
            <a:pPr indent="-457200" lvl="1" marL="914400" marR="0" rtl="0" algn="just">
              <a:spcBef>
                <a:spcPts val="0"/>
              </a:spcBef>
              <a:spcAft>
                <a:spcPts val="0"/>
              </a:spcAft>
              <a:buClr>
                <a:schemeClr val="dk1"/>
              </a:buClr>
              <a:buSzPts val="1400"/>
              <a:buFont typeface="Arial"/>
              <a:buChar char="•"/>
            </a:pPr>
            <a:r>
              <a:rPr b="0" i="0" lang="tr-TR" sz="1400" u="none" cap="none" strike="noStrike">
                <a:solidFill>
                  <a:schemeClr val="dk1"/>
                </a:solidFill>
                <a:latin typeface="Consolas"/>
                <a:ea typeface="Consolas"/>
                <a:cs typeface="Consolas"/>
                <a:sym typeface="Consolas"/>
              </a:rPr>
              <a:t>Alt problemler bağımsız olarak çözülür. Bu adımda, her bir alt problem için ayrı bir çözüm stratejisi uygulanır. Alt problemlerin çözümü için gereken işlemler ve hesaplamalar gerçekleştirilir.</a:t>
            </a:r>
            <a:endParaRPr/>
          </a:p>
          <a:p>
            <a:pPr indent="-368300" lvl="0" marL="457200" marR="0" rtl="0" algn="just">
              <a:spcBef>
                <a:spcPts val="0"/>
              </a:spcBef>
              <a:spcAft>
                <a:spcPts val="0"/>
              </a:spcAft>
              <a:buClr>
                <a:schemeClr val="dk1"/>
              </a:buClr>
              <a:buSzPts val="1400"/>
              <a:buFont typeface="Arial"/>
              <a:buNone/>
            </a:pPr>
            <a:r>
              <a:t/>
            </a:r>
            <a:endParaRPr sz="1400">
              <a:solidFill>
                <a:schemeClr val="dk1"/>
              </a:solidFill>
              <a:latin typeface="Consolas"/>
              <a:ea typeface="Consolas"/>
              <a:cs typeface="Consolas"/>
              <a:sym typeface="Consolas"/>
            </a:endParaRPr>
          </a:p>
          <a:p>
            <a:pPr indent="-457200" lvl="0" marL="457200" marR="0" rtl="0" algn="just">
              <a:spcBef>
                <a:spcPts val="0"/>
              </a:spcBef>
              <a:spcAft>
                <a:spcPts val="0"/>
              </a:spcAft>
              <a:buClr>
                <a:schemeClr val="dk1"/>
              </a:buClr>
              <a:buSzPts val="1400"/>
              <a:buFont typeface="Arial"/>
              <a:buChar char="•"/>
            </a:pPr>
            <a:r>
              <a:rPr lang="tr-TR" sz="1400">
                <a:solidFill>
                  <a:schemeClr val="dk1"/>
                </a:solidFill>
                <a:latin typeface="Consolas"/>
                <a:ea typeface="Consolas"/>
                <a:cs typeface="Consolas"/>
                <a:sym typeface="Consolas"/>
              </a:rPr>
              <a:t>Birleştir (Combine/Merge):</a:t>
            </a:r>
            <a:endParaRPr/>
          </a:p>
          <a:p>
            <a:pPr indent="-457200" lvl="1" marL="914400" marR="0" rtl="0" algn="just">
              <a:spcBef>
                <a:spcPts val="0"/>
              </a:spcBef>
              <a:spcAft>
                <a:spcPts val="0"/>
              </a:spcAft>
              <a:buClr>
                <a:schemeClr val="dk1"/>
              </a:buClr>
              <a:buSzPts val="1400"/>
              <a:buFont typeface="Arial"/>
              <a:buChar char="•"/>
            </a:pPr>
            <a:r>
              <a:rPr b="0" i="0" lang="tr-TR" sz="1400" u="none" cap="none" strike="noStrike">
                <a:solidFill>
                  <a:schemeClr val="dk1"/>
                </a:solidFill>
                <a:latin typeface="Consolas"/>
                <a:ea typeface="Consolas"/>
                <a:cs typeface="Consolas"/>
                <a:sym typeface="Consolas"/>
              </a:rPr>
              <a:t>Bağımsız olarak çözülen alt problemlerin sonuçları birleştirilir. Bu adımda, alt problemlerin çözümü için elde edilen sonuçlar toplanır veya birleştirilir. Bu, orijinal büyük problemi çözmek için gereken sonuçları üretir.</a:t>
            </a:r>
            <a:endParaRPr b="0" i="0" sz="1400" u="none" cap="none" strike="noStrike">
              <a:solidFill>
                <a:srgbClr val="0070C0"/>
              </a:solidFill>
              <a:latin typeface="Consolas"/>
              <a:ea typeface="Consolas"/>
              <a:cs typeface="Consolas"/>
              <a:sym typeface="Consolas"/>
            </a:endParaRPr>
          </a:p>
        </p:txBody>
      </p:sp>
      <p:pic>
        <p:nvPicPr>
          <p:cNvPr descr="DivideAndConquer Design Pattern" id="386" name="Google Shape;386;p35"/>
          <p:cNvPicPr preferRelativeResize="0"/>
          <p:nvPr/>
        </p:nvPicPr>
        <p:blipFill rotWithShape="1">
          <a:blip r:embed="rId4">
            <a:alphaModFix/>
          </a:blip>
          <a:srcRect b="0" l="6816" r="865" t="0"/>
          <a:stretch/>
        </p:blipFill>
        <p:spPr>
          <a:xfrm>
            <a:off x="6294073" y="1573664"/>
            <a:ext cx="5897927" cy="436993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pic>
        <p:nvPicPr>
          <p:cNvPr descr="Parallel computing for high-performance simulations" id="391" name="Google Shape;391;p36"/>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92" name="Google Shape;392;p36"/>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Haberleşme (Communication)</a:t>
            </a:r>
            <a:endParaRPr/>
          </a:p>
        </p:txBody>
      </p:sp>
      <p:sp>
        <p:nvSpPr>
          <p:cNvPr id="393" name="Google Shape;393;p36"/>
          <p:cNvSpPr txBox="1"/>
          <p:nvPr/>
        </p:nvSpPr>
        <p:spPr>
          <a:xfrm>
            <a:off x="1164348" y="759758"/>
            <a:ext cx="10688667" cy="2246769"/>
          </a:xfrm>
          <a:prstGeom prst="rect">
            <a:avLst/>
          </a:prstGeom>
          <a:noFill/>
          <a:ln>
            <a:noFill/>
          </a:ln>
        </p:spPr>
        <p:txBody>
          <a:bodyPr anchorCtr="0" anchor="t" bIns="45700" lIns="91425" spcFirstLastPara="1" rIns="91425" wrap="square" tIns="45700">
            <a:spAutoFit/>
          </a:bodyPr>
          <a:lstStyle/>
          <a:p>
            <a:pPr indent="-457200" lvl="0" marL="457200" marR="0" rtl="0" algn="just">
              <a:spcBef>
                <a:spcPts val="0"/>
              </a:spcBef>
              <a:spcAft>
                <a:spcPts val="0"/>
              </a:spcAft>
              <a:buClr>
                <a:schemeClr val="dk1"/>
              </a:buClr>
              <a:buSzPts val="2000"/>
              <a:buFont typeface="Arial"/>
              <a:buChar char="•"/>
            </a:pPr>
            <a:r>
              <a:rPr lang="tr-TR" sz="2000">
                <a:solidFill>
                  <a:schemeClr val="dk1"/>
                </a:solidFill>
                <a:latin typeface="Consolas"/>
                <a:ea typeface="Consolas"/>
                <a:cs typeface="Consolas"/>
                <a:sym typeface="Consolas"/>
              </a:rPr>
              <a:t>Bir önceki adımda tanımlanan görevler arasında hangi iletişimin yapılması gerektiği belirlenmelidir:</a:t>
            </a:r>
            <a:endParaRPr/>
          </a:p>
          <a:p>
            <a:pPr indent="-330200" lvl="0" marL="457200" marR="0" rtl="0" algn="just">
              <a:spcBef>
                <a:spcPts val="0"/>
              </a:spcBef>
              <a:spcAft>
                <a:spcPts val="0"/>
              </a:spcAft>
              <a:buClr>
                <a:schemeClr val="dk1"/>
              </a:buClr>
              <a:buSzPts val="2000"/>
              <a:buFont typeface="Arial"/>
              <a:buNone/>
            </a:pPr>
            <a:r>
              <a:t/>
            </a:r>
            <a:endParaRPr sz="2000">
              <a:solidFill>
                <a:schemeClr val="dk1"/>
              </a:solidFill>
              <a:latin typeface="Consolas"/>
              <a:ea typeface="Consolas"/>
              <a:cs typeface="Consolas"/>
              <a:sym typeface="Consolas"/>
            </a:endParaRPr>
          </a:p>
          <a:p>
            <a:pPr indent="-457200" lvl="1" marL="914400" marR="0" rtl="0" algn="just">
              <a:spcBef>
                <a:spcPts val="0"/>
              </a:spcBef>
              <a:spcAft>
                <a:spcPts val="0"/>
              </a:spcAft>
              <a:buClr>
                <a:schemeClr val="dk1"/>
              </a:buClr>
              <a:buSzPts val="2000"/>
              <a:buFont typeface="Noto Sans Symbols"/>
              <a:buChar char="✔"/>
            </a:pPr>
            <a:r>
              <a:rPr b="0" i="0" lang="tr-TR" sz="2000" u="none" cap="none" strike="noStrike">
                <a:solidFill>
                  <a:schemeClr val="dk1"/>
                </a:solidFill>
                <a:latin typeface="Consolas"/>
                <a:ea typeface="Consolas"/>
                <a:cs typeface="Consolas"/>
                <a:sym typeface="Consolas"/>
              </a:rPr>
              <a:t>Dağıtık bir sistem mi yoksa hafıza paylaşımlı bir sistem mi kullanılacak ?</a:t>
            </a:r>
            <a:endParaRPr/>
          </a:p>
          <a:p>
            <a:pPr indent="-330200" lvl="1" marL="914400" marR="0" rtl="0" algn="just">
              <a:spcBef>
                <a:spcPts val="0"/>
              </a:spcBef>
              <a:spcAft>
                <a:spcPts val="0"/>
              </a:spcAft>
              <a:buClr>
                <a:schemeClr val="dk1"/>
              </a:buClr>
              <a:buSzPts val="2000"/>
              <a:buFont typeface="Noto Sans Symbols"/>
              <a:buNone/>
            </a:pPr>
            <a:r>
              <a:t/>
            </a:r>
            <a:endParaRPr b="0" i="0" sz="2000" u="none" cap="none" strike="noStrike">
              <a:solidFill>
                <a:schemeClr val="dk1"/>
              </a:solidFill>
              <a:latin typeface="Consolas"/>
              <a:ea typeface="Consolas"/>
              <a:cs typeface="Consolas"/>
              <a:sym typeface="Consolas"/>
            </a:endParaRPr>
          </a:p>
          <a:p>
            <a:pPr indent="-457200" lvl="1" marL="914400" marR="0" rtl="0" algn="just">
              <a:spcBef>
                <a:spcPts val="0"/>
              </a:spcBef>
              <a:spcAft>
                <a:spcPts val="0"/>
              </a:spcAft>
              <a:buClr>
                <a:schemeClr val="dk1"/>
              </a:buClr>
              <a:buSzPts val="2000"/>
              <a:buFont typeface="Noto Sans Symbols"/>
              <a:buChar char="✔"/>
            </a:pPr>
            <a:r>
              <a:rPr b="0" i="0" lang="tr-TR" sz="2000" u="none" cap="none" strike="noStrike">
                <a:solidFill>
                  <a:schemeClr val="dk1"/>
                </a:solidFill>
                <a:latin typeface="Consolas"/>
                <a:ea typeface="Consolas"/>
                <a:cs typeface="Consolas"/>
                <a:sym typeface="Consolas"/>
              </a:rPr>
              <a:t>Paralel sistem görevleri arasında haberleşme nasıl olmalı?</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pic>
        <p:nvPicPr>
          <p:cNvPr descr="Parallel computing for high-performance simulations" id="398" name="Google Shape;398;p37"/>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399" name="Google Shape;399;p37"/>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Birleştirme (Aggregation)</a:t>
            </a:r>
            <a:endParaRPr/>
          </a:p>
        </p:txBody>
      </p:sp>
      <p:sp>
        <p:nvSpPr>
          <p:cNvPr id="400" name="Google Shape;400;p37"/>
          <p:cNvSpPr txBox="1"/>
          <p:nvPr/>
        </p:nvSpPr>
        <p:spPr>
          <a:xfrm>
            <a:off x="1164348" y="759758"/>
            <a:ext cx="10688700" cy="4679100"/>
          </a:xfrm>
          <a:prstGeom prst="rect">
            <a:avLst/>
          </a:prstGeom>
          <a:noFill/>
          <a:ln>
            <a:noFill/>
          </a:ln>
        </p:spPr>
        <p:txBody>
          <a:bodyPr anchorCtr="0" anchor="t" bIns="45700" lIns="91425" spcFirstLastPara="1" rIns="91425" wrap="square" tIns="45700">
            <a:spAutoFit/>
          </a:bodyPr>
          <a:lstStyle/>
          <a:p>
            <a:pPr indent="-368300" lvl="0" marL="285750" marR="0" rtl="0" algn="just">
              <a:spcBef>
                <a:spcPts val="0"/>
              </a:spcBef>
              <a:spcAft>
                <a:spcPts val="0"/>
              </a:spcAft>
              <a:buClr>
                <a:schemeClr val="dk1"/>
              </a:buClr>
              <a:buSzPts val="2900"/>
              <a:buFont typeface="Arial"/>
              <a:buChar char="•"/>
            </a:pPr>
            <a:r>
              <a:rPr lang="tr-TR" sz="2400">
                <a:solidFill>
                  <a:schemeClr val="dk1"/>
                </a:solidFill>
                <a:latin typeface="Consolas"/>
                <a:ea typeface="Consolas"/>
                <a:cs typeface="Consolas"/>
                <a:sym typeface="Consolas"/>
              </a:rPr>
              <a:t>Paralel programlamada "Granularity" (Tanelilik) artırmak ve iletişim maliyetini düşürmek için kullanılan </a:t>
            </a:r>
            <a:r>
              <a:rPr b="1" lang="tr-TR" sz="2400">
                <a:solidFill>
                  <a:schemeClr val="dk1"/>
                </a:solidFill>
                <a:latin typeface="Consolas"/>
                <a:ea typeface="Consolas"/>
                <a:cs typeface="Consolas"/>
                <a:sym typeface="Consolas"/>
              </a:rPr>
              <a:t>Aggregation (Birleştirme)</a:t>
            </a:r>
            <a:r>
              <a:rPr lang="tr-TR" sz="2400">
                <a:solidFill>
                  <a:schemeClr val="dk1"/>
                </a:solidFill>
                <a:latin typeface="Consolas"/>
                <a:ea typeface="Consolas"/>
                <a:cs typeface="Consolas"/>
                <a:sym typeface="Consolas"/>
              </a:rPr>
              <a:t> yöntemleridir. </a:t>
            </a:r>
            <a:endParaRPr sz="2400">
              <a:solidFill>
                <a:schemeClr val="dk1"/>
              </a:solidFill>
              <a:latin typeface="Consolas"/>
              <a:ea typeface="Consolas"/>
              <a:cs typeface="Consolas"/>
              <a:sym typeface="Consolas"/>
            </a:endParaRPr>
          </a:p>
          <a:p>
            <a:pPr indent="-368300" lvl="0" marL="285750" marR="0" rtl="0" algn="just">
              <a:spcBef>
                <a:spcPts val="0"/>
              </a:spcBef>
              <a:spcAft>
                <a:spcPts val="0"/>
              </a:spcAft>
              <a:buClr>
                <a:schemeClr val="dk1"/>
              </a:buClr>
              <a:buSzPts val="2900"/>
              <a:buFont typeface="Arial"/>
              <a:buChar char="•"/>
            </a:pPr>
            <a:r>
              <a:rPr lang="tr-TR" sz="2400">
                <a:solidFill>
                  <a:schemeClr val="dk1"/>
                </a:solidFill>
                <a:latin typeface="Consolas"/>
                <a:ea typeface="Consolas"/>
                <a:cs typeface="Consolas"/>
                <a:sym typeface="Consolas"/>
              </a:rPr>
              <a:t>Küçük görevleri birleştirerek işlemciler arasındaki veri trafiğini azaltmayı hedeflerler. </a:t>
            </a:r>
            <a:endParaRPr sz="2400">
              <a:solidFill>
                <a:schemeClr val="dk1"/>
              </a:solidFill>
              <a:latin typeface="Consolas"/>
              <a:ea typeface="Consolas"/>
              <a:cs typeface="Consolas"/>
              <a:sym typeface="Consolas"/>
            </a:endParaRPr>
          </a:p>
          <a:p>
            <a:pPr indent="-336550" lvl="0" marL="285750" marR="0" rtl="0" algn="just">
              <a:spcBef>
                <a:spcPts val="0"/>
              </a:spcBef>
              <a:spcAft>
                <a:spcPts val="0"/>
              </a:spcAft>
              <a:buClr>
                <a:schemeClr val="dk1"/>
              </a:buClr>
              <a:buSzPts val="2400"/>
              <a:buFont typeface="Consolas"/>
              <a:buChar char="•"/>
            </a:pPr>
            <a:r>
              <a:t/>
            </a:r>
            <a:endParaRPr sz="2400">
              <a:solidFill>
                <a:schemeClr val="dk1"/>
              </a:solidFill>
              <a:latin typeface="Consolas"/>
              <a:ea typeface="Consolas"/>
              <a:cs typeface="Consolas"/>
              <a:sym typeface="Consolas"/>
            </a:endParaRPr>
          </a:p>
          <a:p>
            <a:pPr indent="-336550" lvl="0" marL="285750" marR="0" rtl="0" algn="just">
              <a:spcBef>
                <a:spcPts val="0"/>
              </a:spcBef>
              <a:spcAft>
                <a:spcPts val="0"/>
              </a:spcAft>
              <a:buClr>
                <a:schemeClr val="dk1"/>
              </a:buClr>
              <a:buSzPts val="2400"/>
              <a:buFont typeface="Consolas"/>
              <a:buChar char="•"/>
            </a:pPr>
            <a:r>
              <a:rPr lang="tr-TR" sz="2400">
                <a:solidFill>
                  <a:schemeClr val="dk1"/>
                </a:solidFill>
                <a:latin typeface="Consolas"/>
                <a:ea typeface="Consolas"/>
                <a:cs typeface="Consolas"/>
                <a:sym typeface="Consolas"/>
              </a:rPr>
              <a:t>Agregration teknikleri şunlardır:</a:t>
            </a:r>
            <a:endParaRPr sz="2400">
              <a:solidFill>
                <a:schemeClr val="dk1"/>
              </a:solidFill>
              <a:latin typeface="Consolas"/>
              <a:ea typeface="Consolas"/>
              <a:cs typeface="Consolas"/>
              <a:sym typeface="Consolas"/>
            </a:endParaRPr>
          </a:p>
          <a:p>
            <a:pPr indent="-381000" lvl="1" marL="914400" marR="0" rtl="0" algn="just">
              <a:spcBef>
                <a:spcPts val="0"/>
              </a:spcBef>
              <a:spcAft>
                <a:spcPts val="0"/>
              </a:spcAft>
              <a:buClr>
                <a:schemeClr val="dk1"/>
              </a:buClr>
              <a:buSzPts val="2400"/>
              <a:buFont typeface="Consolas"/>
              <a:buChar char="•"/>
            </a:pPr>
            <a:r>
              <a:rPr lang="tr-TR" sz="2400">
                <a:solidFill>
                  <a:schemeClr val="dk1"/>
                </a:solidFill>
                <a:latin typeface="Consolas"/>
                <a:ea typeface="Consolas"/>
                <a:cs typeface="Consolas"/>
                <a:sym typeface="Consolas"/>
              </a:rPr>
              <a:t>Toplama (Summation)</a:t>
            </a:r>
            <a:endParaRPr sz="2400">
              <a:solidFill>
                <a:schemeClr val="dk1"/>
              </a:solidFill>
              <a:latin typeface="Consolas"/>
              <a:ea typeface="Consolas"/>
              <a:cs typeface="Consolas"/>
              <a:sym typeface="Consolas"/>
            </a:endParaRPr>
          </a:p>
          <a:p>
            <a:pPr indent="-381000" lvl="1" marL="914400" marR="0" rtl="0" algn="just">
              <a:spcBef>
                <a:spcPts val="0"/>
              </a:spcBef>
              <a:spcAft>
                <a:spcPts val="0"/>
              </a:spcAft>
              <a:buClr>
                <a:schemeClr val="dk1"/>
              </a:buClr>
              <a:buSzPts val="2400"/>
              <a:buFont typeface="Consolas"/>
              <a:buChar char="•"/>
            </a:pPr>
            <a:r>
              <a:rPr lang="tr-TR" sz="2400">
                <a:solidFill>
                  <a:schemeClr val="dk1"/>
                </a:solidFill>
                <a:latin typeface="Consolas"/>
                <a:ea typeface="Consolas"/>
                <a:cs typeface="Consolas"/>
                <a:sym typeface="Consolas"/>
              </a:rPr>
              <a:t>Birleştirme (Combination)</a:t>
            </a:r>
            <a:endParaRPr sz="2400">
              <a:solidFill>
                <a:schemeClr val="dk1"/>
              </a:solidFill>
              <a:latin typeface="Consolas"/>
              <a:ea typeface="Consolas"/>
              <a:cs typeface="Consolas"/>
              <a:sym typeface="Consolas"/>
            </a:endParaRPr>
          </a:p>
          <a:p>
            <a:pPr indent="-381000" lvl="1" marL="914400" marR="0" rtl="0" algn="just">
              <a:spcBef>
                <a:spcPts val="0"/>
              </a:spcBef>
              <a:spcAft>
                <a:spcPts val="0"/>
              </a:spcAft>
              <a:buClr>
                <a:schemeClr val="dk1"/>
              </a:buClr>
              <a:buSzPts val="2400"/>
              <a:buFont typeface="Consolas"/>
              <a:buChar char="•"/>
            </a:pPr>
            <a:r>
              <a:rPr lang="tr-TR" sz="2400">
                <a:solidFill>
                  <a:schemeClr val="dk1"/>
                </a:solidFill>
                <a:latin typeface="Consolas"/>
                <a:ea typeface="Consolas"/>
                <a:cs typeface="Consolas"/>
                <a:sym typeface="Consolas"/>
              </a:rPr>
              <a:t>Sıralama ve Birleştirme (Sorting and Merging)</a:t>
            </a:r>
            <a:endParaRPr sz="2400">
              <a:solidFill>
                <a:schemeClr val="dk1"/>
              </a:solidFill>
              <a:latin typeface="Consolas"/>
              <a:ea typeface="Consolas"/>
              <a:cs typeface="Consolas"/>
              <a:sym typeface="Consolas"/>
            </a:endParaRPr>
          </a:p>
          <a:p>
            <a:pPr indent="-381000" lvl="1" marL="914400" marR="0" rtl="0" algn="just">
              <a:spcBef>
                <a:spcPts val="0"/>
              </a:spcBef>
              <a:spcAft>
                <a:spcPts val="0"/>
              </a:spcAft>
              <a:buClr>
                <a:schemeClr val="dk1"/>
              </a:buClr>
              <a:buSzPts val="2400"/>
              <a:buFont typeface="Consolas"/>
              <a:buChar char="•"/>
            </a:pPr>
            <a:r>
              <a:rPr lang="tr-TR" sz="2400">
                <a:solidFill>
                  <a:schemeClr val="dk1"/>
                </a:solidFill>
                <a:latin typeface="Consolas"/>
                <a:ea typeface="Consolas"/>
                <a:cs typeface="Consolas"/>
                <a:sym typeface="Consolas"/>
              </a:rPr>
              <a:t>Paralel Redüksiyon (Parallel Reduction)</a:t>
            </a:r>
            <a:endParaRPr sz="2400">
              <a:solidFill>
                <a:schemeClr val="dk1"/>
              </a:solidFill>
              <a:latin typeface="Consolas"/>
              <a:ea typeface="Consolas"/>
              <a:cs typeface="Consolas"/>
              <a:sym typeface="Consolas"/>
            </a:endParaRPr>
          </a:p>
          <a:p>
            <a:pPr indent="-381000" lvl="1" marL="914400" marR="0" rtl="0" algn="just">
              <a:spcBef>
                <a:spcPts val="0"/>
              </a:spcBef>
              <a:spcAft>
                <a:spcPts val="0"/>
              </a:spcAft>
              <a:buClr>
                <a:schemeClr val="dk1"/>
              </a:buClr>
              <a:buSzPts val="2400"/>
              <a:buFont typeface="Consolas"/>
              <a:buChar char="•"/>
            </a:pPr>
            <a:r>
              <a:rPr lang="tr-TR" sz="2400">
                <a:solidFill>
                  <a:schemeClr val="dk1"/>
                </a:solidFill>
                <a:latin typeface="Consolas"/>
                <a:ea typeface="Consolas"/>
                <a:cs typeface="Consolas"/>
                <a:sym typeface="Consolas"/>
              </a:rPr>
              <a:t>Histogram Oluşturma (Histogram Generation)</a:t>
            </a:r>
            <a:endParaRPr sz="2400">
              <a:solidFill>
                <a:schemeClr val="dk1"/>
              </a:solidFill>
              <a:latin typeface="Consolas"/>
              <a:ea typeface="Consolas"/>
              <a:cs typeface="Consolas"/>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pic>
        <p:nvPicPr>
          <p:cNvPr descr="Parallel computing for high-performance simulations" id="405" name="Google Shape;405;g3cc0b476a7a_0_31"/>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06" name="Google Shape;406;g3cc0b476a7a_0_31"/>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Birleştirme (Aggregation)</a:t>
            </a:r>
            <a:endParaRPr/>
          </a:p>
        </p:txBody>
      </p:sp>
      <p:sp>
        <p:nvSpPr>
          <p:cNvPr id="407" name="Google Shape;407;g3cc0b476a7a_0_31"/>
          <p:cNvSpPr txBox="1"/>
          <p:nvPr/>
        </p:nvSpPr>
        <p:spPr>
          <a:xfrm>
            <a:off x="1069848" y="738883"/>
            <a:ext cx="10688700" cy="1569900"/>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1" i="1" lang="tr-TR" sz="2400">
                <a:solidFill>
                  <a:schemeClr val="dk1"/>
                </a:solidFill>
                <a:latin typeface="Consolas"/>
                <a:ea typeface="Consolas"/>
                <a:cs typeface="Consolas"/>
                <a:sym typeface="Consolas"/>
              </a:rPr>
              <a:t> </a:t>
            </a:r>
            <a:r>
              <a:rPr b="1" i="1" lang="tr-TR" sz="2400">
                <a:solidFill>
                  <a:schemeClr val="dk1"/>
                </a:solidFill>
                <a:latin typeface="Consolas"/>
                <a:ea typeface="Consolas"/>
                <a:cs typeface="Consolas"/>
                <a:sym typeface="Consolas"/>
              </a:rPr>
              <a:t>Toplama (Summation)</a:t>
            </a:r>
            <a:endParaRPr b="1" i="1" sz="2400">
              <a:solidFill>
                <a:schemeClr val="dk1"/>
              </a:solidFill>
              <a:latin typeface="Consolas"/>
              <a:ea typeface="Consolas"/>
              <a:cs typeface="Consolas"/>
              <a:sym typeface="Consolas"/>
            </a:endParaRPr>
          </a:p>
          <a:p>
            <a:pPr indent="0" lvl="0" marL="0" marR="0" rtl="0" algn="just">
              <a:spcBef>
                <a:spcPts val="0"/>
              </a:spcBef>
              <a:spcAft>
                <a:spcPts val="0"/>
              </a:spcAft>
              <a:buNone/>
            </a:pPr>
            <a:r>
              <a:t/>
            </a:r>
            <a:endParaRPr sz="24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400">
                <a:solidFill>
                  <a:schemeClr val="dk1"/>
                </a:solidFill>
                <a:latin typeface="Consolas"/>
                <a:ea typeface="Consolas"/>
                <a:cs typeface="Consolas"/>
                <a:sym typeface="Consolas"/>
              </a:rPr>
              <a:t>Her bir iş parçacığının kendi yerel toplamını hesaplayıp en son ana toplamla birleştirmesi işlemidir.</a:t>
            </a:r>
            <a:endParaRPr sz="2400">
              <a:solidFill>
                <a:schemeClr val="dk1"/>
              </a:solidFill>
              <a:latin typeface="Consolas"/>
              <a:ea typeface="Consolas"/>
              <a:cs typeface="Consolas"/>
              <a:sym typeface="Consolas"/>
            </a:endParaRPr>
          </a:p>
        </p:txBody>
      </p:sp>
      <p:sp>
        <p:nvSpPr>
          <p:cNvPr id="408" name="Google Shape;408;g3cc0b476a7a_0_31"/>
          <p:cNvSpPr txBox="1"/>
          <p:nvPr/>
        </p:nvSpPr>
        <p:spPr>
          <a:xfrm>
            <a:off x="1290400" y="2793625"/>
            <a:ext cx="51672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tr-TR" sz="1600">
                <a:latin typeface="Comfortaa"/>
                <a:ea typeface="Comfortaa"/>
                <a:cs typeface="Comfortaa"/>
                <a:sym typeface="Comfortaa"/>
              </a:rPr>
              <a:t># Örnek kod bloğu</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Her thread kendi payına düşen veriyi toplar</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def local_sum(data_chunk):</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result = 0</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for val in data_chunk:</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result += val</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return result</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Ana işlem (Aggregation)</a:t>
            </a:r>
            <a:endParaRPr sz="1600">
              <a:latin typeface="Comfortaa"/>
              <a:ea typeface="Comfortaa"/>
              <a:cs typeface="Comfortaa"/>
              <a:sym typeface="Comfortaa"/>
            </a:endParaRPr>
          </a:p>
          <a:p>
            <a:pPr indent="0" lvl="0" marL="0" rtl="0" algn="l">
              <a:spcBef>
                <a:spcPts val="0"/>
              </a:spcBef>
              <a:spcAft>
                <a:spcPts val="0"/>
              </a:spcAft>
              <a:buNone/>
            </a:pPr>
            <a:r>
              <a:rPr lang="tr-TR" sz="1600">
                <a:solidFill>
                  <a:srgbClr val="FF0000"/>
                </a:solidFill>
                <a:latin typeface="Comfortaa"/>
                <a:ea typeface="Comfortaa"/>
                <a:cs typeface="Comfortaa"/>
                <a:sym typeface="Comfortaa"/>
              </a:rPr>
              <a:t>final_total = sum(parallel_execute(local_sum, chunks))</a:t>
            </a:r>
            <a:endParaRPr sz="1600">
              <a:solidFill>
                <a:srgbClr val="FF0000"/>
              </a:solidFill>
              <a:latin typeface="Comfortaa"/>
              <a:ea typeface="Comfortaa"/>
              <a:cs typeface="Comfortaa"/>
              <a:sym typeface="Comfortaa"/>
            </a:endParaRPr>
          </a:p>
        </p:txBody>
      </p:sp>
      <p:sp>
        <p:nvSpPr>
          <p:cNvPr id="409" name="Google Shape;409;g3cc0b476a7a_0_31"/>
          <p:cNvSpPr txBox="1"/>
          <p:nvPr/>
        </p:nvSpPr>
        <p:spPr>
          <a:xfrm>
            <a:off x="6842150" y="2699075"/>
            <a:ext cx="5167200" cy="29883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b="1" lang="tr-TR" sz="1600">
                <a:solidFill>
                  <a:schemeClr val="dk1"/>
                </a:solidFill>
                <a:latin typeface="Comfortaa"/>
                <a:ea typeface="Comfortaa"/>
                <a:cs typeface="Comfortaa"/>
                <a:sym typeface="Comfortaa"/>
              </a:rPr>
              <a:t>Örnek İşlem:</a:t>
            </a:r>
            <a:r>
              <a:rPr lang="tr-TR" sz="1600">
                <a:solidFill>
                  <a:schemeClr val="dk1"/>
                </a:solidFill>
                <a:latin typeface="Comfortaa"/>
                <a:ea typeface="Comfortaa"/>
                <a:cs typeface="Comfortaa"/>
                <a:sym typeface="Comfortaa"/>
              </a:rPr>
              <a:t> </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rPr b="1" lang="tr-TR" sz="1600">
                <a:solidFill>
                  <a:schemeClr val="dk1"/>
                </a:solidFill>
                <a:latin typeface="Comfortaa"/>
                <a:ea typeface="Comfortaa"/>
                <a:cs typeface="Comfortaa"/>
                <a:sym typeface="Comfortaa"/>
              </a:rPr>
              <a:t>Büyük bir veri setindeki sayıların ortalamasını bulmak.</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rPr lang="tr-TR" sz="1600">
                <a:solidFill>
                  <a:schemeClr val="dk1"/>
                </a:solidFill>
                <a:latin typeface="Comfortaa"/>
                <a:ea typeface="Comfortaa"/>
                <a:cs typeface="Comfortaa"/>
                <a:sym typeface="Comfortaa"/>
              </a:rPr>
              <a:t>Elinizde 1 milyar satırlık bir maaş listesi var. Her çekirdek (core) kendi payına düşen 100 milyon satırı toplar. En son ana işlemci, bu 10 adet yerel toplamı birleştirerek genel toplamı ve dolayısıyla ortalamayı bulur.</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rPr b="1" i="1" lang="tr-TR" sz="1600">
                <a:solidFill>
                  <a:srgbClr val="3C78D8"/>
                </a:solidFill>
                <a:latin typeface="Comfortaa"/>
                <a:ea typeface="Comfortaa"/>
                <a:cs typeface="Comfortaa"/>
                <a:sym typeface="Comfortaa"/>
              </a:rPr>
              <a:t>Kullanım Amacı: </a:t>
            </a:r>
            <a:endParaRPr b="1" i="1" sz="1600">
              <a:solidFill>
                <a:srgbClr val="3C78D8"/>
              </a:solidFill>
              <a:latin typeface="Comfortaa"/>
              <a:ea typeface="Comfortaa"/>
              <a:cs typeface="Comfortaa"/>
              <a:sym typeface="Comfortaa"/>
            </a:endParaRPr>
          </a:p>
          <a:p>
            <a:pPr indent="0" lvl="0" marL="0" rtl="0" algn="just">
              <a:spcBef>
                <a:spcPts val="0"/>
              </a:spcBef>
              <a:spcAft>
                <a:spcPts val="0"/>
              </a:spcAft>
              <a:buNone/>
            </a:pPr>
            <a:r>
              <a:rPr b="1" i="1" lang="tr-TR" sz="1600">
                <a:solidFill>
                  <a:srgbClr val="3C78D8"/>
                </a:solidFill>
                <a:latin typeface="Comfortaa"/>
                <a:ea typeface="Comfortaa"/>
                <a:cs typeface="Comfortaa"/>
                <a:sym typeface="Comfortaa"/>
              </a:rPr>
              <a:t>Veri miktarını tek bir sayıya indirgemek.</a:t>
            </a:r>
            <a:endParaRPr b="1" i="1" sz="1600">
              <a:solidFill>
                <a:srgbClr val="3C78D8"/>
              </a:solidFill>
              <a:latin typeface="Comfortaa"/>
              <a:ea typeface="Comfortaa"/>
              <a:cs typeface="Comfortaa"/>
              <a:sym typeface="Comfortaa"/>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pic>
        <p:nvPicPr>
          <p:cNvPr descr="Parallel computing for high-performance simulations" id="414" name="Google Shape;414;g3cc0b476a7a_0_45"/>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15" name="Google Shape;415;g3cc0b476a7a_0_45"/>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Birleştirme (Aggregation)</a:t>
            </a:r>
            <a:endParaRPr/>
          </a:p>
        </p:txBody>
      </p:sp>
      <p:sp>
        <p:nvSpPr>
          <p:cNvPr id="416" name="Google Shape;416;g3cc0b476a7a_0_45"/>
          <p:cNvSpPr txBox="1"/>
          <p:nvPr/>
        </p:nvSpPr>
        <p:spPr>
          <a:xfrm>
            <a:off x="1069848" y="738883"/>
            <a:ext cx="10688700" cy="1569900"/>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1" i="1" lang="tr-TR" sz="2400">
                <a:solidFill>
                  <a:schemeClr val="dk1"/>
                </a:solidFill>
                <a:latin typeface="Consolas"/>
                <a:ea typeface="Consolas"/>
                <a:cs typeface="Consolas"/>
                <a:sym typeface="Consolas"/>
              </a:rPr>
              <a:t> Birleştirme (Combination)</a:t>
            </a:r>
            <a:endParaRPr b="1" i="1" sz="2400">
              <a:solidFill>
                <a:schemeClr val="dk1"/>
              </a:solidFill>
              <a:latin typeface="Consolas"/>
              <a:ea typeface="Consolas"/>
              <a:cs typeface="Consolas"/>
              <a:sym typeface="Consolas"/>
            </a:endParaRPr>
          </a:p>
          <a:p>
            <a:pPr indent="0" lvl="0" marL="0" marR="0" rtl="0" algn="just">
              <a:spcBef>
                <a:spcPts val="0"/>
              </a:spcBef>
              <a:spcAft>
                <a:spcPts val="0"/>
              </a:spcAft>
              <a:buNone/>
            </a:pPr>
            <a:r>
              <a:t/>
            </a:r>
            <a:endParaRPr sz="2400">
              <a:solidFill>
                <a:schemeClr val="dk1"/>
              </a:solidFill>
              <a:latin typeface="Consolas"/>
              <a:ea typeface="Consolas"/>
              <a:cs typeface="Consolas"/>
              <a:sym typeface="Consolas"/>
            </a:endParaRPr>
          </a:p>
          <a:p>
            <a:pPr indent="0" lvl="0" marL="0" marR="0" rtl="0" algn="just">
              <a:spcBef>
                <a:spcPts val="0"/>
              </a:spcBef>
              <a:spcAft>
                <a:spcPts val="0"/>
              </a:spcAft>
              <a:buNone/>
            </a:pPr>
            <a:r>
              <a:rPr lang="tr-TR" sz="2400">
                <a:solidFill>
                  <a:schemeClr val="dk1"/>
                </a:solidFill>
                <a:latin typeface="Consolas"/>
                <a:ea typeface="Consolas"/>
                <a:cs typeface="Consolas"/>
                <a:sym typeface="Consolas"/>
              </a:rPr>
              <a:t>Farklı parçalardan gelen veri yapılarını (listeler, sözlükler) tek bir büyük yapıda toplar.</a:t>
            </a:r>
            <a:endParaRPr sz="2400">
              <a:solidFill>
                <a:schemeClr val="dk1"/>
              </a:solidFill>
              <a:latin typeface="Consolas"/>
              <a:ea typeface="Consolas"/>
              <a:cs typeface="Consolas"/>
              <a:sym typeface="Consolas"/>
            </a:endParaRPr>
          </a:p>
        </p:txBody>
      </p:sp>
      <p:sp>
        <p:nvSpPr>
          <p:cNvPr id="417" name="Google Shape;417;g3cc0b476a7a_0_45"/>
          <p:cNvSpPr txBox="1"/>
          <p:nvPr/>
        </p:nvSpPr>
        <p:spPr>
          <a:xfrm>
            <a:off x="1164350" y="2751625"/>
            <a:ext cx="5582400" cy="264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tr-TR" sz="1600">
                <a:solidFill>
                  <a:schemeClr val="dk1"/>
                </a:solidFill>
                <a:latin typeface="Comfortaa"/>
                <a:ea typeface="Comfortaa"/>
                <a:cs typeface="Comfortaa"/>
                <a:sym typeface="Comfortaa"/>
              </a:rPr>
              <a:t># Örnek kod bloğu</a:t>
            </a:r>
            <a:endParaRPr sz="1600">
              <a:solidFill>
                <a:schemeClr val="dk1"/>
              </a:solidFill>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latin typeface="Comfortaa"/>
                <a:ea typeface="Comfortaa"/>
                <a:cs typeface="Comfortaa"/>
                <a:sym typeface="Comfortaa"/>
              </a:rPr>
              <a:t># Her thread bir liste döndürür</a:t>
            </a:r>
            <a:endParaRPr sz="1600">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latin typeface="Comfortaa"/>
                <a:ea typeface="Comfortaa"/>
                <a:cs typeface="Comfortaa"/>
                <a:sym typeface="Comfortaa"/>
              </a:rPr>
              <a:t>def process_sublist(data_chunk):</a:t>
            </a:r>
            <a:endParaRPr sz="1600">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latin typeface="Comfortaa"/>
                <a:ea typeface="Comfortaa"/>
                <a:cs typeface="Comfortaa"/>
                <a:sym typeface="Comfortaa"/>
              </a:rPr>
              <a:t>    return [x * 2 for x in data_chunk]</a:t>
            </a:r>
            <a:endParaRPr sz="1600">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t/>
            </a:r>
            <a:endParaRPr sz="1600">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latin typeface="Comfortaa"/>
                <a:ea typeface="Comfortaa"/>
                <a:cs typeface="Comfortaa"/>
                <a:sym typeface="Comfortaa"/>
              </a:rPr>
              <a:t># Ana işlem: Listeleri tek bir listede birleştirir</a:t>
            </a:r>
            <a:endParaRPr sz="1600">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solidFill>
                  <a:srgbClr val="FF0000"/>
                </a:solidFill>
                <a:latin typeface="Comfortaa"/>
                <a:ea typeface="Comfortaa"/>
                <a:cs typeface="Comfortaa"/>
                <a:sym typeface="Comfortaa"/>
              </a:rPr>
              <a:t>combined_list = []</a:t>
            </a:r>
            <a:endParaRPr sz="1600">
              <a:solidFill>
                <a:srgbClr val="FF0000"/>
              </a:solidFill>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solidFill>
                  <a:srgbClr val="FF0000"/>
                </a:solidFill>
                <a:latin typeface="Comfortaa"/>
                <a:ea typeface="Comfortaa"/>
                <a:cs typeface="Comfortaa"/>
                <a:sym typeface="Comfortaa"/>
              </a:rPr>
              <a:t>results = parallel_execute(process_sublist, chunks)</a:t>
            </a:r>
            <a:endParaRPr sz="1600">
              <a:solidFill>
                <a:srgbClr val="FF0000"/>
              </a:solidFill>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solidFill>
                  <a:srgbClr val="FF0000"/>
                </a:solidFill>
                <a:latin typeface="Comfortaa"/>
                <a:ea typeface="Comfortaa"/>
                <a:cs typeface="Comfortaa"/>
                <a:sym typeface="Comfortaa"/>
              </a:rPr>
              <a:t>for r in results:</a:t>
            </a:r>
            <a:endParaRPr sz="1600">
              <a:solidFill>
                <a:srgbClr val="FF0000"/>
              </a:solidFill>
              <a:latin typeface="Comfortaa"/>
              <a:ea typeface="Comfortaa"/>
              <a:cs typeface="Comfortaa"/>
              <a:sym typeface="Comfortaa"/>
            </a:endParaRPr>
          </a:p>
          <a:p>
            <a:pPr indent="0" lvl="0" marL="0" rtl="0" algn="l">
              <a:spcBef>
                <a:spcPts val="0"/>
              </a:spcBef>
              <a:spcAft>
                <a:spcPts val="0"/>
              </a:spcAft>
              <a:buClr>
                <a:schemeClr val="dk1"/>
              </a:buClr>
              <a:buSzPts val="1100"/>
              <a:buFont typeface="Arial"/>
              <a:buNone/>
            </a:pPr>
            <a:r>
              <a:rPr lang="tr-TR" sz="1600">
                <a:solidFill>
                  <a:srgbClr val="FF0000"/>
                </a:solidFill>
                <a:latin typeface="Comfortaa"/>
                <a:ea typeface="Comfortaa"/>
                <a:cs typeface="Comfortaa"/>
                <a:sym typeface="Comfortaa"/>
              </a:rPr>
              <a:t>    combined_list.extend(r)</a:t>
            </a:r>
            <a:endParaRPr sz="1600">
              <a:solidFill>
                <a:srgbClr val="FF0000"/>
              </a:solidFill>
              <a:latin typeface="Comfortaa"/>
              <a:ea typeface="Comfortaa"/>
              <a:cs typeface="Comfortaa"/>
              <a:sym typeface="Comfortaa"/>
            </a:endParaRPr>
          </a:p>
        </p:txBody>
      </p:sp>
      <p:sp>
        <p:nvSpPr>
          <p:cNvPr id="418" name="Google Shape;418;g3cc0b476a7a_0_45"/>
          <p:cNvSpPr txBox="1"/>
          <p:nvPr/>
        </p:nvSpPr>
        <p:spPr>
          <a:xfrm>
            <a:off x="6831650" y="2636075"/>
            <a:ext cx="5167200" cy="39705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b="1" lang="tr-TR" sz="1600">
                <a:solidFill>
                  <a:schemeClr val="dk1"/>
                </a:solidFill>
                <a:latin typeface="Comfortaa"/>
                <a:ea typeface="Comfortaa"/>
                <a:cs typeface="Comfortaa"/>
                <a:sym typeface="Comfortaa"/>
              </a:rPr>
              <a:t>Örnek İşlem:</a:t>
            </a:r>
            <a:r>
              <a:rPr lang="tr-TR" sz="1600">
                <a:solidFill>
                  <a:schemeClr val="dk1"/>
                </a:solidFill>
                <a:latin typeface="Comfortaa"/>
                <a:ea typeface="Comfortaa"/>
                <a:cs typeface="Comfortaa"/>
                <a:sym typeface="Comfortaa"/>
              </a:rPr>
              <a:t> </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rPr b="1" lang="tr-TR" sz="1600">
                <a:solidFill>
                  <a:schemeClr val="dk1"/>
                </a:solidFill>
                <a:latin typeface="Comfortaa"/>
                <a:ea typeface="Comfortaa"/>
                <a:cs typeface="Comfortaa"/>
                <a:sym typeface="Comfortaa"/>
              </a:rPr>
              <a:t>Web tarama (Web Scraping) sonuçlarını toplama.</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rPr lang="tr-TR" sz="1600">
                <a:solidFill>
                  <a:schemeClr val="dk1"/>
                </a:solidFill>
                <a:latin typeface="Comfortaa"/>
                <a:ea typeface="Comfortaa"/>
                <a:cs typeface="Comfortaa"/>
                <a:sym typeface="Comfortaa"/>
              </a:rPr>
              <a:t>10 farklı botun aynı anda farklı haber sitelerinden başlıkları çektiğini düşünün. Her bot kendi çektiği başlıkları bir liste olarak döndürür. Son adımda bu 10 farklı liste, tek bir ana "Haberler" listesinde birleştirilir.</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rPr b="1" i="1" lang="tr-TR" sz="1600">
                <a:solidFill>
                  <a:srgbClr val="3C78D8"/>
                </a:solidFill>
                <a:latin typeface="Comfortaa"/>
                <a:ea typeface="Comfortaa"/>
                <a:cs typeface="Comfortaa"/>
                <a:sym typeface="Comfortaa"/>
              </a:rPr>
              <a:t>Kullanım Amacı: </a:t>
            </a:r>
            <a:endParaRPr b="1" i="1" sz="1600">
              <a:solidFill>
                <a:srgbClr val="3C78D8"/>
              </a:solidFill>
              <a:latin typeface="Comfortaa"/>
              <a:ea typeface="Comfortaa"/>
              <a:cs typeface="Comfortaa"/>
              <a:sym typeface="Comfortaa"/>
            </a:endParaRPr>
          </a:p>
          <a:p>
            <a:pPr indent="0" lvl="0" marL="0" rtl="0" algn="just">
              <a:spcBef>
                <a:spcPts val="0"/>
              </a:spcBef>
              <a:spcAft>
                <a:spcPts val="0"/>
              </a:spcAft>
              <a:buNone/>
            </a:pPr>
            <a:r>
              <a:rPr b="1" i="1" lang="tr-TR" sz="1600">
                <a:solidFill>
                  <a:srgbClr val="3C78D8"/>
                </a:solidFill>
                <a:latin typeface="Comfortaa"/>
                <a:ea typeface="Comfortaa"/>
                <a:cs typeface="Comfortaa"/>
                <a:sym typeface="Comfortaa"/>
              </a:rPr>
              <a:t>Farklı kaynaklardan gelen bağımsız veri bloklarını tek bir yapıda toplamak.</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b="1" i="1" sz="1600">
              <a:solidFill>
                <a:srgbClr val="3C78D8"/>
              </a:solidFill>
              <a:latin typeface="Comfortaa"/>
              <a:ea typeface="Comfortaa"/>
              <a:cs typeface="Comfortaa"/>
              <a:sym typeface="Comfortaa"/>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pic>
        <p:nvPicPr>
          <p:cNvPr descr="Parallel computing for high-performance simulations" id="423" name="Google Shape;423;g3cc0b476a7a_0_59"/>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24" name="Google Shape;424;g3cc0b476a7a_0_59"/>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Birleştirme (Aggregation)</a:t>
            </a:r>
            <a:endParaRPr/>
          </a:p>
        </p:txBody>
      </p:sp>
      <p:sp>
        <p:nvSpPr>
          <p:cNvPr id="425" name="Google Shape;425;g3cc0b476a7a_0_59"/>
          <p:cNvSpPr txBox="1"/>
          <p:nvPr/>
        </p:nvSpPr>
        <p:spPr>
          <a:xfrm>
            <a:off x="1069848" y="738883"/>
            <a:ext cx="10688700" cy="1569900"/>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1" i="1" lang="tr-TR" sz="2400">
                <a:solidFill>
                  <a:schemeClr val="dk1"/>
                </a:solidFill>
                <a:latin typeface="Consolas"/>
                <a:ea typeface="Consolas"/>
                <a:cs typeface="Consolas"/>
                <a:sym typeface="Consolas"/>
              </a:rPr>
              <a:t> Sıralama ve Birleştirme (Sorting and Merging)</a:t>
            </a:r>
            <a:endParaRPr b="1" i="1" sz="2400">
              <a:solidFill>
                <a:schemeClr val="dk1"/>
              </a:solidFill>
              <a:latin typeface="Consolas"/>
              <a:ea typeface="Consolas"/>
              <a:cs typeface="Consolas"/>
              <a:sym typeface="Consolas"/>
            </a:endParaRPr>
          </a:p>
          <a:p>
            <a:pPr indent="0" lvl="0" marL="0" marR="0" rtl="0" algn="just">
              <a:lnSpc>
                <a:spcPct val="100000"/>
              </a:lnSpc>
              <a:spcBef>
                <a:spcPts val="0"/>
              </a:spcBef>
              <a:spcAft>
                <a:spcPts val="0"/>
              </a:spcAft>
              <a:buNone/>
            </a:pPr>
            <a:r>
              <a:rPr lang="tr-TR" sz="2400">
                <a:solidFill>
                  <a:schemeClr val="dk1"/>
                </a:solidFill>
                <a:latin typeface="Consolas"/>
                <a:ea typeface="Consolas"/>
                <a:cs typeface="Consolas"/>
                <a:sym typeface="Consolas"/>
              </a:rPr>
              <a:t>Önce yerel parçalar sıralanır, sonra bunlar "Merge Sort" mantığıyla birleştirilir.</a:t>
            </a:r>
            <a:endParaRPr sz="1100">
              <a:solidFill>
                <a:schemeClr val="dk1"/>
              </a:solidFill>
            </a:endParaRPr>
          </a:p>
          <a:p>
            <a:pPr indent="0" lvl="0" marL="0" marR="0" rtl="0" algn="just">
              <a:spcBef>
                <a:spcPts val="0"/>
              </a:spcBef>
              <a:spcAft>
                <a:spcPts val="0"/>
              </a:spcAft>
              <a:buNone/>
            </a:pPr>
            <a:r>
              <a:t/>
            </a:r>
            <a:endParaRPr sz="2400">
              <a:solidFill>
                <a:schemeClr val="dk1"/>
              </a:solidFill>
              <a:latin typeface="Consolas"/>
              <a:ea typeface="Consolas"/>
              <a:cs typeface="Consolas"/>
              <a:sym typeface="Consolas"/>
            </a:endParaRPr>
          </a:p>
        </p:txBody>
      </p:sp>
      <p:sp>
        <p:nvSpPr>
          <p:cNvPr id="426" name="Google Shape;426;g3cc0b476a7a_0_59"/>
          <p:cNvSpPr txBox="1"/>
          <p:nvPr/>
        </p:nvSpPr>
        <p:spPr>
          <a:xfrm>
            <a:off x="1164350" y="2751625"/>
            <a:ext cx="5582400" cy="363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tr-TR" sz="1600">
                <a:latin typeface="Comfortaa"/>
                <a:ea typeface="Comfortaa"/>
                <a:cs typeface="Comfortaa"/>
                <a:sym typeface="Comfortaa"/>
              </a:rPr>
              <a:t># Örnek kod bloğu</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1. Adım: Her parça kendi içinde sıralanır (Parallel Sort)</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sorted_chunks = parallel_execute(sort, chunks)</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2. Adım: Sıralı parçalar ikili olarak birleştirilir (Merging)</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def merge_sorted_lists(list_a, list_b):</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 İki sıralı listeyi tek sıralı liste yapar</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return sorted_merge(list_a, list_b)</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a:p>
            <a:pPr indent="0" lvl="0" marL="0" rtl="0" algn="l">
              <a:spcBef>
                <a:spcPts val="0"/>
              </a:spcBef>
              <a:spcAft>
                <a:spcPts val="0"/>
              </a:spcAft>
              <a:buNone/>
            </a:pPr>
            <a:r>
              <a:rPr lang="tr-TR" sz="1600">
                <a:solidFill>
                  <a:srgbClr val="CC0000"/>
                </a:solidFill>
                <a:latin typeface="Comfortaa"/>
                <a:ea typeface="Comfortaa"/>
                <a:cs typeface="Comfortaa"/>
                <a:sym typeface="Comfortaa"/>
              </a:rPr>
              <a:t>final_sorted_list = reduce(merge_sorted_lists, sorted_chunks)</a:t>
            </a:r>
            <a:endParaRPr sz="1600">
              <a:solidFill>
                <a:srgbClr val="CC0000"/>
              </a:solidFill>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p:txBody>
      </p:sp>
      <p:sp>
        <p:nvSpPr>
          <p:cNvPr id="427" name="Google Shape;427;g3cc0b476a7a_0_59"/>
          <p:cNvSpPr txBox="1"/>
          <p:nvPr/>
        </p:nvSpPr>
        <p:spPr>
          <a:xfrm>
            <a:off x="6831650" y="2636075"/>
            <a:ext cx="5167200" cy="39705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b="1" lang="tr-TR" sz="1600">
                <a:solidFill>
                  <a:schemeClr val="dk1"/>
                </a:solidFill>
                <a:latin typeface="Comfortaa"/>
                <a:ea typeface="Comfortaa"/>
                <a:cs typeface="Comfortaa"/>
                <a:sym typeface="Comfortaa"/>
              </a:rPr>
              <a:t>Örnek İşlem:</a:t>
            </a:r>
            <a:r>
              <a:rPr lang="tr-TR" sz="1600">
                <a:solidFill>
                  <a:schemeClr val="dk1"/>
                </a:solidFill>
                <a:latin typeface="Comfortaa"/>
                <a:ea typeface="Comfortaa"/>
                <a:cs typeface="Comfortaa"/>
                <a:sym typeface="Comfortaa"/>
              </a:rPr>
              <a:t> </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rPr b="1" lang="tr-TR" sz="1600">
                <a:solidFill>
                  <a:schemeClr val="dk1"/>
                </a:solidFill>
                <a:latin typeface="Comfortaa"/>
                <a:ea typeface="Comfortaa"/>
                <a:cs typeface="Comfortaa"/>
                <a:sym typeface="Comfortaa"/>
              </a:rPr>
              <a:t>E-ticaret sitesinde "fiyata göre sırala" özelliği.</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rPr lang="tr-TR" sz="1600">
                <a:solidFill>
                  <a:schemeClr val="dk1"/>
                </a:solidFill>
                <a:latin typeface="Comfortaa"/>
                <a:ea typeface="Comfortaa"/>
                <a:cs typeface="Comfortaa"/>
                <a:sym typeface="Comfortaa"/>
              </a:rPr>
              <a:t>Milyonlarca ürünün olduğu bir veritabanında, veriler önce 4-5 farklı parçaya bölünür. Her parça kendi içinde hızla sıralanır. </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rPr lang="tr-TR" sz="1600">
                <a:solidFill>
                  <a:schemeClr val="dk1"/>
                </a:solidFill>
                <a:latin typeface="Comfortaa"/>
                <a:ea typeface="Comfortaa"/>
                <a:cs typeface="Comfortaa"/>
                <a:sym typeface="Comfortaa"/>
              </a:rPr>
              <a:t>Ardından bu sıralı parçalar, "Merge" (birleştirme) algoritmasıyla birbirine geçirilerek son sıralı liste oluşturulur.</a:t>
            </a:r>
            <a:endParaRPr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rPr b="1" i="1" lang="tr-TR" sz="1600">
                <a:solidFill>
                  <a:srgbClr val="3C78D8"/>
                </a:solidFill>
                <a:latin typeface="Comfortaa"/>
                <a:ea typeface="Comfortaa"/>
                <a:cs typeface="Comfortaa"/>
                <a:sym typeface="Comfortaa"/>
              </a:rPr>
              <a:t>Kullanım Amacı: </a:t>
            </a:r>
            <a:endParaRPr b="1" i="1" sz="1600">
              <a:solidFill>
                <a:srgbClr val="3C78D8"/>
              </a:solidFill>
              <a:latin typeface="Comfortaa"/>
              <a:ea typeface="Comfortaa"/>
              <a:cs typeface="Comfortaa"/>
              <a:sym typeface="Comfortaa"/>
            </a:endParaRPr>
          </a:p>
          <a:p>
            <a:pPr indent="0" lvl="0" marL="0" rtl="0" algn="just">
              <a:spcBef>
                <a:spcPts val="0"/>
              </a:spcBef>
              <a:spcAft>
                <a:spcPts val="0"/>
              </a:spcAft>
              <a:buNone/>
            </a:pPr>
            <a:r>
              <a:rPr b="1" i="1" lang="tr-TR" sz="1600">
                <a:solidFill>
                  <a:srgbClr val="3C78D8"/>
                </a:solidFill>
                <a:latin typeface="Comfortaa"/>
                <a:ea typeface="Comfortaa"/>
                <a:cs typeface="Comfortaa"/>
                <a:sym typeface="Comfortaa"/>
              </a:rPr>
              <a:t>Büyük verileri sıralarken işlemciyi yormadan paralel güçten faydalanmak.</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b="1" i="1" sz="1600">
              <a:solidFill>
                <a:srgbClr val="3C78D8"/>
              </a:solidFill>
              <a:latin typeface="Comfortaa"/>
              <a:ea typeface="Comfortaa"/>
              <a:cs typeface="Comfortaa"/>
              <a:sym typeface="Comfortaa"/>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1" name="Shape 431"/>
        <p:cNvGrpSpPr/>
        <p:nvPr/>
      </p:nvGrpSpPr>
      <p:grpSpPr>
        <a:xfrm>
          <a:off x="0" y="0"/>
          <a:ext cx="0" cy="0"/>
          <a:chOff x="0" y="0"/>
          <a:chExt cx="0" cy="0"/>
        </a:xfrm>
      </p:grpSpPr>
      <p:pic>
        <p:nvPicPr>
          <p:cNvPr descr="Parallel computing for high-performance simulations" id="432" name="Google Shape;432;g3cc0b476a7a_0_70"/>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33" name="Google Shape;433;g3cc0b476a7a_0_70"/>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Birleştirme (Aggregation)</a:t>
            </a:r>
            <a:endParaRPr/>
          </a:p>
        </p:txBody>
      </p:sp>
      <p:sp>
        <p:nvSpPr>
          <p:cNvPr id="434" name="Google Shape;434;g3cc0b476a7a_0_70"/>
          <p:cNvSpPr txBox="1"/>
          <p:nvPr/>
        </p:nvSpPr>
        <p:spPr>
          <a:xfrm>
            <a:off x="1069848" y="738883"/>
            <a:ext cx="10688700" cy="1569900"/>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1" i="1" lang="tr-TR" sz="2400">
                <a:solidFill>
                  <a:schemeClr val="dk1"/>
                </a:solidFill>
                <a:latin typeface="Consolas"/>
                <a:ea typeface="Consolas"/>
                <a:cs typeface="Consolas"/>
                <a:sym typeface="Consolas"/>
              </a:rPr>
              <a:t> </a:t>
            </a:r>
            <a:r>
              <a:rPr b="1" i="1" lang="tr-TR" sz="2400">
                <a:solidFill>
                  <a:schemeClr val="dk1"/>
                </a:solidFill>
                <a:latin typeface="Consolas"/>
                <a:ea typeface="Consolas"/>
                <a:cs typeface="Consolas"/>
                <a:sym typeface="Consolas"/>
              </a:rPr>
              <a:t>Paralel Redüksiyon (Parallel Reduction)</a:t>
            </a:r>
            <a:endParaRPr b="1" i="1" sz="2400">
              <a:solidFill>
                <a:schemeClr val="dk1"/>
              </a:solidFill>
              <a:latin typeface="Consolas"/>
              <a:ea typeface="Consolas"/>
              <a:cs typeface="Consolas"/>
              <a:sym typeface="Consolas"/>
            </a:endParaRPr>
          </a:p>
          <a:p>
            <a:pPr indent="0" lvl="0" marL="0" marR="0" rtl="0" algn="just">
              <a:lnSpc>
                <a:spcPct val="100000"/>
              </a:lnSpc>
              <a:spcBef>
                <a:spcPts val="0"/>
              </a:spcBef>
              <a:spcAft>
                <a:spcPts val="0"/>
              </a:spcAft>
              <a:buNone/>
            </a:pPr>
            <a:r>
              <a:rPr lang="tr-TR" sz="2400">
                <a:solidFill>
                  <a:schemeClr val="dk1"/>
                </a:solidFill>
                <a:latin typeface="Consolas"/>
                <a:ea typeface="Consolas"/>
                <a:cs typeface="Consolas"/>
                <a:sym typeface="Consolas"/>
              </a:rPr>
              <a:t>Veriyi ikili gruplar halinde sürekli küçülterek tek bir sonuca ulaşma yöntemidir. Büyük veri setlerinde çok hızlıdır.</a:t>
            </a:r>
            <a:endParaRPr sz="1100">
              <a:solidFill>
                <a:schemeClr val="dk1"/>
              </a:solidFill>
            </a:endParaRPr>
          </a:p>
          <a:p>
            <a:pPr indent="0" lvl="0" marL="0" marR="0" rtl="0" algn="just">
              <a:spcBef>
                <a:spcPts val="0"/>
              </a:spcBef>
              <a:spcAft>
                <a:spcPts val="0"/>
              </a:spcAft>
              <a:buNone/>
            </a:pPr>
            <a:r>
              <a:t/>
            </a:r>
            <a:endParaRPr sz="2400">
              <a:solidFill>
                <a:schemeClr val="dk1"/>
              </a:solidFill>
              <a:latin typeface="Consolas"/>
              <a:ea typeface="Consolas"/>
              <a:cs typeface="Consolas"/>
              <a:sym typeface="Consolas"/>
            </a:endParaRPr>
          </a:p>
        </p:txBody>
      </p:sp>
      <p:sp>
        <p:nvSpPr>
          <p:cNvPr id="435" name="Google Shape;435;g3cc0b476a7a_0_70"/>
          <p:cNvSpPr txBox="1"/>
          <p:nvPr/>
        </p:nvSpPr>
        <p:spPr>
          <a:xfrm>
            <a:off x="1164350" y="2751625"/>
            <a:ext cx="51672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tr-TR" sz="1600">
                <a:latin typeface="Comfortaa"/>
                <a:ea typeface="Comfortaa"/>
                <a:cs typeface="Comfortaa"/>
                <a:sym typeface="Comfortaa"/>
              </a:rPr>
              <a:t># Örnek kod bloğu</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Veri: [a, b, c, d] -&gt; [(a+b), (c+d)] -&gt; [(a+b+c+d)]</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def parallel_reduction(data, operator):</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while len(data) &gt; 1:</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 Veriyi ikili eşleştir ve operatörü (toplama, max vb.) uygula</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data = parallel_apply_operator(operator, pairs(data))</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return data[0]</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p:txBody>
      </p:sp>
      <p:sp>
        <p:nvSpPr>
          <p:cNvPr id="436" name="Google Shape;436;g3cc0b476a7a_0_70"/>
          <p:cNvSpPr txBox="1"/>
          <p:nvPr/>
        </p:nvSpPr>
        <p:spPr>
          <a:xfrm>
            <a:off x="6831650" y="2636075"/>
            <a:ext cx="5167200" cy="39705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b="1" lang="tr-TR" sz="1600">
                <a:solidFill>
                  <a:schemeClr val="dk1"/>
                </a:solidFill>
                <a:latin typeface="Comfortaa"/>
                <a:ea typeface="Comfortaa"/>
                <a:cs typeface="Comfortaa"/>
                <a:sym typeface="Comfortaa"/>
              </a:rPr>
              <a:t>Örnek İşlem:</a:t>
            </a:r>
            <a:r>
              <a:rPr lang="tr-TR" sz="1600">
                <a:solidFill>
                  <a:schemeClr val="dk1"/>
                </a:solidFill>
                <a:latin typeface="Comfortaa"/>
                <a:ea typeface="Comfortaa"/>
                <a:cs typeface="Comfortaa"/>
                <a:sym typeface="Comfortaa"/>
              </a:rPr>
              <a:t> </a:t>
            </a:r>
            <a:endParaRPr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lang="tr-TR" sz="1600">
                <a:solidFill>
                  <a:schemeClr val="dk1"/>
                </a:solidFill>
                <a:latin typeface="Comfortaa"/>
                <a:ea typeface="Comfortaa"/>
                <a:cs typeface="Comfortaa"/>
                <a:sym typeface="Comfortaa"/>
              </a:rPr>
              <a:t>Bir görüntüdeki en parlak pikseli (Maximum) bulmak.</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lang="tr-TR" sz="1600">
                <a:solidFill>
                  <a:schemeClr val="dk1"/>
                </a:solidFill>
                <a:latin typeface="Comfortaa"/>
                <a:ea typeface="Comfortaa"/>
                <a:cs typeface="Comfortaa"/>
                <a:sym typeface="Comfortaa"/>
              </a:rPr>
              <a:t>4K bir fotoğraftaki en yüksek parlaklık değerini arıyorsunuz. İşlemciler veriyi ikili gruplar halinde karşılaştırır: "A mı büyük B mi?". Kazananlar bir üst tura çıkar. Bu bir turnuva ağacı gibi çalışır ve çok kısa sürede en büyük (max) veya en küçük (min) değer bulunur.</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i="1" lang="tr-TR" sz="1600">
                <a:solidFill>
                  <a:srgbClr val="3C78D8"/>
                </a:solidFill>
                <a:latin typeface="Comfortaa"/>
                <a:ea typeface="Comfortaa"/>
                <a:cs typeface="Comfortaa"/>
                <a:sym typeface="Comfortaa"/>
              </a:rPr>
              <a:t>Kullanım Amacı: </a:t>
            </a:r>
            <a:endParaRPr b="1" i="1" sz="1600">
              <a:solidFill>
                <a:srgbClr val="3C78D8"/>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i="1" lang="tr-TR" sz="1600">
                <a:solidFill>
                  <a:srgbClr val="3C78D8"/>
                </a:solidFill>
                <a:latin typeface="Comfortaa"/>
                <a:ea typeface="Comfortaa"/>
                <a:cs typeface="Comfortaa"/>
                <a:sym typeface="Comfortaa"/>
              </a:rPr>
              <a:t>Karmaşıklığı $log(n)$ seviyesine indirerek devasa verilerde hızlıca sonuç almak.</a:t>
            </a:r>
            <a:endParaRPr b="1" sz="1600">
              <a:solidFill>
                <a:schemeClr val="dk1"/>
              </a:solidFill>
              <a:latin typeface="Comfortaa"/>
              <a:ea typeface="Comfortaa"/>
              <a:cs typeface="Comfortaa"/>
              <a:sym typeface="Comfortaa"/>
            </a:endParaRPr>
          </a:p>
          <a:p>
            <a:pPr indent="0" lvl="0" marL="0" rtl="0" algn="just">
              <a:spcBef>
                <a:spcPts val="0"/>
              </a:spcBef>
              <a:spcAft>
                <a:spcPts val="0"/>
              </a:spcAft>
              <a:buNone/>
            </a:pPr>
            <a:r>
              <a:t/>
            </a:r>
            <a:endParaRPr b="1" i="1" sz="1600">
              <a:solidFill>
                <a:srgbClr val="3C78D8"/>
              </a:solidFill>
              <a:latin typeface="Comfortaa"/>
              <a:ea typeface="Comfortaa"/>
              <a:cs typeface="Comfortaa"/>
              <a:sym typeface="Comfortaa"/>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pic>
        <p:nvPicPr>
          <p:cNvPr descr="Parallel computing for high-performance simulations" id="441" name="Google Shape;441;g3cc0b476a7a_0_82"/>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42" name="Google Shape;442;g3cc0b476a7a_0_82"/>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Birleştirme (Aggregation)</a:t>
            </a:r>
            <a:endParaRPr/>
          </a:p>
        </p:txBody>
      </p:sp>
      <p:sp>
        <p:nvSpPr>
          <p:cNvPr id="443" name="Google Shape;443;g3cc0b476a7a_0_82"/>
          <p:cNvSpPr txBox="1"/>
          <p:nvPr/>
        </p:nvSpPr>
        <p:spPr>
          <a:xfrm>
            <a:off x="1069850" y="738875"/>
            <a:ext cx="6213600" cy="2286600"/>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1" i="1" lang="tr-TR" sz="1900">
                <a:solidFill>
                  <a:schemeClr val="dk1"/>
                </a:solidFill>
                <a:latin typeface="Consolas"/>
                <a:ea typeface="Consolas"/>
                <a:cs typeface="Consolas"/>
                <a:sym typeface="Consolas"/>
              </a:rPr>
              <a:t> </a:t>
            </a:r>
            <a:r>
              <a:rPr b="1" i="1" lang="tr-TR" sz="1900">
                <a:solidFill>
                  <a:schemeClr val="dk1"/>
                </a:solidFill>
                <a:latin typeface="Consolas"/>
                <a:ea typeface="Consolas"/>
                <a:cs typeface="Consolas"/>
                <a:sym typeface="Consolas"/>
              </a:rPr>
              <a:t>Histogram Oluşturma (Histogram Generation)</a:t>
            </a:r>
            <a:endParaRPr b="1" sz="800">
              <a:solidFill>
                <a:schemeClr val="dk1"/>
              </a:solidFill>
            </a:endParaRPr>
          </a:p>
          <a:p>
            <a:pPr indent="0" lvl="0" marL="0" rtl="0" algn="just">
              <a:lnSpc>
                <a:spcPct val="115000"/>
              </a:lnSpc>
              <a:spcBef>
                <a:spcPts val="1200"/>
              </a:spcBef>
              <a:spcAft>
                <a:spcPts val="0"/>
              </a:spcAft>
              <a:buClr>
                <a:schemeClr val="dk1"/>
              </a:buClr>
              <a:buSzPts val="1100"/>
              <a:buFont typeface="Arial"/>
              <a:buNone/>
            </a:pPr>
            <a:r>
              <a:rPr lang="tr-TR" sz="1900">
                <a:solidFill>
                  <a:schemeClr val="dk1"/>
                </a:solidFill>
                <a:latin typeface="Consolas"/>
                <a:ea typeface="Consolas"/>
                <a:cs typeface="Consolas"/>
                <a:sym typeface="Consolas"/>
              </a:rPr>
              <a:t>Verilerin dağılımını (frekansını) paralel olarak hesaplayıp sonuçları bir sözlükte birleştirir.</a:t>
            </a:r>
            <a:endParaRPr sz="600">
              <a:solidFill>
                <a:schemeClr val="dk1"/>
              </a:solidFill>
            </a:endParaRPr>
          </a:p>
          <a:p>
            <a:pPr indent="0" lvl="0" marL="0" marR="0" rtl="0" algn="just">
              <a:lnSpc>
                <a:spcPct val="100000"/>
              </a:lnSpc>
              <a:spcBef>
                <a:spcPts val="1200"/>
              </a:spcBef>
              <a:spcAft>
                <a:spcPts val="0"/>
              </a:spcAft>
              <a:buNone/>
            </a:pPr>
            <a:r>
              <a:t/>
            </a:r>
            <a:endParaRPr sz="1900">
              <a:solidFill>
                <a:schemeClr val="dk1"/>
              </a:solidFill>
              <a:latin typeface="Consolas"/>
              <a:ea typeface="Consolas"/>
              <a:cs typeface="Consolas"/>
              <a:sym typeface="Consolas"/>
            </a:endParaRPr>
          </a:p>
          <a:p>
            <a:pPr indent="0" lvl="0" marL="0" marR="0" rtl="0" algn="just">
              <a:spcBef>
                <a:spcPts val="0"/>
              </a:spcBef>
              <a:spcAft>
                <a:spcPts val="0"/>
              </a:spcAft>
              <a:buNone/>
            </a:pPr>
            <a:r>
              <a:t/>
            </a:r>
            <a:endParaRPr sz="1900">
              <a:solidFill>
                <a:schemeClr val="dk1"/>
              </a:solidFill>
              <a:latin typeface="Consolas"/>
              <a:ea typeface="Consolas"/>
              <a:cs typeface="Consolas"/>
              <a:sym typeface="Consolas"/>
            </a:endParaRPr>
          </a:p>
        </p:txBody>
      </p:sp>
      <p:sp>
        <p:nvSpPr>
          <p:cNvPr id="444" name="Google Shape;444;g3cc0b476a7a_0_82"/>
          <p:cNvSpPr txBox="1"/>
          <p:nvPr/>
        </p:nvSpPr>
        <p:spPr>
          <a:xfrm>
            <a:off x="1164350" y="2384025"/>
            <a:ext cx="5814600" cy="4863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tr-TR" sz="1600">
                <a:latin typeface="Comfortaa"/>
                <a:ea typeface="Comfortaa"/>
                <a:cs typeface="Comfortaa"/>
                <a:sym typeface="Comfortaa"/>
              </a:rPr>
              <a:t># Örnek kod bloğu</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Her thread kendi bölgesindeki sayıları sayar</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def local_histogram(data_chunk):</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counts = {}</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for item in data_chunk:</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counts[item] = counts.get(item, 0) + 1</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return counts</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Ana işlem: Sözlükleri (map) birleştirme</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final_histogram = {}</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local_counts = parallel_execute(local_histogram, chunks)</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for hist in local_counts:</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for key, val in hist.items():</a:t>
            </a:r>
            <a:endParaRPr sz="1600">
              <a:latin typeface="Comfortaa"/>
              <a:ea typeface="Comfortaa"/>
              <a:cs typeface="Comfortaa"/>
              <a:sym typeface="Comfortaa"/>
            </a:endParaRPr>
          </a:p>
          <a:p>
            <a:pPr indent="0" lvl="0" marL="0" rtl="0" algn="l">
              <a:spcBef>
                <a:spcPts val="0"/>
              </a:spcBef>
              <a:spcAft>
                <a:spcPts val="0"/>
              </a:spcAft>
              <a:buNone/>
            </a:pPr>
            <a:r>
              <a:rPr lang="tr-TR" sz="1600">
                <a:latin typeface="Comfortaa"/>
                <a:ea typeface="Comfortaa"/>
                <a:cs typeface="Comfortaa"/>
                <a:sym typeface="Comfortaa"/>
              </a:rPr>
              <a:t>        final_histogram[key] = final_histogram.get(key, 0) + val</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a:p>
            <a:pPr indent="0" lvl="0" marL="0" rtl="0" algn="l">
              <a:spcBef>
                <a:spcPts val="0"/>
              </a:spcBef>
              <a:spcAft>
                <a:spcPts val="0"/>
              </a:spcAft>
              <a:buNone/>
            </a:pPr>
            <a:r>
              <a:t/>
            </a:r>
            <a:endParaRPr sz="1600">
              <a:latin typeface="Comfortaa"/>
              <a:ea typeface="Comfortaa"/>
              <a:cs typeface="Comfortaa"/>
              <a:sym typeface="Comfortaa"/>
            </a:endParaRPr>
          </a:p>
        </p:txBody>
      </p:sp>
      <p:sp>
        <p:nvSpPr>
          <p:cNvPr id="445" name="Google Shape;445;g3cc0b476a7a_0_82"/>
          <p:cNvSpPr txBox="1"/>
          <p:nvPr/>
        </p:nvSpPr>
        <p:spPr>
          <a:xfrm>
            <a:off x="6978950" y="3034425"/>
            <a:ext cx="5167200" cy="35631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b="1" lang="tr-TR" sz="1600">
                <a:solidFill>
                  <a:schemeClr val="dk1"/>
                </a:solidFill>
                <a:latin typeface="Comfortaa"/>
                <a:ea typeface="Comfortaa"/>
                <a:cs typeface="Comfortaa"/>
                <a:sym typeface="Comfortaa"/>
              </a:rPr>
              <a:t>Örnek İşlem:</a:t>
            </a:r>
            <a:r>
              <a:rPr lang="tr-TR" sz="1600">
                <a:solidFill>
                  <a:schemeClr val="dk1"/>
                </a:solidFill>
                <a:latin typeface="Comfortaa"/>
                <a:ea typeface="Comfortaa"/>
                <a:cs typeface="Comfortaa"/>
                <a:sym typeface="Comfortaa"/>
              </a:rPr>
              <a:t> </a:t>
            </a:r>
            <a:endParaRPr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lang="tr-TR" sz="1600">
                <a:solidFill>
                  <a:schemeClr val="dk1"/>
                </a:solidFill>
                <a:latin typeface="Comfortaa"/>
                <a:ea typeface="Comfortaa"/>
                <a:cs typeface="Comfortaa"/>
                <a:sym typeface="Comfortaa"/>
              </a:rPr>
              <a:t>Görüntü İşleme (Renk Dağılımı Analizi).</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lang="tr-TR" sz="1600">
                <a:solidFill>
                  <a:schemeClr val="dk1"/>
                </a:solidFill>
                <a:latin typeface="Comfortaa"/>
                <a:ea typeface="Comfortaa"/>
                <a:cs typeface="Comfortaa"/>
                <a:sym typeface="Comfortaa"/>
              </a:rPr>
              <a:t>Bir fotoğrafta kaç tane kırmızı, kaç tane mavi piksel olduğunu saymak istiyorsunuz. Görüntü parçalara ayrılır; her işlemci kendi bölgesindeki renkleri sayıp küçük birer tablo (sözlük) oluşturur. Sonra bu tablolar toplanarak tüm resmin renk haritası çıkarılır.</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t/>
            </a:r>
            <a:endParaRPr b="1" sz="1600">
              <a:solidFill>
                <a:schemeClr val="dk1"/>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i="1" lang="tr-TR" sz="1600">
                <a:solidFill>
                  <a:srgbClr val="3C78D8"/>
                </a:solidFill>
                <a:latin typeface="Comfortaa"/>
                <a:ea typeface="Comfortaa"/>
                <a:cs typeface="Comfortaa"/>
                <a:sym typeface="Comfortaa"/>
              </a:rPr>
              <a:t>Kullanım Amacı: </a:t>
            </a:r>
            <a:endParaRPr b="1" i="1" sz="1600">
              <a:solidFill>
                <a:srgbClr val="3C78D8"/>
              </a:solidFill>
              <a:latin typeface="Comfortaa"/>
              <a:ea typeface="Comfortaa"/>
              <a:cs typeface="Comfortaa"/>
              <a:sym typeface="Comfortaa"/>
            </a:endParaRPr>
          </a:p>
          <a:p>
            <a:pPr indent="0" lvl="0" marL="0" marR="0" rtl="0" algn="just">
              <a:lnSpc>
                <a:spcPct val="100000"/>
              </a:lnSpc>
              <a:spcBef>
                <a:spcPts val="0"/>
              </a:spcBef>
              <a:spcAft>
                <a:spcPts val="0"/>
              </a:spcAft>
              <a:buNone/>
            </a:pPr>
            <a:r>
              <a:rPr b="1" i="1" lang="tr-TR" sz="1600">
                <a:solidFill>
                  <a:srgbClr val="3C78D8"/>
                </a:solidFill>
                <a:latin typeface="Comfortaa"/>
                <a:ea typeface="Comfortaa"/>
                <a:cs typeface="Comfortaa"/>
                <a:sym typeface="Comfortaa"/>
              </a:rPr>
              <a:t>Verinin karakteristiğini ve dağılımını belirlemek.</a:t>
            </a:r>
            <a:endParaRPr b="1" i="1" sz="1600">
              <a:solidFill>
                <a:srgbClr val="3C78D8"/>
              </a:solidFill>
              <a:latin typeface="Comfortaa"/>
              <a:ea typeface="Comfortaa"/>
              <a:cs typeface="Comfortaa"/>
              <a:sym typeface="Comfortaa"/>
            </a:endParaRPr>
          </a:p>
        </p:txBody>
      </p:sp>
      <p:pic>
        <p:nvPicPr>
          <p:cNvPr id="446" name="Google Shape;446;g3cc0b476a7a_0_82"/>
          <p:cNvPicPr preferRelativeResize="0"/>
          <p:nvPr/>
        </p:nvPicPr>
        <p:blipFill>
          <a:blip r:embed="rId4">
            <a:alphaModFix/>
          </a:blip>
          <a:stretch>
            <a:fillRect/>
          </a:stretch>
        </p:blipFill>
        <p:spPr>
          <a:xfrm>
            <a:off x="7447450" y="578375"/>
            <a:ext cx="4368750" cy="218437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pic>
        <p:nvPicPr>
          <p:cNvPr descr="Parallel computing for high-performance simulations" id="451" name="Google Shape;451;p38"/>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452" name="Google Shape;452;p38"/>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Planlama (Mapping) (Eşleme) Stratejileri</a:t>
            </a:r>
            <a:endParaRPr/>
          </a:p>
        </p:txBody>
      </p:sp>
      <p:sp>
        <p:nvSpPr>
          <p:cNvPr id="453" name="Google Shape;453;p38"/>
          <p:cNvSpPr txBox="1"/>
          <p:nvPr/>
        </p:nvSpPr>
        <p:spPr>
          <a:xfrm>
            <a:off x="1164348" y="759758"/>
            <a:ext cx="10688700" cy="62586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0"/>
              </a:spcAft>
              <a:buClr>
                <a:schemeClr val="dk1"/>
              </a:buClr>
              <a:buSzPts val="1100"/>
              <a:buFont typeface="Arial"/>
              <a:buNone/>
            </a:pPr>
            <a:r>
              <a:rPr b="1" lang="tr-TR" sz="1600">
                <a:solidFill>
                  <a:schemeClr val="dk1"/>
                </a:solidFill>
                <a:latin typeface="Consolas"/>
                <a:ea typeface="Consolas"/>
                <a:cs typeface="Consolas"/>
                <a:sym typeface="Consolas"/>
              </a:rPr>
              <a:t>Mapping</a:t>
            </a:r>
            <a:r>
              <a:rPr lang="tr-TR" sz="1600">
                <a:solidFill>
                  <a:schemeClr val="dk1"/>
                </a:solidFill>
                <a:latin typeface="Consolas"/>
                <a:ea typeface="Consolas"/>
                <a:cs typeface="Consolas"/>
                <a:sym typeface="Consolas"/>
              </a:rPr>
              <a:t>, iş yükünün ve verinin işlemciler (veya thread'ler) arasında nasıl dağıtılacağını belirleme sürecidir. Performansı doğrudan etkileyen </a:t>
            </a:r>
            <a:r>
              <a:rPr b="1" lang="tr-TR" sz="1600">
                <a:solidFill>
                  <a:schemeClr val="dk1"/>
                </a:solidFill>
                <a:latin typeface="Consolas"/>
                <a:ea typeface="Consolas"/>
                <a:cs typeface="Consolas"/>
                <a:sym typeface="Consolas"/>
              </a:rPr>
              <a:t>5 temel faktör</a:t>
            </a:r>
            <a:r>
              <a:rPr lang="tr-TR" sz="1600">
                <a:solidFill>
                  <a:schemeClr val="dk1"/>
                </a:solidFill>
                <a:latin typeface="Consolas"/>
                <a:ea typeface="Consolas"/>
                <a:cs typeface="Consolas"/>
                <a:sym typeface="Consolas"/>
              </a:rPr>
              <a:t> şunlardır:</a:t>
            </a:r>
            <a:endParaRPr sz="1600">
              <a:solidFill>
                <a:schemeClr val="dk1"/>
              </a:solidFill>
              <a:latin typeface="Consolas"/>
              <a:ea typeface="Consolas"/>
              <a:cs typeface="Consolas"/>
              <a:sym typeface="Consolas"/>
            </a:endParaRPr>
          </a:p>
          <a:p>
            <a:pPr indent="-330200" lvl="0" marL="457200" rtl="0" algn="l">
              <a:lnSpc>
                <a:spcPct val="115000"/>
              </a:lnSpc>
              <a:spcBef>
                <a:spcPts val="1200"/>
              </a:spcBef>
              <a:spcAft>
                <a:spcPts val="0"/>
              </a:spcAft>
              <a:buClr>
                <a:schemeClr val="dk1"/>
              </a:buClr>
              <a:buSzPts val="1600"/>
              <a:buFont typeface="Consolas"/>
              <a:buChar char="●"/>
            </a:pPr>
            <a:r>
              <a:rPr b="1" lang="tr-TR" sz="1600">
                <a:solidFill>
                  <a:schemeClr val="dk1"/>
                </a:solidFill>
                <a:latin typeface="Consolas"/>
                <a:ea typeface="Consolas"/>
                <a:cs typeface="Consolas"/>
                <a:sym typeface="Consolas"/>
              </a:rPr>
              <a:t>Problem ve Veri Yapısı:</a:t>
            </a:r>
            <a:endParaRPr b="1"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İşin bağımsız parçalara bölünüp bölünemeyeceği belirlenir.</a:t>
            </a:r>
            <a:endParaRPr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Veri yapısının karmaşıklığına göre dağıtım stratejisi seçilir.</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Font typeface="Consolas"/>
              <a:buChar char="●"/>
            </a:pPr>
            <a:r>
              <a:rPr b="1" lang="tr-TR" sz="1600">
                <a:solidFill>
                  <a:schemeClr val="dk1"/>
                </a:solidFill>
                <a:latin typeface="Consolas"/>
                <a:ea typeface="Consolas"/>
                <a:cs typeface="Consolas"/>
                <a:sym typeface="Consolas"/>
              </a:rPr>
              <a:t>İşlemci Topolojisi:</a:t>
            </a:r>
            <a:endParaRPr b="1"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İşlemciler arasındaki fiziksel bağlantı tipi ve mesafe dikkate alınır.</a:t>
            </a:r>
            <a:endParaRPr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Veri transferini hızlandırmak için fiziksel dizilime uygun haritalama yapılır.</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Font typeface="Consolas"/>
              <a:buChar char="●"/>
            </a:pPr>
            <a:r>
              <a:rPr b="1" lang="tr-TR" sz="1600">
                <a:solidFill>
                  <a:schemeClr val="dk1"/>
                </a:solidFill>
                <a:latin typeface="Consolas"/>
                <a:ea typeface="Consolas"/>
                <a:cs typeface="Consolas"/>
                <a:sym typeface="Consolas"/>
              </a:rPr>
              <a:t>Yük Dengesi (Load Balancing):</a:t>
            </a:r>
            <a:endParaRPr b="1"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Her işlemciye eşit miktarda iş verilmesi hedeflenir.</a:t>
            </a:r>
            <a:endParaRPr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Bir işlemci aşırı yüklenirken diğerinin boş kalması (darboğaz) engellenir.</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Font typeface="Consolas"/>
              <a:buChar char="●"/>
            </a:pPr>
            <a:r>
              <a:rPr b="1" lang="tr-TR" sz="1600">
                <a:solidFill>
                  <a:schemeClr val="dk1"/>
                </a:solidFill>
                <a:latin typeface="Consolas"/>
                <a:ea typeface="Consolas"/>
                <a:cs typeface="Consolas"/>
                <a:sym typeface="Consolas"/>
              </a:rPr>
              <a:t>İletişim Maliyeti:</a:t>
            </a:r>
            <a:endParaRPr b="1"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İşlemciler arası veri trafiği minimuma indirilmelidir.</a:t>
            </a:r>
            <a:endParaRPr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Gereksiz veri transferi toplam hesaplama süresini uzatır.</a:t>
            </a:r>
            <a:endParaRPr sz="1600">
              <a:solidFill>
                <a:schemeClr val="dk1"/>
              </a:solidFill>
              <a:latin typeface="Consolas"/>
              <a:ea typeface="Consolas"/>
              <a:cs typeface="Consolas"/>
              <a:sym typeface="Consolas"/>
            </a:endParaRPr>
          </a:p>
          <a:p>
            <a:pPr indent="-330200" lvl="0" marL="457200" rtl="0" algn="l">
              <a:lnSpc>
                <a:spcPct val="115000"/>
              </a:lnSpc>
              <a:spcBef>
                <a:spcPts val="0"/>
              </a:spcBef>
              <a:spcAft>
                <a:spcPts val="0"/>
              </a:spcAft>
              <a:buClr>
                <a:schemeClr val="dk1"/>
              </a:buClr>
              <a:buSzPts val="1600"/>
              <a:buFont typeface="Consolas"/>
              <a:buChar char="●"/>
            </a:pPr>
            <a:r>
              <a:rPr b="1" lang="tr-TR" sz="1600">
                <a:solidFill>
                  <a:schemeClr val="dk1"/>
                </a:solidFill>
                <a:latin typeface="Consolas"/>
                <a:ea typeface="Consolas"/>
                <a:cs typeface="Consolas"/>
                <a:sym typeface="Consolas"/>
              </a:rPr>
              <a:t>Cache ve Bellek Erişimi:</a:t>
            </a:r>
            <a:endParaRPr b="1"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Verinin işlemciye en yakın bellekte (Cache) tutulması sağlanır.</a:t>
            </a:r>
            <a:endParaRPr sz="1600">
              <a:solidFill>
                <a:schemeClr val="dk1"/>
              </a:solidFill>
              <a:latin typeface="Consolas"/>
              <a:ea typeface="Consolas"/>
              <a:cs typeface="Consolas"/>
              <a:sym typeface="Consolas"/>
            </a:endParaRPr>
          </a:p>
          <a:p>
            <a:pPr indent="-330200" lvl="1" marL="914400" rtl="0" algn="l">
              <a:lnSpc>
                <a:spcPct val="115000"/>
              </a:lnSpc>
              <a:spcBef>
                <a:spcPts val="0"/>
              </a:spcBef>
              <a:spcAft>
                <a:spcPts val="0"/>
              </a:spcAft>
              <a:buClr>
                <a:schemeClr val="dk1"/>
              </a:buClr>
              <a:buSzPts val="1600"/>
              <a:buFont typeface="Consolas"/>
              <a:buChar char="○"/>
            </a:pPr>
            <a:r>
              <a:rPr lang="tr-TR" sz="1600">
                <a:solidFill>
                  <a:schemeClr val="dk1"/>
                </a:solidFill>
                <a:latin typeface="Consolas"/>
                <a:ea typeface="Consolas"/>
                <a:cs typeface="Consolas"/>
                <a:sym typeface="Consolas"/>
              </a:rPr>
              <a:t>Veri yerelleştirme (locality) ile bellek erişim performansı artırılır.</a:t>
            </a:r>
            <a:endParaRPr sz="1600">
              <a:solidFill>
                <a:schemeClr val="dk1"/>
              </a:solidFill>
              <a:latin typeface="Consolas"/>
              <a:ea typeface="Consolas"/>
              <a:cs typeface="Consolas"/>
              <a:sym typeface="Consolas"/>
            </a:endParaRPr>
          </a:p>
          <a:p>
            <a:pPr indent="0" lvl="0" marL="0" marR="381000" rtl="0" algn="l">
              <a:lnSpc>
                <a:spcPct val="115000"/>
              </a:lnSpc>
              <a:spcBef>
                <a:spcPts val="1200"/>
              </a:spcBef>
              <a:spcAft>
                <a:spcPts val="0"/>
              </a:spcAft>
              <a:buClr>
                <a:schemeClr val="dk1"/>
              </a:buClr>
              <a:buSzPts val="1100"/>
              <a:buFont typeface="Arial"/>
              <a:buNone/>
            </a:pPr>
            <a:r>
              <a:rPr b="1" lang="tr-TR" sz="1600">
                <a:solidFill>
                  <a:schemeClr val="dk1"/>
                </a:solidFill>
                <a:latin typeface="Consolas"/>
                <a:ea typeface="Consolas"/>
                <a:cs typeface="Consolas"/>
                <a:sym typeface="Consolas"/>
              </a:rPr>
              <a:t>Özet:</a:t>
            </a:r>
            <a:r>
              <a:rPr lang="tr-TR" sz="1600">
                <a:solidFill>
                  <a:schemeClr val="dk1"/>
                </a:solidFill>
                <a:latin typeface="Consolas"/>
                <a:ea typeface="Consolas"/>
                <a:cs typeface="Consolas"/>
                <a:sym typeface="Consolas"/>
              </a:rPr>
              <a:t> Doğru bir mapping stratejisi, donanım kaynaklarını en verimli şekilde kullanarak paralel hesaplamanın etkinliğini maksimize eder.</a:t>
            </a:r>
            <a:endParaRPr sz="1600">
              <a:solidFill>
                <a:schemeClr val="dk1"/>
              </a:solidFill>
              <a:latin typeface="Consolas"/>
              <a:ea typeface="Consolas"/>
              <a:cs typeface="Consolas"/>
              <a:sym typeface="Consolas"/>
            </a:endParaRPr>
          </a:p>
          <a:p>
            <a:pPr indent="0" lvl="1" marL="457200" marR="0" rtl="0" algn="just">
              <a:spcBef>
                <a:spcPts val="1200"/>
              </a:spcBef>
              <a:spcAft>
                <a:spcPts val="0"/>
              </a:spcAft>
              <a:buNone/>
            </a:pPr>
            <a:r>
              <a:t/>
            </a:r>
            <a:endParaRPr sz="2100">
              <a:solidFill>
                <a:schemeClr val="dk1"/>
              </a:solidFill>
              <a:latin typeface="Consolas"/>
              <a:ea typeface="Consolas"/>
              <a:cs typeface="Consolas"/>
              <a:sym typeface="Consolas"/>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pic>
        <p:nvPicPr>
          <p:cNvPr descr="Parallel computing for high-performance simulations" id="458" name="Google Shape;458;g3cc0b476a7a_0_94"/>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59" name="Google Shape;459;g3cc0b476a7a_0_94"/>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Yük Dengeleme (Load Balancing)</a:t>
            </a:r>
            <a:endParaRPr/>
          </a:p>
        </p:txBody>
      </p:sp>
      <p:sp>
        <p:nvSpPr>
          <p:cNvPr id="460" name="Google Shape;460;g3cc0b476a7a_0_94"/>
          <p:cNvSpPr txBox="1"/>
          <p:nvPr/>
        </p:nvSpPr>
        <p:spPr>
          <a:xfrm>
            <a:off x="1164348" y="759758"/>
            <a:ext cx="10688700" cy="55890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0"/>
              </a:spcAft>
              <a:buSzPts val="1100"/>
              <a:buNone/>
            </a:pPr>
            <a:r>
              <a:rPr lang="tr-TR" sz="1300">
                <a:solidFill>
                  <a:schemeClr val="dk1"/>
                </a:solidFill>
                <a:latin typeface="Consolas"/>
                <a:ea typeface="Consolas"/>
                <a:cs typeface="Consolas"/>
                <a:sym typeface="Consolas"/>
              </a:rPr>
              <a:t>Yük dengelemesi, bir işin işlemciler arasında "kimse boşta kalmayacak ve kimse aşırı yüklenmeyecek" şekilde paylaştırılması sanatıdır. Paralel bir sistemin hızı, en yavaş çalışan (en çok yüklenen) işlemciye bağlıdır.</a:t>
            </a:r>
            <a:endParaRPr sz="1300">
              <a:solidFill>
                <a:schemeClr val="dk1"/>
              </a:solidFill>
              <a:latin typeface="Consolas"/>
              <a:ea typeface="Consolas"/>
              <a:cs typeface="Consolas"/>
              <a:sym typeface="Consolas"/>
            </a:endParaRPr>
          </a:p>
          <a:p>
            <a:pPr indent="0" lvl="0" marL="0" rtl="0" algn="l">
              <a:lnSpc>
                <a:spcPct val="115000"/>
              </a:lnSpc>
              <a:spcBef>
                <a:spcPts val="1400"/>
              </a:spcBef>
              <a:spcAft>
                <a:spcPts val="0"/>
              </a:spcAft>
              <a:buSzPts val="1100"/>
              <a:buNone/>
            </a:pPr>
            <a:r>
              <a:rPr b="1" lang="tr-TR" sz="1300">
                <a:solidFill>
                  <a:schemeClr val="dk1"/>
                </a:solidFill>
                <a:latin typeface="Consolas"/>
                <a:ea typeface="Consolas"/>
                <a:cs typeface="Consolas"/>
                <a:sym typeface="Consolas"/>
              </a:rPr>
              <a:t>1. Statik Yük Dengelemesi</a:t>
            </a:r>
            <a:endParaRPr b="1" sz="1300">
              <a:solidFill>
                <a:schemeClr val="dk1"/>
              </a:solidFill>
              <a:latin typeface="Consolas"/>
              <a:ea typeface="Consolas"/>
              <a:cs typeface="Consolas"/>
              <a:sym typeface="Consolas"/>
            </a:endParaRPr>
          </a:p>
          <a:p>
            <a:pPr indent="-311150" lvl="0" marL="457200" rtl="0" algn="l">
              <a:lnSpc>
                <a:spcPct val="115000"/>
              </a:lnSpc>
              <a:spcBef>
                <a:spcPts val="1200"/>
              </a:spcBef>
              <a:spcAft>
                <a:spcPts val="0"/>
              </a:spcAft>
              <a:buClr>
                <a:schemeClr val="dk1"/>
              </a:buClr>
              <a:buSzPts val="1300"/>
              <a:buChar char="●"/>
            </a:pPr>
            <a:r>
              <a:rPr b="1" lang="tr-TR" sz="1300">
                <a:solidFill>
                  <a:schemeClr val="dk1"/>
                </a:solidFill>
                <a:latin typeface="Consolas"/>
                <a:ea typeface="Consolas"/>
                <a:cs typeface="Consolas"/>
                <a:sym typeface="Consolas"/>
              </a:rPr>
              <a:t>Çalışma Mantığı:</a:t>
            </a:r>
            <a:r>
              <a:rPr lang="tr-TR" sz="1300">
                <a:solidFill>
                  <a:schemeClr val="dk1"/>
                </a:solidFill>
                <a:latin typeface="Consolas"/>
                <a:ea typeface="Consolas"/>
                <a:cs typeface="Consolas"/>
                <a:sym typeface="Consolas"/>
              </a:rPr>
              <a:t> İş yükü, program henüz çalışmaya başlamadan (compile veya başlangıç aşamasında) işlemcilere eşit parçalar halinde dağıtılır.</a:t>
            </a:r>
            <a:endParaRPr sz="1300">
              <a:solidFill>
                <a:schemeClr val="dk1"/>
              </a:solidFill>
              <a:latin typeface="Consolas"/>
              <a:ea typeface="Consolas"/>
              <a:cs typeface="Consolas"/>
              <a:sym typeface="Consolas"/>
            </a:endParaRPr>
          </a:p>
          <a:p>
            <a:pPr indent="-311150" lvl="0" marL="457200" rtl="0" algn="l">
              <a:lnSpc>
                <a:spcPct val="115000"/>
              </a:lnSpc>
              <a:spcBef>
                <a:spcPts val="0"/>
              </a:spcBef>
              <a:spcAft>
                <a:spcPts val="0"/>
              </a:spcAft>
              <a:buClr>
                <a:schemeClr val="dk1"/>
              </a:buClr>
              <a:buSzPts val="1300"/>
              <a:buChar char="●"/>
            </a:pPr>
            <a:r>
              <a:rPr b="1" lang="tr-TR" sz="1300">
                <a:solidFill>
                  <a:schemeClr val="dk1"/>
                </a:solidFill>
                <a:latin typeface="Consolas"/>
                <a:ea typeface="Consolas"/>
                <a:cs typeface="Consolas"/>
                <a:sym typeface="Consolas"/>
              </a:rPr>
              <a:t>Ne Zaman Kullanılır?</a:t>
            </a:r>
            <a:r>
              <a:rPr lang="tr-TR" sz="1300">
                <a:solidFill>
                  <a:schemeClr val="dk1"/>
                </a:solidFill>
                <a:latin typeface="Consolas"/>
                <a:ea typeface="Consolas"/>
                <a:cs typeface="Consolas"/>
                <a:sym typeface="Consolas"/>
              </a:rPr>
              <a:t> Her bir alt görevin ne kadar süreceği önceden tam olarak biliniyorsa tercih edilir.</a:t>
            </a:r>
            <a:endParaRPr sz="1300">
              <a:solidFill>
                <a:schemeClr val="dk1"/>
              </a:solidFill>
              <a:latin typeface="Consolas"/>
              <a:ea typeface="Consolas"/>
              <a:cs typeface="Consolas"/>
              <a:sym typeface="Consolas"/>
            </a:endParaRPr>
          </a:p>
          <a:p>
            <a:pPr indent="-311150" lvl="0" marL="457200" rtl="0" algn="l">
              <a:lnSpc>
                <a:spcPct val="115000"/>
              </a:lnSpc>
              <a:spcBef>
                <a:spcPts val="0"/>
              </a:spcBef>
              <a:spcAft>
                <a:spcPts val="0"/>
              </a:spcAft>
              <a:buClr>
                <a:schemeClr val="dk1"/>
              </a:buClr>
              <a:buSzPts val="1300"/>
              <a:buChar char="●"/>
            </a:pPr>
            <a:r>
              <a:rPr b="1" lang="tr-TR" sz="1300">
                <a:solidFill>
                  <a:schemeClr val="dk1"/>
                </a:solidFill>
                <a:latin typeface="Consolas"/>
                <a:ea typeface="Consolas"/>
                <a:cs typeface="Consolas"/>
                <a:sym typeface="Consolas"/>
              </a:rPr>
              <a:t>Risk:</a:t>
            </a:r>
            <a:r>
              <a:rPr lang="tr-TR" sz="1300">
                <a:solidFill>
                  <a:schemeClr val="dk1"/>
                </a:solidFill>
                <a:latin typeface="Consolas"/>
                <a:ea typeface="Consolas"/>
                <a:cs typeface="Consolas"/>
                <a:sym typeface="Consolas"/>
              </a:rPr>
              <a:t> Eğer bazı veri parçalarını işlemek diğerlerinden daha zorsa, bazı işlemciler işini bitirip boşta beklerken diğeri hala çalışmaya devam eder; bu da verimliliği düşürür.</a:t>
            </a:r>
            <a:endParaRPr sz="1300">
              <a:solidFill>
                <a:schemeClr val="dk1"/>
              </a:solidFill>
              <a:latin typeface="Consolas"/>
              <a:ea typeface="Consolas"/>
              <a:cs typeface="Consolas"/>
              <a:sym typeface="Consolas"/>
            </a:endParaRPr>
          </a:p>
          <a:p>
            <a:pPr indent="0" lvl="0" marL="0" rtl="0" algn="l">
              <a:lnSpc>
                <a:spcPct val="115000"/>
              </a:lnSpc>
              <a:spcBef>
                <a:spcPts val="1400"/>
              </a:spcBef>
              <a:spcAft>
                <a:spcPts val="0"/>
              </a:spcAft>
              <a:buSzPts val="1100"/>
              <a:buNone/>
            </a:pPr>
            <a:r>
              <a:rPr b="1" lang="tr-TR" sz="1300">
                <a:solidFill>
                  <a:schemeClr val="dk1"/>
                </a:solidFill>
                <a:latin typeface="Consolas"/>
                <a:ea typeface="Consolas"/>
                <a:cs typeface="Consolas"/>
                <a:sym typeface="Consolas"/>
              </a:rPr>
              <a:t>2. Dinamik Yük Dengelemesi</a:t>
            </a:r>
            <a:endParaRPr b="1" sz="1300">
              <a:solidFill>
                <a:schemeClr val="dk1"/>
              </a:solidFill>
              <a:latin typeface="Consolas"/>
              <a:ea typeface="Consolas"/>
              <a:cs typeface="Consolas"/>
              <a:sym typeface="Consolas"/>
            </a:endParaRPr>
          </a:p>
          <a:p>
            <a:pPr indent="-311150" lvl="0" marL="457200" rtl="0" algn="l">
              <a:lnSpc>
                <a:spcPct val="115000"/>
              </a:lnSpc>
              <a:spcBef>
                <a:spcPts val="1200"/>
              </a:spcBef>
              <a:spcAft>
                <a:spcPts val="0"/>
              </a:spcAft>
              <a:buClr>
                <a:schemeClr val="dk1"/>
              </a:buClr>
              <a:buSzPts val="1300"/>
              <a:buChar char="●"/>
            </a:pPr>
            <a:r>
              <a:rPr b="1" lang="tr-TR" sz="1300">
                <a:solidFill>
                  <a:schemeClr val="dk1"/>
                </a:solidFill>
                <a:latin typeface="Consolas"/>
                <a:ea typeface="Consolas"/>
                <a:cs typeface="Consolas"/>
                <a:sym typeface="Consolas"/>
              </a:rPr>
              <a:t>Çalışma Mantığı:</a:t>
            </a:r>
            <a:r>
              <a:rPr lang="tr-TR" sz="1300">
                <a:solidFill>
                  <a:schemeClr val="dk1"/>
                </a:solidFill>
                <a:latin typeface="Consolas"/>
                <a:ea typeface="Consolas"/>
                <a:cs typeface="Consolas"/>
                <a:sym typeface="Consolas"/>
              </a:rPr>
              <a:t> İşler çalışma anında (run-time) dağıtılır. Bir işlemci elindeki işi bitirdiğinde, merkezi bir havuzdan yeni bir görev alır.</a:t>
            </a:r>
            <a:endParaRPr sz="1300">
              <a:solidFill>
                <a:schemeClr val="dk1"/>
              </a:solidFill>
              <a:latin typeface="Consolas"/>
              <a:ea typeface="Consolas"/>
              <a:cs typeface="Consolas"/>
              <a:sym typeface="Consolas"/>
            </a:endParaRPr>
          </a:p>
          <a:p>
            <a:pPr indent="-311150" lvl="0" marL="457200" rtl="0" algn="l">
              <a:lnSpc>
                <a:spcPct val="115000"/>
              </a:lnSpc>
              <a:spcBef>
                <a:spcPts val="0"/>
              </a:spcBef>
              <a:spcAft>
                <a:spcPts val="0"/>
              </a:spcAft>
              <a:buClr>
                <a:schemeClr val="dk1"/>
              </a:buClr>
              <a:buSzPts val="1300"/>
              <a:buChar char="●"/>
            </a:pPr>
            <a:r>
              <a:rPr b="1" lang="tr-TR" sz="1300">
                <a:solidFill>
                  <a:schemeClr val="dk1"/>
                </a:solidFill>
                <a:latin typeface="Consolas"/>
                <a:ea typeface="Consolas"/>
                <a:cs typeface="Consolas"/>
                <a:sym typeface="Consolas"/>
              </a:rPr>
              <a:t>Ne Zaman Kullanılır?</a:t>
            </a:r>
            <a:r>
              <a:rPr lang="tr-TR" sz="1300">
                <a:solidFill>
                  <a:schemeClr val="dk1"/>
                </a:solidFill>
                <a:latin typeface="Consolas"/>
                <a:ea typeface="Consolas"/>
                <a:cs typeface="Consolas"/>
                <a:sym typeface="Consolas"/>
              </a:rPr>
              <a:t> Görevlerin süresi belirsizse veya işlemci güçleri birbirinden farklıysa (heterojen sistemler) en iyi çözümdür.</a:t>
            </a:r>
            <a:endParaRPr sz="1300">
              <a:solidFill>
                <a:schemeClr val="dk1"/>
              </a:solidFill>
              <a:latin typeface="Consolas"/>
              <a:ea typeface="Consolas"/>
              <a:cs typeface="Consolas"/>
              <a:sym typeface="Consolas"/>
            </a:endParaRPr>
          </a:p>
          <a:p>
            <a:pPr indent="-311150" lvl="0" marL="457200" rtl="0" algn="l">
              <a:lnSpc>
                <a:spcPct val="115000"/>
              </a:lnSpc>
              <a:spcBef>
                <a:spcPts val="0"/>
              </a:spcBef>
              <a:spcAft>
                <a:spcPts val="0"/>
              </a:spcAft>
              <a:buClr>
                <a:schemeClr val="dk1"/>
              </a:buClr>
              <a:buSzPts val="1300"/>
              <a:buChar char="●"/>
            </a:pPr>
            <a:r>
              <a:rPr b="1" lang="tr-TR" sz="1300">
                <a:solidFill>
                  <a:schemeClr val="dk1"/>
                </a:solidFill>
                <a:latin typeface="Consolas"/>
                <a:ea typeface="Consolas"/>
                <a:cs typeface="Consolas"/>
                <a:sym typeface="Consolas"/>
              </a:rPr>
              <a:t>Avantaj:</a:t>
            </a:r>
            <a:r>
              <a:rPr lang="tr-TR" sz="1300">
                <a:solidFill>
                  <a:schemeClr val="dk1"/>
                </a:solidFill>
                <a:latin typeface="Consolas"/>
                <a:ea typeface="Consolas"/>
                <a:cs typeface="Consolas"/>
                <a:sym typeface="Consolas"/>
              </a:rPr>
              <a:t> Tüm işlemcilerin sürekli meşgul kalmasını sağlayarak toplam süreyi minimize eder.</a:t>
            </a:r>
            <a:endParaRPr sz="1300">
              <a:solidFill>
                <a:schemeClr val="dk1"/>
              </a:solidFill>
              <a:latin typeface="Consolas"/>
              <a:ea typeface="Consolas"/>
              <a:cs typeface="Consolas"/>
              <a:sym typeface="Consolas"/>
            </a:endParaRPr>
          </a:p>
          <a:p>
            <a:pPr indent="0" lvl="0" marL="0" rtl="0" algn="l">
              <a:lnSpc>
                <a:spcPct val="115000"/>
              </a:lnSpc>
              <a:spcBef>
                <a:spcPts val="1400"/>
              </a:spcBef>
              <a:spcAft>
                <a:spcPts val="0"/>
              </a:spcAft>
              <a:buSzPts val="1100"/>
              <a:buNone/>
            </a:pPr>
            <a:r>
              <a:rPr b="1" lang="tr-TR" sz="1300">
                <a:solidFill>
                  <a:schemeClr val="dk1"/>
                </a:solidFill>
                <a:latin typeface="Consolas"/>
                <a:ea typeface="Consolas"/>
                <a:cs typeface="Consolas"/>
                <a:sym typeface="Consolas"/>
              </a:rPr>
              <a:t>Yük Dengelemesinin Temel Hedefleri</a:t>
            </a:r>
            <a:endParaRPr b="1" sz="1300">
              <a:solidFill>
                <a:schemeClr val="dk1"/>
              </a:solidFill>
              <a:latin typeface="Consolas"/>
              <a:ea typeface="Consolas"/>
              <a:cs typeface="Consolas"/>
              <a:sym typeface="Consolas"/>
            </a:endParaRPr>
          </a:p>
          <a:p>
            <a:pPr indent="-311150" lvl="0" marL="457200" rtl="0" algn="l">
              <a:lnSpc>
                <a:spcPct val="115000"/>
              </a:lnSpc>
              <a:spcBef>
                <a:spcPts val="1200"/>
              </a:spcBef>
              <a:spcAft>
                <a:spcPts val="0"/>
              </a:spcAft>
              <a:buClr>
                <a:schemeClr val="dk1"/>
              </a:buClr>
              <a:buSzPts val="1300"/>
              <a:buChar char="●"/>
            </a:pPr>
            <a:r>
              <a:rPr b="1" lang="tr-TR" sz="1300">
                <a:solidFill>
                  <a:schemeClr val="dk1"/>
                </a:solidFill>
                <a:latin typeface="Consolas"/>
                <a:ea typeface="Consolas"/>
                <a:cs typeface="Consolas"/>
                <a:sym typeface="Consolas"/>
              </a:rPr>
              <a:t>Donanım Verimliliği:</a:t>
            </a:r>
            <a:r>
              <a:rPr lang="tr-TR" sz="1300">
                <a:solidFill>
                  <a:schemeClr val="dk1"/>
                </a:solidFill>
                <a:latin typeface="Consolas"/>
                <a:ea typeface="Consolas"/>
                <a:cs typeface="Consolas"/>
                <a:sym typeface="Consolas"/>
              </a:rPr>
              <a:t> İşlemci kullanım oranını %100'e yaklaştırmak.</a:t>
            </a:r>
            <a:endParaRPr sz="1300">
              <a:solidFill>
                <a:schemeClr val="dk1"/>
              </a:solidFill>
              <a:latin typeface="Consolas"/>
              <a:ea typeface="Consolas"/>
              <a:cs typeface="Consolas"/>
              <a:sym typeface="Consolas"/>
            </a:endParaRPr>
          </a:p>
          <a:p>
            <a:pPr indent="-311150" lvl="0" marL="457200" rtl="0" algn="l">
              <a:lnSpc>
                <a:spcPct val="115000"/>
              </a:lnSpc>
              <a:spcBef>
                <a:spcPts val="0"/>
              </a:spcBef>
              <a:spcAft>
                <a:spcPts val="0"/>
              </a:spcAft>
              <a:buClr>
                <a:schemeClr val="dk1"/>
              </a:buClr>
              <a:buSzPts val="1300"/>
              <a:buChar char="●"/>
            </a:pPr>
            <a:r>
              <a:rPr b="1" lang="tr-TR" sz="1300">
                <a:solidFill>
                  <a:schemeClr val="dk1"/>
                </a:solidFill>
                <a:latin typeface="Consolas"/>
                <a:ea typeface="Consolas"/>
                <a:cs typeface="Consolas"/>
                <a:sym typeface="Consolas"/>
              </a:rPr>
              <a:t>Gecikmeyi Azaltmak:</a:t>
            </a:r>
            <a:r>
              <a:rPr lang="tr-TR" sz="1300">
                <a:solidFill>
                  <a:schemeClr val="dk1"/>
                </a:solidFill>
                <a:latin typeface="Consolas"/>
                <a:ea typeface="Consolas"/>
                <a:cs typeface="Consolas"/>
                <a:sym typeface="Consolas"/>
              </a:rPr>
              <a:t> Toplam işin bitiş süresini (makespan) kısaltmak.</a:t>
            </a:r>
            <a:endParaRPr sz="1300">
              <a:solidFill>
                <a:schemeClr val="dk1"/>
              </a:solidFill>
              <a:latin typeface="Consolas"/>
              <a:ea typeface="Consolas"/>
              <a:cs typeface="Consolas"/>
              <a:sym typeface="Consolas"/>
            </a:endParaRPr>
          </a:p>
          <a:p>
            <a:pPr indent="-311150" lvl="0" marL="457200" rtl="0" algn="l">
              <a:lnSpc>
                <a:spcPct val="115000"/>
              </a:lnSpc>
              <a:spcBef>
                <a:spcPts val="0"/>
              </a:spcBef>
              <a:spcAft>
                <a:spcPts val="0"/>
              </a:spcAft>
              <a:buClr>
                <a:schemeClr val="dk1"/>
              </a:buClr>
              <a:buSzPts val="1300"/>
              <a:buChar char="●"/>
            </a:pPr>
            <a:r>
              <a:rPr b="1" lang="tr-TR" sz="1300">
                <a:solidFill>
                  <a:schemeClr val="dk1"/>
                </a:solidFill>
                <a:latin typeface="Consolas"/>
                <a:ea typeface="Consolas"/>
                <a:cs typeface="Consolas"/>
                <a:sym typeface="Consolas"/>
              </a:rPr>
              <a:t>Ölçeklenebilirlik:</a:t>
            </a:r>
            <a:r>
              <a:rPr lang="tr-TR" sz="1300">
                <a:solidFill>
                  <a:schemeClr val="dk1"/>
                </a:solidFill>
                <a:latin typeface="Consolas"/>
                <a:ea typeface="Consolas"/>
                <a:cs typeface="Consolas"/>
                <a:sym typeface="Consolas"/>
              </a:rPr>
              <a:t> İşlemci sayısı arttığında sistemin performansının da aynı oranda artmasını sağlamak.</a:t>
            </a:r>
            <a:endParaRPr sz="1300">
              <a:solidFill>
                <a:schemeClr val="dk1"/>
              </a:solidFill>
              <a:latin typeface="Consolas"/>
              <a:ea typeface="Consolas"/>
              <a:cs typeface="Consolas"/>
              <a:sym typeface="Consolas"/>
            </a:endParaRPr>
          </a:p>
          <a:p>
            <a:pPr indent="0" lvl="1" marL="457200" marR="0" rtl="0" algn="just">
              <a:spcBef>
                <a:spcPts val="1200"/>
              </a:spcBef>
              <a:spcAft>
                <a:spcPts val="0"/>
              </a:spcAft>
              <a:buNone/>
            </a:pPr>
            <a:r>
              <a:t/>
            </a:r>
            <a:endParaRPr b="1" sz="1300">
              <a:solidFill>
                <a:schemeClr val="dk1"/>
              </a:solidFill>
              <a:latin typeface="Consolas"/>
              <a:ea typeface="Consolas"/>
              <a:cs typeface="Consolas"/>
              <a:sym typeface="Consolas"/>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pic>
        <p:nvPicPr>
          <p:cNvPr descr="Parallel computing for high-performance simulations" id="465" name="Google Shape;465;g3cc0b476a7a_0_101"/>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66" name="Google Shape;466;g3cc0b476a7a_0_101"/>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Yük Paylaşma (Load Sharing)</a:t>
            </a:r>
            <a:endParaRPr/>
          </a:p>
        </p:txBody>
      </p:sp>
      <p:sp>
        <p:nvSpPr>
          <p:cNvPr id="467" name="Google Shape;467;g3cc0b476a7a_0_101"/>
          <p:cNvSpPr txBox="1"/>
          <p:nvPr/>
        </p:nvSpPr>
        <p:spPr>
          <a:xfrm>
            <a:off x="1164348" y="759758"/>
            <a:ext cx="10688700" cy="56634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0"/>
              </a:spcAft>
              <a:buClr>
                <a:schemeClr val="dk1"/>
              </a:buClr>
              <a:buSzPts val="1100"/>
              <a:buFont typeface="Arial"/>
              <a:buNone/>
            </a:pPr>
            <a:r>
              <a:rPr lang="tr-TR" sz="1500">
                <a:solidFill>
                  <a:schemeClr val="dk1"/>
                </a:solidFill>
                <a:latin typeface="Consolas"/>
                <a:ea typeface="Consolas"/>
                <a:cs typeface="Consolas"/>
                <a:sym typeface="Consolas"/>
              </a:rPr>
              <a:t>Yük paylaşımı, gelen iş yükünü sistemdeki işlemciler veya düğümler (nodes) arasında dağıtarak sistemin toplam kapasitesini artırmayı hedefler.</a:t>
            </a:r>
            <a:endParaRPr sz="1500">
              <a:solidFill>
                <a:schemeClr val="dk1"/>
              </a:solidFill>
              <a:latin typeface="Consolas"/>
              <a:ea typeface="Consolas"/>
              <a:cs typeface="Consolas"/>
              <a:sym typeface="Consolas"/>
            </a:endParaRPr>
          </a:p>
          <a:p>
            <a:pPr indent="-323850" lvl="0" marL="457200" rtl="0" algn="l">
              <a:lnSpc>
                <a:spcPct val="115000"/>
              </a:lnSpc>
              <a:spcBef>
                <a:spcPts val="1200"/>
              </a:spcBef>
              <a:spcAft>
                <a:spcPts val="0"/>
              </a:spcAft>
              <a:buClr>
                <a:schemeClr val="dk1"/>
              </a:buClr>
              <a:buSzPts val="1500"/>
              <a:buChar char="●"/>
            </a:pPr>
            <a:r>
              <a:rPr b="1" lang="tr-TR" sz="1500">
                <a:solidFill>
                  <a:schemeClr val="dk1"/>
                </a:solidFill>
                <a:latin typeface="Consolas"/>
                <a:ea typeface="Consolas"/>
                <a:cs typeface="Consolas"/>
                <a:sym typeface="Consolas"/>
              </a:rPr>
              <a:t>Temel Mantık:</a:t>
            </a:r>
            <a:r>
              <a:rPr lang="tr-TR" sz="1500">
                <a:solidFill>
                  <a:schemeClr val="dk1"/>
                </a:solidFill>
                <a:latin typeface="Consolas"/>
                <a:ea typeface="Consolas"/>
                <a:cs typeface="Consolas"/>
                <a:sym typeface="Consolas"/>
              </a:rPr>
              <a:t> Ana amaç, hiçbir işlemcinin tamamen boşta (idle) kalmamasını sağlamaktır. Sistemde bekleyen bir iş varsa ve boşta bir işlemci bulunuyorsa, iş o işlemciye gönderilir.</a:t>
            </a:r>
            <a:endParaRPr sz="1500">
              <a:solidFill>
                <a:schemeClr val="dk1"/>
              </a:solidFill>
              <a:latin typeface="Consolas"/>
              <a:ea typeface="Consolas"/>
              <a:cs typeface="Consolas"/>
              <a:sym typeface="Consolas"/>
            </a:endParaRPr>
          </a:p>
          <a:p>
            <a:pPr indent="-323850" lvl="0" marL="457200" rtl="0" algn="l">
              <a:lnSpc>
                <a:spcPct val="115000"/>
              </a:lnSpc>
              <a:spcBef>
                <a:spcPts val="0"/>
              </a:spcBef>
              <a:spcAft>
                <a:spcPts val="0"/>
              </a:spcAft>
              <a:buClr>
                <a:schemeClr val="dk1"/>
              </a:buClr>
              <a:buSzPts val="1500"/>
              <a:buFont typeface="Consolas"/>
              <a:buChar char="●"/>
            </a:pPr>
            <a:r>
              <a:rPr b="1" lang="tr-TR" sz="1500">
                <a:solidFill>
                  <a:schemeClr val="dk1"/>
                </a:solidFill>
                <a:latin typeface="Consolas"/>
                <a:ea typeface="Consolas"/>
                <a:cs typeface="Consolas"/>
                <a:sym typeface="Consolas"/>
              </a:rPr>
              <a:t>Load Balancing'den Farkı:</a:t>
            </a:r>
            <a:endParaRPr b="1" sz="1500">
              <a:solidFill>
                <a:schemeClr val="dk1"/>
              </a:solidFill>
              <a:latin typeface="Consolas"/>
              <a:ea typeface="Consolas"/>
              <a:cs typeface="Consolas"/>
              <a:sym typeface="Consolas"/>
            </a:endParaRPr>
          </a:p>
          <a:p>
            <a:pPr indent="-323850" lvl="1" marL="914400" rtl="0" algn="l">
              <a:lnSpc>
                <a:spcPct val="115000"/>
              </a:lnSpc>
              <a:spcBef>
                <a:spcPts val="0"/>
              </a:spcBef>
              <a:spcAft>
                <a:spcPts val="0"/>
              </a:spcAft>
              <a:buClr>
                <a:schemeClr val="dk1"/>
              </a:buClr>
              <a:buSzPts val="1500"/>
              <a:buChar char="○"/>
            </a:pPr>
            <a:r>
              <a:rPr b="1" lang="tr-TR" sz="1500">
                <a:solidFill>
                  <a:schemeClr val="dk1"/>
                </a:solidFill>
                <a:latin typeface="Consolas"/>
                <a:ea typeface="Consolas"/>
                <a:cs typeface="Consolas"/>
                <a:sym typeface="Consolas"/>
              </a:rPr>
              <a:t>Load Balancing:</a:t>
            </a:r>
            <a:r>
              <a:rPr lang="tr-TR" sz="1500">
                <a:solidFill>
                  <a:schemeClr val="dk1"/>
                </a:solidFill>
                <a:latin typeface="Consolas"/>
                <a:ea typeface="Consolas"/>
                <a:cs typeface="Consolas"/>
                <a:sym typeface="Consolas"/>
              </a:rPr>
              <a:t> İş yükünü tüm işlemcilere </a:t>
            </a:r>
            <a:r>
              <a:rPr b="1" lang="tr-TR" sz="1500">
                <a:solidFill>
                  <a:schemeClr val="dk1"/>
                </a:solidFill>
                <a:latin typeface="Consolas"/>
                <a:ea typeface="Consolas"/>
                <a:cs typeface="Consolas"/>
                <a:sym typeface="Consolas"/>
              </a:rPr>
              <a:t>eşit</a:t>
            </a:r>
            <a:r>
              <a:rPr lang="tr-TR" sz="1500">
                <a:solidFill>
                  <a:schemeClr val="dk1"/>
                </a:solidFill>
                <a:latin typeface="Consolas"/>
                <a:ea typeface="Consolas"/>
                <a:cs typeface="Consolas"/>
                <a:sym typeface="Consolas"/>
              </a:rPr>
              <a:t> dağıtmaya odaklanır (Mükemmel denge).</a:t>
            </a:r>
            <a:endParaRPr sz="1500">
              <a:solidFill>
                <a:schemeClr val="dk1"/>
              </a:solidFill>
              <a:latin typeface="Consolas"/>
              <a:ea typeface="Consolas"/>
              <a:cs typeface="Consolas"/>
              <a:sym typeface="Consolas"/>
            </a:endParaRPr>
          </a:p>
          <a:p>
            <a:pPr indent="-323850" lvl="1" marL="914400" rtl="0" algn="l">
              <a:lnSpc>
                <a:spcPct val="115000"/>
              </a:lnSpc>
              <a:spcBef>
                <a:spcPts val="0"/>
              </a:spcBef>
              <a:spcAft>
                <a:spcPts val="0"/>
              </a:spcAft>
              <a:buClr>
                <a:schemeClr val="dk1"/>
              </a:buClr>
              <a:buSzPts val="1500"/>
              <a:buChar char="○"/>
            </a:pPr>
            <a:r>
              <a:rPr b="1" lang="tr-TR" sz="1500">
                <a:solidFill>
                  <a:schemeClr val="dk1"/>
                </a:solidFill>
                <a:latin typeface="Consolas"/>
                <a:ea typeface="Consolas"/>
                <a:cs typeface="Consolas"/>
                <a:sym typeface="Consolas"/>
              </a:rPr>
              <a:t>Load Sharing:</a:t>
            </a:r>
            <a:r>
              <a:rPr lang="tr-TR" sz="1500">
                <a:solidFill>
                  <a:schemeClr val="dk1"/>
                </a:solidFill>
                <a:latin typeface="Consolas"/>
                <a:ea typeface="Consolas"/>
                <a:cs typeface="Consolas"/>
                <a:sym typeface="Consolas"/>
              </a:rPr>
              <a:t> Sadece işlemcilerin </a:t>
            </a:r>
            <a:r>
              <a:rPr b="1" lang="tr-TR" sz="1500">
                <a:solidFill>
                  <a:schemeClr val="dk1"/>
                </a:solidFill>
                <a:latin typeface="Consolas"/>
                <a:ea typeface="Consolas"/>
                <a:cs typeface="Consolas"/>
                <a:sym typeface="Consolas"/>
              </a:rPr>
              <a:t>boş kalmamasını</a:t>
            </a:r>
            <a:r>
              <a:rPr lang="tr-TR" sz="1500">
                <a:solidFill>
                  <a:schemeClr val="dk1"/>
                </a:solidFill>
                <a:latin typeface="Consolas"/>
                <a:ea typeface="Consolas"/>
                <a:cs typeface="Consolas"/>
                <a:sym typeface="Consolas"/>
              </a:rPr>
              <a:t> sağlamaya odaklanır (Kaynak kullanımı).</a:t>
            </a:r>
            <a:endParaRPr sz="1500">
              <a:solidFill>
                <a:schemeClr val="dk1"/>
              </a:solidFill>
              <a:latin typeface="Consolas"/>
              <a:ea typeface="Consolas"/>
              <a:cs typeface="Consolas"/>
              <a:sym typeface="Consolas"/>
            </a:endParaRPr>
          </a:p>
          <a:p>
            <a:pPr indent="0" lvl="0" marL="0" rtl="0" algn="l">
              <a:lnSpc>
                <a:spcPct val="115000"/>
              </a:lnSpc>
              <a:spcBef>
                <a:spcPts val="1400"/>
              </a:spcBef>
              <a:spcAft>
                <a:spcPts val="0"/>
              </a:spcAft>
              <a:buClr>
                <a:schemeClr val="dk1"/>
              </a:buClr>
              <a:buSzPts val="1100"/>
              <a:buFont typeface="Arial"/>
              <a:buNone/>
            </a:pPr>
            <a:r>
              <a:rPr b="1" lang="tr-TR" sz="1700">
                <a:solidFill>
                  <a:schemeClr val="dk1"/>
                </a:solidFill>
                <a:latin typeface="Consolas"/>
                <a:ea typeface="Consolas"/>
                <a:cs typeface="Consolas"/>
                <a:sym typeface="Consolas"/>
              </a:rPr>
              <a:t>Nasıl Çalışır?</a:t>
            </a:r>
            <a:endParaRPr b="1" sz="1700">
              <a:solidFill>
                <a:schemeClr val="dk1"/>
              </a:solidFill>
              <a:latin typeface="Consolas"/>
              <a:ea typeface="Consolas"/>
              <a:cs typeface="Consolas"/>
              <a:sym typeface="Consolas"/>
            </a:endParaRPr>
          </a:p>
          <a:p>
            <a:pPr indent="-323850" lvl="0" marL="457200" rtl="0" algn="l">
              <a:lnSpc>
                <a:spcPct val="115000"/>
              </a:lnSpc>
              <a:spcBef>
                <a:spcPts val="1200"/>
              </a:spcBef>
              <a:spcAft>
                <a:spcPts val="0"/>
              </a:spcAft>
              <a:buClr>
                <a:schemeClr val="dk1"/>
              </a:buClr>
              <a:buSzPts val="1500"/>
              <a:buAutoNum type="arabicPeriod"/>
            </a:pPr>
            <a:r>
              <a:rPr b="1" lang="tr-TR" sz="1500">
                <a:solidFill>
                  <a:schemeClr val="dk1"/>
                </a:solidFill>
                <a:latin typeface="Consolas"/>
                <a:ea typeface="Consolas"/>
                <a:cs typeface="Consolas"/>
                <a:sym typeface="Consolas"/>
              </a:rPr>
              <a:t>Geliş:</a:t>
            </a:r>
            <a:r>
              <a:rPr lang="tr-TR" sz="1500">
                <a:solidFill>
                  <a:schemeClr val="dk1"/>
                </a:solidFill>
                <a:latin typeface="Consolas"/>
                <a:ea typeface="Consolas"/>
                <a:cs typeface="Consolas"/>
                <a:sym typeface="Consolas"/>
              </a:rPr>
              <a:t> Yeni bir görev sisteme girer.</a:t>
            </a:r>
            <a:endParaRPr sz="1500">
              <a:solidFill>
                <a:schemeClr val="dk1"/>
              </a:solidFill>
              <a:latin typeface="Consolas"/>
              <a:ea typeface="Consolas"/>
              <a:cs typeface="Consolas"/>
              <a:sym typeface="Consolas"/>
            </a:endParaRPr>
          </a:p>
          <a:p>
            <a:pPr indent="-323850" lvl="0" marL="457200" rtl="0" algn="l">
              <a:lnSpc>
                <a:spcPct val="115000"/>
              </a:lnSpc>
              <a:spcBef>
                <a:spcPts val="0"/>
              </a:spcBef>
              <a:spcAft>
                <a:spcPts val="0"/>
              </a:spcAft>
              <a:buClr>
                <a:schemeClr val="dk1"/>
              </a:buClr>
              <a:buSzPts val="1500"/>
              <a:buAutoNum type="arabicPeriod"/>
            </a:pPr>
            <a:r>
              <a:rPr b="1" lang="tr-TR" sz="1500">
                <a:solidFill>
                  <a:schemeClr val="dk1"/>
                </a:solidFill>
                <a:latin typeface="Consolas"/>
                <a:ea typeface="Consolas"/>
                <a:cs typeface="Consolas"/>
                <a:sym typeface="Consolas"/>
              </a:rPr>
              <a:t>Kontrol:</a:t>
            </a:r>
            <a:r>
              <a:rPr lang="tr-TR" sz="1500">
                <a:solidFill>
                  <a:schemeClr val="dk1"/>
                </a:solidFill>
                <a:latin typeface="Consolas"/>
                <a:ea typeface="Consolas"/>
                <a:cs typeface="Consolas"/>
                <a:sym typeface="Consolas"/>
              </a:rPr>
              <a:t> Mevcut işlemcilerin doluluk oranına bakılır.</a:t>
            </a:r>
            <a:endParaRPr sz="1500">
              <a:solidFill>
                <a:schemeClr val="dk1"/>
              </a:solidFill>
              <a:latin typeface="Consolas"/>
              <a:ea typeface="Consolas"/>
              <a:cs typeface="Consolas"/>
              <a:sym typeface="Consolas"/>
            </a:endParaRPr>
          </a:p>
          <a:p>
            <a:pPr indent="-323850" lvl="0" marL="457200" rtl="0" algn="l">
              <a:lnSpc>
                <a:spcPct val="115000"/>
              </a:lnSpc>
              <a:spcBef>
                <a:spcPts val="0"/>
              </a:spcBef>
              <a:spcAft>
                <a:spcPts val="0"/>
              </a:spcAft>
              <a:buClr>
                <a:schemeClr val="dk1"/>
              </a:buClr>
              <a:buSzPts val="1500"/>
              <a:buAutoNum type="arabicPeriod"/>
            </a:pPr>
            <a:r>
              <a:rPr b="1" lang="tr-TR" sz="1500">
                <a:solidFill>
                  <a:schemeClr val="dk1"/>
                </a:solidFill>
                <a:latin typeface="Consolas"/>
                <a:ea typeface="Consolas"/>
                <a:cs typeface="Consolas"/>
                <a:sym typeface="Consolas"/>
              </a:rPr>
              <a:t>Paylaşım:</a:t>
            </a:r>
            <a:r>
              <a:rPr lang="tr-TR" sz="1500">
                <a:solidFill>
                  <a:schemeClr val="dk1"/>
                </a:solidFill>
                <a:latin typeface="Consolas"/>
                <a:ea typeface="Consolas"/>
                <a:cs typeface="Consolas"/>
                <a:sym typeface="Consolas"/>
              </a:rPr>
              <a:t> Eğer bir işlemci çok yoğunsa ve diğeri boşsa, görev boş olan işlemciye aktarılır.</a:t>
            </a:r>
            <a:endParaRPr sz="1500">
              <a:solidFill>
                <a:schemeClr val="dk1"/>
              </a:solidFill>
              <a:latin typeface="Consolas"/>
              <a:ea typeface="Consolas"/>
              <a:cs typeface="Consolas"/>
              <a:sym typeface="Consolas"/>
            </a:endParaRPr>
          </a:p>
          <a:p>
            <a:pPr indent="0" lvl="0" marL="0" rtl="0" algn="l">
              <a:lnSpc>
                <a:spcPct val="115000"/>
              </a:lnSpc>
              <a:spcBef>
                <a:spcPts val="1400"/>
              </a:spcBef>
              <a:spcAft>
                <a:spcPts val="0"/>
              </a:spcAft>
              <a:buClr>
                <a:schemeClr val="dk1"/>
              </a:buClr>
              <a:buSzPts val="1100"/>
              <a:buFont typeface="Arial"/>
              <a:buNone/>
            </a:pPr>
            <a:r>
              <a:rPr b="1" lang="tr-TR" sz="1700">
                <a:solidFill>
                  <a:schemeClr val="dk1"/>
                </a:solidFill>
                <a:latin typeface="Consolas"/>
                <a:ea typeface="Consolas"/>
                <a:cs typeface="Consolas"/>
                <a:sym typeface="Consolas"/>
              </a:rPr>
              <a:t>Kullanım Avantajları</a:t>
            </a:r>
            <a:endParaRPr b="1" sz="1700">
              <a:solidFill>
                <a:schemeClr val="dk1"/>
              </a:solidFill>
              <a:latin typeface="Consolas"/>
              <a:ea typeface="Consolas"/>
              <a:cs typeface="Consolas"/>
              <a:sym typeface="Consolas"/>
            </a:endParaRPr>
          </a:p>
          <a:p>
            <a:pPr indent="-323850" lvl="0" marL="457200" rtl="0" algn="l">
              <a:lnSpc>
                <a:spcPct val="115000"/>
              </a:lnSpc>
              <a:spcBef>
                <a:spcPts val="1200"/>
              </a:spcBef>
              <a:spcAft>
                <a:spcPts val="0"/>
              </a:spcAft>
              <a:buClr>
                <a:schemeClr val="dk1"/>
              </a:buClr>
              <a:buSzPts val="1500"/>
              <a:buChar char="●"/>
            </a:pPr>
            <a:r>
              <a:rPr b="1" lang="tr-TR" sz="1500">
                <a:solidFill>
                  <a:schemeClr val="dk1"/>
                </a:solidFill>
                <a:latin typeface="Consolas"/>
                <a:ea typeface="Consolas"/>
                <a:cs typeface="Consolas"/>
                <a:sym typeface="Consolas"/>
              </a:rPr>
              <a:t>Kaynak Verimliliği:</a:t>
            </a:r>
            <a:r>
              <a:rPr lang="tr-TR" sz="1500">
                <a:solidFill>
                  <a:schemeClr val="dk1"/>
                </a:solidFill>
                <a:latin typeface="Consolas"/>
                <a:ea typeface="Consolas"/>
                <a:cs typeface="Consolas"/>
                <a:sym typeface="Consolas"/>
              </a:rPr>
              <a:t> Atıl durumda bekleyen işlemci gücünü sisteme kazandırır.</a:t>
            </a:r>
            <a:endParaRPr sz="1500">
              <a:solidFill>
                <a:schemeClr val="dk1"/>
              </a:solidFill>
              <a:latin typeface="Consolas"/>
              <a:ea typeface="Consolas"/>
              <a:cs typeface="Consolas"/>
              <a:sym typeface="Consolas"/>
            </a:endParaRPr>
          </a:p>
          <a:p>
            <a:pPr indent="-323850" lvl="0" marL="457200" rtl="0" algn="l">
              <a:lnSpc>
                <a:spcPct val="115000"/>
              </a:lnSpc>
              <a:spcBef>
                <a:spcPts val="0"/>
              </a:spcBef>
              <a:spcAft>
                <a:spcPts val="0"/>
              </a:spcAft>
              <a:buClr>
                <a:schemeClr val="dk1"/>
              </a:buClr>
              <a:buSzPts val="1500"/>
              <a:buChar char="●"/>
            </a:pPr>
            <a:r>
              <a:rPr b="1" lang="tr-TR" sz="1500">
                <a:solidFill>
                  <a:schemeClr val="dk1"/>
                </a:solidFill>
                <a:latin typeface="Consolas"/>
                <a:ea typeface="Consolas"/>
                <a:cs typeface="Consolas"/>
                <a:sym typeface="Consolas"/>
              </a:rPr>
              <a:t>Düşük Karmaşıklık:</a:t>
            </a:r>
            <a:r>
              <a:rPr lang="tr-TR" sz="1500">
                <a:solidFill>
                  <a:schemeClr val="dk1"/>
                </a:solidFill>
                <a:latin typeface="Consolas"/>
                <a:ea typeface="Consolas"/>
                <a:cs typeface="Consolas"/>
                <a:sym typeface="Consolas"/>
              </a:rPr>
              <a:t> Tam bir denge kurmaya çalışmadığı için Load Balancing'e göre daha basit algoritmalarla yönetilebilir.</a:t>
            </a:r>
            <a:endParaRPr sz="1500">
              <a:solidFill>
                <a:schemeClr val="dk1"/>
              </a:solidFill>
              <a:latin typeface="Consolas"/>
              <a:ea typeface="Consolas"/>
              <a:cs typeface="Consolas"/>
              <a:sym typeface="Consolas"/>
            </a:endParaRPr>
          </a:p>
          <a:p>
            <a:pPr indent="-323850" lvl="0" marL="457200" rtl="0" algn="l">
              <a:lnSpc>
                <a:spcPct val="115000"/>
              </a:lnSpc>
              <a:spcBef>
                <a:spcPts val="0"/>
              </a:spcBef>
              <a:spcAft>
                <a:spcPts val="0"/>
              </a:spcAft>
              <a:buClr>
                <a:schemeClr val="dk1"/>
              </a:buClr>
              <a:buSzPts val="1500"/>
              <a:buChar char="●"/>
            </a:pPr>
            <a:r>
              <a:rPr b="1" lang="tr-TR" sz="1500">
                <a:solidFill>
                  <a:schemeClr val="dk1"/>
                </a:solidFill>
                <a:latin typeface="Consolas"/>
                <a:ea typeface="Consolas"/>
                <a:cs typeface="Consolas"/>
                <a:sym typeface="Consolas"/>
              </a:rPr>
              <a:t>Hız:</a:t>
            </a:r>
            <a:r>
              <a:rPr lang="tr-TR" sz="1500">
                <a:solidFill>
                  <a:schemeClr val="dk1"/>
                </a:solidFill>
                <a:latin typeface="Consolas"/>
                <a:ea typeface="Consolas"/>
                <a:cs typeface="Consolas"/>
                <a:sym typeface="Consolas"/>
              </a:rPr>
              <a:t> İşlerin kuyrukta bekleme süresini azaltır.</a:t>
            </a:r>
            <a:endParaRPr sz="1500">
              <a:solidFill>
                <a:schemeClr val="dk1"/>
              </a:solidFill>
              <a:latin typeface="Consolas"/>
              <a:ea typeface="Consolas"/>
              <a:cs typeface="Consolas"/>
              <a:sym typeface="Consolas"/>
            </a:endParaRPr>
          </a:p>
          <a:p>
            <a:pPr indent="0" lvl="1" marL="457200" marR="0" rtl="0" algn="just">
              <a:spcBef>
                <a:spcPts val="1200"/>
              </a:spcBef>
              <a:spcAft>
                <a:spcPts val="0"/>
              </a:spcAft>
              <a:buNone/>
            </a:pPr>
            <a:r>
              <a:t/>
            </a:r>
            <a:endParaRPr sz="1800">
              <a:solidFill>
                <a:schemeClr val="dk1"/>
              </a:solidFill>
              <a:latin typeface="Consolas"/>
              <a:ea typeface="Consolas"/>
              <a:cs typeface="Consolas"/>
              <a:sym typeface="Consolas"/>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pic>
        <p:nvPicPr>
          <p:cNvPr descr="Parallel computing for high-performance simulations" id="472" name="Google Shape;472;g3cc0b476a7a_0_108"/>
          <p:cNvPicPr preferRelativeResize="0"/>
          <p:nvPr/>
        </p:nvPicPr>
        <p:blipFill rotWithShape="1">
          <a:blip r:embed="rId3">
            <a:alphaModFix/>
          </a:blip>
          <a:srcRect b="-4" l="0" r="0" t="51805"/>
          <a:stretch/>
        </p:blipFill>
        <p:spPr>
          <a:xfrm rot="5400000">
            <a:off x="-2989347" y="2971347"/>
            <a:ext cx="6876002" cy="914399"/>
          </a:xfrm>
          <a:prstGeom prst="rect">
            <a:avLst/>
          </a:prstGeom>
          <a:noFill/>
          <a:ln>
            <a:noFill/>
          </a:ln>
        </p:spPr>
      </p:pic>
      <p:sp>
        <p:nvSpPr>
          <p:cNvPr id="473" name="Google Shape;473;g3cc0b476a7a_0_108"/>
          <p:cNvSpPr txBox="1"/>
          <p:nvPr/>
        </p:nvSpPr>
        <p:spPr>
          <a:xfrm>
            <a:off x="1164349" y="184777"/>
            <a:ext cx="106887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Yük Paylaşma vs Yük Dengeleme</a:t>
            </a:r>
            <a:endParaRPr/>
          </a:p>
        </p:txBody>
      </p:sp>
      <p:graphicFrame>
        <p:nvGraphicFramePr>
          <p:cNvPr id="474" name="Google Shape;474;g3cc0b476a7a_0_108"/>
          <p:cNvGraphicFramePr/>
          <p:nvPr/>
        </p:nvGraphicFramePr>
        <p:xfrm>
          <a:off x="1265625" y="866550"/>
          <a:ext cx="3000000" cy="3000000"/>
        </p:xfrm>
        <a:graphic>
          <a:graphicData uri="http://schemas.openxmlformats.org/drawingml/2006/table">
            <a:tbl>
              <a:tblPr>
                <a:noFill/>
                <a:tableStyleId>{F16F06B3-EFA5-48B0-B39D-601996B61450}</a:tableStyleId>
              </a:tblPr>
              <a:tblGrid>
                <a:gridCol w="1742600"/>
                <a:gridCol w="4227375"/>
                <a:gridCol w="4528350"/>
              </a:tblGrid>
              <a:tr h="352425">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Özellik</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Load Balancing (Yük Dengelemesi)</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Load Sharing (Yük Paylaşımı)</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solidFill>
                      <a:srgbClr val="EFEFEF"/>
                    </a:solidFill>
                  </a:tcPr>
                </a:tc>
              </a:tr>
              <a:tr h="352425">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Temel Hedef</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İş yükünü tüm işlemcilere </a:t>
                      </a:r>
                      <a:r>
                        <a:rPr b="1" lang="tr-TR" sz="1500">
                          <a:solidFill>
                            <a:srgbClr val="1F1F1F"/>
                          </a:solidFill>
                          <a:latin typeface="Consolas"/>
                          <a:ea typeface="Consolas"/>
                          <a:cs typeface="Consolas"/>
                          <a:sym typeface="Consolas"/>
                        </a:rPr>
                        <a:t>eşit</a:t>
                      </a:r>
                      <a:r>
                        <a:rPr lang="tr-TR" sz="1500">
                          <a:solidFill>
                            <a:srgbClr val="1F1F1F"/>
                          </a:solidFill>
                          <a:latin typeface="Consolas"/>
                          <a:ea typeface="Consolas"/>
                          <a:cs typeface="Consolas"/>
                          <a:sym typeface="Consolas"/>
                        </a:rPr>
                        <a:t> dağıtmak.</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Hiçbir işlemcinin </a:t>
                      </a:r>
                      <a:r>
                        <a:rPr b="1" lang="tr-TR" sz="1500">
                          <a:solidFill>
                            <a:srgbClr val="1F1F1F"/>
                          </a:solidFill>
                          <a:latin typeface="Consolas"/>
                          <a:ea typeface="Consolas"/>
                          <a:cs typeface="Consolas"/>
                          <a:sym typeface="Consolas"/>
                        </a:rPr>
                        <a:t>boş (idle)</a:t>
                      </a:r>
                      <a:r>
                        <a:rPr lang="tr-TR" sz="1500">
                          <a:solidFill>
                            <a:srgbClr val="1F1F1F"/>
                          </a:solidFill>
                          <a:latin typeface="Consolas"/>
                          <a:ea typeface="Consolas"/>
                          <a:cs typeface="Consolas"/>
                          <a:sym typeface="Consolas"/>
                        </a:rPr>
                        <a:t> kalmamasını sağlamak.</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r h="352425">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Odak Noktası</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Mükemmel denge ve minimum bitiş süresi.</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Maksimum kaynak kullanımı ve kuyruk yönetimi.</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r h="352425">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Karmaşıklık</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Yüksek;</a:t>
                      </a:r>
                      <a:r>
                        <a:rPr lang="tr-TR" sz="1500">
                          <a:solidFill>
                            <a:srgbClr val="1F1F1F"/>
                          </a:solidFill>
                          <a:latin typeface="Consolas"/>
                          <a:ea typeface="Consolas"/>
                          <a:cs typeface="Consolas"/>
                          <a:sym typeface="Consolas"/>
                        </a:rPr>
                        <a:t> sürekli izleme ve hassas hesaplama gerektirir.</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Düşük;</a:t>
                      </a:r>
                      <a:r>
                        <a:rPr lang="tr-TR" sz="1500">
                          <a:solidFill>
                            <a:srgbClr val="1F1F1F"/>
                          </a:solidFill>
                          <a:latin typeface="Consolas"/>
                          <a:ea typeface="Consolas"/>
                          <a:cs typeface="Consolas"/>
                          <a:sym typeface="Consolas"/>
                        </a:rPr>
                        <a:t> sadece boşta işlemci olup olmadığına bakar.</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r h="352425">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Algoritma Yapısı</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Genellikle daha ağır ve kaynak tüketen algoritmalar.</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Daha basit ve hızlı karar veren algoritmalar.</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r h="352425">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Öncelik</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İşlemciler arasındaki yük farkını minimize etmek.</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Atıl kapasiteyi (boş işlemciyi) sisteme kazandırmak.</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r h="352425">
                <a:tc>
                  <a:txBody>
                    <a:bodyPr/>
                    <a:lstStyle/>
                    <a:p>
                      <a:pPr indent="0" lvl="0" marL="0" rtl="0" algn="l">
                        <a:lnSpc>
                          <a:spcPct val="115000"/>
                        </a:lnSpc>
                        <a:spcBef>
                          <a:spcPts val="0"/>
                        </a:spcBef>
                        <a:spcAft>
                          <a:spcPts val="0"/>
                        </a:spcAft>
                        <a:buNone/>
                      </a:pPr>
                      <a:r>
                        <a:rPr b="1" lang="tr-TR" sz="1500">
                          <a:solidFill>
                            <a:srgbClr val="1F1F1F"/>
                          </a:solidFill>
                          <a:latin typeface="Consolas"/>
                          <a:ea typeface="Consolas"/>
                          <a:cs typeface="Consolas"/>
                          <a:sym typeface="Consolas"/>
                        </a:rPr>
                        <a:t>Performans Etkisi</a:t>
                      </a:r>
                      <a:endParaRPr b="1"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Çok hassas sistemlerde en yüksek verimi sağlar.</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tr-TR" sz="1500">
                          <a:solidFill>
                            <a:srgbClr val="1F1F1F"/>
                          </a:solidFill>
                          <a:latin typeface="Consolas"/>
                          <a:ea typeface="Consolas"/>
                          <a:cs typeface="Consolas"/>
                          <a:sym typeface="Consolas"/>
                        </a:rPr>
                        <a:t>Genel sistem akışını hızlandırır ve tıkanıklığı önler.</a:t>
                      </a:r>
                      <a:endParaRPr sz="1500">
                        <a:solidFill>
                          <a:srgbClr val="1F1F1F"/>
                        </a:solidFill>
                        <a:latin typeface="Consolas"/>
                        <a:ea typeface="Consolas"/>
                        <a:cs typeface="Consolas"/>
                        <a:sym typeface="Consolas"/>
                      </a:endParaRPr>
                    </a:p>
                  </a:txBody>
                  <a:tcPr marT="76200" marB="76200" marR="114300" marL="114300">
                    <a:lnL cap="flat" cmpd="sng" w="14300">
                      <a:solidFill>
                        <a:srgbClr val="1F1F1F"/>
                      </a:solidFill>
                      <a:prstDash val="solid"/>
                      <a:round/>
                      <a:headEnd len="sm" w="sm" type="none"/>
                      <a:tailEnd len="sm" w="sm" type="none"/>
                    </a:lnL>
                    <a:lnR cap="flat" cmpd="sng" w="14300">
                      <a:solidFill>
                        <a:srgbClr val="1F1F1F"/>
                      </a:solidFill>
                      <a:prstDash val="solid"/>
                      <a:round/>
                      <a:headEnd len="sm" w="sm" type="none"/>
                      <a:tailEnd len="sm" w="sm" type="none"/>
                    </a:lnR>
                    <a:lnT cap="flat" cmpd="sng" w="14300">
                      <a:solidFill>
                        <a:srgbClr val="1F1F1F"/>
                      </a:solidFill>
                      <a:prstDash val="solid"/>
                      <a:round/>
                      <a:headEnd len="sm" w="sm" type="none"/>
                      <a:tailEnd len="sm" w="sm" type="none"/>
                    </a:lnT>
                    <a:lnB cap="flat" cmpd="sng" w="14300">
                      <a:solidFill>
                        <a:srgbClr val="1F1F1F"/>
                      </a:solidFill>
                      <a:prstDash val="solid"/>
                      <a:round/>
                      <a:headEnd len="sm" w="sm" type="none"/>
                      <a:tailEnd len="sm" w="sm" type="none"/>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pic>
        <p:nvPicPr>
          <p:cNvPr descr="Parallel computing for high-performance simulations" id="479" name="Google Shape;479;p39"/>
          <p:cNvPicPr preferRelativeResize="0"/>
          <p:nvPr/>
        </p:nvPicPr>
        <p:blipFill rotWithShape="1">
          <a:blip r:embed="rId3">
            <a:alphaModFix/>
          </a:blip>
          <a:srcRect b="-1" l="0" r="0" t="51802"/>
          <a:stretch/>
        </p:blipFill>
        <p:spPr>
          <a:xfrm rot="5400000">
            <a:off x="-2989346" y="2971346"/>
            <a:ext cx="6876000" cy="914399"/>
          </a:xfrm>
          <a:prstGeom prst="rect">
            <a:avLst/>
          </a:prstGeom>
          <a:noFill/>
          <a:ln>
            <a:noFill/>
          </a:ln>
        </p:spPr>
      </p:pic>
      <p:sp>
        <p:nvSpPr>
          <p:cNvPr id="480" name="Google Shape;480;p39"/>
          <p:cNvSpPr txBox="1"/>
          <p:nvPr/>
        </p:nvSpPr>
        <p:spPr>
          <a:xfrm>
            <a:off x="1164349" y="184777"/>
            <a:ext cx="10688668" cy="55399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tr-TR" sz="3000">
                <a:solidFill>
                  <a:schemeClr val="dk1"/>
                </a:solidFill>
                <a:latin typeface="Consolas"/>
                <a:ea typeface="Consolas"/>
                <a:cs typeface="Consolas"/>
                <a:sym typeface="Consolas"/>
              </a:rPr>
              <a:t>Kaynaklar</a:t>
            </a:r>
            <a:endParaRPr/>
          </a:p>
        </p:txBody>
      </p:sp>
      <p:sp>
        <p:nvSpPr>
          <p:cNvPr id="481" name="Google Shape;481;p39"/>
          <p:cNvSpPr txBox="1"/>
          <p:nvPr/>
        </p:nvSpPr>
        <p:spPr>
          <a:xfrm>
            <a:off x="1164349" y="883739"/>
            <a:ext cx="10688668" cy="36933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C0C0C"/>
              </a:buClr>
              <a:buSzPts val="1800"/>
              <a:buFont typeface="Consolas"/>
              <a:buNone/>
            </a:pPr>
            <a:r>
              <a:rPr i="1" lang="tr-TR" sz="1800">
                <a:solidFill>
                  <a:srgbClr val="0C0C0C"/>
                </a:solidFill>
                <a:latin typeface="Consolas"/>
                <a:ea typeface="Consolas"/>
                <a:cs typeface="Consolas"/>
                <a:sym typeface="Consolas"/>
              </a:rPr>
              <a:t>An Introduction to Parallel Programming, Peter Pacheco</a:t>
            </a:r>
            <a:endParaRPr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b="0"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b="0"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b="0"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b="0"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i="1" sz="1800">
              <a:solidFill>
                <a:srgbClr val="0C0C0C"/>
              </a:solidFill>
              <a:latin typeface="Consolas"/>
              <a:ea typeface="Consolas"/>
              <a:cs typeface="Consolas"/>
              <a:sym typeface="Consolas"/>
            </a:endParaRPr>
          </a:p>
          <a:p>
            <a:pPr indent="0" lvl="0" marL="0" marR="0" rtl="0" algn="l">
              <a:spcBef>
                <a:spcPts val="0"/>
              </a:spcBef>
              <a:spcAft>
                <a:spcPts val="0"/>
              </a:spcAft>
              <a:buNone/>
            </a:pPr>
            <a:r>
              <a:t/>
            </a:r>
            <a:endParaRPr b="0" i="1" sz="1800">
              <a:solidFill>
                <a:srgbClr val="0C0C0C"/>
              </a:solidFill>
              <a:latin typeface="Consolas"/>
              <a:ea typeface="Consolas"/>
              <a:cs typeface="Consolas"/>
              <a:sym typeface="Consolas"/>
            </a:endParaRPr>
          </a:p>
          <a:p>
            <a:pPr indent="0" lvl="0" marL="0" marR="0" rtl="0" algn="l">
              <a:spcBef>
                <a:spcPts val="0"/>
              </a:spcBef>
              <a:spcAft>
                <a:spcPts val="0"/>
              </a:spcAft>
              <a:buNone/>
            </a:pPr>
            <a:r>
              <a:rPr b="0" i="1" lang="tr-TR" sz="1800">
                <a:solidFill>
                  <a:srgbClr val="0C0C0C"/>
                </a:solidFill>
                <a:latin typeface="Consolas"/>
                <a:ea typeface="Consolas"/>
                <a:cs typeface="Consolas"/>
                <a:sym typeface="Consolas"/>
              </a:rPr>
              <a:t>Paralel Programlama, Basher Alhaj Ahmad</a:t>
            </a:r>
            <a:endParaRPr b="0" i="1" sz="1800">
              <a:solidFill>
                <a:srgbClr val="0C0C0C"/>
              </a:solidFill>
              <a:latin typeface="Consolas"/>
              <a:ea typeface="Consolas"/>
              <a:cs typeface="Consolas"/>
              <a:sym typeface="Consolas"/>
            </a:endParaRPr>
          </a:p>
          <a:p>
            <a:pPr indent="0" lvl="0" marL="0" marR="0" rtl="0" algn="l">
              <a:spcBef>
                <a:spcPts val="0"/>
              </a:spcBef>
              <a:spcAft>
                <a:spcPts val="0"/>
              </a:spcAft>
              <a:buClr>
                <a:schemeClr val="dk1"/>
              </a:buClr>
              <a:buSzPts val="1800"/>
              <a:buFont typeface="Arial"/>
              <a:buNone/>
            </a:pPr>
            <a:r>
              <a:t/>
            </a:r>
            <a:endParaRPr i="1" sz="1800">
              <a:solidFill>
                <a:srgbClr val="0C0C0C"/>
              </a:solidFill>
              <a:latin typeface="Consolas"/>
              <a:ea typeface="Consolas"/>
              <a:cs typeface="Consolas"/>
              <a:sym typeface="Consolas"/>
            </a:endParaRPr>
          </a:p>
          <a:p>
            <a:pPr indent="0" lvl="0" marL="0" marR="0" rtl="0" algn="l">
              <a:spcBef>
                <a:spcPts val="0"/>
              </a:spcBef>
              <a:spcAft>
                <a:spcPts val="0"/>
              </a:spcAft>
              <a:buClr>
                <a:schemeClr val="dk1"/>
              </a:buClr>
              <a:buSzPts val="1800"/>
              <a:buFont typeface="Arial"/>
              <a:buNone/>
            </a:pPr>
            <a:r>
              <a:t/>
            </a:r>
            <a:endParaRPr i="1" sz="1800">
              <a:solidFill>
                <a:srgbClr val="0C0C0C"/>
              </a:solidFill>
              <a:latin typeface="Consolas"/>
              <a:ea typeface="Consolas"/>
              <a:cs typeface="Consolas"/>
              <a:sym typeface="Consolas"/>
            </a:endParaRPr>
          </a:p>
        </p:txBody>
      </p:sp>
      <p:pic>
        <p:nvPicPr>
          <p:cNvPr descr="An Introduction to Parallel Programming : Pacheco, Peter: Amazon.com.tr:  Kitap" id="482" name="Google Shape;482;p39"/>
          <p:cNvPicPr preferRelativeResize="0"/>
          <p:nvPr/>
        </p:nvPicPr>
        <p:blipFill rotWithShape="1">
          <a:blip r:embed="rId4">
            <a:alphaModFix/>
          </a:blip>
          <a:srcRect b="0" l="0" r="0" t="0"/>
          <a:stretch/>
        </p:blipFill>
        <p:spPr>
          <a:xfrm>
            <a:off x="1249045" y="1442265"/>
            <a:ext cx="1457917" cy="1800000"/>
          </a:xfrm>
          <a:prstGeom prst="rect">
            <a:avLst/>
          </a:prstGeom>
          <a:noFill/>
          <a:ln>
            <a:noFill/>
          </a:ln>
        </p:spPr>
      </p:pic>
      <p:pic>
        <p:nvPicPr>
          <p:cNvPr descr="Paralel Programlama (Basher Alhaj Ahmad) Fiyatı, Yorumları, Satın Al -  Kitapyurdu.com" id="483" name="Google Shape;483;p39"/>
          <p:cNvPicPr preferRelativeResize="0"/>
          <p:nvPr/>
        </p:nvPicPr>
        <p:blipFill rotWithShape="1">
          <a:blip r:embed="rId5">
            <a:alphaModFix/>
          </a:blip>
          <a:srcRect b="0" l="0" r="0" t="0"/>
          <a:stretch/>
        </p:blipFill>
        <p:spPr>
          <a:xfrm>
            <a:off x="1266962" y="4217735"/>
            <a:ext cx="1440000" cy="205344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2024-02-17T09:49:24Z</dcterms:created>
  <dc:creator>FUNDA KUTLU ONAY</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0x010100D481CB4D0A077842BDED2766925F818C</vt:lpwstr>
  </property>
</Properties>
</file>