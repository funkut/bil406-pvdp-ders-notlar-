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 id="258" r:id="rId6"/>
    <p:sldId id="260" r:id="rId7"/>
    <p:sldId id="330" r:id="rId8"/>
    <p:sldId id="331" r:id="rId9"/>
    <p:sldId id="333" r:id="rId10"/>
    <p:sldId id="332" r:id="rId11"/>
    <p:sldId id="334" r:id="rId12"/>
    <p:sldId id="335" r:id="rId13"/>
    <p:sldId id="336" r:id="rId14"/>
    <p:sldId id="294" r:id="rId15"/>
    <p:sldId id="337" r:id="rId16"/>
    <p:sldId id="338" r:id="rId17"/>
    <p:sldId id="339" r:id="rId18"/>
    <p:sldId id="340" r:id="rId19"/>
    <p:sldId id="341" r:id="rId20"/>
    <p:sldId id="343" r:id="rId21"/>
    <p:sldId id="342" r:id="rId22"/>
    <p:sldId id="344" r:id="rId23"/>
    <p:sldId id="348" r:id="rId24"/>
    <p:sldId id="345" r:id="rId25"/>
    <p:sldId id="346" r:id="rId26"/>
    <p:sldId id="349" r:id="rId27"/>
    <p:sldId id="347" r:id="rId28"/>
    <p:sldId id="351" r:id="rId29"/>
    <p:sldId id="358" r:id="rId30"/>
    <p:sldId id="359" r:id="rId31"/>
    <p:sldId id="352" r:id="rId32"/>
    <p:sldId id="353" r:id="rId33"/>
    <p:sldId id="354" r:id="rId34"/>
    <p:sldId id="355" r:id="rId35"/>
    <p:sldId id="357" r:id="rId36"/>
    <p:sldId id="356" r:id="rId37"/>
    <p:sldId id="360" r:id="rId38"/>
    <p:sldId id="284" r:id="rId3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A4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Orta Stil 4 - Vurgu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Stil Yok, Tablo Kılavuz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5EF0D81-3932-DCDE-3681-0DCD02CED74F}"/>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A50714F6-0FC8-FE26-1F38-A1001C0AAB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8C856B84-33E5-0D67-64AA-5CA109570076}"/>
              </a:ext>
            </a:extLst>
          </p:cNvPr>
          <p:cNvSpPr>
            <a:spLocks noGrp="1"/>
          </p:cNvSpPr>
          <p:nvPr>
            <p:ph type="dt" sz="half" idx="10"/>
          </p:nvPr>
        </p:nvSpPr>
        <p:spPr/>
        <p:txBody>
          <a:bodyPr/>
          <a:lstStyle/>
          <a:p>
            <a:fld id="{4C346B30-8727-437F-A876-6C8AB807B940}" type="datetimeFigureOut">
              <a:rPr lang="tr-TR" smtClean="0"/>
              <a:t>7.03.2024</a:t>
            </a:fld>
            <a:endParaRPr lang="tr-TR"/>
          </a:p>
        </p:txBody>
      </p:sp>
      <p:sp>
        <p:nvSpPr>
          <p:cNvPr id="5" name="Alt Bilgi Yer Tutucusu 4">
            <a:extLst>
              <a:ext uri="{FF2B5EF4-FFF2-40B4-BE49-F238E27FC236}">
                <a16:creationId xmlns:a16="http://schemas.microsoft.com/office/drawing/2014/main" id="{783833DC-CCF0-E2E2-86C1-57A82AC0152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7EF8EC0D-3FC7-3901-1F54-99B509590B47}"/>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4224740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E863CD1-C2BB-ED91-E749-91D1579F3C8F}"/>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66666C8A-1BE3-8D0D-2EF7-462B11627948}"/>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DF5CAE76-712A-3318-137F-BE35BDFAD39A}"/>
              </a:ext>
            </a:extLst>
          </p:cNvPr>
          <p:cNvSpPr>
            <a:spLocks noGrp="1"/>
          </p:cNvSpPr>
          <p:nvPr>
            <p:ph type="dt" sz="half" idx="10"/>
          </p:nvPr>
        </p:nvSpPr>
        <p:spPr/>
        <p:txBody>
          <a:bodyPr/>
          <a:lstStyle/>
          <a:p>
            <a:fld id="{4C346B30-8727-437F-A876-6C8AB807B940}" type="datetimeFigureOut">
              <a:rPr lang="tr-TR" smtClean="0"/>
              <a:t>7.03.2024</a:t>
            </a:fld>
            <a:endParaRPr lang="tr-TR"/>
          </a:p>
        </p:txBody>
      </p:sp>
      <p:sp>
        <p:nvSpPr>
          <p:cNvPr id="5" name="Alt Bilgi Yer Tutucusu 4">
            <a:extLst>
              <a:ext uri="{FF2B5EF4-FFF2-40B4-BE49-F238E27FC236}">
                <a16:creationId xmlns:a16="http://schemas.microsoft.com/office/drawing/2014/main" id="{FD9385D2-730A-47EC-3552-E71929ED822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03F5ADA-E82E-5640-E825-5BBCDB5E24DD}"/>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3122965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2A07A9A-6FAF-0BD4-3BB3-70AA992DCDBA}"/>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4C73B45F-6D24-6786-F21B-AF115C328F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5462822D-087A-9615-FF83-5F3BDCE25BD6}"/>
              </a:ext>
            </a:extLst>
          </p:cNvPr>
          <p:cNvSpPr>
            <a:spLocks noGrp="1"/>
          </p:cNvSpPr>
          <p:nvPr>
            <p:ph type="dt" sz="half" idx="10"/>
          </p:nvPr>
        </p:nvSpPr>
        <p:spPr/>
        <p:txBody>
          <a:bodyPr/>
          <a:lstStyle/>
          <a:p>
            <a:fld id="{4C346B30-8727-437F-A876-6C8AB807B940}" type="datetimeFigureOut">
              <a:rPr lang="tr-TR" smtClean="0"/>
              <a:t>7.03.2024</a:t>
            </a:fld>
            <a:endParaRPr lang="tr-TR"/>
          </a:p>
        </p:txBody>
      </p:sp>
      <p:sp>
        <p:nvSpPr>
          <p:cNvPr id="5" name="Alt Bilgi Yer Tutucusu 4">
            <a:extLst>
              <a:ext uri="{FF2B5EF4-FFF2-40B4-BE49-F238E27FC236}">
                <a16:creationId xmlns:a16="http://schemas.microsoft.com/office/drawing/2014/main" id="{E89D94BB-B9F9-D019-5B63-F45BA7C2D361}"/>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7ABBA78D-7277-305C-26C1-4CEC586A9605}"/>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56256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FC852FC-6427-11AD-604C-448C68789976}"/>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2D842765-2155-EABE-0FB6-E0AD9A5E6BE9}"/>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EFD02439-DEE2-8AA4-EA98-409F8EC78E97}"/>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8806990F-5A41-8E33-C6BA-B48C63E03070}"/>
              </a:ext>
            </a:extLst>
          </p:cNvPr>
          <p:cNvSpPr>
            <a:spLocks noGrp="1"/>
          </p:cNvSpPr>
          <p:nvPr>
            <p:ph type="dt" sz="half" idx="10"/>
          </p:nvPr>
        </p:nvSpPr>
        <p:spPr/>
        <p:txBody>
          <a:bodyPr/>
          <a:lstStyle/>
          <a:p>
            <a:fld id="{4C346B30-8727-437F-A876-6C8AB807B940}" type="datetimeFigureOut">
              <a:rPr lang="tr-TR" smtClean="0"/>
              <a:t>7.03.2024</a:t>
            </a:fld>
            <a:endParaRPr lang="tr-TR"/>
          </a:p>
        </p:txBody>
      </p:sp>
      <p:sp>
        <p:nvSpPr>
          <p:cNvPr id="6" name="Alt Bilgi Yer Tutucusu 5">
            <a:extLst>
              <a:ext uri="{FF2B5EF4-FFF2-40B4-BE49-F238E27FC236}">
                <a16:creationId xmlns:a16="http://schemas.microsoft.com/office/drawing/2014/main" id="{DA9C92D2-D572-FCEE-D415-9FD4C0504FF2}"/>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85DDB6E0-CD6F-C19E-E89C-8B7FA80C8BE5}"/>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1177417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E288B38-FCD6-87DA-B3D9-766CFC30D09C}"/>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CAA9E39C-3932-55A0-45E4-C10703054B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8E7DE807-83F1-0D1F-82F1-375328743517}"/>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7A85DFB2-150B-D60D-8D65-C515CF1AF2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9EC6C8B2-4607-A2EA-984D-C2E6A6A31DF7}"/>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72FF06FA-8A92-9850-3737-64AD20310F22}"/>
              </a:ext>
            </a:extLst>
          </p:cNvPr>
          <p:cNvSpPr>
            <a:spLocks noGrp="1"/>
          </p:cNvSpPr>
          <p:nvPr>
            <p:ph type="dt" sz="half" idx="10"/>
          </p:nvPr>
        </p:nvSpPr>
        <p:spPr/>
        <p:txBody>
          <a:bodyPr/>
          <a:lstStyle/>
          <a:p>
            <a:fld id="{4C346B30-8727-437F-A876-6C8AB807B940}" type="datetimeFigureOut">
              <a:rPr lang="tr-TR" smtClean="0"/>
              <a:t>7.03.2024</a:t>
            </a:fld>
            <a:endParaRPr lang="tr-TR"/>
          </a:p>
        </p:txBody>
      </p:sp>
      <p:sp>
        <p:nvSpPr>
          <p:cNvPr id="8" name="Alt Bilgi Yer Tutucusu 7">
            <a:extLst>
              <a:ext uri="{FF2B5EF4-FFF2-40B4-BE49-F238E27FC236}">
                <a16:creationId xmlns:a16="http://schemas.microsoft.com/office/drawing/2014/main" id="{C4A6BFF9-BBD5-003D-E293-505E6C3769E4}"/>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D5FA21B8-0F90-33C6-7190-AB037A63C18E}"/>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2525566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B3F0719-FC0C-D6D1-E42A-2FD1D60630DF}"/>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4C183F86-5CC9-5E3A-11AA-DAD664C31AD6}"/>
              </a:ext>
            </a:extLst>
          </p:cNvPr>
          <p:cNvSpPr>
            <a:spLocks noGrp="1"/>
          </p:cNvSpPr>
          <p:nvPr>
            <p:ph type="dt" sz="half" idx="10"/>
          </p:nvPr>
        </p:nvSpPr>
        <p:spPr/>
        <p:txBody>
          <a:bodyPr/>
          <a:lstStyle/>
          <a:p>
            <a:fld id="{4C346B30-8727-437F-A876-6C8AB807B940}" type="datetimeFigureOut">
              <a:rPr lang="tr-TR" smtClean="0"/>
              <a:t>7.03.2024</a:t>
            </a:fld>
            <a:endParaRPr lang="tr-TR"/>
          </a:p>
        </p:txBody>
      </p:sp>
      <p:sp>
        <p:nvSpPr>
          <p:cNvPr id="4" name="Alt Bilgi Yer Tutucusu 3">
            <a:extLst>
              <a:ext uri="{FF2B5EF4-FFF2-40B4-BE49-F238E27FC236}">
                <a16:creationId xmlns:a16="http://schemas.microsoft.com/office/drawing/2014/main" id="{E89181EF-E4C4-F06C-8BEF-13FA036CA092}"/>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0FFE7357-B69A-38E2-D339-06D71B269DD6}"/>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1694118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2C4F81A7-AA21-7C24-4231-4D9246CEC5E5}"/>
              </a:ext>
            </a:extLst>
          </p:cNvPr>
          <p:cNvSpPr>
            <a:spLocks noGrp="1"/>
          </p:cNvSpPr>
          <p:nvPr>
            <p:ph type="dt" sz="half" idx="10"/>
          </p:nvPr>
        </p:nvSpPr>
        <p:spPr/>
        <p:txBody>
          <a:bodyPr/>
          <a:lstStyle/>
          <a:p>
            <a:fld id="{4C346B30-8727-437F-A876-6C8AB807B940}" type="datetimeFigureOut">
              <a:rPr lang="tr-TR" smtClean="0"/>
              <a:t>7.03.2024</a:t>
            </a:fld>
            <a:endParaRPr lang="tr-TR"/>
          </a:p>
        </p:txBody>
      </p:sp>
      <p:sp>
        <p:nvSpPr>
          <p:cNvPr id="3" name="Alt Bilgi Yer Tutucusu 2">
            <a:extLst>
              <a:ext uri="{FF2B5EF4-FFF2-40B4-BE49-F238E27FC236}">
                <a16:creationId xmlns:a16="http://schemas.microsoft.com/office/drawing/2014/main" id="{6A98BFB3-66C4-0A48-0221-EC3264E1DCF0}"/>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7310985A-11A3-CBCF-5747-094F6DAD505A}"/>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1782166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801851D-7601-8C51-EF08-5A1C2FEDF365}"/>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E919BF2B-291C-E932-8110-C19EC3A6FE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CC0C7A1A-77A8-E1CD-DA08-DA6654D9E4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9808725A-0340-DD6A-8491-FF09B5A836A9}"/>
              </a:ext>
            </a:extLst>
          </p:cNvPr>
          <p:cNvSpPr>
            <a:spLocks noGrp="1"/>
          </p:cNvSpPr>
          <p:nvPr>
            <p:ph type="dt" sz="half" idx="10"/>
          </p:nvPr>
        </p:nvSpPr>
        <p:spPr/>
        <p:txBody>
          <a:bodyPr/>
          <a:lstStyle/>
          <a:p>
            <a:fld id="{4C346B30-8727-437F-A876-6C8AB807B940}" type="datetimeFigureOut">
              <a:rPr lang="tr-TR" smtClean="0"/>
              <a:t>7.03.2024</a:t>
            </a:fld>
            <a:endParaRPr lang="tr-TR"/>
          </a:p>
        </p:txBody>
      </p:sp>
      <p:sp>
        <p:nvSpPr>
          <p:cNvPr id="6" name="Alt Bilgi Yer Tutucusu 5">
            <a:extLst>
              <a:ext uri="{FF2B5EF4-FFF2-40B4-BE49-F238E27FC236}">
                <a16:creationId xmlns:a16="http://schemas.microsoft.com/office/drawing/2014/main" id="{C5B90777-FC63-0FCE-90C0-670B76F559C1}"/>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4E5308AF-A173-43D7-D4C8-2271F89244CC}"/>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1860359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5AEF9FF-05CD-0D94-6EC7-BDC910E6C588}"/>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CFF338BE-1459-5A7C-1A5B-E27A345400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A9F9B6CD-6A7D-ACAF-B773-CC03F2EE13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B036AB66-03E0-FDDD-112B-2A32CC1BD324}"/>
              </a:ext>
            </a:extLst>
          </p:cNvPr>
          <p:cNvSpPr>
            <a:spLocks noGrp="1"/>
          </p:cNvSpPr>
          <p:nvPr>
            <p:ph type="dt" sz="half" idx="10"/>
          </p:nvPr>
        </p:nvSpPr>
        <p:spPr/>
        <p:txBody>
          <a:bodyPr/>
          <a:lstStyle/>
          <a:p>
            <a:fld id="{4C346B30-8727-437F-A876-6C8AB807B940}" type="datetimeFigureOut">
              <a:rPr lang="tr-TR" smtClean="0"/>
              <a:t>7.03.2024</a:t>
            </a:fld>
            <a:endParaRPr lang="tr-TR"/>
          </a:p>
        </p:txBody>
      </p:sp>
      <p:sp>
        <p:nvSpPr>
          <p:cNvPr id="6" name="Alt Bilgi Yer Tutucusu 5">
            <a:extLst>
              <a:ext uri="{FF2B5EF4-FFF2-40B4-BE49-F238E27FC236}">
                <a16:creationId xmlns:a16="http://schemas.microsoft.com/office/drawing/2014/main" id="{7A2DB094-74D0-EE08-62B4-1F9DF59E02A2}"/>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1455BD35-C824-39CE-860D-3CE706677B64}"/>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2232111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72DF397-4B28-4A1F-51BD-24DB07AF6290}"/>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4C5C5818-0718-6620-FBF0-E50222C0B322}"/>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B427477-E5D0-0E1E-EEA7-EAA0C2F8F278}"/>
              </a:ext>
            </a:extLst>
          </p:cNvPr>
          <p:cNvSpPr>
            <a:spLocks noGrp="1"/>
          </p:cNvSpPr>
          <p:nvPr>
            <p:ph type="dt" sz="half" idx="10"/>
          </p:nvPr>
        </p:nvSpPr>
        <p:spPr/>
        <p:txBody>
          <a:bodyPr/>
          <a:lstStyle/>
          <a:p>
            <a:fld id="{4C346B30-8727-437F-A876-6C8AB807B940}" type="datetimeFigureOut">
              <a:rPr lang="tr-TR" smtClean="0"/>
              <a:t>7.03.2024</a:t>
            </a:fld>
            <a:endParaRPr lang="tr-TR"/>
          </a:p>
        </p:txBody>
      </p:sp>
      <p:sp>
        <p:nvSpPr>
          <p:cNvPr id="5" name="Alt Bilgi Yer Tutucusu 4">
            <a:extLst>
              <a:ext uri="{FF2B5EF4-FFF2-40B4-BE49-F238E27FC236}">
                <a16:creationId xmlns:a16="http://schemas.microsoft.com/office/drawing/2014/main" id="{EED89ADD-8CC5-88F7-1C85-82304A17895F}"/>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FF1A69C-75A6-E9D5-E51B-C1E194F68B9D}"/>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61003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0EA7C6AC-FD6E-498B-0BD6-9DBE90E690AA}"/>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F6B462EA-B07C-CC2A-6FF0-B36C410A3101}"/>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A0F3DEFA-FC6B-25A5-4173-6DD9510BD2AF}"/>
              </a:ext>
            </a:extLst>
          </p:cNvPr>
          <p:cNvSpPr>
            <a:spLocks noGrp="1"/>
          </p:cNvSpPr>
          <p:nvPr>
            <p:ph type="dt" sz="half" idx="10"/>
          </p:nvPr>
        </p:nvSpPr>
        <p:spPr/>
        <p:txBody>
          <a:bodyPr/>
          <a:lstStyle/>
          <a:p>
            <a:fld id="{4C346B30-8727-437F-A876-6C8AB807B940}" type="datetimeFigureOut">
              <a:rPr lang="tr-TR" smtClean="0"/>
              <a:t>7.03.2024</a:t>
            </a:fld>
            <a:endParaRPr lang="tr-TR"/>
          </a:p>
        </p:txBody>
      </p:sp>
      <p:sp>
        <p:nvSpPr>
          <p:cNvPr id="5" name="Alt Bilgi Yer Tutucusu 4">
            <a:extLst>
              <a:ext uri="{FF2B5EF4-FFF2-40B4-BE49-F238E27FC236}">
                <a16:creationId xmlns:a16="http://schemas.microsoft.com/office/drawing/2014/main" id="{0BD35489-162B-2864-371E-29BC4E01AE7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EDCE761D-29C3-FC43-EB62-3315D81E056A}"/>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578018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561F7801-657F-C7E1-4202-6C695B23D5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231DA2CF-B126-A67C-F5B7-C7F9EB6513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FD5A231E-05DD-09BD-82F4-18A17983A8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346B30-8727-437F-A876-6C8AB807B940}" type="datetimeFigureOut">
              <a:rPr lang="tr-TR" smtClean="0"/>
              <a:t>7.03.2024</a:t>
            </a:fld>
            <a:endParaRPr lang="tr-TR"/>
          </a:p>
        </p:txBody>
      </p:sp>
      <p:sp>
        <p:nvSpPr>
          <p:cNvPr id="5" name="Alt Bilgi Yer Tutucusu 4">
            <a:extLst>
              <a:ext uri="{FF2B5EF4-FFF2-40B4-BE49-F238E27FC236}">
                <a16:creationId xmlns:a16="http://schemas.microsoft.com/office/drawing/2014/main" id="{048165A3-0DFD-374F-8119-69F2A8DA3E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293FDF04-CAD1-00D3-5052-66FC7A9DBB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7CF137-9694-42F5-AD3F-DF7F4286E53B}" type="slidenum">
              <a:rPr lang="tr-TR" smtClean="0"/>
              <a:t>‹#›</a:t>
            </a:fld>
            <a:endParaRPr lang="tr-TR"/>
          </a:p>
        </p:txBody>
      </p:sp>
    </p:spTree>
    <p:extLst>
      <p:ext uri="{BB962C8B-B14F-4D97-AF65-F5344CB8AC3E}">
        <p14:creationId xmlns:p14="http://schemas.microsoft.com/office/powerpoint/2010/main" val="3604247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arallel computing for high-performance simulations">
            <a:extLst>
              <a:ext uri="{FF2B5EF4-FFF2-40B4-BE49-F238E27FC236}">
                <a16:creationId xmlns:a16="http://schemas.microsoft.com/office/drawing/2014/main" id="{B8705AA7-AC07-A96C-0DF3-11A2601E41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1472"/>
          <a:stretch/>
        </p:blipFill>
        <p:spPr bwMode="auto">
          <a:xfrm flipV="1">
            <a:off x="-8546" y="5596983"/>
            <a:ext cx="12200546" cy="1296961"/>
          </a:xfrm>
          <a:prstGeom prst="rect">
            <a:avLst/>
          </a:prstGeom>
          <a:noFill/>
          <a:extLst>
            <a:ext uri="{909E8E84-426E-40DD-AFC4-6F175D3DCCD1}">
              <a14:hiddenFill xmlns:a14="http://schemas.microsoft.com/office/drawing/2010/main">
                <a:solidFill>
                  <a:srgbClr val="FFFFFF"/>
                </a:solidFill>
              </a14:hiddenFill>
            </a:ext>
          </a:extLst>
        </p:spPr>
      </p:pic>
      <p:sp>
        <p:nvSpPr>
          <p:cNvPr id="5" name="Metin kutusu 4">
            <a:extLst>
              <a:ext uri="{FF2B5EF4-FFF2-40B4-BE49-F238E27FC236}">
                <a16:creationId xmlns:a16="http://schemas.microsoft.com/office/drawing/2014/main" id="{8958C0E2-3DE4-1E74-4308-2BA87AD5B0A7}"/>
              </a:ext>
            </a:extLst>
          </p:cNvPr>
          <p:cNvSpPr txBox="1"/>
          <p:nvPr/>
        </p:nvSpPr>
        <p:spPr>
          <a:xfrm>
            <a:off x="1877537" y="3019872"/>
            <a:ext cx="8436925" cy="553998"/>
          </a:xfrm>
          <a:prstGeom prst="rect">
            <a:avLst/>
          </a:prstGeom>
          <a:noFill/>
        </p:spPr>
        <p:txBody>
          <a:bodyPr wrap="none" rtlCol="0">
            <a:spAutoFit/>
          </a:bodyPr>
          <a:lstStyle/>
          <a:p>
            <a:r>
              <a:rPr lang="tr-TR" sz="3000" b="1" dirty="0">
                <a:latin typeface="Consolas" panose="020B0609020204030204" pitchFamily="49" charset="0"/>
              </a:rPr>
              <a:t>BIL406 – Paralel ve Dağıtık Programlama</a:t>
            </a:r>
          </a:p>
        </p:txBody>
      </p:sp>
      <p:sp>
        <p:nvSpPr>
          <p:cNvPr id="6" name="Metin kutusu 5">
            <a:extLst>
              <a:ext uri="{FF2B5EF4-FFF2-40B4-BE49-F238E27FC236}">
                <a16:creationId xmlns:a16="http://schemas.microsoft.com/office/drawing/2014/main" id="{5626C697-7B6F-A2FF-C2FF-2E4BF6DFB94C}"/>
              </a:ext>
            </a:extLst>
          </p:cNvPr>
          <p:cNvSpPr txBox="1"/>
          <p:nvPr/>
        </p:nvSpPr>
        <p:spPr>
          <a:xfrm>
            <a:off x="1665941" y="1497296"/>
            <a:ext cx="8860118" cy="1015663"/>
          </a:xfrm>
          <a:prstGeom prst="rect">
            <a:avLst/>
          </a:prstGeom>
          <a:noFill/>
          <a:ln>
            <a:solidFill>
              <a:srgbClr val="1B83A7"/>
            </a:solidFill>
          </a:ln>
        </p:spPr>
        <p:txBody>
          <a:bodyPr wrap="none" rtlCol="0">
            <a:spAutoFit/>
          </a:bodyPr>
          <a:lstStyle/>
          <a:p>
            <a:pPr algn="ctr"/>
            <a:r>
              <a:rPr lang="tr-TR" sz="3000" dirty="0">
                <a:solidFill>
                  <a:srgbClr val="0B203C"/>
                </a:solidFill>
                <a:latin typeface="Consolas" panose="020B0609020204030204" pitchFamily="49" charset="0"/>
              </a:rPr>
              <a:t>Amasya Üniversitesi Mühendislik Fakültesi</a:t>
            </a:r>
          </a:p>
          <a:p>
            <a:pPr algn="ctr"/>
            <a:r>
              <a:rPr lang="tr-TR" sz="3000" dirty="0">
                <a:solidFill>
                  <a:srgbClr val="0B203C"/>
                </a:solidFill>
                <a:latin typeface="Consolas" panose="020B0609020204030204" pitchFamily="49" charset="0"/>
              </a:rPr>
              <a:t>Bilgisayar Mühendisliği Bölümü</a:t>
            </a:r>
          </a:p>
        </p:txBody>
      </p:sp>
      <p:sp>
        <p:nvSpPr>
          <p:cNvPr id="7" name="Metin kutusu 6">
            <a:extLst>
              <a:ext uri="{FF2B5EF4-FFF2-40B4-BE49-F238E27FC236}">
                <a16:creationId xmlns:a16="http://schemas.microsoft.com/office/drawing/2014/main" id="{290D712B-E0F2-7A71-1456-3AE90D5EC770}"/>
              </a:ext>
            </a:extLst>
          </p:cNvPr>
          <p:cNvSpPr txBox="1"/>
          <p:nvPr/>
        </p:nvSpPr>
        <p:spPr>
          <a:xfrm>
            <a:off x="3856817" y="3816742"/>
            <a:ext cx="3999814" cy="569387"/>
          </a:xfrm>
          <a:prstGeom prst="rect">
            <a:avLst/>
          </a:prstGeom>
          <a:noFill/>
        </p:spPr>
        <p:txBody>
          <a:bodyPr wrap="none" rtlCol="0">
            <a:spAutoFit/>
          </a:bodyPr>
          <a:lstStyle/>
          <a:p>
            <a:pPr algn="ctr"/>
            <a:r>
              <a:rPr lang="tr-TR" sz="1500" dirty="0">
                <a:latin typeface="Consolas" panose="020B0609020204030204" pitchFamily="49" charset="0"/>
              </a:rPr>
              <a:t>Hafta 3</a:t>
            </a:r>
          </a:p>
          <a:p>
            <a:pPr algn="ctr"/>
            <a:r>
              <a:rPr lang="tr-TR" sz="1600" b="1" dirty="0">
                <a:latin typeface="Consolas" panose="020B0609020204030204" pitchFamily="49" charset="0"/>
              </a:rPr>
              <a:t>PARALEL DONANIM MİMARİLERİ (DEVAM)</a:t>
            </a:r>
          </a:p>
        </p:txBody>
      </p:sp>
      <p:sp>
        <p:nvSpPr>
          <p:cNvPr id="8" name="Metin kutusu 7">
            <a:extLst>
              <a:ext uri="{FF2B5EF4-FFF2-40B4-BE49-F238E27FC236}">
                <a16:creationId xmlns:a16="http://schemas.microsoft.com/office/drawing/2014/main" id="{F487D820-CAE8-0A3E-CE73-D9224B8B5DCE}"/>
              </a:ext>
            </a:extLst>
          </p:cNvPr>
          <p:cNvSpPr txBox="1"/>
          <p:nvPr/>
        </p:nvSpPr>
        <p:spPr>
          <a:xfrm>
            <a:off x="4319563" y="4874993"/>
            <a:ext cx="3005951" cy="400110"/>
          </a:xfrm>
          <a:prstGeom prst="rect">
            <a:avLst/>
          </a:prstGeom>
          <a:noFill/>
        </p:spPr>
        <p:txBody>
          <a:bodyPr wrap="none" rtlCol="0">
            <a:spAutoFit/>
          </a:bodyPr>
          <a:lstStyle/>
          <a:p>
            <a:pPr algn="ctr"/>
            <a:r>
              <a:rPr lang="tr-TR" sz="2000" dirty="0">
                <a:latin typeface="Consolas" panose="020B0609020204030204" pitchFamily="49" charset="0"/>
              </a:rPr>
              <a:t>Dr. Funda KUTLU ONAY</a:t>
            </a:r>
          </a:p>
        </p:txBody>
      </p:sp>
    </p:spTree>
    <p:extLst>
      <p:ext uri="{BB962C8B-B14F-4D97-AF65-F5344CB8AC3E}">
        <p14:creationId xmlns:p14="http://schemas.microsoft.com/office/powerpoint/2010/main" val="2325019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2DF2FAFB-8FBC-D1F6-10FB-B22FC22E7B7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7E4D4629-93BD-9B46-AD20-4084588D814A}"/>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Ders İçeriği</a:t>
            </a:r>
          </a:p>
        </p:txBody>
      </p:sp>
      <p:sp>
        <p:nvSpPr>
          <p:cNvPr id="7" name="Metin kutusu 6">
            <a:extLst>
              <a:ext uri="{FF2B5EF4-FFF2-40B4-BE49-F238E27FC236}">
                <a16:creationId xmlns:a16="http://schemas.microsoft.com/office/drawing/2014/main" id="{AA89D77E-8335-0B08-2D4B-4270DDA5B0E0}"/>
              </a:ext>
            </a:extLst>
          </p:cNvPr>
          <p:cNvSpPr txBox="1"/>
          <p:nvPr/>
        </p:nvSpPr>
        <p:spPr>
          <a:xfrm>
            <a:off x="1164349" y="759758"/>
            <a:ext cx="10688668" cy="5170646"/>
          </a:xfrm>
          <a:prstGeom prst="rect">
            <a:avLst/>
          </a:prstGeom>
          <a:noFill/>
        </p:spPr>
        <p:txBody>
          <a:bodyPr wrap="square" rtlCol="0">
            <a:spAutoFit/>
          </a:bodyPr>
          <a:lstStyle/>
          <a:p>
            <a:pPr marL="457200" indent="-457200">
              <a:buFont typeface="Arial" panose="020B0604020202020204" pitchFamily="34" charset="0"/>
              <a:buChar char="•"/>
            </a:pPr>
            <a:r>
              <a:rPr lang="tr-TR" sz="3000" dirty="0">
                <a:latin typeface="Consolas" panose="020B0609020204030204" pitchFamily="49" charset="0"/>
              </a:rPr>
              <a:t>Flynn’in Klasik Taksonomisi </a:t>
            </a:r>
          </a:p>
          <a:p>
            <a:pPr lvl="1"/>
            <a:r>
              <a:rPr lang="tr-TR" sz="3000" dirty="0">
                <a:latin typeface="Consolas" panose="020B0609020204030204" pitchFamily="49" charset="0"/>
              </a:rPr>
              <a:t>(Flynn Sınıflandırması)</a:t>
            </a:r>
          </a:p>
          <a:p>
            <a:pPr marL="914400" lvl="1" indent="-457200">
              <a:buFont typeface="Wingdings" panose="05000000000000000000" pitchFamily="2" charset="2"/>
              <a:buChar char="ü"/>
            </a:pPr>
            <a:r>
              <a:rPr lang="tr-TR" sz="3000" dirty="0">
                <a:latin typeface="Consolas" panose="020B0609020204030204" pitchFamily="49" charset="0"/>
              </a:rPr>
              <a:t>SISD</a:t>
            </a:r>
          </a:p>
          <a:p>
            <a:pPr marL="914400" lvl="1" indent="-457200">
              <a:buFont typeface="Wingdings" panose="05000000000000000000" pitchFamily="2" charset="2"/>
              <a:buChar char="ü"/>
            </a:pPr>
            <a:r>
              <a:rPr lang="tr-TR" sz="3000" dirty="0">
                <a:latin typeface="Consolas" panose="020B0609020204030204" pitchFamily="49" charset="0"/>
              </a:rPr>
              <a:t>SIMD</a:t>
            </a:r>
          </a:p>
          <a:p>
            <a:pPr marL="914400" lvl="1" indent="-457200">
              <a:buFont typeface="Wingdings" panose="05000000000000000000" pitchFamily="2" charset="2"/>
              <a:buChar char="ü"/>
            </a:pPr>
            <a:r>
              <a:rPr lang="tr-TR" sz="3000" dirty="0">
                <a:latin typeface="Consolas" panose="020B0609020204030204" pitchFamily="49" charset="0"/>
              </a:rPr>
              <a:t>MISD</a:t>
            </a:r>
          </a:p>
          <a:p>
            <a:pPr marL="914400" lvl="1" indent="-457200">
              <a:buFont typeface="Wingdings" panose="05000000000000000000" pitchFamily="2" charset="2"/>
              <a:buChar char="ü"/>
            </a:pPr>
            <a:r>
              <a:rPr lang="tr-TR" sz="3000" dirty="0">
                <a:latin typeface="Consolas" panose="020B0609020204030204" pitchFamily="49" charset="0"/>
              </a:rPr>
              <a:t>MIMD</a:t>
            </a:r>
          </a:p>
          <a:p>
            <a:pPr marL="457200" indent="-457200">
              <a:buFont typeface="Arial" panose="020B0604020202020204" pitchFamily="34" charset="0"/>
              <a:buChar char="•"/>
            </a:pPr>
            <a:r>
              <a:rPr lang="tr-TR" sz="3000" dirty="0">
                <a:latin typeface="Consolas" panose="020B0609020204030204" pitchFamily="49" charset="0"/>
              </a:rPr>
              <a:t>Hafıza Paylaşımlı Sistemler</a:t>
            </a:r>
          </a:p>
          <a:p>
            <a:pPr marL="457200" indent="-457200">
              <a:buFont typeface="Arial" panose="020B0604020202020204" pitchFamily="34" charset="0"/>
              <a:buChar char="•"/>
            </a:pPr>
            <a:r>
              <a:rPr lang="tr-TR" sz="3000" dirty="0">
                <a:latin typeface="Consolas" panose="020B0609020204030204" pitchFamily="49" charset="0"/>
              </a:rPr>
              <a:t>Dağıtık Bellekli Sistemler</a:t>
            </a:r>
          </a:p>
          <a:p>
            <a:pPr marL="457200" indent="-457200">
              <a:buFont typeface="Arial" panose="020B0604020202020204" pitchFamily="34" charset="0"/>
              <a:buChar char="•"/>
            </a:pPr>
            <a:r>
              <a:rPr lang="tr-TR" sz="3000" dirty="0" err="1">
                <a:latin typeface="Consolas" panose="020B0609020204030204" pitchFamily="49" charset="0"/>
              </a:rPr>
              <a:t>Arabağlantı</a:t>
            </a:r>
            <a:r>
              <a:rPr lang="tr-TR" sz="3000" dirty="0">
                <a:latin typeface="Consolas" panose="020B0609020204030204" pitchFamily="49" charset="0"/>
              </a:rPr>
              <a:t> Ağları (</a:t>
            </a:r>
            <a:r>
              <a:rPr lang="tr-TR" sz="3000" dirty="0" err="1">
                <a:latin typeface="Consolas" panose="020B0609020204030204" pitchFamily="49" charset="0"/>
              </a:rPr>
              <a:t>Interconnection</a:t>
            </a:r>
            <a:r>
              <a:rPr lang="tr-TR" sz="3000" dirty="0">
                <a:latin typeface="Consolas" panose="020B0609020204030204" pitchFamily="49" charset="0"/>
              </a:rPr>
              <a:t> Networks)</a:t>
            </a:r>
          </a:p>
          <a:p>
            <a:pPr marL="457200" indent="-457200">
              <a:buFont typeface="Arial" panose="020B0604020202020204" pitchFamily="34" charset="0"/>
              <a:buChar char="•"/>
            </a:pPr>
            <a:r>
              <a:rPr lang="tr-TR" sz="3000" dirty="0">
                <a:latin typeface="Consolas" panose="020B0609020204030204" pitchFamily="49" charset="0"/>
              </a:rPr>
              <a:t>Gecikme ve Bant Genişliği </a:t>
            </a:r>
          </a:p>
          <a:p>
            <a:pPr lvl="1"/>
            <a:r>
              <a:rPr lang="tr-TR" sz="3000" dirty="0">
                <a:latin typeface="Consolas" panose="020B0609020204030204" pitchFamily="49" charset="0"/>
              </a:rPr>
              <a:t>(</a:t>
            </a:r>
            <a:r>
              <a:rPr lang="tr-TR" sz="3000" dirty="0" err="1">
                <a:latin typeface="Consolas" panose="020B0609020204030204" pitchFamily="49" charset="0"/>
              </a:rPr>
              <a:t>Latency</a:t>
            </a:r>
            <a:r>
              <a:rPr lang="tr-TR" sz="3000" dirty="0">
                <a:latin typeface="Consolas" panose="020B0609020204030204" pitchFamily="49" charset="0"/>
              </a:rPr>
              <a:t> </a:t>
            </a:r>
            <a:r>
              <a:rPr lang="tr-TR" sz="3000" dirty="0" err="1">
                <a:latin typeface="Consolas" panose="020B0609020204030204" pitchFamily="49" charset="0"/>
              </a:rPr>
              <a:t>and</a:t>
            </a:r>
            <a:r>
              <a:rPr lang="tr-TR" sz="3000" dirty="0">
                <a:latin typeface="Consolas" panose="020B0609020204030204" pitchFamily="49" charset="0"/>
              </a:rPr>
              <a:t> </a:t>
            </a:r>
            <a:r>
              <a:rPr lang="tr-TR" sz="3000" dirty="0" err="1">
                <a:latin typeface="Consolas" panose="020B0609020204030204" pitchFamily="49" charset="0"/>
              </a:rPr>
              <a:t>Bandwidth</a:t>
            </a:r>
            <a:r>
              <a:rPr lang="tr-TR" sz="3000" dirty="0">
                <a:latin typeface="Consolas" panose="020B0609020204030204" pitchFamily="49" charset="0"/>
              </a:rPr>
              <a:t>)</a:t>
            </a:r>
          </a:p>
        </p:txBody>
      </p:sp>
    </p:spTree>
    <p:extLst>
      <p:ext uri="{BB962C8B-B14F-4D97-AF65-F5344CB8AC3E}">
        <p14:creationId xmlns:p14="http://schemas.microsoft.com/office/powerpoint/2010/main" val="1445309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Flynn’in Klasik Taksonomisi</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9" y="759758"/>
            <a:ext cx="7597514" cy="1569660"/>
          </a:xfrm>
          <a:prstGeom prst="rect">
            <a:avLst/>
          </a:prstGeom>
          <a:noFill/>
        </p:spPr>
        <p:txBody>
          <a:bodyPr wrap="square" rtlCol="0">
            <a:spAutoFit/>
          </a:bodyPr>
          <a:lstStyle/>
          <a:p>
            <a:pPr marL="457200" indent="-457200">
              <a:buFont typeface="Arial" panose="020B0604020202020204" pitchFamily="34" charset="0"/>
              <a:buChar char="•"/>
            </a:pPr>
            <a:r>
              <a:rPr lang="tr-TR" sz="2400" dirty="0">
                <a:latin typeface="Consolas" panose="020B0609020204030204" pitchFamily="49" charset="0"/>
              </a:rPr>
              <a:t>Flynn’in Klasik Taksonomisi (Flynn Sınıflandırması): 1966 yılında Micheal J. Flynn tarafından yapılan bilgisayar mimarisinin sınıflandırmasıdır.</a:t>
            </a:r>
          </a:p>
        </p:txBody>
      </p:sp>
      <p:pic>
        <p:nvPicPr>
          <p:cNvPr id="1026" name="Picture 2" descr="Flynn's Taxonomy of Computer Architectures. [13] | Download Scientific  Diagram">
            <a:extLst>
              <a:ext uri="{FF2B5EF4-FFF2-40B4-BE49-F238E27FC236}">
                <a16:creationId xmlns:a16="http://schemas.microsoft.com/office/drawing/2014/main" id="{0DE549D3-CD80-4769-424C-055937E3C5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1441" y="2402437"/>
            <a:ext cx="5800725" cy="4343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ichael J. Flynn - Wikipedia">
            <a:extLst>
              <a:ext uri="{FF2B5EF4-FFF2-40B4-BE49-F238E27FC236}">
                <a16:creationId xmlns:a16="http://schemas.microsoft.com/office/drawing/2014/main" id="{3B0BA58E-EE7F-0807-57A0-14CA457984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67156" y="602437"/>
            <a:ext cx="1544167" cy="1800000"/>
          </a:xfrm>
          <a:prstGeom prst="rect">
            <a:avLst/>
          </a:prstGeom>
          <a:noFill/>
          <a:extLst>
            <a:ext uri="{909E8E84-426E-40DD-AFC4-6F175D3DCCD1}">
              <a14:hiddenFill xmlns:a14="http://schemas.microsoft.com/office/drawing/2010/main">
                <a:solidFill>
                  <a:srgbClr val="FFFFFF"/>
                </a:solidFill>
              </a14:hiddenFill>
            </a:ext>
          </a:extLst>
        </p:spPr>
      </p:pic>
      <p:sp>
        <p:nvSpPr>
          <p:cNvPr id="5" name="Metin kutusu 4">
            <a:extLst>
              <a:ext uri="{FF2B5EF4-FFF2-40B4-BE49-F238E27FC236}">
                <a16:creationId xmlns:a16="http://schemas.microsoft.com/office/drawing/2014/main" id="{93D5DA18-A78B-EBE0-633F-D68A563C0991}"/>
              </a:ext>
            </a:extLst>
          </p:cNvPr>
          <p:cNvSpPr txBox="1"/>
          <p:nvPr/>
        </p:nvSpPr>
        <p:spPr>
          <a:xfrm>
            <a:off x="6605899" y="2593707"/>
            <a:ext cx="5586101" cy="2462213"/>
          </a:xfrm>
          <a:prstGeom prst="rect">
            <a:avLst/>
          </a:prstGeom>
          <a:noFill/>
        </p:spPr>
        <p:txBody>
          <a:bodyPr wrap="square">
            <a:spAutoFit/>
          </a:bodyPr>
          <a:lstStyle/>
          <a:p>
            <a:pPr lvl="1"/>
            <a:r>
              <a:rPr lang="tr-TR" sz="1400" dirty="0">
                <a:solidFill>
                  <a:srgbClr val="0070C0"/>
                </a:solidFill>
                <a:latin typeface="Consolas" panose="020B0609020204030204" pitchFamily="49" charset="0"/>
              </a:rPr>
              <a:t>SISD (</a:t>
            </a:r>
            <a:r>
              <a:rPr lang="tr-TR" sz="1400" dirty="0" err="1">
                <a:solidFill>
                  <a:srgbClr val="0070C0"/>
                </a:solidFill>
                <a:latin typeface="Consolas" panose="020B0609020204030204" pitchFamily="49" charset="0"/>
              </a:rPr>
              <a:t>Single</a:t>
            </a:r>
            <a:r>
              <a:rPr lang="tr-TR" sz="1400" dirty="0">
                <a:solidFill>
                  <a:srgbClr val="0070C0"/>
                </a:solidFill>
                <a:latin typeface="Consolas" panose="020B0609020204030204" pitchFamily="49" charset="0"/>
              </a:rPr>
              <a:t> </a:t>
            </a:r>
            <a:r>
              <a:rPr lang="tr-TR" sz="1400" dirty="0" err="1">
                <a:solidFill>
                  <a:srgbClr val="0070C0"/>
                </a:solidFill>
                <a:latin typeface="Consolas" panose="020B0609020204030204" pitchFamily="49" charset="0"/>
              </a:rPr>
              <a:t>Instruction</a:t>
            </a:r>
            <a:r>
              <a:rPr lang="tr-TR" sz="1400" dirty="0">
                <a:solidFill>
                  <a:srgbClr val="0070C0"/>
                </a:solidFill>
                <a:latin typeface="Consolas" panose="020B0609020204030204" pitchFamily="49" charset="0"/>
              </a:rPr>
              <a:t>, </a:t>
            </a:r>
            <a:r>
              <a:rPr lang="tr-TR" sz="1400" dirty="0" err="1">
                <a:solidFill>
                  <a:srgbClr val="0070C0"/>
                </a:solidFill>
                <a:latin typeface="Consolas" panose="020B0609020204030204" pitchFamily="49" charset="0"/>
              </a:rPr>
              <a:t>Single</a:t>
            </a:r>
            <a:r>
              <a:rPr lang="tr-TR" sz="1400" dirty="0">
                <a:solidFill>
                  <a:srgbClr val="0070C0"/>
                </a:solidFill>
                <a:latin typeface="Consolas" panose="020B0609020204030204" pitchFamily="49" charset="0"/>
              </a:rPr>
              <a:t> Data </a:t>
            </a:r>
            <a:r>
              <a:rPr lang="tr-TR" sz="1400" dirty="0" err="1">
                <a:solidFill>
                  <a:srgbClr val="0070C0"/>
                </a:solidFill>
                <a:latin typeface="Consolas" panose="020B0609020204030204" pitchFamily="49" charset="0"/>
              </a:rPr>
              <a:t>Stream</a:t>
            </a:r>
            <a:r>
              <a:rPr lang="tr-TR" sz="1400" dirty="0">
                <a:solidFill>
                  <a:srgbClr val="0070C0"/>
                </a:solidFill>
                <a:latin typeface="Consolas" panose="020B0609020204030204" pitchFamily="49" charset="0"/>
              </a:rPr>
              <a:t>) </a:t>
            </a:r>
          </a:p>
          <a:p>
            <a:pPr lvl="1"/>
            <a:r>
              <a:rPr lang="tr-TR" sz="1400" dirty="0">
                <a:solidFill>
                  <a:srgbClr val="0070C0"/>
                </a:solidFill>
                <a:latin typeface="Consolas" panose="020B0609020204030204" pitchFamily="49" charset="0"/>
              </a:rPr>
              <a:t>– Tek Komut Tek Veri Akışı</a:t>
            </a:r>
          </a:p>
          <a:p>
            <a:pPr lvl="1"/>
            <a:endParaRPr lang="tr-TR" sz="1400" dirty="0">
              <a:solidFill>
                <a:srgbClr val="0070C0"/>
              </a:solidFill>
              <a:latin typeface="Consolas" panose="020B0609020204030204" pitchFamily="49" charset="0"/>
            </a:endParaRPr>
          </a:p>
          <a:p>
            <a:pPr lvl="1"/>
            <a:r>
              <a:rPr lang="tr-TR" sz="1400" dirty="0">
                <a:solidFill>
                  <a:srgbClr val="0070C0"/>
                </a:solidFill>
                <a:latin typeface="Consolas" panose="020B0609020204030204" pitchFamily="49" charset="0"/>
              </a:rPr>
              <a:t>SIMD (</a:t>
            </a:r>
            <a:r>
              <a:rPr lang="tr-TR" sz="1400" dirty="0" err="1">
                <a:solidFill>
                  <a:srgbClr val="0070C0"/>
                </a:solidFill>
                <a:latin typeface="Consolas" panose="020B0609020204030204" pitchFamily="49" charset="0"/>
              </a:rPr>
              <a:t>Single</a:t>
            </a:r>
            <a:r>
              <a:rPr lang="tr-TR" sz="1400" dirty="0">
                <a:solidFill>
                  <a:srgbClr val="0070C0"/>
                </a:solidFill>
                <a:latin typeface="Consolas" panose="020B0609020204030204" pitchFamily="49" charset="0"/>
              </a:rPr>
              <a:t> </a:t>
            </a:r>
            <a:r>
              <a:rPr lang="tr-TR" sz="1400" dirty="0" err="1">
                <a:solidFill>
                  <a:srgbClr val="0070C0"/>
                </a:solidFill>
                <a:latin typeface="Consolas" panose="020B0609020204030204" pitchFamily="49" charset="0"/>
              </a:rPr>
              <a:t>Instruction</a:t>
            </a:r>
            <a:r>
              <a:rPr lang="tr-TR" sz="1400" dirty="0">
                <a:solidFill>
                  <a:srgbClr val="0070C0"/>
                </a:solidFill>
                <a:latin typeface="Consolas" panose="020B0609020204030204" pitchFamily="49" charset="0"/>
              </a:rPr>
              <a:t>, Multiple Data </a:t>
            </a:r>
            <a:r>
              <a:rPr lang="tr-TR" sz="1400" dirty="0" err="1">
                <a:solidFill>
                  <a:srgbClr val="0070C0"/>
                </a:solidFill>
                <a:latin typeface="Consolas" panose="020B0609020204030204" pitchFamily="49" charset="0"/>
              </a:rPr>
              <a:t>Stream</a:t>
            </a:r>
            <a:r>
              <a:rPr lang="tr-TR" sz="1400" dirty="0">
                <a:solidFill>
                  <a:srgbClr val="0070C0"/>
                </a:solidFill>
                <a:latin typeface="Consolas" panose="020B0609020204030204" pitchFamily="49" charset="0"/>
              </a:rPr>
              <a:t>) </a:t>
            </a:r>
          </a:p>
          <a:p>
            <a:pPr lvl="1"/>
            <a:r>
              <a:rPr lang="tr-TR" sz="1400" dirty="0">
                <a:solidFill>
                  <a:srgbClr val="0070C0"/>
                </a:solidFill>
                <a:latin typeface="Consolas" panose="020B0609020204030204" pitchFamily="49" charset="0"/>
              </a:rPr>
              <a:t>– Tek Komut Çok Veri Akışı</a:t>
            </a:r>
          </a:p>
          <a:p>
            <a:pPr lvl="1"/>
            <a:endParaRPr lang="tr-TR" sz="1400" dirty="0">
              <a:solidFill>
                <a:srgbClr val="0070C0"/>
              </a:solidFill>
              <a:latin typeface="Consolas" panose="020B0609020204030204" pitchFamily="49" charset="0"/>
            </a:endParaRPr>
          </a:p>
          <a:p>
            <a:pPr lvl="1"/>
            <a:r>
              <a:rPr lang="tr-TR" sz="1400" dirty="0">
                <a:solidFill>
                  <a:srgbClr val="0070C0"/>
                </a:solidFill>
                <a:latin typeface="Consolas" panose="020B0609020204030204" pitchFamily="49" charset="0"/>
              </a:rPr>
              <a:t>MISD (Multiple </a:t>
            </a:r>
            <a:r>
              <a:rPr lang="tr-TR" sz="1400" dirty="0" err="1">
                <a:solidFill>
                  <a:srgbClr val="0070C0"/>
                </a:solidFill>
                <a:latin typeface="Consolas" panose="020B0609020204030204" pitchFamily="49" charset="0"/>
              </a:rPr>
              <a:t>Instruction</a:t>
            </a:r>
            <a:r>
              <a:rPr lang="tr-TR" sz="1400" dirty="0">
                <a:solidFill>
                  <a:srgbClr val="0070C0"/>
                </a:solidFill>
                <a:latin typeface="Consolas" panose="020B0609020204030204" pitchFamily="49" charset="0"/>
              </a:rPr>
              <a:t>, </a:t>
            </a:r>
            <a:r>
              <a:rPr lang="tr-TR" sz="1400" dirty="0" err="1">
                <a:solidFill>
                  <a:srgbClr val="0070C0"/>
                </a:solidFill>
                <a:latin typeface="Consolas" panose="020B0609020204030204" pitchFamily="49" charset="0"/>
              </a:rPr>
              <a:t>Single</a:t>
            </a:r>
            <a:r>
              <a:rPr lang="tr-TR" sz="1400" dirty="0">
                <a:solidFill>
                  <a:srgbClr val="0070C0"/>
                </a:solidFill>
                <a:latin typeface="Consolas" panose="020B0609020204030204" pitchFamily="49" charset="0"/>
              </a:rPr>
              <a:t> Data </a:t>
            </a:r>
            <a:r>
              <a:rPr lang="tr-TR" sz="1400" dirty="0" err="1">
                <a:solidFill>
                  <a:srgbClr val="0070C0"/>
                </a:solidFill>
                <a:latin typeface="Consolas" panose="020B0609020204030204" pitchFamily="49" charset="0"/>
              </a:rPr>
              <a:t>Stream</a:t>
            </a:r>
            <a:r>
              <a:rPr lang="tr-TR" sz="1400" dirty="0">
                <a:solidFill>
                  <a:srgbClr val="0070C0"/>
                </a:solidFill>
                <a:latin typeface="Consolas" panose="020B0609020204030204" pitchFamily="49" charset="0"/>
              </a:rPr>
              <a:t>) </a:t>
            </a:r>
          </a:p>
          <a:p>
            <a:pPr lvl="1"/>
            <a:r>
              <a:rPr lang="tr-TR" sz="1400" dirty="0">
                <a:solidFill>
                  <a:srgbClr val="0070C0"/>
                </a:solidFill>
                <a:latin typeface="Consolas" panose="020B0609020204030204" pitchFamily="49" charset="0"/>
              </a:rPr>
              <a:t>– Çok Komut Tek Veri Akışı</a:t>
            </a:r>
          </a:p>
          <a:p>
            <a:pPr lvl="1"/>
            <a:endParaRPr lang="tr-TR" sz="1400" dirty="0">
              <a:solidFill>
                <a:srgbClr val="0070C0"/>
              </a:solidFill>
              <a:latin typeface="Consolas" panose="020B0609020204030204" pitchFamily="49" charset="0"/>
            </a:endParaRPr>
          </a:p>
          <a:p>
            <a:pPr lvl="1"/>
            <a:r>
              <a:rPr lang="tr-TR" sz="1400" dirty="0">
                <a:solidFill>
                  <a:srgbClr val="0070C0"/>
                </a:solidFill>
                <a:latin typeface="Consolas" panose="020B0609020204030204" pitchFamily="49" charset="0"/>
              </a:rPr>
              <a:t>MIMD (Multiple </a:t>
            </a:r>
            <a:r>
              <a:rPr lang="tr-TR" sz="1400" dirty="0" err="1">
                <a:solidFill>
                  <a:srgbClr val="0070C0"/>
                </a:solidFill>
                <a:latin typeface="Consolas" panose="020B0609020204030204" pitchFamily="49" charset="0"/>
              </a:rPr>
              <a:t>Instruction</a:t>
            </a:r>
            <a:r>
              <a:rPr lang="tr-TR" sz="1400" dirty="0">
                <a:solidFill>
                  <a:srgbClr val="0070C0"/>
                </a:solidFill>
                <a:latin typeface="Consolas" panose="020B0609020204030204" pitchFamily="49" charset="0"/>
              </a:rPr>
              <a:t>, Multiple Data </a:t>
            </a:r>
            <a:r>
              <a:rPr lang="tr-TR" sz="1400" dirty="0" err="1">
                <a:solidFill>
                  <a:srgbClr val="0070C0"/>
                </a:solidFill>
                <a:latin typeface="Consolas" panose="020B0609020204030204" pitchFamily="49" charset="0"/>
              </a:rPr>
              <a:t>Stream</a:t>
            </a:r>
            <a:r>
              <a:rPr lang="tr-TR" sz="1400" dirty="0">
                <a:solidFill>
                  <a:srgbClr val="0070C0"/>
                </a:solidFill>
                <a:latin typeface="Consolas" panose="020B0609020204030204" pitchFamily="49" charset="0"/>
              </a:rPr>
              <a:t>)</a:t>
            </a:r>
          </a:p>
          <a:p>
            <a:pPr lvl="1"/>
            <a:r>
              <a:rPr lang="tr-TR" sz="1400" dirty="0">
                <a:solidFill>
                  <a:srgbClr val="0070C0"/>
                </a:solidFill>
                <a:latin typeface="Consolas" panose="020B0609020204030204" pitchFamily="49" charset="0"/>
              </a:rPr>
              <a:t> – Çok Komut Çok Veri Akışı</a:t>
            </a:r>
          </a:p>
        </p:txBody>
      </p:sp>
    </p:spTree>
    <p:extLst>
      <p:ext uri="{BB962C8B-B14F-4D97-AF65-F5344CB8AC3E}">
        <p14:creationId xmlns:p14="http://schemas.microsoft.com/office/powerpoint/2010/main" val="1725661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F7189-7E74-E9E4-3973-72717284E4DE}"/>
            </a:ext>
          </a:extLst>
        </p:cNvPr>
        <p:cNvGrpSpPr/>
        <p:nvPr/>
      </p:nvGrpSpPr>
      <p:grpSpPr>
        <a:xfrm>
          <a:off x="0" y="0"/>
          <a:ext cx="0" cy="0"/>
          <a:chOff x="0" y="0"/>
          <a:chExt cx="0" cy="0"/>
        </a:xfrm>
      </p:grpSpPr>
      <p:pic>
        <p:nvPicPr>
          <p:cNvPr id="1026" name="Picture 2" descr="Flynn's Taxonomy of Computer Architectures. [13] | Download Scientific  Diagram">
            <a:extLst>
              <a:ext uri="{FF2B5EF4-FFF2-40B4-BE49-F238E27FC236}">
                <a16:creationId xmlns:a16="http://schemas.microsoft.com/office/drawing/2014/main" id="{3468F580-197E-E482-6A42-F68A834FB6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8623" b="49065"/>
          <a:stretch/>
        </p:blipFill>
        <p:spPr bwMode="auto">
          <a:xfrm>
            <a:off x="9232785" y="738774"/>
            <a:ext cx="2545504" cy="234625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Parallel computing for high-performance simulations">
            <a:extLst>
              <a:ext uri="{FF2B5EF4-FFF2-40B4-BE49-F238E27FC236}">
                <a16:creationId xmlns:a16="http://schemas.microsoft.com/office/drawing/2014/main" id="{02250D4D-C63E-EA3B-B35E-A82613768B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DC7227E4-6A03-BAA5-EC20-713323756A50}"/>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SISD (</a:t>
            </a:r>
            <a:r>
              <a:rPr lang="en-US" sz="3000" b="1" dirty="0">
                <a:latin typeface="Consolas" panose="020B0609020204030204" pitchFamily="49" charset="0"/>
              </a:rPr>
              <a:t>Single Instruction, Single Data Stream</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D70D2A60-53D5-F5C6-7A31-C52F7FD81EDB}"/>
              </a:ext>
            </a:extLst>
          </p:cNvPr>
          <p:cNvSpPr txBox="1"/>
          <p:nvPr/>
        </p:nvSpPr>
        <p:spPr>
          <a:xfrm>
            <a:off x="1164349" y="759758"/>
            <a:ext cx="7597514" cy="5909310"/>
          </a:xfrm>
          <a:prstGeom prst="rect">
            <a:avLst/>
          </a:prstGeom>
          <a:noFill/>
        </p:spPr>
        <p:txBody>
          <a:bodyPr wrap="square" rtlCol="0">
            <a:spAutoFit/>
          </a:bodyPr>
          <a:lstStyle/>
          <a:p>
            <a:pPr marL="457200" indent="-457200">
              <a:buFont typeface="Arial" panose="020B0604020202020204" pitchFamily="34" charset="0"/>
              <a:buChar char="•"/>
            </a:pPr>
            <a:r>
              <a:rPr lang="tr-TR" sz="1400" dirty="0">
                <a:latin typeface="Consolas" panose="020B0609020204030204" pitchFamily="49" charset="0"/>
              </a:rPr>
              <a:t>Bu mimari, işlemcinin bir anda sadece bir komutu işleyebildiği ve bu komutun aynı zamanda sadece bir veri üzerinde işlem yapabildiği bir yapıyı ifade eder. Klasik seri olarak çalışan bilgisayarlardır. </a:t>
            </a:r>
            <a:r>
              <a:rPr lang="tr-TR" sz="1400" dirty="0" err="1">
                <a:latin typeface="Consolas" panose="020B0609020204030204" pitchFamily="49" charset="0"/>
              </a:rPr>
              <a:t>Von</a:t>
            </a:r>
            <a:r>
              <a:rPr lang="tr-TR" sz="1400" dirty="0">
                <a:latin typeface="Consolas" panose="020B0609020204030204" pitchFamily="49" charset="0"/>
              </a:rPr>
              <a:t> </a:t>
            </a:r>
            <a:r>
              <a:rPr lang="tr-TR" sz="1400" dirty="0" err="1">
                <a:latin typeface="Consolas" panose="020B0609020204030204" pitchFamily="49" charset="0"/>
              </a:rPr>
              <a:t>Neuman</a:t>
            </a:r>
            <a:r>
              <a:rPr lang="tr-TR" sz="1400" dirty="0">
                <a:latin typeface="Consolas" panose="020B0609020204030204" pitchFamily="49" charset="0"/>
              </a:rPr>
              <a:t> mimarisi örnek verilebilir. </a:t>
            </a:r>
          </a:p>
          <a:p>
            <a:endParaRPr lang="tr-TR" sz="1400" dirty="0">
              <a:latin typeface="Consolas" panose="020B0609020204030204" pitchFamily="49" charset="0"/>
            </a:endParaRPr>
          </a:p>
          <a:p>
            <a:pPr marL="914400" lvl="1" indent="-457200">
              <a:buFont typeface="Wingdings" panose="05000000000000000000" pitchFamily="2" charset="2"/>
              <a:buChar char="ü"/>
            </a:pPr>
            <a:r>
              <a:rPr lang="tr-TR" sz="1400" b="1" dirty="0">
                <a:latin typeface="Consolas" panose="020B0609020204030204" pitchFamily="49" charset="0"/>
              </a:rPr>
              <a:t>Tek Komut İşleme: </a:t>
            </a:r>
            <a:r>
              <a:rPr lang="tr-TR" sz="1400" dirty="0">
                <a:latin typeface="Consolas" panose="020B0609020204030204" pitchFamily="49" charset="0"/>
              </a:rPr>
              <a:t>İşlemci her çalışma döngüsünde yalnızca bir komut işler. Bu, işlemcinin bellekten bir komut alıp işlemesi, ardından bir sonraki komutu almak için belleğe erişmesi anlamına gelir.</a:t>
            </a:r>
          </a:p>
          <a:p>
            <a:pPr marL="914400" lvl="1" indent="-457200">
              <a:buFont typeface="Wingdings" panose="05000000000000000000" pitchFamily="2" charset="2"/>
              <a:buChar char="ü"/>
            </a:pPr>
            <a:endParaRPr lang="tr-TR" sz="1400" dirty="0">
              <a:latin typeface="Consolas" panose="020B0609020204030204" pitchFamily="49" charset="0"/>
            </a:endParaRPr>
          </a:p>
          <a:p>
            <a:pPr marL="914400" lvl="1" indent="-457200">
              <a:buFont typeface="Wingdings" panose="05000000000000000000" pitchFamily="2" charset="2"/>
              <a:buChar char="ü"/>
            </a:pPr>
            <a:r>
              <a:rPr lang="tr-TR" sz="1400" b="1" dirty="0">
                <a:latin typeface="Consolas" panose="020B0609020204030204" pitchFamily="49" charset="0"/>
              </a:rPr>
              <a:t>Tek Veri İşleme: </a:t>
            </a:r>
            <a:r>
              <a:rPr lang="tr-TR" sz="1400" dirty="0">
                <a:latin typeface="Consolas" panose="020B0609020204030204" pitchFamily="49" charset="0"/>
              </a:rPr>
              <a:t>İşlemci her komut için yalnızca bir veri seti üzerinde işlem yapabilir. Yani, bir işlemci aynı anda birden fazla veri seti üzerinde işlem yapamaz.</a:t>
            </a:r>
          </a:p>
          <a:p>
            <a:pPr marL="914400" lvl="1" indent="-457200">
              <a:buFont typeface="Wingdings" panose="05000000000000000000" pitchFamily="2" charset="2"/>
              <a:buChar char="ü"/>
            </a:pPr>
            <a:endParaRPr lang="tr-TR" sz="1400" dirty="0">
              <a:latin typeface="Consolas" panose="020B0609020204030204" pitchFamily="49" charset="0"/>
            </a:endParaRPr>
          </a:p>
          <a:p>
            <a:pPr marL="914400" lvl="1" indent="-457200">
              <a:buFont typeface="Wingdings" panose="05000000000000000000" pitchFamily="2" charset="2"/>
              <a:buChar char="ü"/>
            </a:pPr>
            <a:r>
              <a:rPr lang="tr-TR" sz="1400" b="1" dirty="0">
                <a:latin typeface="Consolas" panose="020B0609020204030204" pitchFamily="49" charset="0"/>
              </a:rPr>
              <a:t>Lineer İşlem Sırası: </a:t>
            </a:r>
            <a:r>
              <a:rPr lang="tr-TR" sz="1400" dirty="0">
                <a:latin typeface="Consolas" panose="020B0609020204030204" pitchFamily="49" charset="0"/>
              </a:rPr>
              <a:t>Her bir işlem, önceki işlemler tamamlandıktan sonra gerçekleşir. Bu, her bir işlemin birbirini takip ettiği ve sırayla gerçekleştiği anlamına gelir.</a:t>
            </a:r>
          </a:p>
          <a:p>
            <a:pPr marL="914400" lvl="1" indent="-457200">
              <a:buFont typeface="Wingdings" panose="05000000000000000000" pitchFamily="2" charset="2"/>
              <a:buChar char="ü"/>
            </a:pPr>
            <a:endParaRPr lang="tr-TR" sz="1400" dirty="0">
              <a:latin typeface="Consolas" panose="020B0609020204030204" pitchFamily="49" charset="0"/>
            </a:endParaRPr>
          </a:p>
          <a:p>
            <a:pPr marL="914400" lvl="1" indent="-457200">
              <a:buFont typeface="Wingdings" panose="05000000000000000000" pitchFamily="2" charset="2"/>
              <a:buChar char="ü"/>
            </a:pPr>
            <a:r>
              <a:rPr lang="tr-TR" sz="1400" b="1" dirty="0">
                <a:latin typeface="Consolas" panose="020B0609020204030204" pitchFamily="49" charset="0"/>
              </a:rPr>
              <a:t>Tek İş Parçacığı: </a:t>
            </a:r>
            <a:r>
              <a:rPr lang="tr-TR" sz="1400" dirty="0">
                <a:latin typeface="Consolas" panose="020B0609020204030204" pitchFamily="49" charset="0"/>
              </a:rPr>
              <a:t>SISD mimarisinde, işlemci aynı anda sadece bir iş parçacığını yürütebilir. Bu, çoklu iş parçacıklı işleme (</a:t>
            </a:r>
            <a:r>
              <a:rPr lang="tr-TR" sz="1400" dirty="0" err="1">
                <a:latin typeface="Consolas" panose="020B0609020204030204" pitchFamily="49" charset="0"/>
              </a:rPr>
              <a:t>multithreading</a:t>
            </a:r>
            <a:r>
              <a:rPr lang="tr-TR" sz="1400" dirty="0">
                <a:latin typeface="Consolas" panose="020B0609020204030204" pitchFamily="49" charset="0"/>
              </a:rPr>
              <a:t>) veya paralel işleme (</a:t>
            </a:r>
            <a:r>
              <a:rPr lang="tr-TR" sz="1400" dirty="0" err="1">
                <a:latin typeface="Consolas" panose="020B0609020204030204" pitchFamily="49" charset="0"/>
              </a:rPr>
              <a:t>parallel</a:t>
            </a:r>
            <a:r>
              <a:rPr lang="tr-TR" sz="1400" dirty="0">
                <a:latin typeface="Consolas" panose="020B0609020204030204" pitchFamily="49" charset="0"/>
              </a:rPr>
              <a:t> </a:t>
            </a:r>
            <a:r>
              <a:rPr lang="tr-TR" sz="1400" dirty="0" err="1">
                <a:latin typeface="Consolas" panose="020B0609020204030204" pitchFamily="49" charset="0"/>
              </a:rPr>
              <a:t>processing</a:t>
            </a:r>
            <a:r>
              <a:rPr lang="tr-TR" sz="1400" dirty="0">
                <a:latin typeface="Consolas" panose="020B0609020204030204" pitchFamily="49" charset="0"/>
              </a:rPr>
              <a:t>) gibi tekniklerin kullanılamayacağı anlamına gelir.</a:t>
            </a:r>
          </a:p>
          <a:p>
            <a:pPr marL="914400" lvl="1" indent="-457200">
              <a:buFont typeface="Wingdings" panose="05000000000000000000" pitchFamily="2" charset="2"/>
              <a:buChar char="ü"/>
            </a:pPr>
            <a:endParaRPr lang="tr-TR" sz="1400" dirty="0">
              <a:latin typeface="Consolas" panose="020B0609020204030204" pitchFamily="49" charset="0"/>
            </a:endParaRPr>
          </a:p>
          <a:p>
            <a:pPr marL="914400" lvl="1" indent="-457200">
              <a:buFont typeface="Wingdings" panose="05000000000000000000" pitchFamily="2" charset="2"/>
              <a:buChar char="ü"/>
            </a:pPr>
            <a:r>
              <a:rPr lang="tr-TR" sz="1400" b="1" dirty="0">
                <a:latin typeface="Consolas" panose="020B0609020204030204" pitchFamily="49" charset="0"/>
              </a:rPr>
              <a:t>Geleneksel İşlemcilerde Kullanımı: </a:t>
            </a:r>
            <a:r>
              <a:rPr lang="tr-TR" sz="1400" dirty="0">
                <a:latin typeface="Consolas" panose="020B0609020204030204" pitchFamily="49" charset="0"/>
              </a:rPr>
              <a:t>Geleneksel CPU'lar genellikle SISD mimarisi üzerine kuruludur. Bu tür mimariler, tek bir iş parçacığını hızlı ve etkili bir şekilde işlemek için optimize edilmiştir</a:t>
            </a:r>
          </a:p>
        </p:txBody>
      </p:sp>
      <p:pic>
        <p:nvPicPr>
          <p:cNvPr id="2050" name="Picture 2">
            <a:extLst>
              <a:ext uri="{FF2B5EF4-FFF2-40B4-BE49-F238E27FC236}">
                <a16:creationId xmlns:a16="http://schemas.microsoft.com/office/drawing/2014/main" id="{B04D8C3F-0578-CEA8-B617-8F6596C7EAE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7644" r="74194"/>
          <a:stretch/>
        </p:blipFill>
        <p:spPr bwMode="auto">
          <a:xfrm>
            <a:off x="9581892" y="3651191"/>
            <a:ext cx="1862225" cy="27840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4222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C7FA8-C81A-27E4-4202-8CA4A2B561A6}"/>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93F5E0CB-BF00-CCA8-7E9D-CD20D4B440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E6F38263-A5D7-0CE8-4CEA-F7994252E24A}"/>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SIMD (</a:t>
            </a:r>
            <a:r>
              <a:rPr lang="en-US" sz="3000" b="1" dirty="0">
                <a:latin typeface="Consolas" panose="020B0609020204030204" pitchFamily="49" charset="0"/>
              </a:rPr>
              <a:t>Single Instruction, </a:t>
            </a:r>
            <a:r>
              <a:rPr lang="tr-TR" sz="3000" b="1" dirty="0">
                <a:latin typeface="Consolas" panose="020B0609020204030204" pitchFamily="49" charset="0"/>
              </a:rPr>
              <a:t>Multiple</a:t>
            </a:r>
            <a:r>
              <a:rPr lang="en-US" sz="3000" b="1" dirty="0">
                <a:latin typeface="Consolas" panose="020B0609020204030204" pitchFamily="49" charset="0"/>
              </a:rPr>
              <a:t> Data Stream</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E3571FC8-9012-57F6-9C57-9DD963C9090A}"/>
              </a:ext>
            </a:extLst>
          </p:cNvPr>
          <p:cNvSpPr txBox="1"/>
          <p:nvPr/>
        </p:nvSpPr>
        <p:spPr>
          <a:xfrm>
            <a:off x="1164349" y="738775"/>
            <a:ext cx="7597514" cy="5355312"/>
          </a:xfrm>
          <a:prstGeom prst="rect">
            <a:avLst/>
          </a:prstGeom>
          <a:noFill/>
        </p:spPr>
        <p:txBody>
          <a:bodyPr wrap="square" rtlCol="0">
            <a:spAutoFit/>
          </a:bodyPr>
          <a:lstStyle/>
          <a:p>
            <a:pPr marL="457200" indent="-457200">
              <a:buFont typeface="Arial" panose="020B0604020202020204" pitchFamily="34" charset="0"/>
              <a:buChar char="•"/>
            </a:pPr>
            <a:r>
              <a:rPr lang="tr-TR" sz="1400" dirty="0">
                <a:latin typeface="Consolas" panose="020B0609020204030204" pitchFamily="49" charset="0"/>
              </a:rPr>
              <a:t>Bu sistemler paralel sistemlerdir. Çoklu veri akışı üzerinde aynı komutu paralel olarak işleyebilirler. </a:t>
            </a:r>
          </a:p>
          <a:p>
            <a:endParaRPr lang="tr-TR" sz="1400" dirty="0">
              <a:latin typeface="Consolas" panose="020B0609020204030204" pitchFamily="49" charset="0"/>
            </a:endParaRPr>
          </a:p>
          <a:p>
            <a:pPr marL="914400" lvl="1" indent="-457200">
              <a:buFont typeface="Wingdings" panose="05000000000000000000" pitchFamily="2" charset="2"/>
              <a:buChar char="ü"/>
            </a:pPr>
            <a:r>
              <a:rPr lang="tr-TR" sz="1200" b="1" dirty="0">
                <a:latin typeface="Consolas" panose="020B0609020204030204" pitchFamily="49" charset="0"/>
              </a:rPr>
              <a:t>Paralel İşleme: </a:t>
            </a:r>
            <a:r>
              <a:rPr lang="tr-TR" sz="1200" dirty="0">
                <a:latin typeface="Consolas" panose="020B0609020204030204" pitchFamily="49" charset="0"/>
              </a:rPr>
              <a:t>SIMD mimarisinde, bir işlemci aynı anda birden fazla veri öğesi üzerinde aynı komutu işleyebilir. Bu, işlemci tarafından bir komutun aynı anda birden fazla veri öğesine uygulanabileceği anlamına gelir, bu da işlemlerin hızlı bir şekilde paralel olarak gerçekleştirilebilmesini sağlar.</a:t>
            </a:r>
          </a:p>
          <a:p>
            <a:pPr marL="914400" lvl="1" indent="-457200">
              <a:buFont typeface="Wingdings" panose="05000000000000000000" pitchFamily="2" charset="2"/>
              <a:buChar char="ü"/>
            </a:pPr>
            <a:endParaRPr lang="tr-TR" sz="1200" dirty="0">
              <a:latin typeface="Consolas" panose="020B0609020204030204" pitchFamily="49" charset="0"/>
            </a:endParaRPr>
          </a:p>
          <a:p>
            <a:pPr marL="914400" lvl="1" indent="-457200">
              <a:buFont typeface="Wingdings" panose="05000000000000000000" pitchFamily="2" charset="2"/>
              <a:buChar char="ü"/>
            </a:pPr>
            <a:r>
              <a:rPr lang="tr-TR" sz="1200" b="1" dirty="0">
                <a:latin typeface="Consolas" panose="020B0609020204030204" pitchFamily="49" charset="0"/>
              </a:rPr>
              <a:t>Veri </a:t>
            </a:r>
            <a:r>
              <a:rPr lang="tr-TR" sz="1200" b="1" dirty="0" err="1">
                <a:latin typeface="Consolas" panose="020B0609020204030204" pitchFamily="49" charset="0"/>
              </a:rPr>
              <a:t>Paralelizasyonu</a:t>
            </a:r>
            <a:r>
              <a:rPr lang="tr-TR" sz="1200" b="1" dirty="0">
                <a:latin typeface="Consolas" panose="020B0609020204030204" pitchFamily="49" charset="0"/>
              </a:rPr>
              <a:t>: </a:t>
            </a:r>
            <a:r>
              <a:rPr lang="tr-TR" sz="1200" dirty="0">
                <a:latin typeface="Consolas" panose="020B0609020204030204" pitchFamily="49" charset="0"/>
              </a:rPr>
              <a:t>SIMD mimarisinde, işlemler veri odaklıdır. Yani, bir komutun birden fazla veri öğesine uygulanmasıyla elde edilen sonuçlar üzerinde paralel işlem yapılır.</a:t>
            </a:r>
          </a:p>
          <a:p>
            <a:pPr marL="914400" lvl="1" indent="-457200">
              <a:buFont typeface="Wingdings" panose="05000000000000000000" pitchFamily="2" charset="2"/>
              <a:buChar char="ü"/>
            </a:pPr>
            <a:endParaRPr lang="tr-TR" sz="1200" dirty="0">
              <a:latin typeface="Consolas" panose="020B0609020204030204" pitchFamily="49" charset="0"/>
            </a:endParaRPr>
          </a:p>
          <a:p>
            <a:pPr marL="914400" lvl="1" indent="-457200">
              <a:buFont typeface="Wingdings" panose="05000000000000000000" pitchFamily="2" charset="2"/>
              <a:buChar char="ü"/>
            </a:pPr>
            <a:r>
              <a:rPr lang="tr-TR" sz="1200" b="1" dirty="0">
                <a:latin typeface="Consolas" panose="020B0609020204030204" pitchFamily="49" charset="0"/>
              </a:rPr>
              <a:t>Özelleşmiş Komut Setleri: </a:t>
            </a:r>
            <a:r>
              <a:rPr lang="tr-TR" sz="1200" dirty="0">
                <a:latin typeface="Consolas" panose="020B0609020204030204" pitchFamily="49" charset="0"/>
              </a:rPr>
              <a:t>SIMD mimarisi, genellikle özelleşmiş komut setleri kullanır. Bu komut setleri, aynı komutun farklı veri öğelerine uygulanmasını sağlar ve verimliliği artırır.</a:t>
            </a:r>
          </a:p>
          <a:p>
            <a:pPr marL="914400" lvl="1" indent="-457200">
              <a:buFont typeface="Wingdings" panose="05000000000000000000" pitchFamily="2" charset="2"/>
              <a:buChar char="ü"/>
            </a:pPr>
            <a:endParaRPr lang="tr-TR" sz="1200" dirty="0">
              <a:latin typeface="Consolas" panose="020B0609020204030204" pitchFamily="49" charset="0"/>
            </a:endParaRPr>
          </a:p>
          <a:p>
            <a:pPr marL="914400" lvl="1" indent="-457200">
              <a:buFont typeface="Wingdings" panose="05000000000000000000" pitchFamily="2" charset="2"/>
              <a:buChar char="ü"/>
            </a:pPr>
            <a:r>
              <a:rPr lang="tr-TR" sz="1200" b="1" dirty="0">
                <a:latin typeface="Consolas" panose="020B0609020204030204" pitchFamily="49" charset="0"/>
              </a:rPr>
              <a:t>Vektör İşlemleri: </a:t>
            </a:r>
            <a:r>
              <a:rPr lang="tr-TR" sz="1200" dirty="0">
                <a:latin typeface="Consolas" panose="020B0609020204030204" pitchFamily="49" charset="0"/>
              </a:rPr>
              <a:t>SIMD mimarisi sıklıkla vektör işlemleri olarak da adlandırılır. İşlemci, vektörlerdeki (dizilerdeki) veriler üzerinde aynı işlemi uygulayarak veri </a:t>
            </a:r>
            <a:r>
              <a:rPr lang="tr-TR" sz="1200" dirty="0" err="1">
                <a:latin typeface="Consolas" panose="020B0609020204030204" pitchFamily="49" charset="0"/>
              </a:rPr>
              <a:t>paralelizasyonunu</a:t>
            </a:r>
            <a:r>
              <a:rPr lang="tr-TR" sz="1200" dirty="0">
                <a:latin typeface="Consolas" panose="020B0609020204030204" pitchFamily="49" charset="0"/>
              </a:rPr>
              <a:t> gerçekleştirir.</a:t>
            </a:r>
          </a:p>
          <a:p>
            <a:pPr marL="914400" lvl="1" indent="-457200">
              <a:buFont typeface="Wingdings" panose="05000000000000000000" pitchFamily="2" charset="2"/>
              <a:buChar char="ü"/>
            </a:pPr>
            <a:endParaRPr lang="tr-TR" sz="1200" dirty="0">
              <a:latin typeface="Consolas" panose="020B0609020204030204" pitchFamily="49" charset="0"/>
            </a:endParaRPr>
          </a:p>
          <a:p>
            <a:pPr marL="914400" lvl="1" indent="-457200">
              <a:buFont typeface="Wingdings" panose="05000000000000000000" pitchFamily="2" charset="2"/>
              <a:buChar char="ü"/>
            </a:pPr>
            <a:r>
              <a:rPr lang="tr-TR" sz="1200" b="1" dirty="0">
                <a:latin typeface="Consolas" panose="020B0609020204030204" pitchFamily="49" charset="0"/>
              </a:rPr>
              <a:t>Yüksek Performans: </a:t>
            </a:r>
            <a:r>
              <a:rPr lang="tr-TR" sz="1200" dirty="0">
                <a:latin typeface="Consolas" panose="020B0609020204030204" pitchFamily="49" charset="0"/>
              </a:rPr>
              <a:t>SIMD mimarisi, özellikle paralel işlem gerektiren uygulamalarda yüksek performans sağlar. Görüntü işleme, sinyal işleme, grafik işlemleri gibi alanlarda yaygın olarak kullanılır.</a:t>
            </a:r>
          </a:p>
          <a:p>
            <a:pPr marL="914400" lvl="1" indent="-457200">
              <a:buFont typeface="Wingdings" panose="05000000000000000000" pitchFamily="2" charset="2"/>
              <a:buChar char="ü"/>
            </a:pPr>
            <a:endParaRPr lang="tr-TR" sz="1200" dirty="0">
              <a:latin typeface="Consolas" panose="020B0609020204030204" pitchFamily="49" charset="0"/>
            </a:endParaRPr>
          </a:p>
          <a:p>
            <a:pPr marL="914400" lvl="1" indent="-457200">
              <a:buFont typeface="Wingdings" panose="05000000000000000000" pitchFamily="2" charset="2"/>
              <a:buChar char="ü"/>
            </a:pPr>
            <a:r>
              <a:rPr lang="tr-TR" sz="1200" b="1" dirty="0">
                <a:latin typeface="Consolas" panose="020B0609020204030204" pitchFamily="49" charset="0"/>
              </a:rPr>
              <a:t>Örnek Uygulamalar: </a:t>
            </a:r>
            <a:r>
              <a:rPr lang="tr-TR" sz="1200" dirty="0">
                <a:latin typeface="Consolas" panose="020B0609020204030204" pitchFamily="49" charset="0"/>
              </a:rPr>
              <a:t>SIMD mimarisi, grafik işlemcileri (</a:t>
            </a:r>
            <a:r>
              <a:rPr lang="tr-TR" sz="1200" dirty="0" err="1">
                <a:latin typeface="Consolas" panose="020B0609020204030204" pitchFamily="49" charset="0"/>
              </a:rPr>
              <a:t>GPU'lar</a:t>
            </a:r>
            <a:r>
              <a:rPr lang="tr-TR" sz="1200" dirty="0">
                <a:latin typeface="Consolas" panose="020B0609020204030204" pitchFamily="49" charset="0"/>
              </a:rPr>
              <a:t>), dijital sinyal işleme işlemcileri (DSP'ler), vektörel işlem birimleri (</a:t>
            </a:r>
            <a:r>
              <a:rPr lang="tr-TR" sz="1200" dirty="0" err="1">
                <a:latin typeface="Consolas" panose="020B0609020204030204" pitchFamily="49" charset="0"/>
              </a:rPr>
              <a:t>VPU'lar</a:t>
            </a:r>
            <a:r>
              <a:rPr lang="tr-TR" sz="1200" dirty="0">
                <a:latin typeface="Consolas" panose="020B0609020204030204" pitchFamily="49" charset="0"/>
              </a:rPr>
              <a:t>) gibi özel donanımların yanı sıra, modern CPU'lar da dahil olmak üzere çeşitli işlemci türlerinde kullanılır.</a:t>
            </a:r>
          </a:p>
        </p:txBody>
      </p:sp>
      <p:pic>
        <p:nvPicPr>
          <p:cNvPr id="2" name="Picture 2" descr="Flynn's Taxonomy of Computer Architectures. [13] | Download Scientific  Diagram">
            <a:extLst>
              <a:ext uri="{FF2B5EF4-FFF2-40B4-BE49-F238E27FC236}">
                <a16:creationId xmlns:a16="http://schemas.microsoft.com/office/drawing/2014/main" id="{84B4C06B-4611-1C24-0143-A0E4F18C404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1722" r="61569"/>
          <a:stretch/>
        </p:blipFill>
        <p:spPr bwMode="auto">
          <a:xfrm>
            <a:off x="9106053" y="949849"/>
            <a:ext cx="2579814" cy="2426683"/>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22EDD70E-289F-7855-E92B-5EEBED3F806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7148" t="14713" r="39617"/>
          <a:stretch/>
        </p:blipFill>
        <p:spPr bwMode="auto">
          <a:xfrm>
            <a:off x="9289280" y="3587607"/>
            <a:ext cx="2213360" cy="3028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121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4E479-C5B3-4FC4-35F0-22D541C77A71}"/>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817C35BD-49D2-6450-8F66-EB03BE0ABC5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B019AD0D-DAE4-8FF7-DC24-71ED1EF0C21B}"/>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SIMD (</a:t>
            </a:r>
            <a:r>
              <a:rPr lang="en-US" sz="3000" b="1" dirty="0">
                <a:latin typeface="Consolas" panose="020B0609020204030204" pitchFamily="49" charset="0"/>
              </a:rPr>
              <a:t>Single Instruction, </a:t>
            </a:r>
            <a:r>
              <a:rPr lang="tr-TR" sz="3000" b="1" dirty="0">
                <a:latin typeface="Consolas" panose="020B0609020204030204" pitchFamily="49" charset="0"/>
              </a:rPr>
              <a:t>Multiple</a:t>
            </a:r>
            <a:r>
              <a:rPr lang="en-US" sz="3000" b="1" dirty="0">
                <a:latin typeface="Consolas" panose="020B0609020204030204" pitchFamily="49" charset="0"/>
              </a:rPr>
              <a:t> Data Stream</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2C1A22D1-86C7-9D59-D9E9-78A9C88E19BB}"/>
              </a:ext>
            </a:extLst>
          </p:cNvPr>
          <p:cNvSpPr txBox="1"/>
          <p:nvPr/>
        </p:nvSpPr>
        <p:spPr>
          <a:xfrm>
            <a:off x="1164349" y="738775"/>
            <a:ext cx="10688668" cy="2862322"/>
          </a:xfrm>
          <a:prstGeom prst="rect">
            <a:avLst/>
          </a:prstGeom>
          <a:noFill/>
        </p:spPr>
        <p:txBody>
          <a:bodyPr wrap="square" rtlCol="0">
            <a:spAutoFit/>
          </a:bodyPr>
          <a:lstStyle/>
          <a:p>
            <a:pPr marL="457200" indent="-457200">
              <a:buFont typeface="Arial" panose="020B0604020202020204" pitchFamily="34" charset="0"/>
              <a:buChar char="•"/>
            </a:pPr>
            <a:r>
              <a:rPr lang="tr-TR" sz="2000" b="1" dirty="0" err="1">
                <a:latin typeface="Consolas" panose="020B0609020204030204" pitchFamily="49" charset="0"/>
              </a:rPr>
              <a:t>Vector</a:t>
            </a:r>
            <a:r>
              <a:rPr lang="tr-TR" sz="2000" b="1" dirty="0">
                <a:latin typeface="Consolas" panose="020B0609020204030204" pitchFamily="49" charset="0"/>
              </a:rPr>
              <a:t> </a:t>
            </a:r>
            <a:r>
              <a:rPr lang="tr-TR" sz="2000" b="1" dirty="0" err="1">
                <a:latin typeface="Consolas" panose="020B0609020204030204" pitchFamily="49" charset="0"/>
              </a:rPr>
              <a:t>Processors</a:t>
            </a:r>
            <a:r>
              <a:rPr lang="tr-TR" sz="2000" b="1" dirty="0">
                <a:latin typeface="Consolas" panose="020B0609020204030204" pitchFamily="49" charset="0"/>
              </a:rPr>
              <a:t> (Vektör İşlemciler):</a:t>
            </a:r>
          </a:p>
          <a:p>
            <a:pPr marL="914400" lvl="1" indent="-457200">
              <a:buFont typeface="Wingdings" panose="05000000000000000000" pitchFamily="2" charset="2"/>
              <a:buChar char="ü"/>
            </a:pPr>
            <a:r>
              <a:rPr lang="tr-TR" sz="2000" dirty="0">
                <a:latin typeface="Consolas" panose="020B0609020204030204" pitchFamily="49" charset="0"/>
              </a:rPr>
              <a:t>Bu tip işlemciler dizi ya da vektör şeklindeki veri üzerinde paralel olarak çalışabilme kabiliyetine sahiptir.</a:t>
            </a:r>
          </a:p>
          <a:p>
            <a:pPr marL="914400" lvl="1" indent="-457200">
              <a:buFont typeface="Wingdings" panose="05000000000000000000" pitchFamily="2" charset="2"/>
              <a:buChar char="ü"/>
            </a:pPr>
            <a:r>
              <a:rPr lang="tr-TR" sz="2000" dirty="0">
                <a:latin typeface="Consolas" panose="020B0609020204030204" pitchFamily="49" charset="0"/>
              </a:rPr>
              <a:t>Örneğin veri yolu genişliği boyutundaki bir diziyi tek bir IC (</a:t>
            </a:r>
            <a:r>
              <a:rPr lang="tr-TR" sz="2000" dirty="0" err="1">
                <a:latin typeface="Consolas" panose="020B0609020204030204" pitchFamily="49" charset="0"/>
              </a:rPr>
              <a:t>Instruction</a:t>
            </a:r>
            <a:r>
              <a:rPr lang="tr-TR" sz="2000" dirty="0">
                <a:latin typeface="Consolas" panose="020B0609020204030204" pitchFamily="49" charset="0"/>
              </a:rPr>
              <a:t> </a:t>
            </a:r>
            <a:r>
              <a:rPr lang="tr-TR" sz="2000" dirty="0" err="1">
                <a:latin typeface="Consolas" panose="020B0609020204030204" pitchFamily="49" charset="0"/>
              </a:rPr>
              <a:t>Cycle</a:t>
            </a:r>
            <a:r>
              <a:rPr lang="tr-TR" sz="2000" dirty="0">
                <a:latin typeface="Consolas" panose="020B0609020204030204" pitchFamily="49" charset="0"/>
              </a:rPr>
              <a:t>) komut döngüsü süresinde işleyebilir.</a:t>
            </a:r>
          </a:p>
          <a:p>
            <a:pPr marL="914400" lvl="1" indent="-457200">
              <a:buFont typeface="Wingdings" panose="05000000000000000000" pitchFamily="2" charset="2"/>
              <a:buChar char="ü"/>
            </a:pPr>
            <a:endParaRPr lang="tr-TR" sz="2000" dirty="0">
              <a:latin typeface="Consolas" panose="020B0609020204030204" pitchFamily="49" charset="0"/>
            </a:endParaRPr>
          </a:p>
          <a:p>
            <a:pPr marL="457200" indent="-457200">
              <a:buFont typeface="Arial" panose="020B0604020202020204" pitchFamily="34" charset="0"/>
              <a:buChar char="•"/>
            </a:pPr>
            <a:r>
              <a:rPr lang="tr-TR" sz="2000" b="1" dirty="0">
                <a:latin typeface="Consolas" panose="020B0609020204030204" pitchFamily="49" charset="0"/>
              </a:rPr>
              <a:t>Grafik işlemcileri (GPU: </a:t>
            </a:r>
            <a:r>
              <a:rPr lang="tr-TR" sz="2000" b="1" dirty="0" err="1">
                <a:latin typeface="Consolas" panose="020B0609020204030204" pitchFamily="49" charset="0"/>
              </a:rPr>
              <a:t>Graphic</a:t>
            </a:r>
            <a:r>
              <a:rPr lang="tr-TR" sz="2000" b="1" dirty="0">
                <a:latin typeface="Consolas" panose="020B0609020204030204" pitchFamily="49" charset="0"/>
              </a:rPr>
              <a:t> </a:t>
            </a:r>
            <a:r>
              <a:rPr lang="tr-TR" sz="2000" b="1" dirty="0" err="1">
                <a:latin typeface="Consolas" panose="020B0609020204030204" pitchFamily="49" charset="0"/>
              </a:rPr>
              <a:t>Processing</a:t>
            </a:r>
            <a:r>
              <a:rPr lang="tr-TR" sz="2000" b="1" dirty="0">
                <a:latin typeface="Consolas" panose="020B0609020204030204" pitchFamily="49" charset="0"/>
              </a:rPr>
              <a:t> </a:t>
            </a:r>
            <a:r>
              <a:rPr lang="tr-TR" sz="2000" b="1" dirty="0" err="1">
                <a:latin typeface="Consolas" panose="020B0609020204030204" pitchFamily="49" charset="0"/>
              </a:rPr>
              <a:t>Units</a:t>
            </a:r>
            <a:r>
              <a:rPr lang="tr-TR" sz="2000" b="1" dirty="0">
                <a:latin typeface="Consolas" panose="020B0609020204030204" pitchFamily="49" charset="0"/>
              </a:rPr>
              <a:t>):</a:t>
            </a:r>
          </a:p>
          <a:p>
            <a:pPr marL="914400" lvl="1" indent="-457200">
              <a:buFont typeface="Wingdings" panose="05000000000000000000" pitchFamily="2" charset="2"/>
              <a:buChar char="ü"/>
            </a:pPr>
            <a:r>
              <a:rPr lang="tr-TR" sz="2000" dirty="0" err="1">
                <a:latin typeface="Consolas" panose="020B0609020204030204" pitchFamily="49" charset="0"/>
              </a:rPr>
              <a:t>Graphic</a:t>
            </a:r>
            <a:r>
              <a:rPr lang="tr-TR" sz="2000" dirty="0">
                <a:latin typeface="Consolas" panose="020B0609020204030204" pitchFamily="49" charset="0"/>
              </a:rPr>
              <a:t> </a:t>
            </a:r>
            <a:r>
              <a:rPr lang="tr-TR" sz="2000" dirty="0" err="1">
                <a:latin typeface="Consolas" panose="020B0609020204030204" pitchFamily="49" charset="0"/>
              </a:rPr>
              <a:t>processing</a:t>
            </a:r>
            <a:r>
              <a:rPr lang="tr-TR" sz="2000" dirty="0">
                <a:latin typeface="Consolas" panose="020B0609020204030204" pitchFamily="49" charset="0"/>
              </a:rPr>
              <a:t> </a:t>
            </a:r>
            <a:r>
              <a:rPr lang="tr-TR" sz="2000" dirty="0" err="1">
                <a:latin typeface="Consolas" panose="020B0609020204030204" pitchFamily="49" charset="0"/>
              </a:rPr>
              <a:t>pipeline</a:t>
            </a:r>
            <a:r>
              <a:rPr lang="tr-TR" sz="2000" dirty="0">
                <a:latin typeface="Consolas" panose="020B0609020204030204" pitchFamily="49" charset="0"/>
              </a:rPr>
              <a:t> kullanarak piksel dizilerinin ve grafik işlemlerinin paralel olarak işlenebilmesini sağlamaktadır.</a:t>
            </a:r>
          </a:p>
        </p:txBody>
      </p:sp>
      <p:pic>
        <p:nvPicPr>
          <p:cNvPr id="2" name="Picture 2" descr="Flynn's Taxonomy of Computer Architectures. [13] | Download Scientific  Diagram">
            <a:extLst>
              <a:ext uri="{FF2B5EF4-FFF2-40B4-BE49-F238E27FC236}">
                <a16:creationId xmlns:a16="http://schemas.microsoft.com/office/drawing/2014/main" id="{565B965A-4080-712B-5B26-A58374FAC05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1722" r="61569"/>
          <a:stretch/>
        </p:blipFill>
        <p:spPr bwMode="auto">
          <a:xfrm>
            <a:off x="3774124" y="3727088"/>
            <a:ext cx="3245654" cy="305300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4314D26B-C2BD-EC1B-0F0F-99253371504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7148" t="14713" r="39617"/>
          <a:stretch/>
        </p:blipFill>
        <p:spPr bwMode="auto">
          <a:xfrm>
            <a:off x="7291668" y="3727088"/>
            <a:ext cx="2213360" cy="3028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9812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44EEE-C891-7512-CCEE-61396DA33BE1}"/>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BCED4E32-4D26-B8FA-680C-DE4AD53623A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EEDF405D-7A6D-31BE-73C7-63077C13B548}"/>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MISD (Multiple</a:t>
            </a:r>
            <a:r>
              <a:rPr lang="en-US" sz="3000" b="1" dirty="0">
                <a:latin typeface="Consolas" panose="020B0609020204030204" pitchFamily="49" charset="0"/>
              </a:rPr>
              <a:t> Instruction,</a:t>
            </a:r>
            <a:r>
              <a:rPr lang="tr-TR" sz="3000" b="1" dirty="0">
                <a:latin typeface="Consolas" panose="020B0609020204030204" pitchFamily="49" charset="0"/>
              </a:rPr>
              <a:t> </a:t>
            </a:r>
            <a:r>
              <a:rPr lang="tr-TR" sz="3000" b="1" dirty="0" err="1">
                <a:latin typeface="Consolas" panose="020B0609020204030204" pitchFamily="49" charset="0"/>
              </a:rPr>
              <a:t>Single</a:t>
            </a:r>
            <a:r>
              <a:rPr lang="en-US" sz="3000" b="1" dirty="0">
                <a:latin typeface="Consolas" panose="020B0609020204030204" pitchFamily="49" charset="0"/>
              </a:rPr>
              <a:t> Data Stream</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49CC7146-7DC1-C04F-DDB2-ED7802D5F2FD}"/>
              </a:ext>
            </a:extLst>
          </p:cNvPr>
          <p:cNvSpPr txBox="1"/>
          <p:nvPr/>
        </p:nvSpPr>
        <p:spPr>
          <a:xfrm>
            <a:off x="1164349" y="738775"/>
            <a:ext cx="7597514" cy="5909310"/>
          </a:xfrm>
          <a:prstGeom prst="rect">
            <a:avLst/>
          </a:prstGeom>
          <a:noFill/>
        </p:spPr>
        <p:txBody>
          <a:bodyPr wrap="square" rtlCol="0">
            <a:spAutoFit/>
          </a:bodyPr>
          <a:lstStyle/>
          <a:p>
            <a:pPr marL="457200" indent="-457200">
              <a:buFont typeface="Arial" panose="020B0604020202020204" pitchFamily="34" charset="0"/>
              <a:buChar char="•"/>
            </a:pPr>
            <a:r>
              <a:rPr lang="tr-TR" sz="1400" dirty="0">
                <a:latin typeface="Consolas" panose="020B0609020204030204" pitchFamily="49" charset="0"/>
              </a:rPr>
              <a:t>Tek bir veri üzerinde birden fazla komut setinin eş zamanlı olarak çalıştırılması prensibine dayanmaktadır.</a:t>
            </a:r>
          </a:p>
          <a:p>
            <a:pPr marL="457200" indent="-457200">
              <a:buFont typeface="Arial" panose="020B0604020202020204" pitchFamily="34" charset="0"/>
              <a:buChar char="•"/>
            </a:pPr>
            <a:r>
              <a:rPr lang="tr-TR" sz="1400" dirty="0">
                <a:latin typeface="Consolas" panose="020B0609020204030204" pitchFamily="49" charset="0"/>
              </a:rPr>
              <a:t>MISD mimarisi, genellikle teorik bir kavram olarak ele alınır ve gerçek dünya uygulamalarında nadiren kullanılır. </a:t>
            </a:r>
          </a:p>
          <a:p>
            <a:pPr marL="457200" indent="-457200">
              <a:buFont typeface="Arial" panose="020B0604020202020204" pitchFamily="34" charset="0"/>
              <a:buChar char="•"/>
            </a:pPr>
            <a:endParaRPr lang="tr-TR" sz="1400" dirty="0">
              <a:latin typeface="Consolas" panose="020B0609020204030204" pitchFamily="49" charset="0"/>
            </a:endParaRPr>
          </a:p>
          <a:p>
            <a:pPr marL="914400" lvl="1" indent="-457200" algn="just">
              <a:buFont typeface="Wingdings" panose="05000000000000000000" pitchFamily="2" charset="2"/>
              <a:buChar char="ü"/>
            </a:pPr>
            <a:r>
              <a:rPr lang="tr-TR" sz="1400" b="1" dirty="0">
                <a:latin typeface="Consolas" panose="020B0609020204030204" pitchFamily="49" charset="0"/>
              </a:rPr>
              <a:t>Çoklu Komut İşleme: </a:t>
            </a:r>
            <a:r>
              <a:rPr lang="tr-TR" sz="1400" dirty="0">
                <a:latin typeface="Consolas" panose="020B0609020204030204" pitchFamily="49" charset="0"/>
              </a:rPr>
              <a:t>MISD mimarisinde, işlemci aynı anda birden fazla komutu işleyebilir. Bu, işlemcinin farklı işlem adımlarını eş zamanlı olarak gerçekleştirebileceği anlamına gelir.</a:t>
            </a:r>
          </a:p>
          <a:p>
            <a:pPr marL="914400" lvl="1" indent="-457200" algn="just">
              <a:buFont typeface="Wingdings" panose="05000000000000000000" pitchFamily="2" charset="2"/>
              <a:buChar char="ü"/>
            </a:pPr>
            <a:endParaRPr lang="tr-TR" sz="1400" dirty="0">
              <a:latin typeface="Consolas" panose="020B0609020204030204" pitchFamily="49" charset="0"/>
            </a:endParaRPr>
          </a:p>
          <a:p>
            <a:pPr marL="914400" lvl="1" indent="-457200" algn="just">
              <a:buFont typeface="Wingdings" panose="05000000000000000000" pitchFamily="2" charset="2"/>
              <a:buChar char="ü"/>
            </a:pPr>
            <a:r>
              <a:rPr lang="tr-TR" sz="1400" b="1" dirty="0">
                <a:latin typeface="Consolas" panose="020B0609020204030204" pitchFamily="49" charset="0"/>
              </a:rPr>
              <a:t>Tek Veri İşleme: </a:t>
            </a:r>
            <a:r>
              <a:rPr lang="tr-TR" sz="1400" dirty="0">
                <a:latin typeface="Consolas" panose="020B0609020204030204" pitchFamily="49" charset="0"/>
              </a:rPr>
              <a:t>İşlemci, birden fazla komutu aynı veri seti üzerinde işler. Yani, her bir komut aynı veri üzerinde işlem yapar.</a:t>
            </a:r>
          </a:p>
          <a:p>
            <a:pPr marL="914400" lvl="1" indent="-457200" algn="just">
              <a:buFont typeface="Wingdings" panose="05000000000000000000" pitchFamily="2" charset="2"/>
              <a:buChar char="ü"/>
            </a:pPr>
            <a:endParaRPr lang="tr-TR" sz="1400" dirty="0">
              <a:latin typeface="Consolas" panose="020B0609020204030204" pitchFamily="49" charset="0"/>
            </a:endParaRPr>
          </a:p>
          <a:p>
            <a:pPr marL="914400" lvl="1" indent="-457200" algn="just">
              <a:buFont typeface="Wingdings" panose="05000000000000000000" pitchFamily="2" charset="2"/>
              <a:buChar char="ü"/>
            </a:pPr>
            <a:r>
              <a:rPr lang="tr-TR" sz="1400" b="1" dirty="0">
                <a:latin typeface="Consolas" panose="020B0609020204030204" pitchFamily="49" charset="0"/>
              </a:rPr>
              <a:t>Yüksek Paralellik Potansiyeli: </a:t>
            </a:r>
            <a:r>
              <a:rPr lang="tr-TR" sz="1400" dirty="0">
                <a:latin typeface="Consolas" panose="020B0609020204030204" pitchFamily="49" charset="0"/>
              </a:rPr>
              <a:t>MISD mimarisi, teorik olarak yüksek paralellik potansiyeline sahiptir. Birden fazla komutun aynı anda çalıştırılabilmesi, işlemcide paralel işleme sağlar.</a:t>
            </a:r>
          </a:p>
          <a:p>
            <a:pPr marL="914400" lvl="1" indent="-457200" algn="just">
              <a:buFont typeface="Wingdings" panose="05000000000000000000" pitchFamily="2" charset="2"/>
              <a:buChar char="ü"/>
            </a:pPr>
            <a:endParaRPr lang="tr-TR" sz="1400" dirty="0">
              <a:latin typeface="Consolas" panose="020B0609020204030204" pitchFamily="49" charset="0"/>
            </a:endParaRPr>
          </a:p>
          <a:p>
            <a:pPr marL="914400" lvl="1" indent="-457200" algn="just">
              <a:buFont typeface="Wingdings" panose="05000000000000000000" pitchFamily="2" charset="2"/>
              <a:buChar char="ü"/>
            </a:pPr>
            <a:r>
              <a:rPr lang="tr-TR" sz="1400" b="1" dirty="0">
                <a:latin typeface="Consolas" panose="020B0609020204030204" pitchFamily="49" charset="0"/>
              </a:rPr>
              <a:t>Düzgünleştirme (</a:t>
            </a:r>
            <a:r>
              <a:rPr lang="tr-TR" sz="1400" b="1" dirty="0" err="1">
                <a:latin typeface="Consolas" panose="020B0609020204030204" pitchFamily="49" charset="0"/>
              </a:rPr>
              <a:t>Redundancy</a:t>
            </a:r>
            <a:r>
              <a:rPr lang="tr-TR" sz="1400" b="1" dirty="0">
                <a:latin typeface="Consolas" panose="020B0609020204030204" pitchFamily="49" charset="0"/>
              </a:rPr>
              <a:t>) ve Hata Düzeltme: </a:t>
            </a:r>
            <a:r>
              <a:rPr lang="tr-TR" sz="1400" dirty="0">
                <a:latin typeface="Consolas" panose="020B0609020204030204" pitchFamily="49" charset="0"/>
              </a:rPr>
              <a:t>MISD mimarisi, farklı komutların aynı veri üzerinde bağımsız olarak çalışmasını sağlayarak düzgünleştirmeyi veya hata düzeltmeyi sağlayabilir. Fakat bu uygulama yaygın değildir.</a:t>
            </a:r>
          </a:p>
          <a:p>
            <a:pPr marL="914400" lvl="1" indent="-457200" algn="just">
              <a:buFont typeface="Wingdings" panose="05000000000000000000" pitchFamily="2" charset="2"/>
              <a:buChar char="ü"/>
            </a:pPr>
            <a:endParaRPr lang="tr-TR" sz="1400" dirty="0">
              <a:latin typeface="Consolas" panose="020B0609020204030204" pitchFamily="49" charset="0"/>
            </a:endParaRPr>
          </a:p>
          <a:p>
            <a:pPr marL="914400" lvl="1" indent="-457200" algn="just">
              <a:buFont typeface="Wingdings" panose="05000000000000000000" pitchFamily="2" charset="2"/>
              <a:buChar char="ü"/>
            </a:pPr>
            <a:r>
              <a:rPr lang="tr-TR" sz="1400" b="1" dirty="0">
                <a:latin typeface="Consolas" panose="020B0609020204030204" pitchFamily="49" charset="0"/>
              </a:rPr>
              <a:t>Örnek Uygulamalar: </a:t>
            </a:r>
            <a:r>
              <a:rPr lang="tr-TR" sz="1400" dirty="0">
                <a:latin typeface="Consolas" panose="020B0609020204030204" pitchFamily="49" charset="0"/>
              </a:rPr>
              <a:t>MISD mimarisi, genellikle çeşitli hata tespit ve düzeltme sistemlerinde kullanılır. Örneğin, uzay araçları veya kritik sistemlerde, farklı algoritmaların aynı veri üzerinde çalıştırılması ve sonuçların karşılaştırılmasıyla hata tespiti ve düzeltme sağlanabilir.</a:t>
            </a:r>
          </a:p>
        </p:txBody>
      </p:sp>
      <p:pic>
        <p:nvPicPr>
          <p:cNvPr id="3" name="Picture 2" descr="Flynn's Taxonomy of Computer Architectures. [13] | Download Scientific  Diagram">
            <a:extLst>
              <a:ext uri="{FF2B5EF4-FFF2-40B4-BE49-F238E27FC236}">
                <a16:creationId xmlns:a16="http://schemas.microsoft.com/office/drawing/2014/main" id="{8292DF2E-35E9-48B3-10DD-7F2A98ACD5C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6175" t="5595" r="15240" b="50049"/>
          <a:stretch/>
        </p:blipFill>
        <p:spPr bwMode="auto">
          <a:xfrm>
            <a:off x="8989447" y="738775"/>
            <a:ext cx="2635986" cy="2268940"/>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a:extLst>
              <a:ext uri="{FF2B5EF4-FFF2-40B4-BE49-F238E27FC236}">
                <a16:creationId xmlns:a16="http://schemas.microsoft.com/office/drawing/2014/main" id="{E765854E-E472-41A6-2A38-87333A56C00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5312" t="17750" b="13957"/>
          <a:stretch/>
        </p:blipFill>
        <p:spPr bwMode="auto">
          <a:xfrm>
            <a:off x="8943710" y="3429000"/>
            <a:ext cx="2681723" cy="2815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0544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0D7C0-BE6D-7C49-5168-F760FDFEEEE2}"/>
            </a:ext>
          </a:extLst>
        </p:cNvPr>
        <p:cNvGrpSpPr/>
        <p:nvPr/>
      </p:nvGrpSpPr>
      <p:grpSpPr>
        <a:xfrm>
          <a:off x="0" y="0"/>
          <a:ext cx="0" cy="0"/>
          <a:chOff x="0" y="0"/>
          <a:chExt cx="0" cy="0"/>
        </a:xfrm>
      </p:grpSpPr>
      <p:pic>
        <p:nvPicPr>
          <p:cNvPr id="2" name="Picture 2" descr="Flynn's Taxonomy of Computer Architectures. [13] | Download Scientific  Diagram">
            <a:extLst>
              <a:ext uri="{FF2B5EF4-FFF2-40B4-BE49-F238E27FC236}">
                <a16:creationId xmlns:a16="http://schemas.microsoft.com/office/drawing/2014/main" id="{634E4FF6-2970-9BE5-BD32-B7378A59FE1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1403" t="51836"/>
          <a:stretch/>
        </p:blipFill>
        <p:spPr bwMode="auto">
          <a:xfrm>
            <a:off x="3968798" y="3193576"/>
            <a:ext cx="4779517" cy="294157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Parallel computing for high-performance simulations">
            <a:extLst>
              <a:ext uri="{FF2B5EF4-FFF2-40B4-BE49-F238E27FC236}">
                <a16:creationId xmlns:a16="http://schemas.microsoft.com/office/drawing/2014/main" id="{66D78233-F384-6715-2789-F5920AF7662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A23C7746-DFAD-4A40-930B-31C8294D542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MIMD (Multiple</a:t>
            </a:r>
            <a:r>
              <a:rPr lang="en-US" sz="3000" b="1" dirty="0">
                <a:latin typeface="Consolas" panose="020B0609020204030204" pitchFamily="49" charset="0"/>
              </a:rPr>
              <a:t> Instruction,</a:t>
            </a:r>
            <a:r>
              <a:rPr lang="tr-TR" sz="3000" b="1" dirty="0">
                <a:latin typeface="Consolas" panose="020B0609020204030204" pitchFamily="49" charset="0"/>
              </a:rPr>
              <a:t> Multiple</a:t>
            </a:r>
            <a:r>
              <a:rPr lang="en-US" sz="3000" b="1" dirty="0">
                <a:latin typeface="Consolas" panose="020B0609020204030204" pitchFamily="49" charset="0"/>
              </a:rPr>
              <a:t> Data Stream</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7D188AAE-0E7B-A177-618D-7D383EE7F8B6}"/>
              </a:ext>
            </a:extLst>
          </p:cNvPr>
          <p:cNvSpPr txBox="1"/>
          <p:nvPr/>
        </p:nvSpPr>
        <p:spPr>
          <a:xfrm>
            <a:off x="1164349" y="941212"/>
            <a:ext cx="10688668" cy="2585323"/>
          </a:xfrm>
          <a:prstGeom prst="rect">
            <a:avLst/>
          </a:prstGeom>
          <a:noFill/>
        </p:spPr>
        <p:txBody>
          <a:bodyPr wrap="square" rtlCol="0">
            <a:spAutoFit/>
          </a:bodyPr>
          <a:lstStyle/>
          <a:p>
            <a:pPr marL="285750" indent="-285750">
              <a:buFont typeface="Arial" panose="020B0604020202020204" pitchFamily="34" charset="0"/>
              <a:buChar char="•"/>
            </a:pPr>
            <a:r>
              <a:rPr lang="tr-TR" dirty="0">
                <a:latin typeface="Consolas" panose="020B0609020204030204" pitchFamily="49" charset="0"/>
              </a:rPr>
              <a:t>MIMD sistemler birbirinden tamamen bağımsız ve paralel olarak </a:t>
            </a:r>
          </a:p>
          <a:p>
            <a:r>
              <a:rPr lang="tr-TR" dirty="0">
                <a:latin typeface="Consolas" panose="020B0609020204030204" pitchFamily="49" charset="0"/>
              </a:rPr>
              <a:t>çalışabilen çekirdeklere (</a:t>
            </a:r>
            <a:r>
              <a:rPr lang="tr-TR" dirty="0" err="1">
                <a:latin typeface="Consolas" panose="020B0609020204030204" pitchFamily="49" charset="0"/>
              </a:rPr>
              <a:t>core</a:t>
            </a:r>
            <a:r>
              <a:rPr lang="tr-TR" dirty="0">
                <a:latin typeface="Consolas" panose="020B0609020204030204" pitchFamily="49" charset="0"/>
              </a:rPr>
              <a:t>) sahiptirler. </a:t>
            </a:r>
          </a:p>
          <a:p>
            <a:pPr marL="285750" indent="-285750">
              <a:buFont typeface="Arial" panose="020B0604020202020204" pitchFamily="34" charset="0"/>
              <a:buChar char="•"/>
            </a:pPr>
            <a:r>
              <a:rPr lang="tr-TR" dirty="0">
                <a:latin typeface="Consolas" panose="020B0609020204030204" pitchFamily="49" charset="0"/>
              </a:rPr>
              <a:t>Her bir </a:t>
            </a:r>
            <a:r>
              <a:rPr lang="tr-TR" dirty="0" err="1">
                <a:latin typeface="Consolas" panose="020B0609020204030204" pitchFamily="49" charset="0"/>
              </a:rPr>
              <a:t>core</a:t>
            </a:r>
            <a:r>
              <a:rPr lang="tr-TR" dirty="0">
                <a:latin typeface="Consolas" panose="020B0609020204030204" pitchFamily="49" charset="0"/>
              </a:rPr>
              <a:t> kendisine ait bir ALU ve Kontrol Ünitesine sahiptir. </a:t>
            </a:r>
          </a:p>
          <a:p>
            <a:pPr marL="285750" indent="-285750">
              <a:buFont typeface="Arial" panose="020B0604020202020204" pitchFamily="34" charset="0"/>
              <a:buChar char="•"/>
            </a:pPr>
            <a:r>
              <a:rPr lang="tr-TR" dirty="0">
                <a:latin typeface="Consolas" panose="020B0609020204030204" pitchFamily="49" charset="0"/>
              </a:rPr>
              <a:t>SIMD sistemlerinin aksine  MIMD sistemler asenkron olarak çalışabilir. </a:t>
            </a:r>
          </a:p>
          <a:p>
            <a:pPr marL="285750" indent="-285750">
              <a:buFont typeface="Arial" panose="020B0604020202020204" pitchFamily="34" charset="0"/>
              <a:buChar char="•"/>
            </a:pPr>
            <a:r>
              <a:rPr lang="tr-TR" dirty="0">
                <a:latin typeface="Consolas" panose="020B0609020204030204" pitchFamily="49" charset="0"/>
              </a:rPr>
              <a:t>Birçok MIMD sistemde global  bir saat darbesi (</a:t>
            </a:r>
            <a:r>
              <a:rPr lang="tr-TR" dirty="0" err="1">
                <a:latin typeface="Consolas" panose="020B0609020204030204" pitchFamily="49" charset="0"/>
              </a:rPr>
              <a:t>clock</a:t>
            </a:r>
            <a:r>
              <a:rPr lang="tr-TR" dirty="0">
                <a:latin typeface="Consolas" panose="020B0609020204030204" pitchFamily="49" charset="0"/>
              </a:rPr>
              <a:t> </a:t>
            </a:r>
            <a:r>
              <a:rPr lang="tr-TR" dirty="0" err="1">
                <a:latin typeface="Consolas" panose="020B0609020204030204" pitchFamily="49" charset="0"/>
              </a:rPr>
              <a:t>pulse</a:t>
            </a:r>
            <a:r>
              <a:rPr lang="tr-TR" dirty="0">
                <a:latin typeface="Consolas" panose="020B0609020204030204" pitchFamily="49" charset="0"/>
              </a:rPr>
              <a:t>) yoktur. </a:t>
            </a:r>
          </a:p>
          <a:p>
            <a:pPr marL="285750" indent="-285750">
              <a:buFont typeface="Arial" panose="020B0604020202020204" pitchFamily="34" charset="0"/>
              <a:buChar char="•"/>
            </a:pPr>
            <a:r>
              <a:rPr lang="tr-TR" dirty="0">
                <a:latin typeface="Consolas" panose="020B0609020204030204" pitchFamily="49" charset="0"/>
              </a:rPr>
              <a:t>Bunun yerine kullanıcı sistemi  kendi arasında senkronize etmelidir.</a:t>
            </a:r>
          </a:p>
          <a:p>
            <a:endParaRPr lang="tr-TR" dirty="0">
              <a:latin typeface="Consolas" panose="020B0609020204030204" pitchFamily="49" charset="0"/>
            </a:endParaRPr>
          </a:p>
          <a:p>
            <a:pPr marL="457200" indent="-457200">
              <a:buFont typeface="Wingdings" panose="05000000000000000000" pitchFamily="2" charset="2"/>
              <a:buChar char="ü"/>
            </a:pPr>
            <a:endParaRPr lang="tr-TR" dirty="0">
              <a:latin typeface="Consolas" panose="020B0609020204030204" pitchFamily="49" charset="0"/>
            </a:endParaRPr>
          </a:p>
          <a:p>
            <a:pPr marL="457200" indent="-457200">
              <a:buFont typeface="Arial" panose="020B0604020202020204" pitchFamily="34" charset="0"/>
              <a:buChar char="•"/>
            </a:pPr>
            <a:endParaRPr lang="tr-TR" dirty="0">
              <a:latin typeface="Consolas" panose="020B0609020204030204" pitchFamily="49" charset="0"/>
            </a:endParaRPr>
          </a:p>
        </p:txBody>
      </p:sp>
    </p:spTree>
    <p:extLst>
      <p:ext uri="{BB962C8B-B14F-4D97-AF65-F5344CB8AC3E}">
        <p14:creationId xmlns:p14="http://schemas.microsoft.com/office/powerpoint/2010/main" val="1611020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68400-1509-DAA5-D4BD-399BD7BC2D4E}"/>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F9E16255-DCD2-04EA-94B7-89C57A96A53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18C43571-067F-8B12-5493-EF0648B2F610}"/>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MIMD (Multiple</a:t>
            </a:r>
            <a:r>
              <a:rPr lang="en-US" sz="3000" b="1" dirty="0">
                <a:latin typeface="Consolas" panose="020B0609020204030204" pitchFamily="49" charset="0"/>
              </a:rPr>
              <a:t> Instruction,</a:t>
            </a:r>
            <a:r>
              <a:rPr lang="tr-TR" sz="3000" b="1" dirty="0">
                <a:latin typeface="Consolas" panose="020B0609020204030204" pitchFamily="49" charset="0"/>
              </a:rPr>
              <a:t> Multiple</a:t>
            </a:r>
            <a:r>
              <a:rPr lang="en-US" sz="3000" b="1" dirty="0">
                <a:latin typeface="Consolas" panose="020B0609020204030204" pitchFamily="49" charset="0"/>
              </a:rPr>
              <a:t> Data Stream</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3B564577-9234-6196-64E0-85F22802C75D}"/>
              </a:ext>
            </a:extLst>
          </p:cNvPr>
          <p:cNvSpPr txBox="1"/>
          <p:nvPr/>
        </p:nvSpPr>
        <p:spPr>
          <a:xfrm>
            <a:off x="1164349" y="941212"/>
            <a:ext cx="10688668" cy="5632311"/>
          </a:xfrm>
          <a:prstGeom prst="rect">
            <a:avLst/>
          </a:prstGeom>
          <a:noFill/>
        </p:spPr>
        <p:txBody>
          <a:bodyPr wrap="square" rtlCol="0">
            <a:spAutoFit/>
          </a:bodyPr>
          <a:lstStyle/>
          <a:p>
            <a:pPr marL="285750" indent="-285750">
              <a:buFont typeface="Arial" panose="020B0604020202020204" pitchFamily="34" charset="0"/>
              <a:buChar char="•"/>
            </a:pPr>
            <a:r>
              <a:rPr lang="tr-TR" sz="1500" b="1" dirty="0">
                <a:latin typeface="Consolas" panose="020B0609020204030204" pitchFamily="49" charset="0"/>
              </a:rPr>
              <a:t>Paralel İşleme: </a:t>
            </a:r>
            <a:r>
              <a:rPr lang="tr-TR" sz="1500" dirty="0">
                <a:latin typeface="Consolas" panose="020B0609020204030204" pitchFamily="49" charset="0"/>
              </a:rPr>
              <a:t>MIMD mimarisi, çoklu işlemcilerin veya çoklu işlemci çekirdeklerinin aynı anda farklı komutları işlemesi ve farklı veri setleri üzerinde işlem yapabilmesini sağlar. Bu, büyük ölçekli paralel işlem gücü sağlar.</a:t>
            </a:r>
          </a:p>
          <a:p>
            <a:pPr marL="285750" indent="-285750">
              <a:buFont typeface="Arial" panose="020B0604020202020204" pitchFamily="34" charset="0"/>
              <a:buChar char="•"/>
            </a:pPr>
            <a:endParaRPr lang="tr-TR" sz="1500" dirty="0">
              <a:latin typeface="Consolas" panose="020B0609020204030204" pitchFamily="49" charset="0"/>
            </a:endParaRPr>
          </a:p>
          <a:p>
            <a:pPr marL="285750" indent="-285750">
              <a:buFont typeface="Arial" panose="020B0604020202020204" pitchFamily="34" charset="0"/>
              <a:buChar char="•"/>
            </a:pPr>
            <a:r>
              <a:rPr lang="tr-TR" sz="1500" b="1" dirty="0">
                <a:latin typeface="Consolas" panose="020B0609020204030204" pitchFamily="49" charset="0"/>
              </a:rPr>
              <a:t>Bağımsız Komut ve Veri İşleme: </a:t>
            </a:r>
            <a:r>
              <a:rPr lang="tr-TR" sz="1500" dirty="0">
                <a:latin typeface="Consolas" panose="020B0609020204030204" pitchFamily="49" charset="0"/>
              </a:rPr>
              <a:t>Her bir işlemci veya çekirdek, diğerlerinden bağımsız olarak farklı komutları işleyebilir ve farklı veri setleri üzerinde işlem yapabilir. Bu, paralel programlama modellerini destekler ve işlemci kaynaklarını verimli bir şekilde kullanılmasını sağlar.</a:t>
            </a:r>
          </a:p>
          <a:p>
            <a:pPr marL="285750" indent="-285750">
              <a:buFont typeface="Arial" panose="020B0604020202020204" pitchFamily="34" charset="0"/>
              <a:buChar char="•"/>
            </a:pPr>
            <a:endParaRPr lang="tr-TR" sz="1500" dirty="0">
              <a:latin typeface="Consolas" panose="020B0609020204030204" pitchFamily="49" charset="0"/>
            </a:endParaRPr>
          </a:p>
          <a:p>
            <a:pPr marL="285750" indent="-285750">
              <a:buFont typeface="Arial" panose="020B0604020202020204" pitchFamily="34" charset="0"/>
              <a:buChar char="•"/>
            </a:pPr>
            <a:r>
              <a:rPr lang="tr-TR" sz="1500" b="1" dirty="0">
                <a:latin typeface="Consolas" panose="020B0609020204030204" pitchFamily="49" charset="0"/>
              </a:rPr>
              <a:t>Ölçeklenebilirlik: </a:t>
            </a:r>
            <a:r>
              <a:rPr lang="tr-TR" sz="1500" dirty="0">
                <a:latin typeface="Consolas" panose="020B0609020204030204" pitchFamily="49" charset="0"/>
              </a:rPr>
              <a:t>MIMD mimarisi, sistemdeki işlemci veya çekirdek sayısının ölçeklenebilir olmasını sağlar. Bu, sistem performansını artırmak için yeni işlemciler veya çekirdekler eklemeyi kolaylaştırır.</a:t>
            </a:r>
          </a:p>
          <a:p>
            <a:pPr marL="285750" indent="-285750">
              <a:buFont typeface="Arial" panose="020B0604020202020204" pitchFamily="34" charset="0"/>
              <a:buChar char="•"/>
            </a:pPr>
            <a:endParaRPr lang="tr-TR" sz="1500" dirty="0">
              <a:latin typeface="Consolas" panose="020B0609020204030204" pitchFamily="49" charset="0"/>
            </a:endParaRPr>
          </a:p>
          <a:p>
            <a:pPr marL="285750" indent="-285750">
              <a:buFont typeface="Arial" panose="020B0604020202020204" pitchFamily="34" charset="0"/>
              <a:buChar char="•"/>
            </a:pPr>
            <a:r>
              <a:rPr lang="tr-TR" sz="1500" b="1" dirty="0">
                <a:latin typeface="Consolas" panose="020B0609020204030204" pitchFamily="49" charset="0"/>
              </a:rPr>
              <a:t>Heterojenlik: </a:t>
            </a:r>
            <a:r>
              <a:rPr lang="tr-TR" sz="1500" dirty="0">
                <a:latin typeface="Consolas" panose="020B0609020204030204" pitchFamily="49" charset="0"/>
              </a:rPr>
              <a:t>MIMD mimarisi, farklı işlemcilerin veya işlemci çekirdeklerinin farklı özelliklere sahip olabileceği anlamına gelir. Örneğin, bir sistemde CPU'lar, </a:t>
            </a:r>
            <a:r>
              <a:rPr lang="tr-TR" sz="1500" dirty="0" err="1">
                <a:latin typeface="Consolas" panose="020B0609020204030204" pitchFamily="49" charset="0"/>
              </a:rPr>
              <a:t>GPU'lar</a:t>
            </a:r>
            <a:r>
              <a:rPr lang="tr-TR" sz="1500" dirty="0">
                <a:latin typeface="Consolas" panose="020B0609020204030204" pitchFamily="49" charset="0"/>
              </a:rPr>
              <a:t> veya özel amaçlı işlemciler bir arada olabilir.</a:t>
            </a:r>
          </a:p>
          <a:p>
            <a:pPr marL="285750" indent="-285750">
              <a:buFont typeface="Arial" panose="020B0604020202020204" pitchFamily="34" charset="0"/>
              <a:buChar char="•"/>
            </a:pPr>
            <a:endParaRPr lang="tr-TR" sz="1500" dirty="0">
              <a:latin typeface="Consolas" panose="020B0609020204030204" pitchFamily="49" charset="0"/>
            </a:endParaRPr>
          </a:p>
          <a:p>
            <a:pPr marL="285750" indent="-285750">
              <a:buFont typeface="Arial" panose="020B0604020202020204" pitchFamily="34" charset="0"/>
              <a:buChar char="•"/>
            </a:pPr>
            <a:r>
              <a:rPr lang="tr-TR" sz="1500" b="1" dirty="0">
                <a:latin typeface="Consolas" panose="020B0609020204030204" pitchFamily="49" charset="0"/>
              </a:rPr>
              <a:t>Yüksek Esneklik: </a:t>
            </a:r>
            <a:r>
              <a:rPr lang="tr-TR" sz="1500" dirty="0">
                <a:latin typeface="Consolas" panose="020B0609020204030204" pitchFamily="49" charset="0"/>
              </a:rPr>
              <a:t>MIMD mimarisi, çeşitli uygulama senaryolarını destekler ve farklı iş yüklerine uygun olarak yapılandırılabilir. Bu, genel amaçlı işlemcilerden yüksek performanslı hesaplama sistemlerine kadar çeşitli kullanım alanlarını kapsar.</a:t>
            </a:r>
          </a:p>
          <a:p>
            <a:pPr marL="285750" indent="-285750">
              <a:buFont typeface="Arial" panose="020B0604020202020204" pitchFamily="34" charset="0"/>
              <a:buChar char="•"/>
            </a:pPr>
            <a:endParaRPr lang="tr-TR" sz="1500" dirty="0">
              <a:latin typeface="Consolas" panose="020B0609020204030204" pitchFamily="49" charset="0"/>
            </a:endParaRPr>
          </a:p>
          <a:p>
            <a:pPr marL="285750" indent="-285750">
              <a:buFont typeface="Arial" panose="020B0604020202020204" pitchFamily="34" charset="0"/>
              <a:buChar char="•"/>
            </a:pPr>
            <a:r>
              <a:rPr lang="tr-TR" sz="1500" b="1" dirty="0">
                <a:latin typeface="Consolas" panose="020B0609020204030204" pitchFamily="49" charset="0"/>
              </a:rPr>
              <a:t>Örnek Uygulamalar: </a:t>
            </a:r>
            <a:r>
              <a:rPr lang="tr-TR" sz="1500" dirty="0">
                <a:latin typeface="Consolas" panose="020B0609020204030204" pitchFamily="49" charset="0"/>
              </a:rPr>
              <a:t>MIMD mimarisi, yüksek performanslı bilgi işlem uygulamalarında yaygın olarak kullanılır. Bunlar arasında süper bilgisayarlar, bulut hesaplama sistemleri, paralel hesaplama kümeleri, büyük veri analizi, simülasyonlar ve derin öğrenme gibi uygulamalar yer alır.</a:t>
            </a:r>
          </a:p>
        </p:txBody>
      </p:sp>
    </p:spTree>
    <p:extLst>
      <p:ext uri="{BB962C8B-B14F-4D97-AF65-F5344CB8AC3E}">
        <p14:creationId xmlns:p14="http://schemas.microsoft.com/office/powerpoint/2010/main" val="1961932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2B889-10AC-4156-C243-375E7D0D2C7D}"/>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BE81340F-4DA1-ED55-0F6C-18C2B431FEB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D2F173D2-3096-30C6-EF13-DCAAB80011B6}"/>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MIMD (Multiple</a:t>
            </a:r>
            <a:r>
              <a:rPr lang="en-US" sz="3000" b="1" dirty="0">
                <a:latin typeface="Consolas" panose="020B0609020204030204" pitchFamily="49" charset="0"/>
              </a:rPr>
              <a:t> Instruction,</a:t>
            </a:r>
            <a:r>
              <a:rPr lang="tr-TR" sz="3000" b="1" dirty="0">
                <a:latin typeface="Consolas" panose="020B0609020204030204" pitchFamily="49" charset="0"/>
              </a:rPr>
              <a:t> Multiple</a:t>
            </a:r>
            <a:r>
              <a:rPr lang="en-US" sz="3000" b="1" dirty="0">
                <a:latin typeface="Consolas" panose="020B0609020204030204" pitchFamily="49" charset="0"/>
              </a:rPr>
              <a:t> Data Stream</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B28515B0-8834-86B8-BC10-4F7E7A06DA16}"/>
              </a:ext>
            </a:extLst>
          </p:cNvPr>
          <p:cNvSpPr txBox="1"/>
          <p:nvPr/>
        </p:nvSpPr>
        <p:spPr>
          <a:xfrm>
            <a:off x="1164349" y="941212"/>
            <a:ext cx="10688668" cy="3093154"/>
          </a:xfrm>
          <a:prstGeom prst="rect">
            <a:avLst/>
          </a:prstGeom>
          <a:noFill/>
        </p:spPr>
        <p:txBody>
          <a:bodyPr wrap="square" rtlCol="0">
            <a:spAutoFit/>
          </a:bodyPr>
          <a:lstStyle/>
          <a:p>
            <a:r>
              <a:rPr lang="tr-TR" b="1" dirty="0">
                <a:latin typeface="Consolas" panose="020B0609020204030204" pitchFamily="49" charset="0"/>
              </a:rPr>
              <a:t>MIMD sistemler iki temel gruba ayrılırlar: </a:t>
            </a:r>
          </a:p>
          <a:p>
            <a:pPr marL="285750" indent="-285750">
              <a:buFont typeface="Arial" panose="020B0604020202020204" pitchFamily="34" charset="0"/>
              <a:buChar char="•"/>
            </a:pPr>
            <a:endParaRPr lang="tr-TR" b="1" dirty="0">
              <a:latin typeface="Consolas" panose="020B0609020204030204" pitchFamily="49" charset="0"/>
            </a:endParaRPr>
          </a:p>
          <a:p>
            <a:r>
              <a:rPr lang="tr-TR" b="1" dirty="0" err="1">
                <a:solidFill>
                  <a:srgbClr val="0070C0"/>
                </a:solidFill>
                <a:latin typeface="Consolas" panose="020B0609020204030204" pitchFamily="49" charset="0"/>
              </a:rPr>
              <a:t>Shared</a:t>
            </a:r>
            <a:r>
              <a:rPr lang="tr-TR" b="1" dirty="0">
                <a:solidFill>
                  <a:srgbClr val="0070C0"/>
                </a:solidFill>
                <a:latin typeface="Consolas" panose="020B0609020204030204" pitchFamily="49" charset="0"/>
              </a:rPr>
              <a:t>-Memory </a:t>
            </a:r>
            <a:r>
              <a:rPr lang="tr-TR" b="1" dirty="0" err="1">
                <a:solidFill>
                  <a:srgbClr val="0070C0"/>
                </a:solidFill>
                <a:latin typeface="Consolas" panose="020B0609020204030204" pitchFamily="49" charset="0"/>
              </a:rPr>
              <a:t>Systems</a:t>
            </a:r>
            <a:r>
              <a:rPr lang="tr-TR" b="1" dirty="0">
                <a:solidFill>
                  <a:srgbClr val="0070C0"/>
                </a:solidFill>
                <a:latin typeface="Consolas" panose="020B0609020204030204" pitchFamily="49" charset="0"/>
              </a:rPr>
              <a:t> - Hafıza Paylaşımlı Sistemler: </a:t>
            </a:r>
          </a:p>
          <a:p>
            <a:r>
              <a:rPr lang="tr-TR" dirty="0" err="1">
                <a:latin typeface="Consolas" panose="020B0609020204030204" pitchFamily="49" charset="0"/>
              </a:rPr>
              <a:t>Uniform</a:t>
            </a:r>
            <a:r>
              <a:rPr lang="tr-TR" dirty="0">
                <a:latin typeface="Consolas" panose="020B0609020204030204" pitchFamily="49" charset="0"/>
              </a:rPr>
              <a:t> Memory Access (UMA) – Tekdüze Bellek Erişimi</a:t>
            </a:r>
          </a:p>
          <a:p>
            <a:r>
              <a:rPr lang="tr-TR" dirty="0" err="1">
                <a:latin typeface="Consolas" panose="020B0609020204030204" pitchFamily="49" charset="0"/>
              </a:rPr>
              <a:t>Nonuniform</a:t>
            </a:r>
            <a:r>
              <a:rPr lang="tr-TR" dirty="0">
                <a:latin typeface="Consolas" panose="020B0609020204030204" pitchFamily="49" charset="0"/>
              </a:rPr>
              <a:t> Memory Access (NMA) – Tekdüze Olmayan Bellek Erişimi</a:t>
            </a:r>
          </a:p>
          <a:p>
            <a:endParaRPr lang="tr-TR" dirty="0">
              <a:latin typeface="Consolas" panose="020B0609020204030204" pitchFamily="49" charset="0"/>
            </a:endParaRPr>
          </a:p>
          <a:p>
            <a:r>
              <a:rPr lang="tr-TR" b="1" dirty="0">
                <a:solidFill>
                  <a:srgbClr val="0070C0"/>
                </a:solidFill>
                <a:latin typeface="Consolas" panose="020B0609020204030204" pitchFamily="49" charset="0"/>
              </a:rPr>
              <a:t>Distributed-Memory </a:t>
            </a:r>
            <a:r>
              <a:rPr lang="tr-TR" b="1" dirty="0" err="1">
                <a:solidFill>
                  <a:srgbClr val="0070C0"/>
                </a:solidFill>
                <a:latin typeface="Consolas" panose="020B0609020204030204" pitchFamily="49" charset="0"/>
              </a:rPr>
              <a:t>Systems</a:t>
            </a:r>
            <a:r>
              <a:rPr lang="tr-TR" b="1" dirty="0">
                <a:solidFill>
                  <a:srgbClr val="0070C0"/>
                </a:solidFill>
                <a:latin typeface="Consolas" panose="020B0609020204030204" pitchFamily="49" charset="0"/>
              </a:rPr>
              <a:t> - Dağıtık Bellek Sistemleri:</a:t>
            </a:r>
          </a:p>
          <a:p>
            <a:r>
              <a:rPr lang="tr-TR" dirty="0">
                <a:latin typeface="Consolas" panose="020B0609020204030204" pitchFamily="49" charset="0"/>
              </a:rPr>
              <a:t>Bu sistemlere en iyi örnek işlemsel kümelerdir (</a:t>
            </a:r>
            <a:r>
              <a:rPr lang="tr-TR" dirty="0" err="1">
                <a:latin typeface="Consolas" panose="020B0609020204030204" pitchFamily="49" charset="0"/>
              </a:rPr>
              <a:t>clusters</a:t>
            </a:r>
            <a:r>
              <a:rPr lang="tr-TR" dirty="0">
                <a:latin typeface="Consolas" panose="020B0609020204030204" pitchFamily="49" charset="0"/>
              </a:rPr>
              <a:t>). Birbirlerine network ile bağlı olan PC’lerden oluşan küme sistemleri gibi</a:t>
            </a:r>
          </a:p>
          <a:p>
            <a:r>
              <a:rPr lang="tr-TR" dirty="0" err="1">
                <a:latin typeface="Consolas" panose="020B0609020204030204" pitchFamily="49" charset="0"/>
              </a:rPr>
              <a:t>Hadoop</a:t>
            </a:r>
            <a:r>
              <a:rPr lang="tr-TR" dirty="0">
                <a:latin typeface="Consolas" panose="020B0609020204030204" pitchFamily="49" charset="0"/>
              </a:rPr>
              <a:t> (</a:t>
            </a:r>
            <a:r>
              <a:rPr lang="tr-TR" dirty="0" err="1">
                <a:latin typeface="Consolas" panose="020B0609020204030204" pitchFamily="49" charset="0"/>
              </a:rPr>
              <a:t>Hadoop</a:t>
            </a:r>
            <a:r>
              <a:rPr lang="tr-TR" dirty="0">
                <a:latin typeface="Consolas" panose="020B0609020204030204" pitchFamily="49" charset="0"/>
              </a:rPr>
              <a:t> Distributed File </a:t>
            </a:r>
            <a:r>
              <a:rPr lang="tr-TR" dirty="0" err="1">
                <a:latin typeface="Consolas" panose="020B0609020204030204" pitchFamily="49" charset="0"/>
              </a:rPr>
              <a:t>System</a:t>
            </a:r>
            <a:r>
              <a:rPr lang="tr-TR" dirty="0">
                <a:latin typeface="Consolas" panose="020B0609020204030204" pitchFamily="49" charset="0"/>
              </a:rPr>
              <a:t> (HDFS) on Java)</a:t>
            </a:r>
          </a:p>
          <a:p>
            <a:pPr marL="285750" indent="-285750">
              <a:buFont typeface="Arial" panose="020B0604020202020204" pitchFamily="34" charset="0"/>
              <a:buChar char="•"/>
            </a:pPr>
            <a:endParaRPr lang="tr-TR" sz="1500" dirty="0">
              <a:latin typeface="Consolas" panose="020B0609020204030204" pitchFamily="49" charset="0"/>
            </a:endParaRPr>
          </a:p>
        </p:txBody>
      </p:sp>
    </p:spTree>
    <p:extLst>
      <p:ext uri="{BB962C8B-B14F-4D97-AF65-F5344CB8AC3E}">
        <p14:creationId xmlns:p14="http://schemas.microsoft.com/office/powerpoint/2010/main" val="1169409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10A6A-49B2-0A12-7A1E-88CEFDC499D4}"/>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943E86E4-2A0A-A611-0274-6743B89B83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904B74C8-52BC-E060-BD3A-0E92F8D6B456}"/>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MIMD-Hafıza Paylaşımlı Sistemler</a:t>
            </a:r>
          </a:p>
        </p:txBody>
      </p:sp>
      <p:sp>
        <p:nvSpPr>
          <p:cNvPr id="7" name="Metin kutusu 6">
            <a:extLst>
              <a:ext uri="{FF2B5EF4-FFF2-40B4-BE49-F238E27FC236}">
                <a16:creationId xmlns:a16="http://schemas.microsoft.com/office/drawing/2014/main" id="{3939E40B-0B94-66BB-32E7-E7078AD5E759}"/>
              </a:ext>
            </a:extLst>
          </p:cNvPr>
          <p:cNvSpPr txBox="1"/>
          <p:nvPr/>
        </p:nvSpPr>
        <p:spPr>
          <a:xfrm>
            <a:off x="1164349" y="759758"/>
            <a:ext cx="10688668" cy="584775"/>
          </a:xfrm>
          <a:prstGeom prst="rect">
            <a:avLst/>
          </a:prstGeom>
          <a:noFill/>
        </p:spPr>
        <p:txBody>
          <a:bodyPr wrap="square" rtlCol="0">
            <a:spAutoFit/>
          </a:bodyPr>
          <a:lstStyle/>
          <a:p>
            <a:pPr algn="just"/>
            <a:r>
              <a:rPr lang="tr-TR" sz="1600" dirty="0">
                <a:latin typeface="Consolas" panose="020B0609020204030204" pitchFamily="49" charset="0"/>
              </a:rPr>
              <a:t>MIMD mimarisine sahip hafıza paylaşımlı sistemlerde, işlemciler aynı bellek havuzunu paylaşır ve bu sistemler genellikle iki türde gelir: UMA ve NUMA.</a:t>
            </a:r>
          </a:p>
        </p:txBody>
      </p:sp>
      <p:pic>
        <p:nvPicPr>
          <p:cNvPr id="2" name="İçerik Yer Tutucusu 4">
            <a:extLst>
              <a:ext uri="{FF2B5EF4-FFF2-40B4-BE49-F238E27FC236}">
                <a16:creationId xmlns:a16="http://schemas.microsoft.com/office/drawing/2014/main" id="{43D02F1A-26E2-9DCC-A263-3CCBB68B808B}"/>
              </a:ext>
            </a:extLst>
          </p:cNvPr>
          <p:cNvPicPr>
            <a:picLocks noGrp="1" noChangeAspect="1"/>
          </p:cNvPicPr>
          <p:nvPr>
            <p:ph idx="1"/>
          </p:nvPr>
        </p:nvPicPr>
        <p:blipFill>
          <a:blip r:embed="rId3"/>
          <a:stretch>
            <a:fillRect/>
          </a:stretch>
        </p:blipFill>
        <p:spPr>
          <a:xfrm>
            <a:off x="2127089" y="1573644"/>
            <a:ext cx="8940713" cy="4922690"/>
          </a:xfrm>
        </p:spPr>
      </p:pic>
    </p:spTree>
    <p:extLst>
      <p:ext uri="{BB962C8B-B14F-4D97-AF65-F5344CB8AC3E}">
        <p14:creationId xmlns:p14="http://schemas.microsoft.com/office/powerpoint/2010/main" val="3777884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0BE88-752C-89C3-4582-E0A8006C84CB}"/>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02CFB36E-9012-D2CC-A9D4-9CCE7AD854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440B4B5A-63CA-1B10-16F7-01561478C7F0}"/>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MIMD-Hafıza Paylaşımlı Sistemler</a:t>
            </a:r>
          </a:p>
        </p:txBody>
      </p:sp>
      <p:sp>
        <p:nvSpPr>
          <p:cNvPr id="7" name="Metin kutusu 6">
            <a:extLst>
              <a:ext uri="{FF2B5EF4-FFF2-40B4-BE49-F238E27FC236}">
                <a16:creationId xmlns:a16="http://schemas.microsoft.com/office/drawing/2014/main" id="{02A16F31-A7E4-F7AC-70F6-0916C5372744}"/>
              </a:ext>
            </a:extLst>
          </p:cNvPr>
          <p:cNvSpPr txBox="1"/>
          <p:nvPr/>
        </p:nvSpPr>
        <p:spPr>
          <a:xfrm>
            <a:off x="1164349" y="941212"/>
            <a:ext cx="10688668" cy="5509200"/>
          </a:xfrm>
          <a:prstGeom prst="rect">
            <a:avLst/>
          </a:prstGeom>
          <a:noFill/>
        </p:spPr>
        <p:txBody>
          <a:bodyPr wrap="square" rtlCol="0">
            <a:spAutoFit/>
          </a:bodyPr>
          <a:lstStyle/>
          <a:p>
            <a:pPr algn="just"/>
            <a:r>
              <a:rPr lang="tr-TR" sz="1600" b="1" dirty="0">
                <a:latin typeface="Consolas" panose="020B0609020204030204" pitchFamily="49" charset="0"/>
              </a:rPr>
              <a:t>UMA (</a:t>
            </a:r>
            <a:r>
              <a:rPr lang="tr-TR" sz="1600" b="1" dirty="0" err="1">
                <a:latin typeface="Consolas" panose="020B0609020204030204" pitchFamily="49" charset="0"/>
              </a:rPr>
              <a:t>Uniform</a:t>
            </a:r>
            <a:r>
              <a:rPr lang="tr-TR" sz="1600" b="1" dirty="0">
                <a:latin typeface="Consolas" panose="020B0609020204030204" pitchFamily="49" charset="0"/>
              </a:rPr>
              <a:t> Memory Access - Düzgün Bellek Erişimi):</a:t>
            </a:r>
          </a:p>
          <a:p>
            <a:pPr algn="just"/>
            <a:endParaRPr lang="tr-TR" sz="1600" b="1" dirty="0">
              <a:latin typeface="Consolas" panose="020B0609020204030204" pitchFamily="49" charset="0"/>
            </a:endParaRPr>
          </a:p>
          <a:p>
            <a:pPr marL="285750" indent="-285750" algn="just">
              <a:buFont typeface="Arial" panose="020B0604020202020204" pitchFamily="34" charset="0"/>
              <a:buChar char="•"/>
            </a:pPr>
            <a:r>
              <a:rPr lang="tr-TR" sz="1600" dirty="0">
                <a:latin typeface="Consolas" panose="020B0609020204030204" pitchFamily="49" charset="0"/>
              </a:rPr>
              <a:t>UMA mimarisinde, tüm işlemciler aynı bellek havuzunu kullanır ve her işlemcinin bellek erişim süresi aynıdır.</a:t>
            </a:r>
          </a:p>
          <a:p>
            <a:pPr marL="285750" indent="-285750" algn="just">
              <a:buFont typeface="Arial" panose="020B0604020202020204" pitchFamily="34" charset="0"/>
              <a:buChar char="•"/>
            </a:pPr>
            <a:r>
              <a:rPr lang="tr-TR" sz="1600" dirty="0">
                <a:latin typeface="Consolas" panose="020B0609020204030204" pitchFamily="49" charset="0"/>
              </a:rPr>
              <a:t>Bu sistemde, her işlemciye eşit erişim yeteneği vardır, bu nedenle "düzgün bellek erişimi" olarak adlandırılır.</a:t>
            </a:r>
          </a:p>
          <a:p>
            <a:pPr marL="285750" indent="-285750" algn="just">
              <a:buFont typeface="Arial" panose="020B0604020202020204" pitchFamily="34" charset="0"/>
              <a:buChar char="•"/>
            </a:pPr>
            <a:r>
              <a:rPr lang="tr-TR" sz="1600" dirty="0">
                <a:latin typeface="Consolas" panose="020B0609020204030204" pitchFamily="49" charset="0"/>
              </a:rPr>
              <a:t>UMA mimarisi, genellikle simetrik çoklu işlemci (SMP) sistemlerinde kullanılır, burada işlemciler birbirine eşit konumlandırılır ve aynı anda paylaşılan belleği kullanabilir.</a:t>
            </a:r>
          </a:p>
          <a:p>
            <a:pPr marL="285750" indent="-285750" algn="just">
              <a:buFont typeface="Arial" panose="020B0604020202020204" pitchFamily="34" charset="0"/>
              <a:buChar char="•"/>
            </a:pPr>
            <a:r>
              <a:rPr lang="tr-TR" sz="1600" dirty="0">
                <a:latin typeface="Consolas" panose="020B0609020204030204" pitchFamily="49" charset="0"/>
              </a:rPr>
              <a:t>Bu tür sistemler genellikle düşük gecikme süreleri gerektiren uygulamalarda tercih edilir.</a:t>
            </a:r>
          </a:p>
          <a:p>
            <a:pPr algn="just"/>
            <a:endParaRPr lang="tr-TR" sz="1600" b="1" dirty="0">
              <a:latin typeface="Consolas" panose="020B0609020204030204" pitchFamily="49" charset="0"/>
            </a:endParaRPr>
          </a:p>
          <a:p>
            <a:pPr algn="just"/>
            <a:r>
              <a:rPr lang="tr-TR" sz="1600" b="1" dirty="0">
                <a:latin typeface="Consolas" panose="020B0609020204030204" pitchFamily="49" charset="0"/>
              </a:rPr>
              <a:t>NUMA (</a:t>
            </a:r>
            <a:r>
              <a:rPr lang="tr-TR" sz="1600" b="1" dirty="0" err="1">
                <a:latin typeface="Consolas" panose="020B0609020204030204" pitchFamily="49" charset="0"/>
              </a:rPr>
              <a:t>Non-Uniform</a:t>
            </a:r>
            <a:r>
              <a:rPr lang="tr-TR" sz="1600" b="1" dirty="0">
                <a:latin typeface="Consolas" panose="020B0609020204030204" pitchFamily="49" charset="0"/>
              </a:rPr>
              <a:t> Memory Access - Düzgün Olmayan Bellek Erişimi):</a:t>
            </a:r>
          </a:p>
          <a:p>
            <a:pPr algn="just"/>
            <a:endParaRPr lang="tr-TR" sz="1600" b="1" dirty="0">
              <a:latin typeface="Consolas" panose="020B0609020204030204" pitchFamily="49" charset="0"/>
            </a:endParaRPr>
          </a:p>
          <a:p>
            <a:pPr marL="285750" indent="-285750" algn="just">
              <a:buFont typeface="Arial" panose="020B0604020202020204" pitchFamily="34" charset="0"/>
              <a:buChar char="•"/>
            </a:pPr>
            <a:r>
              <a:rPr lang="tr-TR" sz="1600" dirty="0">
                <a:latin typeface="Consolas" panose="020B0609020204030204" pitchFamily="49" charset="0"/>
              </a:rPr>
              <a:t>NUMA mimarisinde, işlemciler farklı bellek bölgelerine bağlıdır ve her işlemcinin bellek erişim süresi farklı olabilir.</a:t>
            </a:r>
          </a:p>
          <a:p>
            <a:pPr marL="285750" indent="-285750" algn="just">
              <a:buFont typeface="Arial" panose="020B0604020202020204" pitchFamily="34" charset="0"/>
              <a:buChar char="•"/>
            </a:pPr>
            <a:r>
              <a:rPr lang="tr-TR" sz="1600" dirty="0">
                <a:latin typeface="Consolas" panose="020B0609020204030204" pitchFamily="49" charset="0"/>
              </a:rPr>
              <a:t>Her işlemci, kendi yerel bellek bölgesine daha hızlı erişebilirken, diğer işlemcilerin bellek bölgelerine erişim süresi daha uzun olabilir.</a:t>
            </a:r>
          </a:p>
          <a:p>
            <a:pPr marL="285750" indent="-285750" algn="just">
              <a:buFont typeface="Arial" panose="020B0604020202020204" pitchFamily="34" charset="0"/>
              <a:buChar char="•"/>
            </a:pPr>
            <a:r>
              <a:rPr lang="tr-TR" sz="1600" dirty="0">
                <a:latin typeface="Consolas" panose="020B0609020204030204" pitchFamily="49" charset="0"/>
              </a:rPr>
              <a:t>Bu nedenle, "düzgün olmayan bellek erişimi" terimi kullanılır.</a:t>
            </a:r>
          </a:p>
          <a:p>
            <a:pPr marL="285750" indent="-285750" algn="just">
              <a:buFont typeface="Arial" panose="020B0604020202020204" pitchFamily="34" charset="0"/>
              <a:buChar char="•"/>
            </a:pPr>
            <a:r>
              <a:rPr lang="tr-TR" sz="1600" dirty="0">
                <a:latin typeface="Consolas" panose="020B0609020204030204" pitchFamily="49" charset="0"/>
              </a:rPr>
              <a:t>NUMA mimarisi, genellikle büyük ölçekli çoklu işlemci sistemlerinde kullanılır, burada her bir işlemciye kendi bellek bölgesi atanır ve işlemciler arası bellek erişimini yönetmek için özel bir donanım veya yazılım kullanılır.</a:t>
            </a:r>
          </a:p>
          <a:p>
            <a:pPr marL="285750" indent="-285750" algn="just">
              <a:buFont typeface="Arial" panose="020B0604020202020204" pitchFamily="34" charset="0"/>
              <a:buChar char="•"/>
            </a:pPr>
            <a:r>
              <a:rPr lang="tr-TR" sz="1600" dirty="0">
                <a:latin typeface="Consolas" panose="020B0609020204030204" pitchFamily="49" charset="0"/>
              </a:rPr>
              <a:t>Büyük veri işleme, </a:t>
            </a:r>
            <a:r>
              <a:rPr lang="tr-TR" sz="1600" dirty="0" err="1">
                <a:latin typeface="Consolas" panose="020B0609020204030204" pitchFamily="49" charset="0"/>
              </a:rPr>
              <a:t>veritabanı</a:t>
            </a:r>
            <a:r>
              <a:rPr lang="tr-TR" sz="1600" dirty="0">
                <a:latin typeface="Consolas" panose="020B0609020204030204" pitchFamily="49" charset="0"/>
              </a:rPr>
              <a:t> sunucuları ve yüksek performanslı bilgi işlem gibi uygulamalar için NUMA mimarisi sıkça kullanılır.</a:t>
            </a:r>
          </a:p>
        </p:txBody>
      </p:sp>
    </p:spTree>
    <p:extLst>
      <p:ext uri="{BB962C8B-B14F-4D97-AF65-F5344CB8AC3E}">
        <p14:creationId xmlns:p14="http://schemas.microsoft.com/office/powerpoint/2010/main" val="2218028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DE886-7E66-4E26-6DF1-EC6D2F73E425}"/>
            </a:ext>
          </a:extLst>
        </p:cNvPr>
        <p:cNvGrpSpPr/>
        <p:nvPr/>
      </p:nvGrpSpPr>
      <p:grpSpPr>
        <a:xfrm>
          <a:off x="0" y="0"/>
          <a:ext cx="0" cy="0"/>
          <a:chOff x="0" y="0"/>
          <a:chExt cx="0" cy="0"/>
        </a:xfrm>
      </p:grpSpPr>
      <p:pic>
        <p:nvPicPr>
          <p:cNvPr id="2" name="İçerik Yer Tutucusu 6">
            <a:extLst>
              <a:ext uri="{FF2B5EF4-FFF2-40B4-BE49-F238E27FC236}">
                <a16:creationId xmlns:a16="http://schemas.microsoft.com/office/drawing/2014/main" id="{0C1C40D7-50E1-04A6-B6DB-C53E81C6458C}"/>
              </a:ext>
            </a:extLst>
          </p:cNvPr>
          <p:cNvPicPr>
            <a:picLocks noGrp="1" noChangeAspect="1"/>
          </p:cNvPicPr>
          <p:nvPr>
            <p:ph idx="1"/>
          </p:nvPr>
        </p:nvPicPr>
        <p:blipFill rotWithShape="1">
          <a:blip r:embed="rId2"/>
          <a:srcRect b="16645"/>
          <a:stretch/>
        </p:blipFill>
        <p:spPr>
          <a:xfrm>
            <a:off x="1299938" y="3249536"/>
            <a:ext cx="10417490" cy="3192207"/>
          </a:xfrm>
        </p:spPr>
      </p:pic>
      <p:pic>
        <p:nvPicPr>
          <p:cNvPr id="4" name="Picture 2" descr="Parallel computing for high-performance simulations">
            <a:extLst>
              <a:ext uri="{FF2B5EF4-FFF2-40B4-BE49-F238E27FC236}">
                <a16:creationId xmlns:a16="http://schemas.microsoft.com/office/drawing/2014/main" id="{A8F5371C-36B5-4274-9AA4-F20164AFB5F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8A33C909-D8FB-E385-839F-65C026CE48C1}"/>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MIMD-Hafıza Paylaşımlı Sistemler</a:t>
            </a:r>
          </a:p>
        </p:txBody>
      </p:sp>
      <p:sp>
        <p:nvSpPr>
          <p:cNvPr id="7" name="Metin kutusu 6">
            <a:extLst>
              <a:ext uri="{FF2B5EF4-FFF2-40B4-BE49-F238E27FC236}">
                <a16:creationId xmlns:a16="http://schemas.microsoft.com/office/drawing/2014/main" id="{FFEFB4C6-680C-6EF9-B5C1-4F08DE8BB38C}"/>
              </a:ext>
            </a:extLst>
          </p:cNvPr>
          <p:cNvSpPr txBox="1"/>
          <p:nvPr/>
        </p:nvSpPr>
        <p:spPr>
          <a:xfrm>
            <a:off x="1164349" y="941212"/>
            <a:ext cx="10688668" cy="2308324"/>
          </a:xfrm>
          <a:prstGeom prst="rect">
            <a:avLst/>
          </a:prstGeom>
          <a:noFill/>
        </p:spPr>
        <p:txBody>
          <a:bodyPr wrap="square" rtlCol="0">
            <a:spAutoFit/>
          </a:bodyPr>
          <a:lstStyle/>
          <a:p>
            <a:pPr marL="285750" indent="-285750" algn="just">
              <a:buFont typeface="Arial" panose="020B0604020202020204" pitchFamily="34" charset="0"/>
              <a:buChar char="•"/>
            </a:pPr>
            <a:r>
              <a:rPr lang="tr-TR" dirty="0">
                <a:latin typeface="Consolas" panose="020B0609020204030204" pitchFamily="49" charset="0"/>
              </a:rPr>
              <a:t>Bu iki tür hafıza paylaşımlı MIMD sistem, farklı bellek erişim özelliklerine sahiptir ve farklı uygulamalar için optimize edilmiştir. </a:t>
            </a:r>
          </a:p>
          <a:p>
            <a:pPr marL="285750" indent="-285750" algn="just">
              <a:buFont typeface="Arial" panose="020B0604020202020204" pitchFamily="34" charset="0"/>
              <a:buChar char="•"/>
            </a:pPr>
            <a:endParaRPr lang="tr-TR" dirty="0">
              <a:latin typeface="Consolas" panose="020B0609020204030204" pitchFamily="49" charset="0"/>
            </a:endParaRPr>
          </a:p>
          <a:p>
            <a:pPr marL="285750" indent="-285750" algn="just">
              <a:buFont typeface="Arial" panose="020B0604020202020204" pitchFamily="34" charset="0"/>
              <a:buChar char="•"/>
            </a:pPr>
            <a:r>
              <a:rPr lang="tr-TR" dirty="0">
                <a:latin typeface="Consolas" panose="020B0609020204030204" pitchFamily="49" charset="0"/>
              </a:rPr>
              <a:t>UMA, düşük gecikme sürelerine ve basit bir yapıya sahiptir, ancak büyük ölçekli sistemlerde performans sorunlarına yol açabilir. </a:t>
            </a:r>
          </a:p>
          <a:p>
            <a:pPr marL="285750" indent="-285750" algn="just">
              <a:buFont typeface="Arial" panose="020B0604020202020204" pitchFamily="34" charset="0"/>
              <a:buChar char="•"/>
            </a:pPr>
            <a:endParaRPr lang="tr-TR" dirty="0">
              <a:latin typeface="Consolas" panose="020B0609020204030204" pitchFamily="49" charset="0"/>
            </a:endParaRPr>
          </a:p>
          <a:p>
            <a:pPr marL="285750" indent="-285750" algn="just">
              <a:buFont typeface="Arial" panose="020B0604020202020204" pitchFamily="34" charset="0"/>
              <a:buChar char="•"/>
            </a:pPr>
            <a:r>
              <a:rPr lang="tr-TR" dirty="0">
                <a:latin typeface="Consolas" panose="020B0609020204030204" pitchFamily="49" charset="0"/>
              </a:rPr>
              <a:t>NUMA ise büyük ölçekli sistemlerde daha iyi ölçeklenebilirlik ve performans sağlar, ancak bellek erişim süreleri farklılık gösterebilir.</a:t>
            </a:r>
          </a:p>
        </p:txBody>
      </p:sp>
    </p:spTree>
    <p:extLst>
      <p:ext uri="{BB962C8B-B14F-4D97-AF65-F5344CB8AC3E}">
        <p14:creationId xmlns:p14="http://schemas.microsoft.com/office/powerpoint/2010/main" val="607673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131EA-77A3-E2A9-8577-243B6F0E6E89}"/>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1C7C40CE-4604-42A7-D584-10E25EE96DC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57CF0F07-B72C-0E59-8DF8-4FC913B846C0}"/>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MIMD-Dağıtık Bellek Sistemleri</a:t>
            </a:r>
          </a:p>
        </p:txBody>
      </p:sp>
      <p:sp>
        <p:nvSpPr>
          <p:cNvPr id="7" name="Metin kutusu 6">
            <a:extLst>
              <a:ext uri="{FF2B5EF4-FFF2-40B4-BE49-F238E27FC236}">
                <a16:creationId xmlns:a16="http://schemas.microsoft.com/office/drawing/2014/main" id="{4481A0E6-C09E-C5B7-A677-73C577C6D5DB}"/>
              </a:ext>
            </a:extLst>
          </p:cNvPr>
          <p:cNvSpPr txBox="1"/>
          <p:nvPr/>
        </p:nvSpPr>
        <p:spPr>
          <a:xfrm>
            <a:off x="1164349" y="759758"/>
            <a:ext cx="10688668" cy="830997"/>
          </a:xfrm>
          <a:prstGeom prst="rect">
            <a:avLst/>
          </a:prstGeom>
          <a:noFill/>
        </p:spPr>
        <p:txBody>
          <a:bodyPr wrap="square" rtlCol="0">
            <a:spAutoFit/>
          </a:bodyPr>
          <a:lstStyle/>
          <a:p>
            <a:pPr algn="just"/>
            <a:r>
              <a:rPr lang="tr-TR" sz="1600" dirty="0">
                <a:latin typeface="Consolas" panose="020B0609020204030204" pitchFamily="49" charset="0"/>
              </a:rPr>
              <a:t>MIMD mimarisine sahip dağıtık bellekli sistemler, her bir işlemci veya işlemci çekirdeğinin kendi özel belleğine sahip olduğu ve veri ve komut paylaşımının ağ aracılığıyla gerçekleştiği sistemlerdir. </a:t>
            </a:r>
          </a:p>
        </p:txBody>
      </p:sp>
      <p:pic>
        <p:nvPicPr>
          <p:cNvPr id="8" name="İçerik Yer Tutucusu 5">
            <a:extLst>
              <a:ext uri="{FF2B5EF4-FFF2-40B4-BE49-F238E27FC236}">
                <a16:creationId xmlns:a16="http://schemas.microsoft.com/office/drawing/2014/main" id="{9B53730E-1CF1-AEE3-AD54-0329153BBDF8}"/>
              </a:ext>
            </a:extLst>
          </p:cNvPr>
          <p:cNvPicPr>
            <a:picLocks noChangeAspect="1"/>
          </p:cNvPicPr>
          <p:nvPr/>
        </p:nvPicPr>
        <p:blipFill>
          <a:blip r:embed="rId3"/>
          <a:stretch>
            <a:fillRect/>
          </a:stretch>
        </p:blipFill>
        <p:spPr>
          <a:xfrm>
            <a:off x="1464584" y="1622371"/>
            <a:ext cx="9869818" cy="4889860"/>
          </a:xfrm>
          <a:prstGeom prst="rect">
            <a:avLst/>
          </a:prstGeom>
        </p:spPr>
      </p:pic>
    </p:spTree>
    <p:extLst>
      <p:ext uri="{BB962C8B-B14F-4D97-AF65-F5344CB8AC3E}">
        <p14:creationId xmlns:p14="http://schemas.microsoft.com/office/powerpoint/2010/main" val="1930111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7252A-7DCE-C50A-B409-643C9FE4D142}"/>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3B960C1E-A084-0E01-4AFA-16ABB7815E4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BBE8240D-1DE7-E6C0-C9B2-F5E6C28F7176}"/>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MIMD-Dağıtık Bellek Sistemleri</a:t>
            </a:r>
          </a:p>
        </p:txBody>
      </p:sp>
      <p:sp>
        <p:nvSpPr>
          <p:cNvPr id="7" name="Metin kutusu 6">
            <a:extLst>
              <a:ext uri="{FF2B5EF4-FFF2-40B4-BE49-F238E27FC236}">
                <a16:creationId xmlns:a16="http://schemas.microsoft.com/office/drawing/2014/main" id="{A70B44DF-A3B4-CFB3-FCA3-A0CF008AAAF6}"/>
              </a:ext>
            </a:extLst>
          </p:cNvPr>
          <p:cNvSpPr txBox="1"/>
          <p:nvPr/>
        </p:nvSpPr>
        <p:spPr>
          <a:xfrm>
            <a:off x="1164349" y="759758"/>
            <a:ext cx="10688668" cy="5578450"/>
          </a:xfrm>
          <a:prstGeom prst="rect">
            <a:avLst/>
          </a:prstGeom>
          <a:noFill/>
        </p:spPr>
        <p:txBody>
          <a:bodyPr wrap="square" rtlCol="0">
            <a:spAutoFit/>
          </a:bodyPr>
          <a:lstStyle/>
          <a:p>
            <a:pPr algn="just"/>
            <a:r>
              <a:rPr lang="tr-TR" sz="1550" b="1" dirty="0">
                <a:latin typeface="Consolas" panose="020B0609020204030204" pitchFamily="49" charset="0"/>
              </a:rPr>
              <a:t>Özel Bellekler: </a:t>
            </a:r>
            <a:r>
              <a:rPr lang="tr-TR" sz="1550" dirty="0">
                <a:latin typeface="Consolas" panose="020B0609020204030204" pitchFamily="49" charset="0"/>
              </a:rPr>
              <a:t>Her işlemci veya işlemci çekirdeği, kendi özel belleğine sahiptir. Bu, işlemcilerin kendi belleklerine hızlı ve doğrudan erişebildiği anlamına gelir. Bu durum, işlemcilerin veriye yerel olarak erişmesini ve yerel belleği etkin bir şekilde kullanmasını sağlar.</a:t>
            </a:r>
          </a:p>
          <a:p>
            <a:pPr algn="just"/>
            <a:endParaRPr lang="tr-TR" sz="1550" dirty="0">
              <a:latin typeface="Consolas" panose="020B0609020204030204" pitchFamily="49" charset="0"/>
            </a:endParaRPr>
          </a:p>
          <a:p>
            <a:pPr algn="just"/>
            <a:r>
              <a:rPr lang="tr-TR" sz="1550" b="1" dirty="0">
                <a:latin typeface="Consolas" panose="020B0609020204030204" pitchFamily="49" charset="0"/>
              </a:rPr>
              <a:t>Dağıtık Veri ve Komut Yürütme: </a:t>
            </a:r>
            <a:r>
              <a:rPr lang="tr-TR" sz="1550" dirty="0">
                <a:latin typeface="Consolas" panose="020B0609020204030204" pitchFamily="49" charset="0"/>
              </a:rPr>
              <a:t>Veri ve komutlar, işlemciler arasında </a:t>
            </a:r>
            <a:r>
              <a:rPr lang="tr-TR" sz="1550" b="1" dirty="0">
                <a:solidFill>
                  <a:srgbClr val="0070C0"/>
                </a:solidFill>
                <a:latin typeface="Consolas" panose="020B0609020204030204" pitchFamily="49" charset="0"/>
              </a:rPr>
              <a:t>ağ aracılığıyla </a:t>
            </a:r>
            <a:r>
              <a:rPr lang="tr-TR" sz="1550" dirty="0">
                <a:latin typeface="Consolas" panose="020B0609020204030204" pitchFamily="49" charset="0"/>
              </a:rPr>
              <a:t>iletilir ve paylaşılır. İşlemciler, gerektiğinde diğer işlemcilerin belleklerindeki verilere veya komutlara erişmek için ağ üzerinden iletişim kurarlar.</a:t>
            </a:r>
          </a:p>
          <a:p>
            <a:pPr algn="just"/>
            <a:endParaRPr lang="tr-TR" sz="1550" dirty="0">
              <a:latin typeface="Consolas" panose="020B0609020204030204" pitchFamily="49" charset="0"/>
            </a:endParaRPr>
          </a:p>
          <a:p>
            <a:pPr algn="just"/>
            <a:r>
              <a:rPr lang="tr-TR" sz="1550" b="1" dirty="0">
                <a:latin typeface="Consolas" panose="020B0609020204030204" pitchFamily="49" charset="0"/>
              </a:rPr>
              <a:t>Paralel İşleme Yetenekleri: </a:t>
            </a:r>
            <a:r>
              <a:rPr lang="tr-TR" sz="1550" dirty="0">
                <a:latin typeface="Consolas" panose="020B0609020204030204" pitchFamily="49" charset="0"/>
              </a:rPr>
              <a:t>Dağıtık bellekli MIMD sistemler, yüksek derecede paralel işlem yetenekleri sunar. Her bir işlemci, kendi işlem setiyle farklı işlemleri aynı anda gerçekleştirebilir, böylece paralel işlem gücü artar.</a:t>
            </a:r>
          </a:p>
          <a:p>
            <a:pPr algn="just"/>
            <a:endParaRPr lang="tr-TR" sz="1550" dirty="0">
              <a:latin typeface="Consolas" panose="020B0609020204030204" pitchFamily="49" charset="0"/>
            </a:endParaRPr>
          </a:p>
          <a:p>
            <a:pPr algn="just"/>
            <a:r>
              <a:rPr lang="tr-TR" sz="1550" b="1" dirty="0">
                <a:latin typeface="Consolas" panose="020B0609020204030204" pitchFamily="49" charset="0"/>
              </a:rPr>
              <a:t>Ölçeklenebilirlik: </a:t>
            </a:r>
            <a:r>
              <a:rPr lang="tr-TR" sz="1550" dirty="0">
                <a:latin typeface="Consolas" panose="020B0609020204030204" pitchFamily="49" charset="0"/>
              </a:rPr>
              <a:t>Bu sistemler genellikle ölçeklenebilir bir yapıya sahiptir. Yeni işlemciler veya işlemci çekirdekleri eklenerek sistem kapasitesi artırılabilir ve performansı artırılabilir.</a:t>
            </a:r>
          </a:p>
          <a:p>
            <a:pPr algn="just"/>
            <a:endParaRPr lang="tr-TR" sz="1550" dirty="0">
              <a:latin typeface="Consolas" panose="020B0609020204030204" pitchFamily="49" charset="0"/>
            </a:endParaRPr>
          </a:p>
          <a:p>
            <a:pPr algn="just"/>
            <a:r>
              <a:rPr lang="tr-TR" sz="1550" b="1" dirty="0">
                <a:latin typeface="Consolas" panose="020B0609020204030204" pitchFamily="49" charset="0"/>
              </a:rPr>
              <a:t>İletişim Gecikmesi: </a:t>
            </a:r>
            <a:r>
              <a:rPr lang="tr-TR" sz="1550" dirty="0">
                <a:latin typeface="Consolas" panose="020B0609020204030204" pitchFamily="49" charset="0"/>
              </a:rPr>
              <a:t>İşlemciler arasındaki veri transferi ve iletişim ağ üzerinden gerçekleştiği için, iletişim gecikmeleri sistem performansını etkileyebilir. Bu nedenle, ağ performansı ve yetenekleri, sistemdeki veri akışını ve paralel işleme verimliliğini belirleyebilir.</a:t>
            </a:r>
          </a:p>
          <a:p>
            <a:pPr algn="just"/>
            <a:endParaRPr lang="tr-TR" sz="1550" dirty="0">
              <a:latin typeface="Consolas" panose="020B0609020204030204" pitchFamily="49" charset="0"/>
            </a:endParaRPr>
          </a:p>
          <a:p>
            <a:pPr algn="just"/>
            <a:r>
              <a:rPr lang="tr-TR" sz="1550" b="1" dirty="0">
                <a:latin typeface="Consolas" panose="020B0609020204030204" pitchFamily="49" charset="0"/>
              </a:rPr>
              <a:t>Heterojenlik: </a:t>
            </a:r>
            <a:r>
              <a:rPr lang="tr-TR" sz="1550" dirty="0">
                <a:latin typeface="Consolas" panose="020B0609020204030204" pitchFamily="49" charset="0"/>
              </a:rPr>
              <a:t>Dağıtık bellekli MIMD sistemler, farklı işlemcilerin veya işlemci çekirdeklerinin farklı özelliklere sahip olabileceği heterojen bir yapıya sahip olabilir. Örneğin, CPU'lar, </a:t>
            </a:r>
            <a:r>
              <a:rPr lang="tr-TR" sz="1550" dirty="0" err="1">
                <a:latin typeface="Consolas" panose="020B0609020204030204" pitchFamily="49" charset="0"/>
              </a:rPr>
              <a:t>GPU'lar</a:t>
            </a:r>
            <a:r>
              <a:rPr lang="tr-TR" sz="1550" dirty="0">
                <a:latin typeface="Consolas" panose="020B0609020204030204" pitchFamily="49" charset="0"/>
              </a:rPr>
              <a:t> veya özel amaçlı işlemciler bir arada kullanılabilir.</a:t>
            </a:r>
          </a:p>
        </p:txBody>
      </p:sp>
    </p:spTree>
    <p:extLst>
      <p:ext uri="{BB962C8B-B14F-4D97-AF65-F5344CB8AC3E}">
        <p14:creationId xmlns:p14="http://schemas.microsoft.com/office/powerpoint/2010/main" val="712792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B8A9D-0C3F-6A4E-8C44-001E09203684}"/>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FE947D10-31ED-77DE-3E37-13B3B075C63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482286D3-84EB-50B3-C996-64F2FF614E26}"/>
              </a:ext>
            </a:extLst>
          </p:cNvPr>
          <p:cNvSpPr txBox="1"/>
          <p:nvPr/>
        </p:nvSpPr>
        <p:spPr>
          <a:xfrm>
            <a:off x="1164349" y="184777"/>
            <a:ext cx="10688668" cy="1015663"/>
          </a:xfrm>
          <a:prstGeom prst="rect">
            <a:avLst/>
          </a:prstGeom>
          <a:noFill/>
        </p:spPr>
        <p:txBody>
          <a:bodyPr wrap="square" rtlCol="0">
            <a:spAutoFit/>
          </a:bodyPr>
          <a:lstStyle/>
          <a:p>
            <a:r>
              <a:rPr lang="tr-TR" sz="3000" b="1" dirty="0">
                <a:latin typeface="Consolas" panose="020B0609020204030204" pitchFamily="49" charset="0"/>
              </a:rPr>
              <a:t>Dağıtık Bellek Sistemler – </a:t>
            </a:r>
          </a:p>
          <a:p>
            <a:r>
              <a:rPr lang="tr-TR" sz="3000" b="1" dirty="0" err="1">
                <a:latin typeface="Consolas" panose="020B0609020204030204" pitchFamily="49" charset="0"/>
              </a:rPr>
              <a:t>Arabağlantı</a:t>
            </a:r>
            <a:r>
              <a:rPr lang="tr-TR" sz="3000" b="1" dirty="0">
                <a:latin typeface="Consolas" panose="020B0609020204030204" pitchFamily="49" charset="0"/>
              </a:rPr>
              <a:t> Ağları (</a:t>
            </a:r>
            <a:r>
              <a:rPr lang="tr-TR" sz="3000" b="1" dirty="0" err="1">
                <a:latin typeface="Consolas" panose="020B0609020204030204" pitchFamily="49" charset="0"/>
              </a:rPr>
              <a:t>Interconnection</a:t>
            </a:r>
            <a:r>
              <a:rPr lang="tr-TR" sz="3000" b="1" dirty="0">
                <a:latin typeface="Consolas" panose="020B0609020204030204" pitchFamily="49" charset="0"/>
              </a:rPr>
              <a:t> Networks)  </a:t>
            </a:r>
          </a:p>
        </p:txBody>
      </p:sp>
      <p:sp>
        <p:nvSpPr>
          <p:cNvPr id="7" name="Metin kutusu 6">
            <a:extLst>
              <a:ext uri="{FF2B5EF4-FFF2-40B4-BE49-F238E27FC236}">
                <a16:creationId xmlns:a16="http://schemas.microsoft.com/office/drawing/2014/main" id="{EF80C780-FEF8-6CBC-C17C-1F55E6829ACF}"/>
              </a:ext>
            </a:extLst>
          </p:cNvPr>
          <p:cNvSpPr txBox="1"/>
          <p:nvPr/>
        </p:nvSpPr>
        <p:spPr>
          <a:xfrm>
            <a:off x="1164349" y="1319316"/>
            <a:ext cx="10688668" cy="2554545"/>
          </a:xfrm>
          <a:prstGeom prst="rect">
            <a:avLst/>
          </a:prstGeom>
          <a:noFill/>
        </p:spPr>
        <p:txBody>
          <a:bodyPr wrap="square" rtlCol="0">
            <a:spAutoFit/>
          </a:bodyPr>
          <a:lstStyle/>
          <a:p>
            <a:pPr marL="342900" indent="-342900" algn="just">
              <a:buFont typeface="Arial" panose="020B0604020202020204" pitchFamily="34" charset="0"/>
              <a:buChar char="•"/>
            </a:pPr>
            <a:r>
              <a:rPr lang="tr-TR" sz="2000" dirty="0">
                <a:latin typeface="Consolas" panose="020B0609020204030204" pitchFamily="49" charset="0"/>
              </a:rPr>
              <a:t>Günümüzde en çok kullanılan </a:t>
            </a:r>
            <a:r>
              <a:rPr lang="tr-TR" sz="2000" dirty="0" err="1">
                <a:latin typeface="Consolas" panose="020B0609020204030204" pitchFamily="49" charset="0"/>
              </a:rPr>
              <a:t>arabağlantı</a:t>
            </a:r>
            <a:r>
              <a:rPr lang="tr-TR" sz="2000" dirty="0">
                <a:latin typeface="Consolas" panose="020B0609020204030204" pitchFamily="49" charset="0"/>
              </a:rPr>
              <a:t> yöntemleri:</a:t>
            </a:r>
          </a:p>
          <a:p>
            <a:pPr marL="800100" lvl="1" indent="-342900" algn="just">
              <a:buFont typeface="Wingdings" panose="05000000000000000000" pitchFamily="2" charset="2"/>
              <a:buChar char="ü"/>
            </a:pPr>
            <a:r>
              <a:rPr lang="tr-TR" sz="2000" dirty="0" err="1">
                <a:latin typeface="Consolas" panose="020B0609020204030204" pitchFamily="49" charset="0"/>
              </a:rPr>
              <a:t>Bus</a:t>
            </a:r>
            <a:r>
              <a:rPr lang="tr-TR" sz="2000" dirty="0">
                <a:latin typeface="Consolas" panose="020B0609020204030204" pitchFamily="49" charset="0"/>
              </a:rPr>
              <a:t> (Tümleşik veri bağlantı yolları)</a:t>
            </a:r>
          </a:p>
          <a:p>
            <a:pPr marL="800100" lvl="1" indent="-342900" algn="just">
              <a:buFont typeface="Wingdings" panose="05000000000000000000" pitchFamily="2" charset="2"/>
              <a:buChar char="ü"/>
            </a:pPr>
            <a:r>
              <a:rPr lang="tr-TR" sz="2000" dirty="0" err="1">
                <a:latin typeface="Consolas" panose="020B0609020204030204" pitchFamily="49" charset="0"/>
              </a:rPr>
              <a:t>Multiport</a:t>
            </a:r>
            <a:r>
              <a:rPr lang="tr-TR" sz="2000" dirty="0">
                <a:latin typeface="Consolas" panose="020B0609020204030204" pitchFamily="49" charset="0"/>
              </a:rPr>
              <a:t> Memory (Çok yollu hafızalar)</a:t>
            </a:r>
          </a:p>
          <a:p>
            <a:pPr marL="800100" lvl="1" indent="-342900" algn="just">
              <a:buFont typeface="Wingdings" panose="05000000000000000000" pitchFamily="2" charset="2"/>
              <a:buChar char="ü"/>
            </a:pPr>
            <a:r>
              <a:rPr lang="tr-TR" sz="2000" dirty="0" err="1">
                <a:latin typeface="Consolas" panose="020B0609020204030204" pitchFamily="49" charset="0"/>
              </a:rPr>
              <a:t>Crossbars</a:t>
            </a:r>
            <a:r>
              <a:rPr lang="tr-TR" sz="2000" dirty="0">
                <a:latin typeface="Consolas" panose="020B0609020204030204" pitchFamily="49" charset="0"/>
              </a:rPr>
              <a:t> (Çapraz bağlantılar)</a:t>
            </a:r>
          </a:p>
          <a:p>
            <a:pPr marL="800100" lvl="1" indent="-342900" algn="just">
              <a:buFont typeface="Wingdings" panose="05000000000000000000" pitchFamily="2" charset="2"/>
              <a:buChar char="ü"/>
            </a:pPr>
            <a:r>
              <a:rPr lang="tr-TR" sz="2000" dirty="0" err="1">
                <a:latin typeface="Consolas" panose="020B0609020204030204" pitchFamily="49" charset="0"/>
              </a:rPr>
              <a:t>Multistage</a:t>
            </a:r>
            <a:r>
              <a:rPr lang="tr-TR" sz="2000" dirty="0">
                <a:latin typeface="Consolas" panose="020B0609020204030204" pitchFamily="49" charset="0"/>
              </a:rPr>
              <a:t> </a:t>
            </a:r>
            <a:r>
              <a:rPr lang="tr-TR" sz="2000" dirty="0" err="1">
                <a:latin typeface="Consolas" panose="020B0609020204030204" pitchFamily="49" charset="0"/>
              </a:rPr>
              <a:t>Switching</a:t>
            </a:r>
            <a:r>
              <a:rPr lang="tr-TR" sz="2000" dirty="0">
                <a:latin typeface="Consolas" panose="020B0609020204030204" pitchFamily="49" charset="0"/>
              </a:rPr>
              <a:t> Network (Çok kademeli Anahtarlama Ağı)</a:t>
            </a:r>
          </a:p>
          <a:p>
            <a:pPr marL="800100" lvl="1" indent="-342900" algn="just">
              <a:buFont typeface="Wingdings" panose="05000000000000000000" pitchFamily="2" charset="2"/>
              <a:buChar char="ü"/>
            </a:pPr>
            <a:r>
              <a:rPr lang="tr-TR" sz="2000" dirty="0" err="1">
                <a:latin typeface="Consolas" panose="020B0609020204030204" pitchFamily="49" charset="0"/>
              </a:rPr>
              <a:t>Hypercube</a:t>
            </a:r>
            <a:r>
              <a:rPr lang="tr-TR" sz="2000" dirty="0">
                <a:latin typeface="Consolas" panose="020B0609020204030204" pitchFamily="49" charset="0"/>
              </a:rPr>
              <a:t> </a:t>
            </a:r>
            <a:r>
              <a:rPr lang="tr-TR" sz="2000" dirty="0" err="1">
                <a:latin typeface="Consolas" panose="020B0609020204030204" pitchFamily="49" charset="0"/>
              </a:rPr>
              <a:t>System</a:t>
            </a:r>
            <a:r>
              <a:rPr lang="tr-TR" sz="2000" dirty="0">
                <a:latin typeface="Consolas" panose="020B0609020204030204" pitchFamily="49" charset="0"/>
              </a:rPr>
              <a:t> (</a:t>
            </a:r>
            <a:r>
              <a:rPr lang="tr-TR" sz="2000" dirty="0" err="1">
                <a:latin typeface="Consolas" panose="020B0609020204030204" pitchFamily="49" charset="0"/>
              </a:rPr>
              <a:t>Hiperküp</a:t>
            </a:r>
            <a:r>
              <a:rPr lang="tr-TR" sz="2000" dirty="0">
                <a:latin typeface="Consolas" panose="020B0609020204030204" pitchFamily="49" charset="0"/>
              </a:rPr>
              <a:t> sistemler)</a:t>
            </a:r>
          </a:p>
          <a:p>
            <a:pPr marL="342900" indent="-342900" algn="just">
              <a:buFont typeface="Arial" panose="020B0604020202020204" pitchFamily="34" charset="0"/>
              <a:buChar char="•"/>
            </a:pPr>
            <a:r>
              <a:rPr lang="tr-TR" sz="2000" dirty="0">
                <a:latin typeface="Consolas" panose="020B0609020204030204" pitchFamily="49" charset="0"/>
              </a:rPr>
              <a:t>En çok kullanılan </a:t>
            </a:r>
            <a:r>
              <a:rPr lang="tr-TR" sz="2000" dirty="0" err="1">
                <a:latin typeface="Consolas" panose="020B0609020204030204" pitchFamily="49" charset="0"/>
              </a:rPr>
              <a:t>Bus</a:t>
            </a:r>
            <a:r>
              <a:rPr lang="tr-TR" sz="2000" dirty="0">
                <a:latin typeface="Consolas" panose="020B0609020204030204" pitchFamily="49" charset="0"/>
              </a:rPr>
              <a:t> ve </a:t>
            </a:r>
            <a:r>
              <a:rPr lang="tr-TR" sz="2000" dirty="0" err="1">
                <a:latin typeface="Consolas" panose="020B0609020204030204" pitchFamily="49" charset="0"/>
              </a:rPr>
              <a:t>Crossbars</a:t>
            </a:r>
            <a:r>
              <a:rPr lang="tr-TR" sz="2000" dirty="0">
                <a:latin typeface="Consolas" panose="020B0609020204030204" pitchFamily="49" charset="0"/>
              </a:rPr>
              <a:t> yapılarıdır.</a:t>
            </a:r>
          </a:p>
          <a:p>
            <a:pPr marL="342900" indent="-342900" algn="just">
              <a:buFont typeface="Arial" panose="020B0604020202020204" pitchFamily="34" charset="0"/>
              <a:buChar char="•"/>
            </a:pPr>
            <a:endParaRPr lang="tr-TR" sz="2000" dirty="0">
              <a:latin typeface="Consolas" panose="020B0609020204030204" pitchFamily="49" charset="0"/>
            </a:endParaRPr>
          </a:p>
        </p:txBody>
      </p:sp>
    </p:spTree>
    <p:extLst>
      <p:ext uri="{BB962C8B-B14F-4D97-AF65-F5344CB8AC3E}">
        <p14:creationId xmlns:p14="http://schemas.microsoft.com/office/powerpoint/2010/main" val="3051318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4453C-DF02-A10F-1E32-E8836ADC4260}"/>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EBBF726F-1CA3-879B-CA8C-BFD223A0588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3DC8FE8D-5D36-5D63-8F5C-9822E2B61246}"/>
              </a:ext>
            </a:extLst>
          </p:cNvPr>
          <p:cNvSpPr txBox="1"/>
          <p:nvPr/>
        </p:nvSpPr>
        <p:spPr>
          <a:xfrm>
            <a:off x="1164349" y="184777"/>
            <a:ext cx="10688668" cy="1015663"/>
          </a:xfrm>
          <a:prstGeom prst="rect">
            <a:avLst/>
          </a:prstGeom>
          <a:noFill/>
        </p:spPr>
        <p:txBody>
          <a:bodyPr wrap="square" rtlCol="0">
            <a:spAutoFit/>
          </a:bodyPr>
          <a:lstStyle/>
          <a:p>
            <a:r>
              <a:rPr lang="tr-TR" sz="3000" b="1" dirty="0">
                <a:latin typeface="Consolas" panose="020B0609020204030204" pitchFamily="49" charset="0"/>
              </a:rPr>
              <a:t>Dağıtık Bellek Sistemler – </a:t>
            </a:r>
          </a:p>
          <a:p>
            <a:r>
              <a:rPr lang="tr-TR" sz="3000" b="1" dirty="0" err="1">
                <a:latin typeface="Consolas" panose="020B0609020204030204" pitchFamily="49" charset="0"/>
              </a:rPr>
              <a:t>Arabağlantı</a:t>
            </a:r>
            <a:r>
              <a:rPr lang="tr-TR" sz="3000" b="1" dirty="0">
                <a:latin typeface="Consolas" panose="020B0609020204030204" pitchFamily="49" charset="0"/>
              </a:rPr>
              <a:t> Ağları (</a:t>
            </a:r>
            <a:r>
              <a:rPr lang="tr-TR" sz="3000" b="1" dirty="0" err="1">
                <a:latin typeface="Consolas" panose="020B0609020204030204" pitchFamily="49" charset="0"/>
              </a:rPr>
              <a:t>Interconnection</a:t>
            </a:r>
            <a:r>
              <a:rPr lang="tr-TR" sz="3000" b="1" dirty="0">
                <a:latin typeface="Consolas" panose="020B0609020204030204" pitchFamily="49" charset="0"/>
              </a:rPr>
              <a:t> Networks)  </a:t>
            </a:r>
          </a:p>
        </p:txBody>
      </p:sp>
      <p:sp>
        <p:nvSpPr>
          <p:cNvPr id="7" name="Metin kutusu 6">
            <a:extLst>
              <a:ext uri="{FF2B5EF4-FFF2-40B4-BE49-F238E27FC236}">
                <a16:creationId xmlns:a16="http://schemas.microsoft.com/office/drawing/2014/main" id="{7B2780F3-1CB9-C137-4D70-7645069ACA55}"/>
              </a:ext>
            </a:extLst>
          </p:cNvPr>
          <p:cNvSpPr txBox="1"/>
          <p:nvPr/>
        </p:nvSpPr>
        <p:spPr>
          <a:xfrm>
            <a:off x="1164349" y="1319316"/>
            <a:ext cx="10688668" cy="1015663"/>
          </a:xfrm>
          <a:prstGeom prst="rect">
            <a:avLst/>
          </a:prstGeom>
          <a:noFill/>
        </p:spPr>
        <p:txBody>
          <a:bodyPr wrap="square" rtlCol="0">
            <a:spAutoFit/>
          </a:bodyPr>
          <a:lstStyle/>
          <a:p>
            <a:pPr algn="just"/>
            <a:r>
              <a:rPr lang="tr-TR" sz="2000" b="1" dirty="0">
                <a:solidFill>
                  <a:schemeClr val="accent4">
                    <a:lumMod val="50000"/>
                  </a:schemeClr>
                </a:solidFill>
                <a:latin typeface="Consolas" panose="020B0609020204030204" pitchFamily="49" charset="0"/>
              </a:rPr>
              <a:t>BUS</a:t>
            </a:r>
          </a:p>
          <a:p>
            <a:pPr algn="just"/>
            <a:endParaRPr lang="tr-TR" sz="2000" dirty="0">
              <a:latin typeface="Consolas" panose="020B0609020204030204" pitchFamily="49" charset="0"/>
            </a:endParaRPr>
          </a:p>
          <a:p>
            <a:pPr algn="just"/>
            <a:endParaRPr lang="tr-TR" sz="2000" dirty="0">
              <a:latin typeface="Consolas" panose="020B0609020204030204" pitchFamily="49" charset="0"/>
            </a:endParaRPr>
          </a:p>
        </p:txBody>
      </p:sp>
      <p:pic>
        <p:nvPicPr>
          <p:cNvPr id="2" name="İçerik Yer Tutucusu 4">
            <a:extLst>
              <a:ext uri="{FF2B5EF4-FFF2-40B4-BE49-F238E27FC236}">
                <a16:creationId xmlns:a16="http://schemas.microsoft.com/office/drawing/2014/main" id="{04EFA84E-6FB3-AD9F-8150-241FE1493273}"/>
              </a:ext>
            </a:extLst>
          </p:cNvPr>
          <p:cNvPicPr>
            <a:picLocks noGrp="1" noChangeAspect="1"/>
          </p:cNvPicPr>
          <p:nvPr>
            <p:ph idx="1"/>
          </p:nvPr>
        </p:nvPicPr>
        <p:blipFill>
          <a:blip r:embed="rId3"/>
          <a:stretch>
            <a:fillRect/>
          </a:stretch>
        </p:blipFill>
        <p:spPr>
          <a:xfrm>
            <a:off x="4826629" y="1547012"/>
            <a:ext cx="7126602" cy="4914898"/>
          </a:xfrm>
        </p:spPr>
      </p:pic>
      <p:sp>
        <p:nvSpPr>
          <p:cNvPr id="5" name="Metin kutusu 4">
            <a:extLst>
              <a:ext uri="{FF2B5EF4-FFF2-40B4-BE49-F238E27FC236}">
                <a16:creationId xmlns:a16="http://schemas.microsoft.com/office/drawing/2014/main" id="{679742C0-E381-EF75-7595-3D345C963751}"/>
              </a:ext>
            </a:extLst>
          </p:cNvPr>
          <p:cNvSpPr txBox="1"/>
          <p:nvPr/>
        </p:nvSpPr>
        <p:spPr>
          <a:xfrm>
            <a:off x="1164349" y="1752929"/>
            <a:ext cx="3762493" cy="5078313"/>
          </a:xfrm>
          <a:prstGeom prst="rect">
            <a:avLst/>
          </a:prstGeom>
          <a:noFill/>
        </p:spPr>
        <p:txBody>
          <a:bodyPr wrap="square">
            <a:spAutoFit/>
          </a:bodyPr>
          <a:lstStyle/>
          <a:p>
            <a:pPr algn="l">
              <a:buFont typeface="Arial" panose="020B0604020202020204" pitchFamily="34" charset="0"/>
              <a:buChar char="•"/>
            </a:pPr>
            <a:r>
              <a:rPr lang="tr-TR" b="0" i="0" dirty="0">
                <a:solidFill>
                  <a:schemeClr val="tx2"/>
                </a:solidFill>
                <a:effectLst/>
                <a:latin typeface="Consolas" panose="020B0609020204030204" pitchFamily="49" charset="0"/>
              </a:rPr>
              <a:t> Genellikle merkezi bir yapıya sahiptir ve işlemciler, bellek ve diğer donanım birimleri bu merkezi veri yoluna bağlanır.</a:t>
            </a:r>
          </a:p>
          <a:p>
            <a:pPr algn="l">
              <a:buFont typeface="Arial" panose="020B0604020202020204" pitchFamily="34" charset="0"/>
              <a:buChar char="•"/>
            </a:pPr>
            <a:r>
              <a:rPr lang="tr-TR" b="0" i="0" dirty="0">
                <a:solidFill>
                  <a:schemeClr val="tx2"/>
                </a:solidFill>
                <a:effectLst/>
                <a:latin typeface="Consolas" panose="020B0609020204030204" pitchFamily="49" charset="0"/>
              </a:rPr>
              <a:t> Her bir işlemci veya donanım birimi, veri yolu üzerinde paylaşılan bir iletişim kanalını kullanarak veri alışverişi yapar.</a:t>
            </a:r>
          </a:p>
          <a:p>
            <a:pPr algn="l">
              <a:buFont typeface="Arial" panose="020B0604020202020204" pitchFamily="34" charset="0"/>
              <a:buChar char="•"/>
            </a:pPr>
            <a:r>
              <a:rPr lang="tr-TR" b="0" i="0" dirty="0">
                <a:solidFill>
                  <a:schemeClr val="tx2"/>
                </a:solidFill>
                <a:effectLst/>
                <a:latin typeface="Consolas" panose="020B0609020204030204" pitchFamily="49" charset="0"/>
              </a:rPr>
              <a:t> </a:t>
            </a:r>
            <a:r>
              <a:rPr lang="tr-TR" b="0" i="0" dirty="0" err="1">
                <a:solidFill>
                  <a:schemeClr val="tx2"/>
                </a:solidFill>
                <a:effectLst/>
                <a:latin typeface="Consolas" panose="020B0609020204030204" pitchFamily="49" charset="0"/>
              </a:rPr>
              <a:t>Bus</a:t>
            </a:r>
            <a:r>
              <a:rPr lang="tr-TR" b="0" i="0" dirty="0">
                <a:solidFill>
                  <a:schemeClr val="tx2"/>
                </a:solidFill>
                <a:effectLst/>
                <a:latin typeface="Consolas" panose="020B0609020204030204" pitchFamily="49" charset="0"/>
              </a:rPr>
              <a:t> tabanlı sistemler, küçük ölçekli sistemlerde kullanılabilir, ancak büyük ölçekli paralel işleme veya yüksek performanslı hesaplama gerektiren uygulamalarda genellikle yetersiz kalır.</a:t>
            </a:r>
          </a:p>
        </p:txBody>
      </p:sp>
    </p:spTree>
    <p:extLst>
      <p:ext uri="{BB962C8B-B14F-4D97-AF65-F5344CB8AC3E}">
        <p14:creationId xmlns:p14="http://schemas.microsoft.com/office/powerpoint/2010/main" val="448603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4DD81-E1C8-B702-2673-9AA2EC3C16B2}"/>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E1836461-BA6E-3BE4-A16B-9516217ACB9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4752D801-1F9C-F77D-7DCA-4057993F5055}"/>
              </a:ext>
            </a:extLst>
          </p:cNvPr>
          <p:cNvSpPr txBox="1"/>
          <p:nvPr/>
        </p:nvSpPr>
        <p:spPr>
          <a:xfrm>
            <a:off x="1164349" y="184777"/>
            <a:ext cx="10688668" cy="1015663"/>
          </a:xfrm>
          <a:prstGeom prst="rect">
            <a:avLst/>
          </a:prstGeom>
          <a:noFill/>
        </p:spPr>
        <p:txBody>
          <a:bodyPr wrap="square" rtlCol="0">
            <a:spAutoFit/>
          </a:bodyPr>
          <a:lstStyle/>
          <a:p>
            <a:r>
              <a:rPr lang="tr-TR" sz="3000" b="1" dirty="0">
                <a:latin typeface="Consolas" panose="020B0609020204030204" pitchFamily="49" charset="0"/>
              </a:rPr>
              <a:t>Dağıtık Bellek Sistemler – </a:t>
            </a:r>
          </a:p>
          <a:p>
            <a:r>
              <a:rPr lang="tr-TR" sz="3000" b="1" dirty="0" err="1">
                <a:latin typeface="Consolas" panose="020B0609020204030204" pitchFamily="49" charset="0"/>
              </a:rPr>
              <a:t>Arabağlantı</a:t>
            </a:r>
            <a:r>
              <a:rPr lang="tr-TR" sz="3000" b="1" dirty="0">
                <a:latin typeface="Consolas" panose="020B0609020204030204" pitchFamily="49" charset="0"/>
              </a:rPr>
              <a:t> Ağları (</a:t>
            </a:r>
            <a:r>
              <a:rPr lang="tr-TR" sz="3000" b="1" dirty="0" err="1">
                <a:latin typeface="Consolas" panose="020B0609020204030204" pitchFamily="49" charset="0"/>
              </a:rPr>
              <a:t>Interconnection</a:t>
            </a:r>
            <a:r>
              <a:rPr lang="tr-TR" sz="3000" b="1" dirty="0">
                <a:latin typeface="Consolas" panose="020B0609020204030204" pitchFamily="49" charset="0"/>
              </a:rPr>
              <a:t> Networks)  </a:t>
            </a:r>
          </a:p>
        </p:txBody>
      </p:sp>
      <p:sp>
        <p:nvSpPr>
          <p:cNvPr id="7" name="Metin kutusu 6">
            <a:extLst>
              <a:ext uri="{FF2B5EF4-FFF2-40B4-BE49-F238E27FC236}">
                <a16:creationId xmlns:a16="http://schemas.microsoft.com/office/drawing/2014/main" id="{403EFECD-DA67-096B-F5F9-5CB4735824DD}"/>
              </a:ext>
            </a:extLst>
          </p:cNvPr>
          <p:cNvSpPr txBox="1"/>
          <p:nvPr/>
        </p:nvSpPr>
        <p:spPr>
          <a:xfrm>
            <a:off x="1164349" y="1319316"/>
            <a:ext cx="10688668" cy="1015663"/>
          </a:xfrm>
          <a:prstGeom prst="rect">
            <a:avLst/>
          </a:prstGeom>
          <a:noFill/>
        </p:spPr>
        <p:txBody>
          <a:bodyPr wrap="square" rtlCol="0">
            <a:spAutoFit/>
          </a:bodyPr>
          <a:lstStyle/>
          <a:p>
            <a:pPr algn="just"/>
            <a:r>
              <a:rPr lang="tr-TR" sz="2000" b="1" dirty="0">
                <a:solidFill>
                  <a:schemeClr val="accent4">
                    <a:lumMod val="50000"/>
                  </a:schemeClr>
                </a:solidFill>
                <a:latin typeface="Consolas" panose="020B0609020204030204" pitchFamily="49" charset="0"/>
              </a:rPr>
              <a:t>MULTIPORT</a:t>
            </a:r>
          </a:p>
          <a:p>
            <a:pPr algn="just"/>
            <a:endParaRPr lang="tr-TR" sz="2000" dirty="0">
              <a:latin typeface="Consolas" panose="020B0609020204030204" pitchFamily="49" charset="0"/>
            </a:endParaRPr>
          </a:p>
          <a:p>
            <a:pPr algn="just"/>
            <a:endParaRPr lang="tr-TR" sz="2000" dirty="0">
              <a:latin typeface="Consolas" panose="020B0609020204030204" pitchFamily="49" charset="0"/>
            </a:endParaRPr>
          </a:p>
        </p:txBody>
      </p:sp>
      <p:pic>
        <p:nvPicPr>
          <p:cNvPr id="2" name="Resim 1">
            <a:extLst>
              <a:ext uri="{FF2B5EF4-FFF2-40B4-BE49-F238E27FC236}">
                <a16:creationId xmlns:a16="http://schemas.microsoft.com/office/drawing/2014/main" id="{74902CB3-56AA-7D11-B954-1F6DCF2AC493}"/>
              </a:ext>
            </a:extLst>
          </p:cNvPr>
          <p:cNvPicPr>
            <a:picLocks noChangeAspect="1"/>
          </p:cNvPicPr>
          <p:nvPr/>
        </p:nvPicPr>
        <p:blipFill>
          <a:blip r:embed="rId3"/>
          <a:stretch>
            <a:fillRect/>
          </a:stretch>
        </p:blipFill>
        <p:spPr>
          <a:xfrm>
            <a:off x="6217478" y="1693671"/>
            <a:ext cx="5635539" cy="3989271"/>
          </a:xfrm>
          <a:prstGeom prst="rect">
            <a:avLst/>
          </a:prstGeom>
        </p:spPr>
      </p:pic>
      <p:sp>
        <p:nvSpPr>
          <p:cNvPr id="5" name="Metin kutusu 4">
            <a:extLst>
              <a:ext uri="{FF2B5EF4-FFF2-40B4-BE49-F238E27FC236}">
                <a16:creationId xmlns:a16="http://schemas.microsoft.com/office/drawing/2014/main" id="{48279FB7-2D56-0A15-6190-81127093566A}"/>
              </a:ext>
            </a:extLst>
          </p:cNvPr>
          <p:cNvSpPr txBox="1"/>
          <p:nvPr/>
        </p:nvSpPr>
        <p:spPr>
          <a:xfrm>
            <a:off x="1164349" y="1827148"/>
            <a:ext cx="4931651" cy="3477875"/>
          </a:xfrm>
          <a:prstGeom prst="rect">
            <a:avLst/>
          </a:prstGeom>
          <a:noFill/>
        </p:spPr>
        <p:txBody>
          <a:bodyPr wrap="square">
            <a:spAutoFit/>
          </a:bodyPr>
          <a:lstStyle/>
          <a:p>
            <a:pPr algn="l">
              <a:buFont typeface="Arial" panose="020B0604020202020204" pitchFamily="34" charset="0"/>
              <a:buChar char="•"/>
            </a:pPr>
            <a:r>
              <a:rPr lang="tr-TR" sz="2000" b="0" i="0" dirty="0">
                <a:solidFill>
                  <a:schemeClr val="tx2"/>
                </a:solidFill>
                <a:effectLst/>
                <a:latin typeface="Consolas" panose="020B0609020204030204" pitchFamily="49" charset="0"/>
              </a:rPr>
              <a:t> </a:t>
            </a:r>
            <a:r>
              <a:rPr lang="tr-TR" sz="2000" b="0" i="0" dirty="0" err="1">
                <a:solidFill>
                  <a:schemeClr val="tx2"/>
                </a:solidFill>
                <a:effectLst/>
                <a:latin typeface="Consolas" panose="020B0609020204030204" pitchFamily="49" charset="0"/>
              </a:rPr>
              <a:t>Multiport</a:t>
            </a:r>
            <a:r>
              <a:rPr lang="tr-TR" sz="2000" b="0" i="0" dirty="0">
                <a:solidFill>
                  <a:schemeClr val="tx2"/>
                </a:solidFill>
                <a:effectLst/>
                <a:latin typeface="Consolas" panose="020B0609020204030204" pitchFamily="49" charset="0"/>
              </a:rPr>
              <a:t>, birden fazla bağlantı noktasına sahip olan bir veri yolu türüdür.</a:t>
            </a:r>
          </a:p>
          <a:p>
            <a:pPr algn="l">
              <a:buFont typeface="Arial" panose="020B0604020202020204" pitchFamily="34" charset="0"/>
              <a:buChar char="•"/>
            </a:pPr>
            <a:r>
              <a:rPr lang="tr-TR" sz="2000" b="0" i="0" dirty="0">
                <a:solidFill>
                  <a:schemeClr val="tx2"/>
                </a:solidFill>
                <a:effectLst/>
                <a:latin typeface="Consolas" panose="020B0609020204030204" pitchFamily="49" charset="0"/>
              </a:rPr>
              <a:t> Bu yapı, birden fazla işlemci veya donanım biriminin aynı anda veri alışverişi yapmasına olanak tanır.</a:t>
            </a:r>
          </a:p>
          <a:p>
            <a:pPr algn="l">
              <a:buFont typeface="Arial" panose="020B0604020202020204" pitchFamily="34" charset="0"/>
              <a:buChar char="•"/>
            </a:pPr>
            <a:r>
              <a:rPr lang="tr-TR" sz="2000" b="0" i="0" dirty="0">
                <a:solidFill>
                  <a:schemeClr val="tx2"/>
                </a:solidFill>
                <a:effectLst/>
                <a:latin typeface="Consolas" panose="020B0609020204030204" pitchFamily="49" charset="0"/>
              </a:rPr>
              <a:t> </a:t>
            </a:r>
            <a:r>
              <a:rPr lang="tr-TR" sz="2000" b="0" i="0" dirty="0" err="1">
                <a:solidFill>
                  <a:schemeClr val="tx2"/>
                </a:solidFill>
                <a:effectLst/>
                <a:latin typeface="Consolas" panose="020B0609020204030204" pitchFamily="49" charset="0"/>
              </a:rPr>
              <a:t>Multiport</a:t>
            </a:r>
            <a:r>
              <a:rPr lang="tr-TR" sz="2000" b="0" i="0" dirty="0">
                <a:solidFill>
                  <a:schemeClr val="tx2"/>
                </a:solidFill>
                <a:effectLst/>
                <a:latin typeface="Consolas" panose="020B0609020204030204" pitchFamily="49" charset="0"/>
              </a:rPr>
              <a:t> yapıları, veri yolu trafiğini daha etkin bir şekilde yönetir ve çakışmaları azaltır, bu da performansı artırır.</a:t>
            </a:r>
          </a:p>
        </p:txBody>
      </p:sp>
    </p:spTree>
    <p:extLst>
      <p:ext uri="{BB962C8B-B14F-4D97-AF65-F5344CB8AC3E}">
        <p14:creationId xmlns:p14="http://schemas.microsoft.com/office/powerpoint/2010/main" val="41390045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6756F-7779-8A50-85E6-1876705A90F7}"/>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2FFFE6F3-C247-9EB1-00B0-DCF7C64C2EF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3D0186DF-1543-9B7B-B710-B79AFCEF17CB}"/>
              </a:ext>
            </a:extLst>
          </p:cNvPr>
          <p:cNvSpPr txBox="1"/>
          <p:nvPr/>
        </p:nvSpPr>
        <p:spPr>
          <a:xfrm>
            <a:off x="1164349" y="184777"/>
            <a:ext cx="10688668" cy="1015663"/>
          </a:xfrm>
          <a:prstGeom prst="rect">
            <a:avLst/>
          </a:prstGeom>
          <a:noFill/>
        </p:spPr>
        <p:txBody>
          <a:bodyPr wrap="square" rtlCol="0">
            <a:spAutoFit/>
          </a:bodyPr>
          <a:lstStyle/>
          <a:p>
            <a:r>
              <a:rPr lang="tr-TR" sz="3000" b="1" dirty="0">
                <a:latin typeface="Consolas" panose="020B0609020204030204" pitchFamily="49" charset="0"/>
              </a:rPr>
              <a:t>Dağıtık Bellek Sistemler – </a:t>
            </a:r>
          </a:p>
          <a:p>
            <a:r>
              <a:rPr lang="tr-TR" sz="3000" b="1" dirty="0" err="1">
                <a:latin typeface="Consolas" panose="020B0609020204030204" pitchFamily="49" charset="0"/>
              </a:rPr>
              <a:t>Arabağlantı</a:t>
            </a:r>
            <a:r>
              <a:rPr lang="tr-TR" sz="3000" b="1" dirty="0">
                <a:latin typeface="Consolas" panose="020B0609020204030204" pitchFamily="49" charset="0"/>
              </a:rPr>
              <a:t> Ağları (</a:t>
            </a:r>
            <a:r>
              <a:rPr lang="tr-TR" sz="3000" b="1" dirty="0" err="1">
                <a:latin typeface="Consolas" panose="020B0609020204030204" pitchFamily="49" charset="0"/>
              </a:rPr>
              <a:t>Interconnection</a:t>
            </a:r>
            <a:r>
              <a:rPr lang="tr-TR" sz="3000" b="1" dirty="0">
                <a:latin typeface="Consolas" panose="020B0609020204030204" pitchFamily="49" charset="0"/>
              </a:rPr>
              <a:t> Networks)  </a:t>
            </a:r>
          </a:p>
        </p:txBody>
      </p:sp>
      <p:sp>
        <p:nvSpPr>
          <p:cNvPr id="7" name="Metin kutusu 6">
            <a:extLst>
              <a:ext uri="{FF2B5EF4-FFF2-40B4-BE49-F238E27FC236}">
                <a16:creationId xmlns:a16="http://schemas.microsoft.com/office/drawing/2014/main" id="{5749A746-0446-F783-F947-E7AF64783EFC}"/>
              </a:ext>
            </a:extLst>
          </p:cNvPr>
          <p:cNvSpPr txBox="1"/>
          <p:nvPr/>
        </p:nvSpPr>
        <p:spPr>
          <a:xfrm>
            <a:off x="1164349" y="1319316"/>
            <a:ext cx="10688668" cy="1015663"/>
          </a:xfrm>
          <a:prstGeom prst="rect">
            <a:avLst/>
          </a:prstGeom>
          <a:noFill/>
        </p:spPr>
        <p:txBody>
          <a:bodyPr wrap="square" rtlCol="0">
            <a:spAutoFit/>
          </a:bodyPr>
          <a:lstStyle/>
          <a:p>
            <a:pPr algn="just"/>
            <a:r>
              <a:rPr lang="tr-TR" sz="2000" b="1" dirty="0">
                <a:latin typeface="Consolas" panose="020B0609020204030204" pitchFamily="49" charset="0"/>
              </a:rPr>
              <a:t>CROSSBAR</a:t>
            </a:r>
          </a:p>
          <a:p>
            <a:pPr algn="just"/>
            <a:endParaRPr lang="tr-TR" sz="2000" dirty="0">
              <a:latin typeface="Consolas" panose="020B0609020204030204" pitchFamily="49" charset="0"/>
            </a:endParaRPr>
          </a:p>
          <a:p>
            <a:pPr algn="just"/>
            <a:endParaRPr lang="tr-TR" sz="2000" dirty="0">
              <a:latin typeface="Consolas" panose="020B0609020204030204" pitchFamily="49" charset="0"/>
            </a:endParaRPr>
          </a:p>
        </p:txBody>
      </p:sp>
      <p:pic>
        <p:nvPicPr>
          <p:cNvPr id="3" name="Resim 2">
            <a:extLst>
              <a:ext uri="{FF2B5EF4-FFF2-40B4-BE49-F238E27FC236}">
                <a16:creationId xmlns:a16="http://schemas.microsoft.com/office/drawing/2014/main" id="{E667E9DB-D519-93FF-5FC8-52462438B3B7}"/>
              </a:ext>
            </a:extLst>
          </p:cNvPr>
          <p:cNvPicPr>
            <a:picLocks noChangeAspect="1"/>
          </p:cNvPicPr>
          <p:nvPr/>
        </p:nvPicPr>
        <p:blipFill>
          <a:blip r:embed="rId3"/>
          <a:stretch>
            <a:fillRect/>
          </a:stretch>
        </p:blipFill>
        <p:spPr>
          <a:xfrm>
            <a:off x="1164349" y="2075763"/>
            <a:ext cx="10727404" cy="4597459"/>
          </a:xfrm>
          <a:prstGeom prst="rect">
            <a:avLst/>
          </a:prstGeom>
        </p:spPr>
      </p:pic>
    </p:spTree>
    <p:extLst>
      <p:ext uri="{BB962C8B-B14F-4D97-AF65-F5344CB8AC3E}">
        <p14:creationId xmlns:p14="http://schemas.microsoft.com/office/powerpoint/2010/main" val="2249391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4D860-4123-950F-97EC-A065B7106DBA}"/>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56587052-FE03-45BD-D3AD-4BE0CD8608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1441F93B-446D-4EA3-4DB2-EA59A1B58FB0}"/>
              </a:ext>
            </a:extLst>
          </p:cNvPr>
          <p:cNvSpPr txBox="1"/>
          <p:nvPr/>
        </p:nvSpPr>
        <p:spPr>
          <a:xfrm>
            <a:off x="1164349" y="184777"/>
            <a:ext cx="10688668" cy="1015663"/>
          </a:xfrm>
          <a:prstGeom prst="rect">
            <a:avLst/>
          </a:prstGeom>
          <a:noFill/>
        </p:spPr>
        <p:txBody>
          <a:bodyPr wrap="square" rtlCol="0">
            <a:spAutoFit/>
          </a:bodyPr>
          <a:lstStyle/>
          <a:p>
            <a:r>
              <a:rPr lang="tr-TR" sz="3000" b="1" dirty="0">
                <a:latin typeface="Consolas" panose="020B0609020204030204" pitchFamily="49" charset="0"/>
              </a:rPr>
              <a:t>Dağıtık Bellek Sistemler – </a:t>
            </a:r>
          </a:p>
          <a:p>
            <a:r>
              <a:rPr lang="tr-TR" sz="3000" b="1" dirty="0" err="1">
                <a:latin typeface="Consolas" panose="020B0609020204030204" pitchFamily="49" charset="0"/>
              </a:rPr>
              <a:t>Arabağlantı</a:t>
            </a:r>
            <a:r>
              <a:rPr lang="tr-TR" sz="3000" b="1" dirty="0">
                <a:latin typeface="Consolas" panose="020B0609020204030204" pitchFamily="49" charset="0"/>
              </a:rPr>
              <a:t> Ağları (</a:t>
            </a:r>
            <a:r>
              <a:rPr lang="tr-TR" sz="3000" b="1" dirty="0" err="1">
                <a:latin typeface="Consolas" panose="020B0609020204030204" pitchFamily="49" charset="0"/>
              </a:rPr>
              <a:t>Interconnection</a:t>
            </a:r>
            <a:r>
              <a:rPr lang="tr-TR" sz="3000" b="1" dirty="0">
                <a:latin typeface="Consolas" panose="020B0609020204030204" pitchFamily="49" charset="0"/>
              </a:rPr>
              <a:t> Networks)  </a:t>
            </a:r>
          </a:p>
        </p:txBody>
      </p:sp>
      <p:sp>
        <p:nvSpPr>
          <p:cNvPr id="7" name="Metin kutusu 6">
            <a:extLst>
              <a:ext uri="{FF2B5EF4-FFF2-40B4-BE49-F238E27FC236}">
                <a16:creationId xmlns:a16="http://schemas.microsoft.com/office/drawing/2014/main" id="{7923F702-23F4-6378-D489-5AFB7C6328A2}"/>
              </a:ext>
            </a:extLst>
          </p:cNvPr>
          <p:cNvSpPr txBox="1"/>
          <p:nvPr/>
        </p:nvSpPr>
        <p:spPr>
          <a:xfrm>
            <a:off x="1164349" y="1319316"/>
            <a:ext cx="10688668" cy="2862322"/>
          </a:xfrm>
          <a:prstGeom prst="rect">
            <a:avLst/>
          </a:prstGeom>
          <a:noFill/>
        </p:spPr>
        <p:txBody>
          <a:bodyPr wrap="square" rtlCol="0">
            <a:spAutoFit/>
          </a:bodyPr>
          <a:lstStyle/>
          <a:p>
            <a:pPr algn="just"/>
            <a:r>
              <a:rPr lang="tr-TR" sz="2000" b="1" dirty="0">
                <a:latin typeface="Consolas" panose="020B0609020204030204" pitchFamily="49" charset="0"/>
              </a:rPr>
              <a:t>CROSSBAR</a:t>
            </a:r>
          </a:p>
          <a:p>
            <a:pPr algn="just"/>
            <a:endParaRPr lang="tr-TR" sz="2000" b="1" dirty="0">
              <a:latin typeface="Consolas" panose="020B0609020204030204" pitchFamily="49" charset="0"/>
            </a:endParaRPr>
          </a:p>
          <a:p>
            <a:pPr marL="342900" indent="-342900" algn="just">
              <a:buFont typeface="Arial" panose="020B0604020202020204" pitchFamily="34" charset="0"/>
              <a:buChar char="•"/>
            </a:pPr>
            <a:r>
              <a:rPr lang="tr-TR" sz="2000" dirty="0" err="1">
                <a:latin typeface="Consolas" panose="020B0609020204030204" pitchFamily="49" charset="0"/>
              </a:rPr>
              <a:t>Crossbar</a:t>
            </a:r>
            <a:r>
              <a:rPr lang="tr-TR" sz="2000" dirty="0">
                <a:latin typeface="Consolas" panose="020B0609020204030204" pitchFamily="49" charset="0"/>
              </a:rPr>
              <a:t>, kesişen veri yolu matrisi olarak tanımlanır.</a:t>
            </a:r>
          </a:p>
          <a:p>
            <a:pPr marL="342900" indent="-342900" algn="just">
              <a:buFont typeface="Arial" panose="020B0604020202020204" pitchFamily="34" charset="0"/>
              <a:buChar char="•"/>
            </a:pPr>
            <a:r>
              <a:rPr lang="tr-TR" sz="2000" dirty="0">
                <a:latin typeface="Consolas" panose="020B0609020204030204" pitchFamily="49" charset="0"/>
              </a:rPr>
              <a:t>Her bir işlemci veya donanım birimi, diğerlerine doğrudan bağlanır ve bağlantılar arasında kesişme noktaları vardır.</a:t>
            </a:r>
          </a:p>
          <a:p>
            <a:pPr marL="342900" indent="-342900" algn="just">
              <a:buFont typeface="Arial" panose="020B0604020202020204" pitchFamily="34" charset="0"/>
              <a:buChar char="•"/>
            </a:pPr>
            <a:r>
              <a:rPr lang="tr-TR" sz="2000" dirty="0">
                <a:latin typeface="Consolas" panose="020B0609020204030204" pitchFamily="49" charset="0"/>
              </a:rPr>
              <a:t>Bu yapı, çoklu işlemciler arasında paralel veri alışverişi sağlar ve çakışmaları önler, bu da yüksek performans sağlar.</a:t>
            </a:r>
          </a:p>
          <a:p>
            <a:pPr algn="just"/>
            <a:endParaRPr lang="tr-TR" sz="2000" dirty="0">
              <a:latin typeface="Consolas" panose="020B0609020204030204" pitchFamily="49" charset="0"/>
            </a:endParaRPr>
          </a:p>
          <a:p>
            <a:pPr algn="just"/>
            <a:endParaRPr lang="tr-TR" sz="2000" dirty="0">
              <a:latin typeface="Consolas" panose="020B0609020204030204" pitchFamily="49" charset="0"/>
            </a:endParaRPr>
          </a:p>
        </p:txBody>
      </p:sp>
    </p:spTree>
    <p:extLst>
      <p:ext uri="{BB962C8B-B14F-4D97-AF65-F5344CB8AC3E}">
        <p14:creationId xmlns:p14="http://schemas.microsoft.com/office/powerpoint/2010/main" val="1139395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FE214-17DA-50FB-C97C-A2E8F2C4D1D7}"/>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CD55C7C5-5898-48C8-A244-6A3BFFB411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412DF89F-7C2B-8B9E-C3C7-6E18F915AE39}"/>
              </a:ext>
            </a:extLst>
          </p:cNvPr>
          <p:cNvSpPr txBox="1"/>
          <p:nvPr/>
        </p:nvSpPr>
        <p:spPr>
          <a:xfrm>
            <a:off x="1164349" y="184777"/>
            <a:ext cx="10688668" cy="1015663"/>
          </a:xfrm>
          <a:prstGeom prst="rect">
            <a:avLst/>
          </a:prstGeom>
          <a:noFill/>
        </p:spPr>
        <p:txBody>
          <a:bodyPr wrap="square" rtlCol="0">
            <a:spAutoFit/>
          </a:bodyPr>
          <a:lstStyle/>
          <a:p>
            <a:r>
              <a:rPr lang="tr-TR" sz="3000" b="1" dirty="0">
                <a:latin typeface="Consolas" panose="020B0609020204030204" pitchFamily="49" charset="0"/>
              </a:rPr>
              <a:t>Dağıtık Bellek Sistemler – </a:t>
            </a:r>
          </a:p>
          <a:p>
            <a:r>
              <a:rPr lang="tr-TR" sz="3000" b="1" dirty="0" err="1">
                <a:latin typeface="Consolas" panose="020B0609020204030204" pitchFamily="49" charset="0"/>
              </a:rPr>
              <a:t>Arabağlantı</a:t>
            </a:r>
            <a:r>
              <a:rPr lang="tr-TR" sz="3000" b="1" dirty="0">
                <a:latin typeface="Consolas" panose="020B0609020204030204" pitchFamily="49" charset="0"/>
              </a:rPr>
              <a:t> Ağları (</a:t>
            </a:r>
            <a:r>
              <a:rPr lang="tr-TR" sz="3000" b="1" dirty="0" err="1">
                <a:latin typeface="Consolas" panose="020B0609020204030204" pitchFamily="49" charset="0"/>
              </a:rPr>
              <a:t>Interconnection</a:t>
            </a:r>
            <a:r>
              <a:rPr lang="tr-TR" sz="3000" b="1" dirty="0">
                <a:latin typeface="Consolas" panose="020B0609020204030204" pitchFamily="49" charset="0"/>
              </a:rPr>
              <a:t> Networks)  </a:t>
            </a:r>
          </a:p>
        </p:txBody>
      </p:sp>
      <p:sp>
        <p:nvSpPr>
          <p:cNvPr id="7" name="Metin kutusu 6">
            <a:extLst>
              <a:ext uri="{FF2B5EF4-FFF2-40B4-BE49-F238E27FC236}">
                <a16:creationId xmlns:a16="http://schemas.microsoft.com/office/drawing/2014/main" id="{6FAB1DEE-FEEF-D801-A49D-DF82C904488E}"/>
              </a:ext>
            </a:extLst>
          </p:cNvPr>
          <p:cNvSpPr txBox="1"/>
          <p:nvPr/>
        </p:nvSpPr>
        <p:spPr>
          <a:xfrm>
            <a:off x="1164349" y="1319316"/>
            <a:ext cx="10688668" cy="707886"/>
          </a:xfrm>
          <a:prstGeom prst="rect">
            <a:avLst/>
          </a:prstGeom>
          <a:noFill/>
        </p:spPr>
        <p:txBody>
          <a:bodyPr wrap="square" rtlCol="0">
            <a:spAutoFit/>
          </a:bodyPr>
          <a:lstStyle/>
          <a:p>
            <a:pPr algn="just"/>
            <a:r>
              <a:rPr lang="tr-TR" sz="2000" dirty="0">
                <a:latin typeface="Consolas" panose="020B0609020204030204" pitchFamily="49" charset="0"/>
              </a:rPr>
              <a:t>MULTISTAGE SWITCHING NETWORK</a:t>
            </a:r>
          </a:p>
          <a:p>
            <a:pPr algn="just"/>
            <a:endParaRPr lang="tr-TR" sz="2000" dirty="0">
              <a:latin typeface="Consolas" panose="020B0609020204030204" pitchFamily="49" charset="0"/>
            </a:endParaRPr>
          </a:p>
        </p:txBody>
      </p:sp>
      <p:sp>
        <p:nvSpPr>
          <p:cNvPr id="8" name="Metin kutusu 7">
            <a:extLst>
              <a:ext uri="{FF2B5EF4-FFF2-40B4-BE49-F238E27FC236}">
                <a16:creationId xmlns:a16="http://schemas.microsoft.com/office/drawing/2014/main" id="{F4126857-BF59-7A5D-1827-8FD644E6718F}"/>
              </a:ext>
            </a:extLst>
          </p:cNvPr>
          <p:cNvSpPr txBox="1"/>
          <p:nvPr/>
        </p:nvSpPr>
        <p:spPr>
          <a:xfrm>
            <a:off x="1164349" y="1846278"/>
            <a:ext cx="10818385" cy="1200329"/>
          </a:xfrm>
          <a:prstGeom prst="rect">
            <a:avLst/>
          </a:prstGeom>
          <a:noFill/>
        </p:spPr>
        <p:txBody>
          <a:bodyPr wrap="square">
            <a:spAutoFit/>
          </a:bodyPr>
          <a:lstStyle/>
          <a:p>
            <a:pPr algn="l">
              <a:buFont typeface="Arial" panose="020B0604020202020204" pitchFamily="34" charset="0"/>
              <a:buChar char="•"/>
            </a:pPr>
            <a:r>
              <a:rPr lang="tr-TR" i="0" dirty="0" err="1">
                <a:solidFill>
                  <a:schemeClr val="tx2"/>
                </a:solidFill>
                <a:effectLst/>
                <a:latin typeface="Consolas" panose="020B0609020204030204" pitchFamily="49" charset="0"/>
              </a:rPr>
              <a:t>Multistage</a:t>
            </a:r>
            <a:r>
              <a:rPr lang="tr-TR" i="0" dirty="0">
                <a:solidFill>
                  <a:schemeClr val="tx2"/>
                </a:solidFill>
                <a:effectLst/>
                <a:latin typeface="Consolas" panose="020B0609020204030204" pitchFamily="49" charset="0"/>
              </a:rPr>
              <a:t> </a:t>
            </a:r>
            <a:r>
              <a:rPr lang="tr-TR" i="0" dirty="0" err="1">
                <a:solidFill>
                  <a:schemeClr val="tx2"/>
                </a:solidFill>
                <a:effectLst/>
                <a:latin typeface="Consolas" panose="020B0609020204030204" pitchFamily="49" charset="0"/>
              </a:rPr>
              <a:t>switching</a:t>
            </a:r>
            <a:r>
              <a:rPr lang="tr-TR" i="0" dirty="0">
                <a:solidFill>
                  <a:schemeClr val="tx2"/>
                </a:solidFill>
                <a:effectLst/>
                <a:latin typeface="Consolas" panose="020B0609020204030204" pitchFamily="49" charset="0"/>
              </a:rPr>
              <a:t> network, birden fazla anahtarlama aşamasından oluşan bir ağdır.</a:t>
            </a:r>
          </a:p>
          <a:p>
            <a:pPr algn="l">
              <a:buFont typeface="Arial" panose="020B0604020202020204" pitchFamily="34" charset="0"/>
              <a:buChar char="•"/>
            </a:pPr>
            <a:r>
              <a:rPr lang="tr-TR" i="0" dirty="0">
                <a:solidFill>
                  <a:schemeClr val="tx2"/>
                </a:solidFill>
                <a:effectLst/>
                <a:latin typeface="Consolas" panose="020B0609020204030204" pitchFamily="49" charset="0"/>
              </a:rPr>
              <a:t>Her aşama, işlemciler arasındaki bağlantıları yönlendirir ve veri alışverişi için farklı yollar sağlar.</a:t>
            </a:r>
          </a:p>
          <a:p>
            <a:pPr algn="l">
              <a:buFont typeface="Arial" panose="020B0604020202020204" pitchFamily="34" charset="0"/>
              <a:buChar char="•"/>
            </a:pPr>
            <a:r>
              <a:rPr lang="tr-TR" i="0" dirty="0">
                <a:solidFill>
                  <a:schemeClr val="tx2"/>
                </a:solidFill>
                <a:effectLst/>
                <a:latin typeface="Consolas" panose="020B0609020204030204" pitchFamily="49" charset="0"/>
              </a:rPr>
              <a:t>Bu yapı, büyük ölçekli sistemlerde esneklik ve ölçeklenebilirlik sağlar.</a:t>
            </a:r>
          </a:p>
        </p:txBody>
      </p:sp>
      <p:pic>
        <p:nvPicPr>
          <p:cNvPr id="9" name="Resim 8">
            <a:extLst>
              <a:ext uri="{FF2B5EF4-FFF2-40B4-BE49-F238E27FC236}">
                <a16:creationId xmlns:a16="http://schemas.microsoft.com/office/drawing/2014/main" id="{0531C84C-3204-9205-8A04-201A037A899E}"/>
              </a:ext>
            </a:extLst>
          </p:cNvPr>
          <p:cNvPicPr>
            <a:picLocks noChangeAspect="1"/>
          </p:cNvPicPr>
          <p:nvPr/>
        </p:nvPicPr>
        <p:blipFill rotWithShape="1">
          <a:blip r:embed="rId3"/>
          <a:srcRect b="8705"/>
          <a:stretch/>
        </p:blipFill>
        <p:spPr>
          <a:xfrm>
            <a:off x="3635626" y="3386589"/>
            <a:ext cx="6237433" cy="3286634"/>
          </a:xfrm>
          <a:prstGeom prst="rect">
            <a:avLst/>
          </a:prstGeom>
        </p:spPr>
      </p:pic>
    </p:spTree>
    <p:extLst>
      <p:ext uri="{BB962C8B-B14F-4D97-AF65-F5344CB8AC3E}">
        <p14:creationId xmlns:p14="http://schemas.microsoft.com/office/powerpoint/2010/main" val="1264313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1FD05-A90F-F619-7B9B-180BF289B684}"/>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4414DB61-6855-278F-4E65-BA803BF8CD4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1EEFB308-20B2-16B9-5AD2-0BA82AAAEEB1}"/>
              </a:ext>
            </a:extLst>
          </p:cNvPr>
          <p:cNvSpPr txBox="1"/>
          <p:nvPr/>
        </p:nvSpPr>
        <p:spPr>
          <a:xfrm>
            <a:off x="1164349" y="184777"/>
            <a:ext cx="10688668" cy="1015663"/>
          </a:xfrm>
          <a:prstGeom prst="rect">
            <a:avLst/>
          </a:prstGeom>
          <a:noFill/>
        </p:spPr>
        <p:txBody>
          <a:bodyPr wrap="square" rtlCol="0">
            <a:spAutoFit/>
          </a:bodyPr>
          <a:lstStyle/>
          <a:p>
            <a:r>
              <a:rPr lang="tr-TR" sz="3000" b="1" dirty="0">
                <a:latin typeface="Consolas" panose="020B0609020204030204" pitchFamily="49" charset="0"/>
              </a:rPr>
              <a:t>Dağıtık Bellek Sistemler – </a:t>
            </a:r>
          </a:p>
          <a:p>
            <a:r>
              <a:rPr lang="tr-TR" sz="3000" b="1" dirty="0" err="1">
                <a:latin typeface="Consolas" panose="020B0609020204030204" pitchFamily="49" charset="0"/>
              </a:rPr>
              <a:t>Arabağlantı</a:t>
            </a:r>
            <a:r>
              <a:rPr lang="tr-TR" sz="3000" b="1" dirty="0">
                <a:latin typeface="Consolas" panose="020B0609020204030204" pitchFamily="49" charset="0"/>
              </a:rPr>
              <a:t> Ağları (</a:t>
            </a:r>
            <a:r>
              <a:rPr lang="tr-TR" sz="3000" b="1" dirty="0" err="1">
                <a:latin typeface="Consolas" panose="020B0609020204030204" pitchFamily="49" charset="0"/>
              </a:rPr>
              <a:t>Interconnection</a:t>
            </a:r>
            <a:r>
              <a:rPr lang="tr-TR" sz="3000" b="1" dirty="0">
                <a:latin typeface="Consolas" panose="020B0609020204030204" pitchFamily="49" charset="0"/>
              </a:rPr>
              <a:t> Networks)  </a:t>
            </a:r>
          </a:p>
        </p:txBody>
      </p:sp>
      <p:sp>
        <p:nvSpPr>
          <p:cNvPr id="7" name="Metin kutusu 6">
            <a:extLst>
              <a:ext uri="{FF2B5EF4-FFF2-40B4-BE49-F238E27FC236}">
                <a16:creationId xmlns:a16="http://schemas.microsoft.com/office/drawing/2014/main" id="{A75BF66D-9FC2-1C57-E027-7C8435CC4A33}"/>
              </a:ext>
            </a:extLst>
          </p:cNvPr>
          <p:cNvSpPr txBox="1"/>
          <p:nvPr/>
        </p:nvSpPr>
        <p:spPr>
          <a:xfrm>
            <a:off x="1164349" y="1319316"/>
            <a:ext cx="10688668" cy="707886"/>
          </a:xfrm>
          <a:prstGeom prst="rect">
            <a:avLst/>
          </a:prstGeom>
          <a:noFill/>
        </p:spPr>
        <p:txBody>
          <a:bodyPr wrap="square" rtlCol="0">
            <a:spAutoFit/>
          </a:bodyPr>
          <a:lstStyle/>
          <a:p>
            <a:pPr algn="just"/>
            <a:r>
              <a:rPr lang="tr-TR" sz="2000" dirty="0">
                <a:latin typeface="Consolas" panose="020B0609020204030204" pitchFamily="49" charset="0"/>
              </a:rPr>
              <a:t>MULTISTAGE SWITCHING NETWORK – Örnek:</a:t>
            </a:r>
          </a:p>
          <a:p>
            <a:pPr algn="just"/>
            <a:endParaRPr lang="tr-TR" sz="2000" dirty="0">
              <a:latin typeface="Consolas" panose="020B0609020204030204" pitchFamily="49" charset="0"/>
            </a:endParaRPr>
          </a:p>
        </p:txBody>
      </p:sp>
      <p:pic>
        <p:nvPicPr>
          <p:cNvPr id="3" name="Resim 2">
            <a:extLst>
              <a:ext uri="{FF2B5EF4-FFF2-40B4-BE49-F238E27FC236}">
                <a16:creationId xmlns:a16="http://schemas.microsoft.com/office/drawing/2014/main" id="{4416B37D-2E2E-2595-1A50-04698AA25BFC}"/>
              </a:ext>
            </a:extLst>
          </p:cNvPr>
          <p:cNvPicPr>
            <a:picLocks noChangeAspect="1"/>
          </p:cNvPicPr>
          <p:nvPr/>
        </p:nvPicPr>
        <p:blipFill>
          <a:blip r:embed="rId3"/>
          <a:stretch>
            <a:fillRect/>
          </a:stretch>
        </p:blipFill>
        <p:spPr>
          <a:xfrm>
            <a:off x="3141197" y="1776545"/>
            <a:ext cx="6521418" cy="4896678"/>
          </a:xfrm>
          <a:prstGeom prst="rect">
            <a:avLst/>
          </a:prstGeom>
        </p:spPr>
      </p:pic>
    </p:spTree>
    <p:extLst>
      <p:ext uri="{BB962C8B-B14F-4D97-AF65-F5344CB8AC3E}">
        <p14:creationId xmlns:p14="http://schemas.microsoft.com/office/powerpoint/2010/main" val="2658842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2C9D3-CA68-2C7A-7C41-E731F27280B3}"/>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4867EA57-52EA-C9ED-9610-5738732C436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7E575404-DEA4-0849-F88E-EFC3AFE7C326}"/>
              </a:ext>
            </a:extLst>
          </p:cNvPr>
          <p:cNvSpPr txBox="1"/>
          <p:nvPr/>
        </p:nvSpPr>
        <p:spPr>
          <a:xfrm>
            <a:off x="1164349" y="184777"/>
            <a:ext cx="10688668" cy="1015663"/>
          </a:xfrm>
          <a:prstGeom prst="rect">
            <a:avLst/>
          </a:prstGeom>
          <a:noFill/>
        </p:spPr>
        <p:txBody>
          <a:bodyPr wrap="square" rtlCol="0">
            <a:spAutoFit/>
          </a:bodyPr>
          <a:lstStyle/>
          <a:p>
            <a:r>
              <a:rPr lang="tr-TR" sz="3000" b="1" dirty="0">
                <a:latin typeface="Consolas" panose="020B0609020204030204" pitchFamily="49" charset="0"/>
              </a:rPr>
              <a:t>Dağıtık Bellek Sistemler – </a:t>
            </a:r>
          </a:p>
          <a:p>
            <a:r>
              <a:rPr lang="tr-TR" sz="3000" b="1" dirty="0" err="1">
                <a:latin typeface="Consolas" panose="020B0609020204030204" pitchFamily="49" charset="0"/>
              </a:rPr>
              <a:t>Arabağlantı</a:t>
            </a:r>
            <a:r>
              <a:rPr lang="tr-TR" sz="3000" b="1" dirty="0">
                <a:latin typeface="Consolas" panose="020B0609020204030204" pitchFamily="49" charset="0"/>
              </a:rPr>
              <a:t> Ağları (</a:t>
            </a:r>
            <a:r>
              <a:rPr lang="tr-TR" sz="3000" b="1" dirty="0" err="1">
                <a:latin typeface="Consolas" panose="020B0609020204030204" pitchFamily="49" charset="0"/>
              </a:rPr>
              <a:t>Interconnection</a:t>
            </a:r>
            <a:r>
              <a:rPr lang="tr-TR" sz="3000" b="1" dirty="0">
                <a:latin typeface="Consolas" panose="020B0609020204030204" pitchFamily="49" charset="0"/>
              </a:rPr>
              <a:t> Networks)  </a:t>
            </a:r>
          </a:p>
        </p:txBody>
      </p:sp>
      <p:sp>
        <p:nvSpPr>
          <p:cNvPr id="7" name="Metin kutusu 6">
            <a:extLst>
              <a:ext uri="{FF2B5EF4-FFF2-40B4-BE49-F238E27FC236}">
                <a16:creationId xmlns:a16="http://schemas.microsoft.com/office/drawing/2014/main" id="{95FE3A4B-355D-5815-99A8-451FF935AD95}"/>
              </a:ext>
            </a:extLst>
          </p:cNvPr>
          <p:cNvSpPr txBox="1"/>
          <p:nvPr/>
        </p:nvSpPr>
        <p:spPr>
          <a:xfrm>
            <a:off x="1164349" y="1319316"/>
            <a:ext cx="10688668" cy="400110"/>
          </a:xfrm>
          <a:prstGeom prst="rect">
            <a:avLst/>
          </a:prstGeom>
          <a:noFill/>
        </p:spPr>
        <p:txBody>
          <a:bodyPr wrap="square" rtlCol="0">
            <a:spAutoFit/>
          </a:bodyPr>
          <a:lstStyle/>
          <a:p>
            <a:pPr algn="just"/>
            <a:r>
              <a:rPr lang="tr-TR" sz="2000" dirty="0">
                <a:latin typeface="Consolas" panose="020B0609020204030204" pitchFamily="49" charset="0"/>
              </a:rPr>
              <a:t>HYPERCUBE</a:t>
            </a:r>
          </a:p>
        </p:txBody>
      </p:sp>
      <p:sp>
        <p:nvSpPr>
          <p:cNvPr id="9" name="Metin kutusu 8">
            <a:extLst>
              <a:ext uri="{FF2B5EF4-FFF2-40B4-BE49-F238E27FC236}">
                <a16:creationId xmlns:a16="http://schemas.microsoft.com/office/drawing/2014/main" id="{72820D87-34F1-DD3D-4E8C-B81C8C4843D0}"/>
              </a:ext>
            </a:extLst>
          </p:cNvPr>
          <p:cNvSpPr txBox="1"/>
          <p:nvPr/>
        </p:nvSpPr>
        <p:spPr>
          <a:xfrm>
            <a:off x="1164349" y="1838302"/>
            <a:ext cx="10433650" cy="4093428"/>
          </a:xfrm>
          <a:prstGeom prst="rect">
            <a:avLst/>
          </a:prstGeom>
          <a:noFill/>
        </p:spPr>
        <p:txBody>
          <a:bodyPr wrap="square">
            <a:spAutoFit/>
          </a:bodyPr>
          <a:lstStyle/>
          <a:p>
            <a:r>
              <a:rPr lang="tr-TR" sz="2000" dirty="0" err="1">
                <a:latin typeface="Consolas" panose="020B0609020204030204" pitchFamily="49" charset="0"/>
              </a:rPr>
              <a:t>Hypercube</a:t>
            </a:r>
            <a:r>
              <a:rPr lang="tr-TR" sz="2000" dirty="0">
                <a:latin typeface="Consolas" panose="020B0609020204030204" pitchFamily="49" charset="0"/>
              </a:rPr>
              <a:t>, paralel bilgisayar mimarilerinde kullanılan dağıtık bellekli sistemlerin bir türüdür.</a:t>
            </a:r>
          </a:p>
          <a:p>
            <a:endParaRPr lang="tr-TR" sz="2000" dirty="0">
              <a:latin typeface="Consolas" panose="020B0609020204030204" pitchFamily="49" charset="0"/>
            </a:endParaRPr>
          </a:p>
          <a:p>
            <a:r>
              <a:rPr lang="tr-TR" sz="2000" dirty="0" err="1">
                <a:latin typeface="Consolas" panose="020B0609020204030204" pitchFamily="49" charset="0"/>
              </a:rPr>
              <a:t>Hypercube</a:t>
            </a:r>
            <a:r>
              <a:rPr lang="tr-TR" sz="2000" dirty="0">
                <a:latin typeface="Consolas" panose="020B0609020204030204" pitchFamily="49" charset="0"/>
              </a:rPr>
              <a:t> mimarisi, N boyutlu bir küp yapısını temsil eder, her bir boyut işlemci veya düğümler arasındaki bir bağlantı noktasını temsil eder.</a:t>
            </a:r>
          </a:p>
          <a:p>
            <a:endParaRPr lang="tr-TR" sz="2000" dirty="0">
              <a:latin typeface="Consolas" panose="020B0609020204030204" pitchFamily="49" charset="0"/>
            </a:endParaRPr>
          </a:p>
          <a:p>
            <a:r>
              <a:rPr lang="tr-TR" sz="2000" dirty="0">
                <a:latin typeface="Consolas" panose="020B0609020204030204" pitchFamily="49" charset="0"/>
              </a:rPr>
              <a:t>Her işlemci veya düğüm, </a:t>
            </a:r>
            <a:r>
              <a:rPr lang="tr-TR" sz="2000" dirty="0" err="1">
                <a:latin typeface="Consolas" panose="020B0609020204030204" pitchFamily="49" charset="0"/>
              </a:rPr>
              <a:t>hiperküp</a:t>
            </a:r>
            <a:r>
              <a:rPr lang="tr-TR" sz="2000" dirty="0">
                <a:latin typeface="Consolas" panose="020B0609020204030204" pitchFamily="49" charset="0"/>
              </a:rPr>
              <a:t> yapısında birbirine komşu olan diğer düğümlere doğrudan bağlanır.</a:t>
            </a:r>
          </a:p>
          <a:p>
            <a:endParaRPr lang="tr-TR" sz="2000" dirty="0">
              <a:latin typeface="Consolas" panose="020B0609020204030204" pitchFamily="49" charset="0"/>
            </a:endParaRPr>
          </a:p>
          <a:p>
            <a:r>
              <a:rPr lang="tr-TR" sz="2000" dirty="0" err="1">
                <a:latin typeface="Consolas" panose="020B0609020204030204" pitchFamily="49" charset="0"/>
              </a:rPr>
              <a:t>Hypercube</a:t>
            </a:r>
            <a:r>
              <a:rPr lang="tr-TR" sz="2000" dirty="0">
                <a:latin typeface="Consolas" panose="020B0609020204030204" pitchFamily="49" charset="0"/>
              </a:rPr>
              <a:t>, düşük iletişim gecikmesi ve yüksek ölçeklenebilirlik sağlar.</a:t>
            </a:r>
          </a:p>
          <a:p>
            <a:endParaRPr lang="tr-TR" sz="2000" dirty="0">
              <a:latin typeface="Consolas" panose="020B0609020204030204" pitchFamily="49" charset="0"/>
            </a:endParaRPr>
          </a:p>
          <a:p>
            <a:r>
              <a:rPr lang="tr-TR" sz="2000" dirty="0">
                <a:latin typeface="Consolas" panose="020B0609020204030204" pitchFamily="49" charset="0"/>
              </a:rPr>
              <a:t>İletişim maliyeti, işlemciler arası mesafe arttıkça artar, ancak bu maliyet genellikle diğer </a:t>
            </a:r>
            <a:r>
              <a:rPr lang="tr-TR" sz="2000" dirty="0" err="1">
                <a:latin typeface="Consolas" panose="020B0609020204030204" pitchFamily="49" charset="0"/>
              </a:rPr>
              <a:t>interconnection</a:t>
            </a:r>
            <a:r>
              <a:rPr lang="tr-TR" sz="2000" dirty="0">
                <a:latin typeface="Consolas" panose="020B0609020204030204" pitchFamily="49" charset="0"/>
              </a:rPr>
              <a:t> türlerinden daha düşüktür.</a:t>
            </a:r>
          </a:p>
        </p:txBody>
      </p:sp>
    </p:spTree>
    <p:extLst>
      <p:ext uri="{BB962C8B-B14F-4D97-AF65-F5344CB8AC3E}">
        <p14:creationId xmlns:p14="http://schemas.microsoft.com/office/powerpoint/2010/main" val="10101253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FA0CB-2DF1-0158-BD43-4429106297B7}"/>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A318D06F-727D-7C85-FE96-523452886E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077F0C91-B00E-60C9-9442-69D048980CCB}"/>
              </a:ext>
            </a:extLst>
          </p:cNvPr>
          <p:cNvSpPr txBox="1"/>
          <p:nvPr/>
        </p:nvSpPr>
        <p:spPr>
          <a:xfrm>
            <a:off x="1164349" y="184777"/>
            <a:ext cx="10688668" cy="1015663"/>
          </a:xfrm>
          <a:prstGeom prst="rect">
            <a:avLst/>
          </a:prstGeom>
          <a:noFill/>
        </p:spPr>
        <p:txBody>
          <a:bodyPr wrap="square" rtlCol="0">
            <a:spAutoFit/>
          </a:bodyPr>
          <a:lstStyle/>
          <a:p>
            <a:r>
              <a:rPr lang="tr-TR" sz="3000" b="1" dirty="0">
                <a:latin typeface="Consolas" panose="020B0609020204030204" pitchFamily="49" charset="0"/>
              </a:rPr>
              <a:t>Dağıtık Bellek Sistemler – </a:t>
            </a:r>
          </a:p>
          <a:p>
            <a:r>
              <a:rPr lang="tr-TR" sz="3000" b="1" dirty="0" err="1">
                <a:latin typeface="Consolas" panose="020B0609020204030204" pitchFamily="49" charset="0"/>
              </a:rPr>
              <a:t>Arabağlantı</a:t>
            </a:r>
            <a:r>
              <a:rPr lang="tr-TR" sz="3000" b="1" dirty="0">
                <a:latin typeface="Consolas" panose="020B0609020204030204" pitchFamily="49" charset="0"/>
              </a:rPr>
              <a:t> Ağları (</a:t>
            </a:r>
            <a:r>
              <a:rPr lang="tr-TR" sz="3000" b="1" dirty="0" err="1">
                <a:latin typeface="Consolas" panose="020B0609020204030204" pitchFamily="49" charset="0"/>
              </a:rPr>
              <a:t>Interconnection</a:t>
            </a:r>
            <a:r>
              <a:rPr lang="tr-TR" sz="3000" b="1" dirty="0">
                <a:latin typeface="Consolas" panose="020B0609020204030204" pitchFamily="49" charset="0"/>
              </a:rPr>
              <a:t> Networks)  </a:t>
            </a:r>
          </a:p>
        </p:txBody>
      </p:sp>
      <p:sp>
        <p:nvSpPr>
          <p:cNvPr id="7" name="Metin kutusu 6">
            <a:extLst>
              <a:ext uri="{FF2B5EF4-FFF2-40B4-BE49-F238E27FC236}">
                <a16:creationId xmlns:a16="http://schemas.microsoft.com/office/drawing/2014/main" id="{0BC4DDDC-E1C1-0B0A-B8BB-88B249323692}"/>
              </a:ext>
            </a:extLst>
          </p:cNvPr>
          <p:cNvSpPr txBox="1"/>
          <p:nvPr/>
        </p:nvSpPr>
        <p:spPr>
          <a:xfrm>
            <a:off x="1164349" y="1319316"/>
            <a:ext cx="10688668" cy="400110"/>
          </a:xfrm>
          <a:prstGeom prst="rect">
            <a:avLst/>
          </a:prstGeom>
          <a:noFill/>
        </p:spPr>
        <p:txBody>
          <a:bodyPr wrap="square" rtlCol="0">
            <a:spAutoFit/>
          </a:bodyPr>
          <a:lstStyle/>
          <a:p>
            <a:pPr algn="just"/>
            <a:r>
              <a:rPr lang="tr-TR" sz="2000" dirty="0">
                <a:latin typeface="Consolas" panose="020B0609020204030204" pitchFamily="49" charset="0"/>
              </a:rPr>
              <a:t>HYPERCUBE</a:t>
            </a:r>
          </a:p>
        </p:txBody>
      </p:sp>
      <p:pic>
        <p:nvPicPr>
          <p:cNvPr id="2" name="Resim 1">
            <a:extLst>
              <a:ext uri="{FF2B5EF4-FFF2-40B4-BE49-F238E27FC236}">
                <a16:creationId xmlns:a16="http://schemas.microsoft.com/office/drawing/2014/main" id="{84B05B20-6F53-F5CA-8ECB-12D8923699A7}"/>
              </a:ext>
            </a:extLst>
          </p:cNvPr>
          <p:cNvPicPr>
            <a:picLocks noChangeAspect="1"/>
          </p:cNvPicPr>
          <p:nvPr/>
        </p:nvPicPr>
        <p:blipFill>
          <a:blip r:embed="rId3"/>
          <a:stretch>
            <a:fillRect/>
          </a:stretch>
        </p:blipFill>
        <p:spPr>
          <a:xfrm>
            <a:off x="1317697" y="1851899"/>
            <a:ext cx="5692004" cy="2874101"/>
          </a:xfrm>
          <a:prstGeom prst="rect">
            <a:avLst/>
          </a:prstGeom>
        </p:spPr>
      </p:pic>
      <p:pic>
        <p:nvPicPr>
          <p:cNvPr id="5" name="Resim 4">
            <a:extLst>
              <a:ext uri="{FF2B5EF4-FFF2-40B4-BE49-F238E27FC236}">
                <a16:creationId xmlns:a16="http://schemas.microsoft.com/office/drawing/2014/main" id="{85A57AC0-4A7D-6B1E-3205-B9C4CD0F1F18}"/>
              </a:ext>
            </a:extLst>
          </p:cNvPr>
          <p:cNvPicPr>
            <a:picLocks noChangeAspect="1"/>
          </p:cNvPicPr>
          <p:nvPr/>
        </p:nvPicPr>
        <p:blipFill>
          <a:blip r:embed="rId4"/>
          <a:stretch>
            <a:fillRect/>
          </a:stretch>
        </p:blipFill>
        <p:spPr>
          <a:xfrm>
            <a:off x="7096243" y="1319316"/>
            <a:ext cx="4138204" cy="3483236"/>
          </a:xfrm>
          <a:prstGeom prst="rect">
            <a:avLst/>
          </a:prstGeom>
        </p:spPr>
      </p:pic>
      <p:sp>
        <p:nvSpPr>
          <p:cNvPr id="9" name="Metin kutusu 8">
            <a:extLst>
              <a:ext uri="{FF2B5EF4-FFF2-40B4-BE49-F238E27FC236}">
                <a16:creationId xmlns:a16="http://schemas.microsoft.com/office/drawing/2014/main" id="{DCB81060-A4F1-0472-FD52-7F183291EC39}"/>
              </a:ext>
            </a:extLst>
          </p:cNvPr>
          <p:cNvSpPr txBox="1"/>
          <p:nvPr/>
        </p:nvSpPr>
        <p:spPr>
          <a:xfrm>
            <a:off x="1291858" y="4858473"/>
            <a:ext cx="10433650" cy="1528624"/>
          </a:xfrm>
          <a:prstGeom prst="rect">
            <a:avLst/>
          </a:prstGeom>
          <a:noFill/>
        </p:spPr>
        <p:txBody>
          <a:bodyPr wrap="square">
            <a:spAutoFit/>
          </a:bodyPr>
          <a:lstStyle/>
          <a:p>
            <a:r>
              <a:rPr lang="tr-TR" sz="2000" dirty="0">
                <a:latin typeface="Consolas" panose="020B0609020204030204" pitchFamily="49" charset="0"/>
              </a:rPr>
              <a:t>N-boyutlu </a:t>
            </a:r>
            <a:r>
              <a:rPr lang="tr-TR" sz="2000" dirty="0" err="1">
                <a:latin typeface="Consolas" panose="020B0609020204030204" pitchFamily="49" charset="0"/>
              </a:rPr>
              <a:t>hypercube</a:t>
            </a:r>
            <a:r>
              <a:rPr lang="tr-TR" sz="2000" dirty="0">
                <a:latin typeface="Consolas" panose="020B0609020204030204" pitchFamily="49" charset="0"/>
              </a:rPr>
              <a:t>:</a:t>
            </a:r>
          </a:p>
          <a:p>
            <a:pPr lvl="1"/>
            <a:r>
              <a:rPr lang="tr-TR" sz="2000" dirty="0">
                <a:latin typeface="Consolas" panose="020B0609020204030204" pitchFamily="49" charset="0"/>
              </a:rPr>
              <a:t>p = 2</a:t>
            </a:r>
            <a:r>
              <a:rPr lang="tr-TR" sz="2000" baseline="30000" dirty="0">
                <a:latin typeface="Consolas" panose="020B0609020204030204" pitchFamily="49" charset="0"/>
              </a:rPr>
              <a:t>n </a:t>
            </a:r>
            <a:r>
              <a:rPr lang="tr-TR" sz="2000" dirty="0">
                <a:latin typeface="Consolas" panose="020B0609020204030204" pitchFamily="49" charset="0"/>
              </a:rPr>
              <a:t> --&gt; p: </a:t>
            </a:r>
            <a:r>
              <a:rPr lang="tr-TR" sz="2000" dirty="0" err="1">
                <a:latin typeface="Consolas" panose="020B0609020204030204" pitchFamily="49" charset="0"/>
              </a:rPr>
              <a:t>hypercube</a:t>
            </a:r>
            <a:r>
              <a:rPr lang="tr-TR" sz="2000" dirty="0">
                <a:latin typeface="Consolas" panose="020B0609020204030204" pitchFamily="49" charset="0"/>
              </a:rPr>
              <a:t> </a:t>
            </a:r>
            <a:r>
              <a:rPr lang="tr-TR" sz="2000" dirty="0" err="1">
                <a:latin typeface="Consolas" panose="020B0609020204030204" pitchFamily="49" charset="0"/>
              </a:rPr>
              <a:t>node</a:t>
            </a:r>
            <a:r>
              <a:rPr lang="tr-TR" sz="2000" dirty="0">
                <a:latin typeface="Consolas" panose="020B0609020204030204" pitchFamily="49" charset="0"/>
              </a:rPr>
              <a:t> sayısı, n: </a:t>
            </a:r>
            <a:r>
              <a:rPr lang="tr-TR" sz="2000" dirty="0" err="1">
                <a:latin typeface="Consolas" panose="020B0609020204030204" pitchFamily="49" charset="0"/>
              </a:rPr>
              <a:t>hypercube</a:t>
            </a:r>
            <a:r>
              <a:rPr lang="tr-TR" sz="2000" dirty="0">
                <a:latin typeface="Consolas" panose="020B0609020204030204" pitchFamily="49" charset="0"/>
              </a:rPr>
              <a:t> boyutu (derecesi)</a:t>
            </a:r>
            <a:endParaRPr lang="tr-TR" sz="2000" baseline="30000" dirty="0">
              <a:latin typeface="Consolas" panose="020B0609020204030204" pitchFamily="49" charset="0"/>
            </a:endParaRPr>
          </a:p>
          <a:p>
            <a:pPr lvl="1"/>
            <a:endParaRPr lang="tr-TR" sz="2000" baseline="30000" dirty="0">
              <a:latin typeface="Consolas" panose="020B0609020204030204" pitchFamily="49" charset="0"/>
            </a:endParaRPr>
          </a:p>
          <a:p>
            <a:pPr lvl="1"/>
            <a:r>
              <a:rPr lang="tr-TR" sz="2000" dirty="0">
                <a:latin typeface="Consolas" panose="020B0609020204030204" pitchFamily="49" charset="0"/>
              </a:rPr>
              <a:t>İşlemciler n-boyutlu bir </a:t>
            </a:r>
            <a:r>
              <a:rPr lang="tr-TR" sz="2000" dirty="0" err="1">
                <a:latin typeface="Consolas" panose="020B0609020204030204" pitchFamily="49" charset="0"/>
              </a:rPr>
              <a:t>hypercube’in</a:t>
            </a:r>
            <a:r>
              <a:rPr lang="tr-TR" sz="2000" dirty="0">
                <a:latin typeface="Consolas" panose="020B0609020204030204" pitchFamily="49" charset="0"/>
              </a:rPr>
              <a:t> köşesinde bulunur ve her biri doğrudan diğer komşu düğümlere bağlıdır.</a:t>
            </a:r>
          </a:p>
        </p:txBody>
      </p:sp>
    </p:spTree>
    <p:extLst>
      <p:ext uri="{BB962C8B-B14F-4D97-AF65-F5344CB8AC3E}">
        <p14:creationId xmlns:p14="http://schemas.microsoft.com/office/powerpoint/2010/main" val="573384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3A095-6027-1AC9-565D-0C909DB4317B}"/>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68F22E35-C131-278B-4B33-4EC61D12DD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504111F9-9076-C3F0-7093-EAEC82B78275}"/>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Gecikme (</a:t>
            </a:r>
            <a:r>
              <a:rPr lang="tr-TR" sz="3000" b="1" dirty="0" err="1">
                <a:latin typeface="Consolas" panose="020B0609020204030204" pitchFamily="49" charset="0"/>
              </a:rPr>
              <a:t>Latency</a:t>
            </a:r>
            <a:r>
              <a:rPr lang="tr-TR" sz="3000" b="1" dirty="0">
                <a:latin typeface="Consolas" panose="020B0609020204030204" pitchFamily="49" charset="0"/>
              </a:rPr>
              <a:t>) ve Bant Genişliği (</a:t>
            </a:r>
            <a:r>
              <a:rPr lang="tr-TR" sz="3000" b="1" dirty="0" err="1">
                <a:latin typeface="Consolas" panose="020B0609020204030204" pitchFamily="49" charset="0"/>
              </a:rPr>
              <a:t>Bandwidth</a:t>
            </a:r>
            <a:r>
              <a:rPr lang="tr-TR" sz="3000" b="1" dirty="0">
                <a:latin typeface="Consolas" panose="020B0609020204030204" pitchFamily="49" charset="0"/>
              </a:rPr>
              <a:t>)</a:t>
            </a:r>
          </a:p>
        </p:txBody>
      </p:sp>
      <p:sp>
        <p:nvSpPr>
          <p:cNvPr id="8" name="Metin kutusu 7">
            <a:extLst>
              <a:ext uri="{FF2B5EF4-FFF2-40B4-BE49-F238E27FC236}">
                <a16:creationId xmlns:a16="http://schemas.microsoft.com/office/drawing/2014/main" id="{38F5CE37-022C-6432-AAA1-54B3058BA17A}"/>
              </a:ext>
            </a:extLst>
          </p:cNvPr>
          <p:cNvSpPr txBox="1"/>
          <p:nvPr/>
        </p:nvSpPr>
        <p:spPr>
          <a:xfrm>
            <a:off x="1164348" y="738775"/>
            <a:ext cx="10518135" cy="5324535"/>
          </a:xfrm>
          <a:prstGeom prst="rect">
            <a:avLst/>
          </a:prstGeom>
          <a:noFill/>
        </p:spPr>
        <p:txBody>
          <a:bodyPr wrap="square">
            <a:spAutoFit/>
          </a:bodyPr>
          <a:lstStyle/>
          <a:p>
            <a:r>
              <a:rPr lang="tr-TR" sz="2000" dirty="0">
                <a:latin typeface="Consolas" panose="020B0609020204030204" pitchFamily="49" charset="0"/>
              </a:rPr>
              <a:t>Gecikme, bir veri paketinin gönderici cihazdan alıcı cihaza kadar iletilirken geçen toplam süredir.</a:t>
            </a:r>
          </a:p>
          <a:p>
            <a:endParaRPr lang="tr-TR" sz="2000" dirty="0">
              <a:latin typeface="Consolas" panose="020B0609020204030204" pitchFamily="49" charset="0"/>
            </a:endParaRPr>
          </a:p>
          <a:p>
            <a:r>
              <a:rPr lang="tr-TR" sz="2000" dirty="0">
                <a:latin typeface="Consolas" panose="020B0609020204030204" pitchFamily="49" charset="0"/>
              </a:rPr>
              <a:t>Gecikme, iletim sürecindeki herhangi bir gecikmeyi içerebilir, örneğin:</a:t>
            </a:r>
          </a:p>
          <a:p>
            <a:endParaRPr lang="tr-TR" sz="2000" dirty="0">
              <a:latin typeface="Consolas" panose="020B0609020204030204" pitchFamily="49" charset="0"/>
            </a:endParaRPr>
          </a:p>
          <a:p>
            <a:r>
              <a:rPr lang="tr-TR" sz="2000" b="1" dirty="0">
                <a:solidFill>
                  <a:schemeClr val="tx2"/>
                </a:solidFill>
                <a:latin typeface="Consolas" panose="020B0609020204030204" pitchFamily="49" charset="0"/>
              </a:rPr>
              <a:t>İletim gecikmesi: </a:t>
            </a:r>
            <a:r>
              <a:rPr lang="tr-TR" sz="2000" dirty="0">
                <a:latin typeface="Consolas" panose="020B0609020204030204" pitchFamily="49" charset="0"/>
              </a:rPr>
              <a:t>Veri paketinin iletim hızı ile veri paketinin boyutu arasındaki ilişkiye dayanır. Bu, veri paketinin tamamının ağda taşınması için gereken süredir.</a:t>
            </a:r>
          </a:p>
          <a:p>
            <a:r>
              <a:rPr lang="tr-TR" sz="2000" b="1" dirty="0">
                <a:solidFill>
                  <a:schemeClr val="tx2"/>
                </a:solidFill>
                <a:latin typeface="Consolas" panose="020B0609020204030204" pitchFamily="49" charset="0"/>
              </a:rPr>
              <a:t>İşleme gecikmesi: </a:t>
            </a:r>
            <a:r>
              <a:rPr lang="tr-TR" sz="2000" dirty="0">
                <a:latin typeface="Consolas" panose="020B0609020204030204" pitchFamily="49" charset="0"/>
              </a:rPr>
              <a:t>Veri paketinin yönlendirme tabloları tarafından işlenmesi veya hedef cihaza ulaşması gibi işlemlerin gerçekleştirilmesi için geçen süredir.</a:t>
            </a:r>
          </a:p>
          <a:p>
            <a:r>
              <a:rPr lang="tr-TR" sz="2000" b="1" dirty="0">
                <a:solidFill>
                  <a:schemeClr val="tx2"/>
                </a:solidFill>
                <a:latin typeface="Consolas" panose="020B0609020204030204" pitchFamily="49" charset="0"/>
              </a:rPr>
              <a:t>Kuyruk gecikmesi: </a:t>
            </a:r>
            <a:r>
              <a:rPr lang="tr-TR" sz="2000" dirty="0">
                <a:latin typeface="Consolas" panose="020B0609020204030204" pitchFamily="49" charset="0"/>
              </a:rPr>
              <a:t>Veri paketlerinin ağdaki kuyruklarda beklemesi nedeniyle oluşan gecikmedir.</a:t>
            </a:r>
          </a:p>
          <a:p>
            <a:endParaRPr lang="tr-TR" sz="2000" dirty="0">
              <a:latin typeface="Consolas" panose="020B0609020204030204" pitchFamily="49" charset="0"/>
            </a:endParaRPr>
          </a:p>
          <a:p>
            <a:r>
              <a:rPr lang="tr-TR" sz="2000" dirty="0">
                <a:latin typeface="Consolas" panose="020B0609020204030204" pitchFamily="49" charset="0"/>
              </a:rPr>
              <a:t>Gecikme, genellikle milisaniye (</a:t>
            </a:r>
            <a:r>
              <a:rPr lang="tr-TR" sz="2000" dirty="0" err="1">
                <a:latin typeface="Consolas" panose="020B0609020204030204" pitchFamily="49" charset="0"/>
              </a:rPr>
              <a:t>ms</a:t>
            </a:r>
            <a:r>
              <a:rPr lang="tr-TR" sz="2000" dirty="0">
                <a:latin typeface="Consolas" panose="020B0609020204030204" pitchFamily="49" charset="0"/>
              </a:rPr>
              <a:t>) veya </a:t>
            </a:r>
            <a:r>
              <a:rPr lang="tr-TR" sz="2000" dirty="0" err="1">
                <a:latin typeface="Consolas" panose="020B0609020204030204" pitchFamily="49" charset="0"/>
              </a:rPr>
              <a:t>mikrosaniye</a:t>
            </a:r>
            <a:r>
              <a:rPr lang="tr-TR" sz="2000" dirty="0">
                <a:latin typeface="Consolas" panose="020B0609020204030204" pitchFamily="49" charset="0"/>
              </a:rPr>
              <a:t> (</a:t>
            </a:r>
            <a:r>
              <a:rPr lang="el-GR" sz="2000" dirty="0">
                <a:latin typeface="Consolas" panose="020B0609020204030204" pitchFamily="49" charset="0"/>
              </a:rPr>
              <a:t>μ</a:t>
            </a:r>
            <a:r>
              <a:rPr lang="tr-TR" sz="2000" dirty="0">
                <a:latin typeface="Consolas" panose="020B0609020204030204" pitchFamily="49" charset="0"/>
              </a:rPr>
              <a:t>s) cinsinden ifade edilir ve iletişim performansı üzerinde önemli bir etkiye sahiptir. Düşük gecikme süreleri, daha hızlı ve daha duyarlı ağlar sağlar.</a:t>
            </a:r>
          </a:p>
        </p:txBody>
      </p:sp>
    </p:spTree>
    <p:extLst>
      <p:ext uri="{BB962C8B-B14F-4D97-AF65-F5344CB8AC3E}">
        <p14:creationId xmlns:p14="http://schemas.microsoft.com/office/powerpoint/2010/main" val="3121825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45819-3129-FD3E-6C3B-3ECA377E04D8}"/>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A9D71B39-A8AB-0035-73C1-22C2BA09035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E0C42257-FB03-62A7-F889-FC59D13F89B5}"/>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Gecikme (</a:t>
            </a:r>
            <a:r>
              <a:rPr lang="tr-TR" sz="3000" b="1" dirty="0" err="1">
                <a:latin typeface="Consolas" panose="020B0609020204030204" pitchFamily="49" charset="0"/>
              </a:rPr>
              <a:t>Latency</a:t>
            </a:r>
            <a:r>
              <a:rPr lang="tr-TR" sz="3000" b="1" dirty="0">
                <a:latin typeface="Consolas" panose="020B0609020204030204" pitchFamily="49" charset="0"/>
              </a:rPr>
              <a:t>) ve Bant Genişliği (</a:t>
            </a:r>
            <a:r>
              <a:rPr lang="tr-TR" sz="3000" b="1" dirty="0" err="1">
                <a:latin typeface="Consolas" panose="020B0609020204030204" pitchFamily="49" charset="0"/>
              </a:rPr>
              <a:t>Bandwidth</a:t>
            </a:r>
            <a:r>
              <a:rPr lang="tr-TR" sz="3000" b="1" dirty="0">
                <a:latin typeface="Consolas" panose="020B0609020204030204" pitchFamily="49" charset="0"/>
              </a:rPr>
              <a:t>)</a:t>
            </a:r>
          </a:p>
        </p:txBody>
      </p:sp>
      <p:sp>
        <p:nvSpPr>
          <p:cNvPr id="8" name="Metin kutusu 7">
            <a:extLst>
              <a:ext uri="{FF2B5EF4-FFF2-40B4-BE49-F238E27FC236}">
                <a16:creationId xmlns:a16="http://schemas.microsoft.com/office/drawing/2014/main" id="{F4D83D45-3DF4-AB3F-42E4-6086C25BAE1A}"/>
              </a:ext>
            </a:extLst>
          </p:cNvPr>
          <p:cNvSpPr txBox="1"/>
          <p:nvPr/>
        </p:nvSpPr>
        <p:spPr>
          <a:xfrm>
            <a:off x="1164349" y="1074054"/>
            <a:ext cx="10518135" cy="4708981"/>
          </a:xfrm>
          <a:prstGeom prst="rect">
            <a:avLst/>
          </a:prstGeom>
          <a:noFill/>
        </p:spPr>
        <p:txBody>
          <a:bodyPr wrap="square">
            <a:spAutoFit/>
          </a:bodyPr>
          <a:lstStyle/>
          <a:p>
            <a:r>
              <a:rPr lang="tr-TR" sz="2000" dirty="0">
                <a:latin typeface="Consolas" panose="020B0609020204030204" pitchFamily="49" charset="0"/>
              </a:rPr>
              <a:t>Bant genişliği, bir ağdaki veri iletim hızını belirleyen kavramdır.</a:t>
            </a:r>
          </a:p>
          <a:p>
            <a:endParaRPr lang="tr-TR" sz="2000" dirty="0">
              <a:latin typeface="Consolas" panose="020B0609020204030204" pitchFamily="49" charset="0"/>
            </a:endParaRPr>
          </a:p>
          <a:p>
            <a:r>
              <a:rPr lang="tr-TR" sz="2000" dirty="0">
                <a:latin typeface="Consolas" panose="020B0609020204030204" pitchFamily="49" charset="0"/>
              </a:rPr>
              <a:t>Bant genişliği, birim zamanda (genellikle saniye başına) iletilen veri miktarını ifade eder. Örneğin, 1 Mbps (Megabit/saniye) bant genişliği, bir saniyede 1 megabit veri aktarım hızını temsil eder.</a:t>
            </a:r>
          </a:p>
          <a:p>
            <a:endParaRPr lang="tr-TR" sz="2000" dirty="0">
              <a:latin typeface="Consolas" panose="020B0609020204030204" pitchFamily="49" charset="0"/>
            </a:endParaRPr>
          </a:p>
          <a:p>
            <a:r>
              <a:rPr lang="tr-TR" sz="2000" dirty="0">
                <a:latin typeface="Consolas" panose="020B0609020204030204" pitchFamily="49" charset="0"/>
              </a:rPr>
              <a:t>Bant genişliği, ağdaki iletişim hızını belirlerken önemlidir. </a:t>
            </a:r>
          </a:p>
          <a:p>
            <a:endParaRPr lang="tr-TR" sz="2000" dirty="0">
              <a:latin typeface="Consolas" panose="020B0609020204030204" pitchFamily="49" charset="0"/>
            </a:endParaRPr>
          </a:p>
          <a:p>
            <a:r>
              <a:rPr lang="tr-TR" sz="2000" dirty="0">
                <a:latin typeface="Consolas" panose="020B0609020204030204" pitchFamily="49" charset="0"/>
              </a:rPr>
              <a:t>Yüksek bant genişliği, daha hızlı veri iletimi ve daha yüksek performans sağlar. Düşük bant genişliği ise veri iletimini yavaşlatır ve ağ trafiği sıkışıklığına neden olabilir.</a:t>
            </a:r>
          </a:p>
          <a:p>
            <a:endParaRPr lang="tr-TR" sz="2000" dirty="0">
              <a:latin typeface="Consolas" panose="020B0609020204030204" pitchFamily="49" charset="0"/>
            </a:endParaRPr>
          </a:p>
          <a:p>
            <a:r>
              <a:rPr lang="tr-TR" sz="2000" dirty="0">
                <a:latin typeface="Consolas" panose="020B0609020204030204" pitchFamily="49" charset="0"/>
              </a:rPr>
              <a:t>Bant genişliği, genellikle bit/saniye (</a:t>
            </a:r>
            <a:r>
              <a:rPr lang="tr-TR" sz="2000" dirty="0" err="1">
                <a:latin typeface="Consolas" panose="020B0609020204030204" pitchFamily="49" charset="0"/>
              </a:rPr>
              <a:t>bps</a:t>
            </a:r>
            <a:r>
              <a:rPr lang="tr-TR" sz="2000" dirty="0">
                <a:latin typeface="Consolas" panose="020B0609020204030204" pitchFamily="49" charset="0"/>
              </a:rPr>
              <a:t>), </a:t>
            </a:r>
            <a:r>
              <a:rPr lang="tr-TR" sz="2000" dirty="0" err="1">
                <a:latin typeface="Consolas" panose="020B0609020204030204" pitchFamily="49" charset="0"/>
              </a:rPr>
              <a:t>kilobit</a:t>
            </a:r>
            <a:r>
              <a:rPr lang="tr-TR" sz="2000" dirty="0">
                <a:latin typeface="Consolas" panose="020B0609020204030204" pitchFamily="49" charset="0"/>
              </a:rPr>
              <a:t>/saniye (Kbps), megabit/saniye (Mbps) veya gigabit/saniye (Gbps) gibi birimlerle ifade edilir.</a:t>
            </a:r>
          </a:p>
        </p:txBody>
      </p:sp>
    </p:spTree>
    <p:extLst>
      <p:ext uri="{BB962C8B-B14F-4D97-AF65-F5344CB8AC3E}">
        <p14:creationId xmlns:p14="http://schemas.microsoft.com/office/powerpoint/2010/main" val="27633589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E8B25-F012-8D53-0D5D-418E1A5AF88A}"/>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85560FCA-34E1-81A1-F23B-77B65381E6D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55B80B6D-97A4-65C8-5DF4-50976EBA8AB4}"/>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Gecikme (</a:t>
            </a:r>
            <a:r>
              <a:rPr lang="tr-TR" sz="3000" b="1" dirty="0" err="1">
                <a:latin typeface="Consolas" panose="020B0609020204030204" pitchFamily="49" charset="0"/>
              </a:rPr>
              <a:t>Latency</a:t>
            </a:r>
            <a:r>
              <a:rPr lang="tr-TR" sz="3000" b="1" dirty="0">
                <a:latin typeface="Consolas" panose="020B0609020204030204" pitchFamily="49" charset="0"/>
              </a:rPr>
              <a:t>) ve Bant Genişliği (</a:t>
            </a:r>
            <a:r>
              <a:rPr lang="tr-TR" sz="3000" b="1" dirty="0" err="1">
                <a:latin typeface="Consolas" panose="020B0609020204030204" pitchFamily="49" charset="0"/>
              </a:rPr>
              <a:t>Bandwidth</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0EB87C9B-7A18-EC19-4EEC-F3F6EAA229DC}"/>
              </a:ext>
            </a:extLst>
          </p:cNvPr>
          <p:cNvSpPr txBox="1"/>
          <p:nvPr/>
        </p:nvSpPr>
        <p:spPr>
          <a:xfrm>
            <a:off x="1259884" y="1947113"/>
            <a:ext cx="10688668" cy="1938992"/>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tr-TR" sz="2000" b="1" dirty="0">
                <a:latin typeface="Consolas" panose="020B0609020204030204" pitchFamily="49" charset="0"/>
              </a:rPr>
              <a:t>Mesaj Gönderim Süresi = l + n / b</a:t>
            </a:r>
          </a:p>
          <a:p>
            <a:pPr algn="just"/>
            <a:endParaRPr lang="tr-TR" sz="2000" b="1" dirty="0">
              <a:latin typeface="Consolas" panose="020B0609020204030204" pitchFamily="49" charset="0"/>
            </a:endParaRPr>
          </a:p>
          <a:p>
            <a:pPr algn="just"/>
            <a:r>
              <a:rPr lang="tr-TR" sz="2000" b="1" dirty="0">
                <a:latin typeface="Consolas" panose="020B0609020204030204" pitchFamily="49" charset="0"/>
              </a:rPr>
              <a:t>l  	:  Veri iletim hattın gecikme süresi (</a:t>
            </a:r>
            <a:r>
              <a:rPr lang="tr-TR" sz="2000" b="1" dirty="0" err="1">
                <a:latin typeface="Consolas" panose="020B0609020204030204" pitchFamily="49" charset="0"/>
              </a:rPr>
              <a:t>encode</a:t>
            </a:r>
            <a:r>
              <a:rPr lang="tr-TR" sz="2000" b="1" dirty="0">
                <a:latin typeface="Consolas" panose="020B0609020204030204" pitchFamily="49" charset="0"/>
              </a:rPr>
              <a:t>, </a:t>
            </a:r>
            <a:r>
              <a:rPr lang="tr-TR" sz="2000" b="1" dirty="0" err="1">
                <a:latin typeface="Consolas" panose="020B0609020204030204" pitchFamily="49" charset="0"/>
              </a:rPr>
              <a:t>decode</a:t>
            </a:r>
            <a:r>
              <a:rPr lang="tr-TR" sz="2000" b="1" dirty="0">
                <a:latin typeface="Consolas" panose="020B0609020204030204" pitchFamily="49" charset="0"/>
              </a:rPr>
              <a:t>)</a:t>
            </a:r>
          </a:p>
          <a:p>
            <a:pPr algn="just"/>
            <a:r>
              <a:rPr lang="tr-TR" sz="2000" b="1" dirty="0">
                <a:latin typeface="Consolas" panose="020B0609020204030204" pitchFamily="49" charset="0"/>
              </a:rPr>
              <a:t>n  	:  Mesaj uzunluğu (byte türünde)</a:t>
            </a:r>
          </a:p>
          <a:p>
            <a:pPr algn="just"/>
            <a:r>
              <a:rPr lang="tr-TR" sz="2000" b="1" dirty="0">
                <a:latin typeface="Consolas" panose="020B0609020204030204" pitchFamily="49" charset="0"/>
              </a:rPr>
              <a:t>b  	: (</a:t>
            </a:r>
            <a:r>
              <a:rPr lang="tr-TR" sz="2000" b="1" dirty="0" err="1">
                <a:latin typeface="Consolas" panose="020B0609020204030204" pitchFamily="49" charset="0"/>
              </a:rPr>
              <a:t>Bantgenişliği</a:t>
            </a:r>
            <a:r>
              <a:rPr lang="tr-TR" sz="2000" b="1" dirty="0">
                <a:latin typeface="Consolas" panose="020B0609020204030204" pitchFamily="49" charset="0"/>
              </a:rPr>
              <a:t>) Veri yolunun saniyede gönderebileceği maksimum byte miktarı</a:t>
            </a:r>
          </a:p>
        </p:txBody>
      </p:sp>
    </p:spTree>
    <p:extLst>
      <p:ext uri="{BB962C8B-B14F-4D97-AF65-F5344CB8AC3E}">
        <p14:creationId xmlns:p14="http://schemas.microsoft.com/office/powerpoint/2010/main" val="21061303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8D753-C070-2048-8E84-20778052DC1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274C35FD-F506-0D10-97A9-C2991F9400C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6C2A36-C4F4-E8BB-8368-87C4C5FD3A78}"/>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Gecikme ve Bant Genişliği</a:t>
            </a:r>
          </a:p>
        </p:txBody>
      </p:sp>
      <p:sp>
        <p:nvSpPr>
          <p:cNvPr id="3" name="Metin kutusu 2">
            <a:extLst>
              <a:ext uri="{FF2B5EF4-FFF2-40B4-BE49-F238E27FC236}">
                <a16:creationId xmlns:a16="http://schemas.microsoft.com/office/drawing/2014/main" id="{59B3780E-8B63-AAEE-7BD2-3CBD213B0184}"/>
              </a:ext>
            </a:extLst>
          </p:cNvPr>
          <p:cNvSpPr txBox="1"/>
          <p:nvPr/>
        </p:nvSpPr>
        <p:spPr>
          <a:xfrm>
            <a:off x="1164349" y="927428"/>
            <a:ext cx="10688668" cy="4493538"/>
          </a:xfrm>
          <a:prstGeom prst="rect">
            <a:avLst/>
          </a:prstGeom>
          <a:noFill/>
        </p:spPr>
        <p:txBody>
          <a:bodyPr wrap="square">
            <a:spAutoFit/>
          </a:bodyPr>
          <a:lstStyle/>
          <a:p>
            <a:r>
              <a:rPr lang="tr-TR" sz="2200" b="1" i="1" dirty="0"/>
              <a:t>Örnek:</a:t>
            </a:r>
          </a:p>
          <a:p>
            <a:endParaRPr lang="tr-TR" sz="2200" dirty="0"/>
          </a:p>
          <a:p>
            <a:r>
              <a:rPr lang="tr-TR" sz="2200" dirty="0"/>
              <a:t>Bant genişliği 8Kbps olan </a:t>
            </a:r>
            <a:r>
              <a:rPr lang="tr-TR" sz="2200" dirty="0" err="1"/>
              <a:t>veriyolu</a:t>
            </a:r>
            <a:r>
              <a:rPr lang="tr-TR" sz="2200" dirty="0"/>
              <a:t> hattı üzerinde 8KB bir veri paketi taşınmak isteniyor. </a:t>
            </a:r>
          </a:p>
          <a:p>
            <a:r>
              <a:rPr lang="tr-TR" sz="2200" dirty="0"/>
              <a:t>Sistemin gecikmesi 10 </a:t>
            </a:r>
            <a:r>
              <a:rPr lang="tr-TR" sz="2200" dirty="0" err="1"/>
              <a:t>ms</a:t>
            </a:r>
            <a:r>
              <a:rPr lang="tr-TR" sz="2200" dirty="0"/>
              <a:t> olduğuna göre bu paketin alıcıya iletilmesi ne kadar süre alır?</a:t>
            </a:r>
          </a:p>
          <a:p>
            <a:endParaRPr lang="tr-TR" sz="2200" dirty="0"/>
          </a:p>
          <a:p>
            <a:r>
              <a:rPr lang="tr-TR" sz="2200" b="1" i="1" dirty="0"/>
              <a:t>Yapılacaklar: </a:t>
            </a:r>
          </a:p>
          <a:p>
            <a:endParaRPr lang="tr-TR" sz="2200" dirty="0"/>
          </a:p>
          <a:p>
            <a:pPr marL="457200" indent="-457200">
              <a:buFont typeface="+mj-lt"/>
              <a:buAutoNum type="arabicPeriod"/>
            </a:pPr>
            <a:r>
              <a:rPr lang="tr-TR" sz="2200" dirty="0"/>
              <a:t>Veri paketinin boyutu bit cinsinden hesaplanır.</a:t>
            </a:r>
          </a:p>
          <a:p>
            <a:pPr marL="457200" indent="-457200">
              <a:buFont typeface="+mj-lt"/>
              <a:buAutoNum type="arabicPeriod"/>
            </a:pPr>
            <a:endParaRPr lang="tr-TR" sz="2200" dirty="0"/>
          </a:p>
          <a:p>
            <a:pPr marL="457200" indent="-457200">
              <a:buFont typeface="+mj-lt"/>
              <a:buAutoNum type="arabicPeriod"/>
            </a:pPr>
            <a:r>
              <a:rPr lang="tr-TR" sz="2200" dirty="0"/>
              <a:t>Veri paketinin iletilmesi için gereken süreyi hesaplayın, bu süre bant genişliği ve veri paketi boyutu arasındaki ilişkiyi kullanarak bulunur.</a:t>
            </a:r>
          </a:p>
          <a:p>
            <a:pPr marL="457200" indent="-457200">
              <a:buFont typeface="+mj-lt"/>
              <a:buAutoNum type="arabicPeriod"/>
            </a:pPr>
            <a:endParaRPr lang="tr-TR" sz="2200" dirty="0"/>
          </a:p>
          <a:p>
            <a:pPr marL="457200" indent="-457200">
              <a:buFont typeface="+mj-lt"/>
              <a:buAutoNum type="arabicPeriod"/>
            </a:pPr>
            <a:r>
              <a:rPr lang="tr-TR" sz="2200" dirty="0"/>
              <a:t>Sistemin gecikmesini verilen süreye ekleyerek toplam iletim süresini bulun.</a:t>
            </a:r>
          </a:p>
        </p:txBody>
      </p:sp>
    </p:spTree>
    <p:extLst>
      <p:ext uri="{BB962C8B-B14F-4D97-AF65-F5344CB8AC3E}">
        <p14:creationId xmlns:p14="http://schemas.microsoft.com/office/powerpoint/2010/main" val="8121637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8C9D0-FD54-00D6-54C0-AE0706F44EE0}"/>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2F85DA32-10AD-E32D-DD53-EDBAF8C6275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0129047D-061A-8EB9-1AC4-5E00615FBB53}"/>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Gecikme ve Bant Genişliği</a:t>
            </a:r>
          </a:p>
        </p:txBody>
      </p:sp>
      <p:sp>
        <p:nvSpPr>
          <p:cNvPr id="3" name="Metin kutusu 2">
            <a:extLst>
              <a:ext uri="{FF2B5EF4-FFF2-40B4-BE49-F238E27FC236}">
                <a16:creationId xmlns:a16="http://schemas.microsoft.com/office/drawing/2014/main" id="{E23ED9FA-BAC4-5A05-F74D-05CE8D5331A2}"/>
              </a:ext>
            </a:extLst>
          </p:cNvPr>
          <p:cNvSpPr txBox="1"/>
          <p:nvPr/>
        </p:nvSpPr>
        <p:spPr>
          <a:xfrm>
            <a:off x="1164349" y="927428"/>
            <a:ext cx="10688668" cy="5663089"/>
          </a:xfrm>
          <a:prstGeom prst="rect">
            <a:avLst/>
          </a:prstGeom>
          <a:noFill/>
        </p:spPr>
        <p:txBody>
          <a:bodyPr wrap="square">
            <a:spAutoFit/>
          </a:bodyPr>
          <a:lstStyle/>
          <a:p>
            <a:pPr marL="457200" indent="-457200">
              <a:buAutoNum type="arabicPeriod"/>
            </a:pPr>
            <a:r>
              <a:rPr lang="tr-TR" sz="2200" dirty="0"/>
              <a:t>Veri paketinin boyutunun hesaplanması </a:t>
            </a:r>
          </a:p>
          <a:p>
            <a:pPr marL="457200" indent="-457200">
              <a:buAutoNum type="arabicPeriod"/>
            </a:pPr>
            <a:endParaRPr lang="tr-TR" sz="2200" dirty="0"/>
          </a:p>
          <a:p>
            <a:r>
              <a:rPr lang="tr-TR" sz="2400" b="1" i="0" dirty="0">
                <a:solidFill>
                  <a:schemeClr val="tx2"/>
                </a:solidFill>
                <a:effectLst/>
                <a:latin typeface="Söhne"/>
              </a:rPr>
              <a:t>8KB'lik bir veri paketi, 8 * 1024 * 8 = 65,536 bit olarak ifade edilir.</a:t>
            </a:r>
            <a:endParaRPr lang="tr-TR" sz="2200" b="1" dirty="0">
              <a:solidFill>
                <a:schemeClr val="tx2"/>
              </a:solidFill>
            </a:endParaRPr>
          </a:p>
          <a:p>
            <a:endParaRPr lang="tr-TR" sz="2200" dirty="0"/>
          </a:p>
          <a:p>
            <a:r>
              <a:rPr lang="tr-TR" sz="2200" dirty="0"/>
              <a:t>2. Veri paketinin iletilme süresinin hesaplanması: </a:t>
            </a:r>
          </a:p>
          <a:p>
            <a:endParaRPr lang="tr-TR" sz="2200" dirty="0"/>
          </a:p>
          <a:p>
            <a:r>
              <a:rPr lang="tr-TR" sz="2400" b="1" dirty="0">
                <a:solidFill>
                  <a:schemeClr val="tx2"/>
                </a:solidFill>
                <a:latin typeface="KaTeX_Main"/>
              </a:rPr>
              <a:t>İ</a:t>
            </a:r>
            <a:r>
              <a:rPr lang="tr-TR" sz="2400" b="1" i="0" dirty="0">
                <a:solidFill>
                  <a:schemeClr val="tx2"/>
                </a:solidFill>
                <a:effectLst/>
                <a:latin typeface="KaTeX_Main"/>
              </a:rPr>
              <a:t>letme Süresi=Paket Boyutu (bit) ​/ Bant Genişliği (bit/s) </a:t>
            </a:r>
          </a:p>
          <a:p>
            <a:r>
              <a:rPr lang="tr-TR" sz="2400" b="1" dirty="0">
                <a:solidFill>
                  <a:schemeClr val="tx2"/>
                </a:solidFill>
                <a:latin typeface="KaTeX_Main"/>
              </a:rPr>
              <a:t>                        </a:t>
            </a:r>
            <a:r>
              <a:rPr lang="tr-TR" sz="2400" b="1" i="0" dirty="0">
                <a:solidFill>
                  <a:schemeClr val="tx2"/>
                </a:solidFill>
                <a:effectLst/>
                <a:latin typeface="KaTeX_Main"/>
              </a:rPr>
              <a:t>= 65.536 bit/8000 bit/s </a:t>
            </a:r>
          </a:p>
          <a:p>
            <a:r>
              <a:rPr lang="tr-TR" sz="2400" b="1" dirty="0">
                <a:solidFill>
                  <a:schemeClr val="tx2"/>
                </a:solidFill>
                <a:latin typeface="KaTeX_Main"/>
              </a:rPr>
              <a:t>                        </a:t>
            </a:r>
            <a:r>
              <a:rPr lang="tr-TR" sz="2400" b="1" i="0" dirty="0">
                <a:solidFill>
                  <a:schemeClr val="tx2"/>
                </a:solidFill>
                <a:effectLst/>
                <a:latin typeface="KaTeX_Main"/>
              </a:rPr>
              <a:t>= 8.192 s</a:t>
            </a:r>
          </a:p>
          <a:p>
            <a:endParaRPr lang="tr-TR" sz="2200" dirty="0"/>
          </a:p>
          <a:p>
            <a:r>
              <a:rPr lang="tr-TR" sz="2200" dirty="0"/>
              <a:t>3. Toplam iletim süresinin hesaplanması:</a:t>
            </a:r>
          </a:p>
          <a:p>
            <a:endParaRPr lang="tr-TR" sz="2200" dirty="0"/>
          </a:p>
          <a:p>
            <a:r>
              <a:rPr lang="tr-TR" sz="2200" b="1" dirty="0">
                <a:solidFill>
                  <a:schemeClr val="tx2"/>
                </a:solidFill>
              </a:rPr>
              <a:t>Toplam İletim Süresi 	= İletme Süresi + Sistem Gecikmesi</a:t>
            </a:r>
          </a:p>
          <a:p>
            <a:r>
              <a:rPr lang="tr-TR" sz="2200" b="1" dirty="0">
                <a:solidFill>
                  <a:schemeClr val="tx2"/>
                </a:solidFill>
              </a:rPr>
              <a:t> 			= 8.192 s + </a:t>
            </a:r>
            <a:r>
              <a:rPr lang="tr-TR" sz="2400" b="1" i="0" dirty="0">
                <a:solidFill>
                  <a:schemeClr val="tx2"/>
                </a:solidFill>
                <a:effectLst/>
                <a:latin typeface="KaTeX_Main"/>
              </a:rPr>
              <a:t>10×10−3 s </a:t>
            </a:r>
          </a:p>
          <a:p>
            <a:r>
              <a:rPr lang="tr-TR" sz="2400" b="1" dirty="0">
                <a:solidFill>
                  <a:schemeClr val="tx2"/>
                </a:solidFill>
                <a:latin typeface="KaTeX_Main"/>
              </a:rPr>
              <a:t>			= 8.202 s</a:t>
            </a:r>
            <a:endParaRPr lang="tr-TR" sz="2200" b="1" dirty="0">
              <a:solidFill>
                <a:schemeClr val="tx2"/>
              </a:solidFill>
            </a:endParaRPr>
          </a:p>
          <a:p>
            <a:endParaRPr lang="tr-TR" sz="2200" dirty="0"/>
          </a:p>
        </p:txBody>
      </p:sp>
    </p:spTree>
    <p:extLst>
      <p:ext uri="{BB962C8B-B14F-4D97-AF65-F5344CB8AC3E}">
        <p14:creationId xmlns:p14="http://schemas.microsoft.com/office/powerpoint/2010/main" val="8776999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CE87A-2D90-F53D-2958-3D041FA4DD12}"/>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8F4AEEE1-1A5A-1469-B336-10CC1822DA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48AA40DC-4529-E5B4-6CBE-A40DD8389255}"/>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Gecikme ve Bant Genişliği</a:t>
            </a:r>
          </a:p>
        </p:txBody>
      </p:sp>
      <p:sp>
        <p:nvSpPr>
          <p:cNvPr id="3" name="Metin kutusu 2">
            <a:extLst>
              <a:ext uri="{FF2B5EF4-FFF2-40B4-BE49-F238E27FC236}">
                <a16:creationId xmlns:a16="http://schemas.microsoft.com/office/drawing/2014/main" id="{A9EB0889-1141-51AF-0DB9-B6B467C83176}"/>
              </a:ext>
            </a:extLst>
          </p:cNvPr>
          <p:cNvSpPr txBox="1"/>
          <p:nvPr/>
        </p:nvSpPr>
        <p:spPr>
          <a:xfrm>
            <a:off x="1182286" y="954724"/>
            <a:ext cx="10688668" cy="3816429"/>
          </a:xfrm>
          <a:prstGeom prst="rect">
            <a:avLst/>
          </a:prstGeom>
          <a:noFill/>
        </p:spPr>
        <p:txBody>
          <a:bodyPr wrap="square">
            <a:spAutoFit/>
          </a:bodyPr>
          <a:lstStyle/>
          <a:p>
            <a:r>
              <a:rPr lang="tr-TR" sz="2200" b="1" i="1" dirty="0"/>
              <a:t>Örnek Soru 1:</a:t>
            </a:r>
          </a:p>
          <a:p>
            <a:endParaRPr lang="tr-TR" sz="2200" dirty="0"/>
          </a:p>
          <a:p>
            <a:endParaRPr lang="tr-TR" sz="2200" dirty="0"/>
          </a:p>
          <a:p>
            <a:endParaRPr lang="tr-TR" sz="2200" dirty="0"/>
          </a:p>
          <a:p>
            <a:endParaRPr lang="tr-TR" sz="2200" dirty="0"/>
          </a:p>
          <a:p>
            <a:endParaRPr lang="tr-TR" sz="2200" dirty="0"/>
          </a:p>
          <a:p>
            <a:endParaRPr lang="tr-TR" sz="2200" dirty="0"/>
          </a:p>
          <a:p>
            <a:endParaRPr lang="tr-TR" sz="2200" dirty="0"/>
          </a:p>
          <a:p>
            <a:r>
              <a:rPr lang="tr-TR" sz="2200" dirty="0"/>
              <a:t>Bir internet bağlantısının bant genişliği 50 Mbps (Megabit/s) ve bir veri paketi boyutu 1 MB (Megabayt) olarak veriliyor. Sistemin gecikme süresi ise 25 milisaniye (</a:t>
            </a:r>
            <a:r>
              <a:rPr lang="tr-TR" sz="2200" dirty="0" err="1"/>
              <a:t>ms</a:t>
            </a:r>
            <a:r>
              <a:rPr lang="tr-TR" sz="2200" dirty="0"/>
              <a:t>). Bu durumda, 1 MB boyutundaki veri paketinin alıcıya iletilmesi ne kadar süre alır?</a:t>
            </a:r>
          </a:p>
        </p:txBody>
      </p:sp>
    </p:spTree>
    <p:extLst>
      <p:ext uri="{BB962C8B-B14F-4D97-AF65-F5344CB8AC3E}">
        <p14:creationId xmlns:p14="http://schemas.microsoft.com/office/powerpoint/2010/main" val="7835296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90A21-E3A4-1A7F-5760-06F8A144032F}"/>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1DA8DBF8-4E18-8FF4-8D78-E08F5ECAE6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4C541AA-16EC-DF6B-3DDF-F828DD51873A}"/>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Gecikme ve Bant Genişliği</a:t>
            </a:r>
          </a:p>
        </p:txBody>
      </p:sp>
      <p:sp>
        <p:nvSpPr>
          <p:cNvPr id="3" name="Metin kutusu 2">
            <a:extLst>
              <a:ext uri="{FF2B5EF4-FFF2-40B4-BE49-F238E27FC236}">
                <a16:creationId xmlns:a16="http://schemas.microsoft.com/office/drawing/2014/main" id="{1A855A45-47B2-C210-AF84-2117E278EE2E}"/>
              </a:ext>
            </a:extLst>
          </p:cNvPr>
          <p:cNvSpPr txBox="1"/>
          <p:nvPr/>
        </p:nvSpPr>
        <p:spPr>
          <a:xfrm>
            <a:off x="1164349" y="927428"/>
            <a:ext cx="10688668" cy="4154984"/>
          </a:xfrm>
          <a:prstGeom prst="rect">
            <a:avLst/>
          </a:prstGeom>
          <a:noFill/>
        </p:spPr>
        <p:txBody>
          <a:bodyPr wrap="square">
            <a:spAutoFit/>
          </a:bodyPr>
          <a:lstStyle/>
          <a:p>
            <a:r>
              <a:rPr lang="tr-TR" sz="2200" b="1" i="1" dirty="0"/>
              <a:t>Örnek Soru:</a:t>
            </a:r>
          </a:p>
          <a:p>
            <a:endParaRPr lang="tr-TR" sz="2200" dirty="0"/>
          </a:p>
          <a:p>
            <a:r>
              <a:rPr lang="tr-TR" sz="2200" dirty="0"/>
              <a:t>Bir internet bağlantısının bant genişliği 50 Mbps (Megabit/s) ve bir veri paketi boyutu 1 MB (Megabayt) olarak veriliyor. Sistemin gecikme süresi ise 25 milisaniye (</a:t>
            </a:r>
            <a:r>
              <a:rPr lang="tr-TR" sz="2200" dirty="0" err="1"/>
              <a:t>ms</a:t>
            </a:r>
            <a:r>
              <a:rPr lang="tr-TR" sz="2200" dirty="0"/>
              <a:t>). Bu durumda, 1 MB boyutundaki veri paketinin alıcıya iletilmesi ne kadar süre alır?</a:t>
            </a:r>
          </a:p>
          <a:p>
            <a:endParaRPr lang="tr-TR" sz="2200" dirty="0"/>
          </a:p>
          <a:p>
            <a:r>
              <a:rPr lang="tr-TR" sz="2200" b="1" i="1" dirty="0"/>
              <a:t>Yapılacaklar: </a:t>
            </a:r>
          </a:p>
          <a:p>
            <a:endParaRPr lang="tr-TR" sz="2200" dirty="0"/>
          </a:p>
          <a:p>
            <a:pPr marL="457200" indent="-457200">
              <a:buFont typeface="+mj-lt"/>
              <a:buAutoNum type="arabicPeriod"/>
            </a:pPr>
            <a:r>
              <a:rPr lang="tr-TR" sz="2200" dirty="0"/>
              <a:t>Veri paketinin boyutu bit cinsinden hesaplanır.</a:t>
            </a:r>
          </a:p>
          <a:p>
            <a:pPr marL="457200" indent="-457200">
              <a:buFont typeface="+mj-lt"/>
              <a:buAutoNum type="arabicPeriod"/>
            </a:pPr>
            <a:endParaRPr lang="tr-TR" sz="2200" dirty="0"/>
          </a:p>
          <a:p>
            <a:r>
              <a:rPr lang="tr-TR" sz="2200" dirty="0"/>
              <a:t>	1 * 1024 * 1024 * 8 = 8.388.608 bit</a:t>
            </a:r>
          </a:p>
          <a:p>
            <a:endParaRPr lang="tr-TR" sz="2200" dirty="0"/>
          </a:p>
        </p:txBody>
      </p:sp>
    </p:spTree>
    <p:extLst>
      <p:ext uri="{BB962C8B-B14F-4D97-AF65-F5344CB8AC3E}">
        <p14:creationId xmlns:p14="http://schemas.microsoft.com/office/powerpoint/2010/main" val="41809270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92480-7140-34DD-46CC-CD293090036B}"/>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12E649B8-10FC-B8B1-1E4C-00D2AACDB3A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1B99A0E0-DFB5-C66B-EDDF-A95DC27DE032}"/>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Gecikme ve Bant Genişliği</a:t>
            </a:r>
          </a:p>
        </p:txBody>
      </p:sp>
      <p:sp>
        <p:nvSpPr>
          <p:cNvPr id="3" name="Metin kutusu 2">
            <a:extLst>
              <a:ext uri="{FF2B5EF4-FFF2-40B4-BE49-F238E27FC236}">
                <a16:creationId xmlns:a16="http://schemas.microsoft.com/office/drawing/2014/main" id="{7E86A284-68A9-EF15-5899-94EB27ACFB17}"/>
              </a:ext>
            </a:extLst>
          </p:cNvPr>
          <p:cNvSpPr txBox="1"/>
          <p:nvPr/>
        </p:nvSpPr>
        <p:spPr>
          <a:xfrm>
            <a:off x="1164349" y="927428"/>
            <a:ext cx="10688668" cy="5170646"/>
          </a:xfrm>
          <a:prstGeom prst="rect">
            <a:avLst/>
          </a:prstGeom>
          <a:noFill/>
        </p:spPr>
        <p:txBody>
          <a:bodyPr wrap="square">
            <a:spAutoFit/>
          </a:bodyPr>
          <a:lstStyle/>
          <a:p>
            <a:r>
              <a:rPr lang="tr-TR" sz="2200" b="1" i="1" dirty="0"/>
              <a:t>Örnek Soru:</a:t>
            </a:r>
          </a:p>
          <a:p>
            <a:endParaRPr lang="tr-TR" sz="2200" dirty="0"/>
          </a:p>
          <a:p>
            <a:r>
              <a:rPr lang="tr-TR" sz="2200" dirty="0"/>
              <a:t>Bir internet bağlantısının bant genişliği 50 Mbps (Megabit/s) ve bir veri paketi boyutu 1 MB (Megabayt) olarak veriliyor. Sistemin gecikme süresi ise 25 milisaniye (</a:t>
            </a:r>
            <a:r>
              <a:rPr lang="tr-TR" sz="2200" dirty="0" err="1"/>
              <a:t>ms</a:t>
            </a:r>
            <a:r>
              <a:rPr lang="tr-TR" sz="2200" dirty="0"/>
              <a:t>). Bu durumda, 1 MB boyutundaki veri paketinin alıcıya iletilmesi ne kadar süre alır?</a:t>
            </a:r>
          </a:p>
          <a:p>
            <a:endParaRPr lang="tr-TR" sz="2200" dirty="0"/>
          </a:p>
          <a:p>
            <a:r>
              <a:rPr lang="tr-TR" sz="2200" b="1" i="1" dirty="0"/>
              <a:t>Yapılacaklar: </a:t>
            </a:r>
          </a:p>
          <a:p>
            <a:endParaRPr lang="tr-TR" sz="2200" dirty="0"/>
          </a:p>
          <a:p>
            <a:pPr marL="457200" indent="-457200">
              <a:buAutoNum type="arabicPeriod" startAt="2"/>
            </a:pPr>
            <a:r>
              <a:rPr lang="tr-TR" sz="2200" dirty="0"/>
              <a:t>Veri paketinin iletilmesi için gereken süreyi hesaplayın, bu süre bant genişliği ve veri paketi boyutu arasındaki ilişkiyi kullanarak bulunur.</a:t>
            </a:r>
          </a:p>
          <a:p>
            <a:pPr marL="457200" indent="-457200">
              <a:buAutoNum type="arabicPeriod" startAt="2"/>
            </a:pPr>
            <a:endParaRPr lang="tr-TR" sz="2200" dirty="0"/>
          </a:p>
          <a:p>
            <a:r>
              <a:rPr lang="tr-TR" sz="2200" dirty="0"/>
              <a:t>İletme Süresi 	= Paket Boyutu (bit) / Bant Genişliği (bit/s)</a:t>
            </a:r>
          </a:p>
          <a:p>
            <a:r>
              <a:rPr lang="tr-TR" sz="2200" dirty="0"/>
              <a:t>		= 8.388.608 bit / 50 * 10^6 bit / s</a:t>
            </a:r>
          </a:p>
          <a:p>
            <a:r>
              <a:rPr lang="tr-TR" sz="2200" dirty="0"/>
              <a:t>		= 0. 16776 s</a:t>
            </a:r>
          </a:p>
          <a:p>
            <a:endParaRPr lang="tr-TR" sz="2200" dirty="0"/>
          </a:p>
        </p:txBody>
      </p:sp>
    </p:spTree>
    <p:extLst>
      <p:ext uri="{BB962C8B-B14F-4D97-AF65-F5344CB8AC3E}">
        <p14:creationId xmlns:p14="http://schemas.microsoft.com/office/powerpoint/2010/main" val="19276283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4529D-853E-CBD1-A3A9-33ED672A40EA}"/>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CAC1EDB5-28DF-3CC8-453E-CFA90D919B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5717CF4F-07BD-7E42-E22C-2A7A636359F6}"/>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Gecikme ve Bant Genişliği</a:t>
            </a:r>
          </a:p>
        </p:txBody>
      </p:sp>
      <p:sp>
        <p:nvSpPr>
          <p:cNvPr id="3" name="Metin kutusu 2">
            <a:extLst>
              <a:ext uri="{FF2B5EF4-FFF2-40B4-BE49-F238E27FC236}">
                <a16:creationId xmlns:a16="http://schemas.microsoft.com/office/drawing/2014/main" id="{B2A63D58-0EBB-B4E1-6B78-4570E34725E6}"/>
              </a:ext>
            </a:extLst>
          </p:cNvPr>
          <p:cNvSpPr txBox="1"/>
          <p:nvPr/>
        </p:nvSpPr>
        <p:spPr>
          <a:xfrm>
            <a:off x="1164349" y="927428"/>
            <a:ext cx="10688668" cy="4493538"/>
          </a:xfrm>
          <a:prstGeom prst="rect">
            <a:avLst/>
          </a:prstGeom>
          <a:noFill/>
        </p:spPr>
        <p:txBody>
          <a:bodyPr wrap="square">
            <a:spAutoFit/>
          </a:bodyPr>
          <a:lstStyle/>
          <a:p>
            <a:r>
              <a:rPr lang="tr-TR" sz="2200" b="1" i="1" dirty="0"/>
              <a:t>Örnek Soru:</a:t>
            </a:r>
          </a:p>
          <a:p>
            <a:endParaRPr lang="tr-TR" sz="2200" dirty="0"/>
          </a:p>
          <a:p>
            <a:r>
              <a:rPr lang="tr-TR" sz="2200" dirty="0"/>
              <a:t>Bir internet bağlantısının bant genişliği 50 Mbps (Megabit/s) ve bir veri paketi boyutu 1 MB (Megabayt) olarak veriliyor. Sistemin gecikme süresi ise 25 milisaniye (</a:t>
            </a:r>
            <a:r>
              <a:rPr lang="tr-TR" sz="2200" dirty="0" err="1"/>
              <a:t>ms</a:t>
            </a:r>
            <a:r>
              <a:rPr lang="tr-TR" sz="2200" dirty="0"/>
              <a:t>). Bu durumda, 1 MB boyutundaki veri paketinin alıcıya iletilmesi ne kadar süre alır?</a:t>
            </a:r>
          </a:p>
          <a:p>
            <a:endParaRPr lang="tr-TR" sz="2200" dirty="0"/>
          </a:p>
          <a:p>
            <a:r>
              <a:rPr lang="tr-TR" sz="2200" b="1" i="1" dirty="0"/>
              <a:t>Yapılacaklar: </a:t>
            </a:r>
          </a:p>
          <a:p>
            <a:endParaRPr lang="tr-TR" sz="2200" dirty="0"/>
          </a:p>
          <a:p>
            <a:r>
              <a:rPr lang="tr-TR" sz="2200" dirty="0"/>
              <a:t>3. Sistemin gecikmesini verilen süreye ekleyerek toplam iletim süresini bulun.</a:t>
            </a:r>
          </a:p>
          <a:p>
            <a:endParaRPr lang="tr-TR" sz="2200" dirty="0"/>
          </a:p>
          <a:p>
            <a:r>
              <a:rPr lang="tr-TR" sz="2200" dirty="0"/>
              <a:t>Toplam İletim Süresi 	= İletme Süresi + Sistem Gecikmesi </a:t>
            </a:r>
          </a:p>
          <a:p>
            <a:r>
              <a:rPr lang="tr-TR" sz="2200" dirty="0"/>
              <a:t>			= 0.16776 s + 25 * 10 ^-3 s </a:t>
            </a:r>
          </a:p>
          <a:p>
            <a:r>
              <a:rPr lang="tr-TR" sz="2200" dirty="0"/>
              <a:t>			= 0.19276 s</a:t>
            </a:r>
          </a:p>
        </p:txBody>
      </p:sp>
    </p:spTree>
    <p:extLst>
      <p:ext uri="{BB962C8B-B14F-4D97-AF65-F5344CB8AC3E}">
        <p14:creationId xmlns:p14="http://schemas.microsoft.com/office/powerpoint/2010/main" val="17149832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163B6-8AA2-449B-5B8A-CCA9C25EEF1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F90B7A40-84E5-D3F6-4719-CB561B1D75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072B8E56-22CA-69AF-9303-B703B39563AE}"/>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Gecikme ve Bant Genişliği</a:t>
            </a:r>
          </a:p>
        </p:txBody>
      </p:sp>
      <p:sp>
        <p:nvSpPr>
          <p:cNvPr id="3" name="Metin kutusu 2">
            <a:extLst>
              <a:ext uri="{FF2B5EF4-FFF2-40B4-BE49-F238E27FC236}">
                <a16:creationId xmlns:a16="http://schemas.microsoft.com/office/drawing/2014/main" id="{ADD2F6A5-4DF9-45F0-8094-631C2B5137C3}"/>
              </a:ext>
            </a:extLst>
          </p:cNvPr>
          <p:cNvSpPr txBox="1"/>
          <p:nvPr/>
        </p:nvSpPr>
        <p:spPr>
          <a:xfrm>
            <a:off x="1164349" y="927428"/>
            <a:ext cx="10688668" cy="2800767"/>
          </a:xfrm>
          <a:prstGeom prst="rect">
            <a:avLst/>
          </a:prstGeom>
          <a:noFill/>
        </p:spPr>
        <p:txBody>
          <a:bodyPr wrap="square">
            <a:spAutoFit/>
          </a:bodyPr>
          <a:lstStyle/>
          <a:p>
            <a:r>
              <a:rPr lang="tr-TR" sz="2200" b="1" i="1" dirty="0"/>
              <a:t>Örnek Soru 2:</a:t>
            </a:r>
          </a:p>
          <a:p>
            <a:endParaRPr lang="tr-TR" sz="2200" dirty="0"/>
          </a:p>
          <a:p>
            <a:endParaRPr lang="tr-TR" sz="2200" dirty="0"/>
          </a:p>
          <a:p>
            <a:endParaRPr lang="tr-TR" sz="2200" dirty="0"/>
          </a:p>
          <a:p>
            <a:endParaRPr lang="tr-TR" sz="2200" dirty="0"/>
          </a:p>
          <a:p>
            <a:r>
              <a:rPr lang="tr-TR" sz="2200" dirty="0"/>
              <a:t>Bir ağ bağlantısının bant genişliği 1 Mbps (Megabit/s) ve bir veri paketi boyutu 2 MB (Megabayt) olarak veriliyor. Sistemin gecikme süresi ise 20 milisaniye (</a:t>
            </a:r>
            <a:r>
              <a:rPr lang="tr-TR" sz="2200" dirty="0" err="1"/>
              <a:t>ms</a:t>
            </a:r>
            <a:r>
              <a:rPr lang="tr-TR" sz="2200" dirty="0"/>
              <a:t>). Bu durumda, 2 MB boyutundaki veri paketinin alıcıya iletilmesi ne kadar süre alır?</a:t>
            </a:r>
          </a:p>
        </p:txBody>
      </p:sp>
    </p:spTree>
    <p:extLst>
      <p:ext uri="{BB962C8B-B14F-4D97-AF65-F5344CB8AC3E}">
        <p14:creationId xmlns:p14="http://schemas.microsoft.com/office/powerpoint/2010/main" val="26756135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8939E-F339-D011-7B85-1D9A3D8BA3C1}"/>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79B52703-5F33-2DC3-D0FF-40262EE8AD4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2197574D-94FF-9637-7BF5-A1B5C29386E5}"/>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Kaynaklar</a:t>
            </a:r>
          </a:p>
        </p:txBody>
      </p:sp>
      <p:sp>
        <p:nvSpPr>
          <p:cNvPr id="7" name="Metin kutusu 6">
            <a:extLst>
              <a:ext uri="{FF2B5EF4-FFF2-40B4-BE49-F238E27FC236}">
                <a16:creationId xmlns:a16="http://schemas.microsoft.com/office/drawing/2014/main" id="{8F93D063-FF23-2E20-15B1-308D8304F671}"/>
              </a:ext>
            </a:extLst>
          </p:cNvPr>
          <p:cNvSpPr txBox="1"/>
          <p:nvPr/>
        </p:nvSpPr>
        <p:spPr>
          <a:xfrm>
            <a:off x="1164349" y="883739"/>
            <a:ext cx="10688668" cy="3693319"/>
          </a:xfrm>
          <a:prstGeom prst="rect">
            <a:avLst/>
          </a:prstGeom>
          <a:noFill/>
        </p:spPr>
        <p:txBody>
          <a:bodyPr wrap="square">
            <a:spAutoFit/>
          </a:bodyPr>
          <a:lstStyle/>
          <a:p>
            <a:pPr marL="0" indent="0">
              <a:buNone/>
            </a:pPr>
            <a:r>
              <a:rPr lang="tr-TR" i="1" dirty="0">
                <a:solidFill>
                  <a:schemeClr val="tx1">
                    <a:lumMod val="95000"/>
                    <a:lumOff val="5000"/>
                  </a:schemeClr>
                </a:solidFill>
                <a:latin typeface="Consolas" panose="020B0609020204030204" pitchFamily="49" charset="0"/>
              </a:rPr>
              <a:t>An </a:t>
            </a:r>
            <a:r>
              <a:rPr lang="tr-TR" i="1" dirty="0" err="1">
                <a:solidFill>
                  <a:schemeClr val="tx1">
                    <a:lumMod val="95000"/>
                    <a:lumOff val="5000"/>
                  </a:schemeClr>
                </a:solidFill>
                <a:latin typeface="Consolas" panose="020B0609020204030204" pitchFamily="49" charset="0"/>
              </a:rPr>
              <a:t>Introduction</a:t>
            </a:r>
            <a:r>
              <a:rPr lang="tr-TR" i="1" dirty="0">
                <a:solidFill>
                  <a:schemeClr val="tx1">
                    <a:lumMod val="95000"/>
                    <a:lumOff val="5000"/>
                  </a:schemeClr>
                </a:solidFill>
                <a:latin typeface="Consolas" panose="020B0609020204030204" pitchFamily="49" charset="0"/>
              </a:rPr>
              <a:t> </a:t>
            </a:r>
            <a:r>
              <a:rPr lang="tr-TR" i="1" dirty="0" err="1">
                <a:solidFill>
                  <a:schemeClr val="tx1">
                    <a:lumMod val="95000"/>
                    <a:lumOff val="5000"/>
                  </a:schemeClr>
                </a:solidFill>
                <a:latin typeface="Consolas" panose="020B0609020204030204" pitchFamily="49" charset="0"/>
              </a:rPr>
              <a:t>to</a:t>
            </a:r>
            <a:r>
              <a:rPr lang="tr-TR" i="1" dirty="0">
                <a:solidFill>
                  <a:schemeClr val="tx1">
                    <a:lumMod val="95000"/>
                    <a:lumOff val="5000"/>
                  </a:schemeClr>
                </a:solidFill>
                <a:latin typeface="Consolas" panose="020B0609020204030204" pitchFamily="49" charset="0"/>
              </a:rPr>
              <a:t> </a:t>
            </a:r>
            <a:r>
              <a:rPr lang="tr-TR" i="1" dirty="0" err="1">
                <a:solidFill>
                  <a:schemeClr val="tx1">
                    <a:lumMod val="95000"/>
                    <a:lumOff val="5000"/>
                  </a:schemeClr>
                </a:solidFill>
                <a:latin typeface="Consolas" panose="020B0609020204030204" pitchFamily="49" charset="0"/>
              </a:rPr>
              <a:t>Parallel</a:t>
            </a:r>
            <a:r>
              <a:rPr lang="tr-TR" i="1" dirty="0">
                <a:solidFill>
                  <a:schemeClr val="tx1">
                    <a:lumMod val="95000"/>
                    <a:lumOff val="5000"/>
                  </a:schemeClr>
                </a:solidFill>
                <a:latin typeface="Consolas" panose="020B0609020204030204" pitchFamily="49" charset="0"/>
              </a:rPr>
              <a:t> Programming, Peter </a:t>
            </a:r>
            <a:r>
              <a:rPr lang="tr-TR" i="1" dirty="0" err="1">
                <a:solidFill>
                  <a:schemeClr val="tx1">
                    <a:lumMod val="95000"/>
                    <a:lumOff val="5000"/>
                  </a:schemeClr>
                </a:solidFill>
                <a:latin typeface="Consolas" panose="020B0609020204030204" pitchFamily="49" charset="0"/>
              </a:rPr>
              <a:t>Pacheco</a:t>
            </a:r>
            <a:endParaRPr lang="tr-TR" i="1" dirty="0">
              <a:solidFill>
                <a:schemeClr val="tx1">
                  <a:lumMod val="95000"/>
                  <a:lumOff val="5000"/>
                </a:schemeClr>
              </a:solidFill>
              <a:latin typeface="Consolas" panose="020B0609020204030204" pitchFamily="49" charset="0"/>
            </a:endParaRPr>
          </a:p>
          <a:p>
            <a:pPr algn="l"/>
            <a:endParaRPr lang="tr-TR" b="0" i="1" dirty="0">
              <a:solidFill>
                <a:schemeClr val="tx1">
                  <a:lumMod val="95000"/>
                  <a:lumOff val="5000"/>
                </a:schemeClr>
              </a:solidFill>
              <a:effectLst/>
              <a:latin typeface="Consolas" panose="020B0609020204030204" pitchFamily="49" charset="0"/>
            </a:endParaRPr>
          </a:p>
          <a:p>
            <a:pPr algn="l"/>
            <a:endParaRPr lang="tr-TR" i="1" dirty="0">
              <a:solidFill>
                <a:schemeClr val="tx1">
                  <a:lumMod val="95000"/>
                  <a:lumOff val="5000"/>
                </a:schemeClr>
              </a:solidFill>
              <a:latin typeface="Consolas" panose="020B0609020204030204" pitchFamily="49" charset="0"/>
            </a:endParaRPr>
          </a:p>
          <a:p>
            <a:pPr algn="l"/>
            <a:endParaRPr lang="tr-TR" b="0" i="1" dirty="0">
              <a:solidFill>
                <a:schemeClr val="tx1">
                  <a:lumMod val="95000"/>
                  <a:lumOff val="5000"/>
                </a:schemeClr>
              </a:solidFill>
              <a:effectLst/>
              <a:latin typeface="Consolas" panose="020B0609020204030204" pitchFamily="49" charset="0"/>
            </a:endParaRPr>
          </a:p>
          <a:p>
            <a:pPr algn="l"/>
            <a:endParaRPr lang="tr-TR" i="1" dirty="0">
              <a:solidFill>
                <a:schemeClr val="tx1">
                  <a:lumMod val="95000"/>
                  <a:lumOff val="5000"/>
                </a:schemeClr>
              </a:solidFill>
              <a:latin typeface="Consolas" panose="020B0609020204030204" pitchFamily="49" charset="0"/>
            </a:endParaRPr>
          </a:p>
          <a:p>
            <a:pPr algn="l"/>
            <a:endParaRPr lang="tr-TR" b="0" i="1" dirty="0">
              <a:solidFill>
                <a:schemeClr val="tx1">
                  <a:lumMod val="95000"/>
                  <a:lumOff val="5000"/>
                </a:schemeClr>
              </a:solidFill>
              <a:effectLst/>
              <a:latin typeface="Consolas" panose="020B0609020204030204" pitchFamily="49" charset="0"/>
            </a:endParaRPr>
          </a:p>
          <a:p>
            <a:pPr algn="l"/>
            <a:endParaRPr lang="tr-TR" i="1" dirty="0">
              <a:solidFill>
                <a:schemeClr val="tx1">
                  <a:lumMod val="95000"/>
                  <a:lumOff val="5000"/>
                </a:schemeClr>
              </a:solidFill>
              <a:latin typeface="Consolas" panose="020B0609020204030204" pitchFamily="49" charset="0"/>
            </a:endParaRPr>
          </a:p>
          <a:p>
            <a:pPr algn="l"/>
            <a:endParaRPr lang="tr-TR" b="0" i="1" dirty="0">
              <a:solidFill>
                <a:schemeClr val="tx1">
                  <a:lumMod val="95000"/>
                  <a:lumOff val="5000"/>
                </a:schemeClr>
              </a:solidFill>
              <a:effectLst/>
              <a:latin typeface="Consolas" panose="020B0609020204030204" pitchFamily="49" charset="0"/>
            </a:endParaRPr>
          </a:p>
          <a:p>
            <a:pPr algn="l"/>
            <a:endParaRPr lang="tr-TR" i="1" dirty="0">
              <a:solidFill>
                <a:schemeClr val="tx1">
                  <a:lumMod val="95000"/>
                  <a:lumOff val="5000"/>
                </a:schemeClr>
              </a:solidFill>
              <a:latin typeface="Consolas" panose="020B0609020204030204" pitchFamily="49" charset="0"/>
            </a:endParaRPr>
          </a:p>
          <a:p>
            <a:pPr algn="l"/>
            <a:endParaRPr lang="tr-TR" b="0" i="1" dirty="0">
              <a:solidFill>
                <a:schemeClr val="tx1">
                  <a:lumMod val="95000"/>
                  <a:lumOff val="5000"/>
                </a:schemeClr>
              </a:solidFill>
              <a:effectLst/>
              <a:latin typeface="Consolas" panose="020B0609020204030204" pitchFamily="49" charset="0"/>
            </a:endParaRPr>
          </a:p>
          <a:p>
            <a:pPr algn="l"/>
            <a:r>
              <a:rPr lang="tr-TR" b="0" i="1" dirty="0">
                <a:solidFill>
                  <a:schemeClr val="tx1">
                    <a:lumMod val="95000"/>
                    <a:lumOff val="5000"/>
                  </a:schemeClr>
                </a:solidFill>
                <a:effectLst/>
                <a:latin typeface="Consolas" panose="020B0609020204030204" pitchFamily="49" charset="0"/>
              </a:rPr>
              <a:t>Paralel Programlama, </a:t>
            </a:r>
            <a:r>
              <a:rPr lang="tr-TR" b="0" i="1" dirty="0" err="1">
                <a:solidFill>
                  <a:schemeClr val="tx1">
                    <a:lumMod val="95000"/>
                    <a:lumOff val="5000"/>
                  </a:schemeClr>
                </a:solidFill>
                <a:effectLst/>
                <a:latin typeface="Consolas" panose="020B0609020204030204" pitchFamily="49" charset="0"/>
              </a:rPr>
              <a:t>Basher</a:t>
            </a:r>
            <a:r>
              <a:rPr lang="tr-TR" b="0" i="1" dirty="0">
                <a:solidFill>
                  <a:schemeClr val="tx1">
                    <a:lumMod val="95000"/>
                    <a:lumOff val="5000"/>
                  </a:schemeClr>
                </a:solidFill>
                <a:effectLst/>
                <a:latin typeface="Consolas" panose="020B0609020204030204" pitchFamily="49" charset="0"/>
              </a:rPr>
              <a:t> </a:t>
            </a:r>
            <a:r>
              <a:rPr lang="tr-TR" b="0" i="1" dirty="0" err="1">
                <a:solidFill>
                  <a:schemeClr val="tx1">
                    <a:lumMod val="95000"/>
                    <a:lumOff val="5000"/>
                  </a:schemeClr>
                </a:solidFill>
                <a:effectLst/>
                <a:latin typeface="Consolas" panose="020B0609020204030204" pitchFamily="49" charset="0"/>
              </a:rPr>
              <a:t>Alhaj</a:t>
            </a:r>
            <a:r>
              <a:rPr lang="tr-TR" b="0" i="1" dirty="0">
                <a:solidFill>
                  <a:schemeClr val="tx1">
                    <a:lumMod val="95000"/>
                    <a:lumOff val="5000"/>
                  </a:schemeClr>
                </a:solidFill>
                <a:effectLst/>
                <a:latin typeface="Consolas" panose="020B0609020204030204" pitchFamily="49" charset="0"/>
              </a:rPr>
              <a:t> </a:t>
            </a:r>
            <a:r>
              <a:rPr lang="tr-TR" b="0" i="1" dirty="0" err="1">
                <a:solidFill>
                  <a:schemeClr val="tx1">
                    <a:lumMod val="95000"/>
                    <a:lumOff val="5000"/>
                  </a:schemeClr>
                </a:solidFill>
                <a:effectLst/>
                <a:latin typeface="Consolas" panose="020B0609020204030204" pitchFamily="49" charset="0"/>
              </a:rPr>
              <a:t>Ahmad</a:t>
            </a:r>
            <a:endParaRPr lang="tr-TR" b="0" i="1" dirty="0">
              <a:solidFill>
                <a:schemeClr val="tx1">
                  <a:lumMod val="95000"/>
                  <a:lumOff val="5000"/>
                </a:schemeClr>
              </a:solidFill>
              <a:effectLst/>
              <a:latin typeface="Consolas" panose="020B0609020204030204" pitchFamily="49" charset="0"/>
            </a:endParaRPr>
          </a:p>
          <a:p>
            <a:pPr marL="0" indent="0">
              <a:buNone/>
            </a:pPr>
            <a:endParaRPr lang="tr-TR" i="1" dirty="0">
              <a:solidFill>
                <a:schemeClr val="tx1">
                  <a:lumMod val="95000"/>
                  <a:lumOff val="5000"/>
                </a:schemeClr>
              </a:solidFill>
              <a:latin typeface="Consolas" panose="020B0609020204030204" pitchFamily="49" charset="0"/>
            </a:endParaRPr>
          </a:p>
          <a:p>
            <a:pPr marL="0" indent="0">
              <a:buNone/>
            </a:pPr>
            <a:endParaRPr lang="tr-TR" i="1" dirty="0">
              <a:solidFill>
                <a:schemeClr val="tx1">
                  <a:lumMod val="95000"/>
                  <a:lumOff val="5000"/>
                </a:schemeClr>
              </a:solidFill>
              <a:latin typeface="Consolas" panose="020B0609020204030204" pitchFamily="49" charset="0"/>
            </a:endParaRPr>
          </a:p>
        </p:txBody>
      </p:sp>
      <p:pic>
        <p:nvPicPr>
          <p:cNvPr id="2050" name="Picture 2" descr="An Introduction to Parallel Programming : Pacheco, Peter: Amazon.com.tr:  Kitap">
            <a:extLst>
              <a:ext uri="{FF2B5EF4-FFF2-40B4-BE49-F238E27FC236}">
                <a16:creationId xmlns:a16="http://schemas.microsoft.com/office/drawing/2014/main" id="{3BBEAF06-E47E-A286-796C-B47F5415F6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9045" y="1442265"/>
            <a:ext cx="1457917" cy="1800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aralel Programlama (Basher Alhaj Ahmad) Fiyatı, Yorumları, Satın Al -  Kitapyurdu.com">
            <a:extLst>
              <a:ext uri="{FF2B5EF4-FFF2-40B4-BE49-F238E27FC236}">
                <a16:creationId xmlns:a16="http://schemas.microsoft.com/office/drawing/2014/main" id="{53A24B0C-F05E-F851-F5A6-CF9217580F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6962" y="4217735"/>
            <a:ext cx="1440000" cy="2053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9787917"/>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481CB4D0A077842BDED2766925F818C" ma:contentTypeVersion="4" ma:contentTypeDescription="Create a new document." ma:contentTypeScope="" ma:versionID="7ca4d40561e50098215b272a582dbe93">
  <xsd:schema xmlns:xsd="http://www.w3.org/2001/XMLSchema" xmlns:xs="http://www.w3.org/2001/XMLSchema" xmlns:p="http://schemas.microsoft.com/office/2006/metadata/properties" xmlns:ns3="5bc41a94-bbf5-40ca-b5ce-8a510d22409b" targetNamespace="http://schemas.microsoft.com/office/2006/metadata/properties" ma:root="true" ma:fieldsID="5674e0e6df6ae38d59263ca524813a9f" ns3:_="">
    <xsd:import namespace="5bc41a94-bbf5-40ca-b5ce-8a510d22409b"/>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c41a94-bbf5-40ca-b5ce-8a510d2240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365A7B-4A65-4DFE-8B06-484DB27340DF}">
  <ds:schemaRefs>
    <ds:schemaRef ds:uri="http://schemas.microsoft.com/sharepoint/v3/contenttype/forms"/>
  </ds:schemaRefs>
</ds:datastoreItem>
</file>

<file path=customXml/itemProps2.xml><?xml version="1.0" encoding="utf-8"?>
<ds:datastoreItem xmlns:ds="http://schemas.openxmlformats.org/officeDocument/2006/customXml" ds:itemID="{46203C7A-D26A-4DAA-A04B-F28D85DA9E46}">
  <ds:schemaRefs>
    <ds:schemaRef ds:uri="http://purl.org/dc/dcmitype/"/>
    <ds:schemaRef ds:uri="http://schemas.microsoft.com/office/2006/documentManagement/types"/>
    <ds:schemaRef ds:uri="http://purl.org/dc/terms/"/>
    <ds:schemaRef ds:uri="http://purl.org/dc/elements/1.1/"/>
    <ds:schemaRef ds:uri="http://www.w3.org/XML/1998/namespace"/>
    <ds:schemaRef ds:uri="5bc41a94-bbf5-40ca-b5ce-8a510d22409b"/>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E304DF61-7D71-4B90-8ACC-B33C63B024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c41a94-bbf5-40ca-b5ce-8a510d2240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4210</TotalTime>
  <Words>3110</Words>
  <Application>Microsoft Office PowerPoint</Application>
  <PresentationFormat>Geniş ekran</PresentationFormat>
  <Paragraphs>321</Paragraphs>
  <Slides>35</Slides>
  <Notes>0</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35</vt:i4>
      </vt:variant>
    </vt:vector>
  </HeadingPairs>
  <TitlesOfParts>
    <vt:vector size="43" baseType="lpstr">
      <vt:lpstr>Aptos</vt:lpstr>
      <vt:lpstr>Aptos Display</vt:lpstr>
      <vt:lpstr>Arial</vt:lpstr>
      <vt:lpstr>Consolas</vt:lpstr>
      <vt:lpstr>KaTeX_Main</vt:lpstr>
      <vt:lpstr>Söhne</vt:lpstr>
      <vt:lpstr>Wingdings</vt:lpstr>
      <vt:lpstr>Office Teması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FUNDA KUTLU ONAY</dc:creator>
  <cp:lastModifiedBy>FUNDA KUTLU ONAY</cp:lastModifiedBy>
  <cp:revision>8</cp:revision>
  <dcterms:created xsi:type="dcterms:W3CDTF">2024-02-17T09:49:24Z</dcterms:created>
  <dcterms:modified xsi:type="dcterms:W3CDTF">2024-03-07T08:39:47Z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0x010100D481CB4D0A077842BDED2766925F818C</vt:lpwstr>
  </property>
</Properties>
</file>