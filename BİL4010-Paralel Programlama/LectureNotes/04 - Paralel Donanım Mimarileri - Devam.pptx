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3" r:id="rId2"/>
    <p:sldId id="269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268" r:id="rId26"/>
  </p:sldIdLst>
  <p:sldSz cx="12192000" cy="6858000"/>
  <p:notesSz cx="6858000" cy="9144000"/>
  <p:embeddedFontLst>
    <p:embeddedFont>
      <p:font typeface="Buxton Sketch" panose="020F0502020204030204" pitchFamily="66" charset="0"/>
      <p:regular r:id="rId29"/>
    </p:embeddedFont>
    <p:embeddedFont>
      <p:font typeface="ISOCPEUR" panose="020B0604020202020204" charset="0"/>
      <p:regular r:id="rId30"/>
      <p: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990033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7488" autoAdjust="0"/>
  </p:normalViewPr>
  <p:slideViewPr>
    <p:cSldViewPr snapToGrid="0">
      <p:cViewPr varScale="1">
        <p:scale>
          <a:sx n="61" d="100"/>
          <a:sy n="61" d="100"/>
        </p:scale>
        <p:origin x="90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A768D-EC05-4035-96C3-F7F3636CAC65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CBD32-E2EB-40FD-88FD-035871604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63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A8EB3-D97F-4F36-AAC3-63310151DD8A}" type="datetimeFigureOut">
              <a:rPr lang="tr-TR" smtClean="0"/>
              <a:t>3.03.2024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0E23-B5FE-4944-865A-3CD6F02E06F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297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C0E23-B5FE-4944-865A-3CD6F02E06FF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900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C0E23-B5FE-4944-865A-3CD6F02E06FF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772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542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3437" y="156086"/>
            <a:ext cx="11433679" cy="850933"/>
          </a:xfrm>
        </p:spPr>
        <p:txBody>
          <a:bodyPr>
            <a:normAutofit/>
          </a:bodyPr>
          <a:lstStyle>
            <a:lvl1pPr>
              <a:defRPr sz="3600">
                <a:latin typeface="Buxton Sketch" panose="03080500000500000004" pitchFamily="66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63437" y="1173455"/>
            <a:ext cx="11977495" cy="5227347"/>
          </a:xfrm>
        </p:spPr>
        <p:txBody>
          <a:bodyPr>
            <a:normAutofit/>
          </a:bodyPr>
          <a:lstStyle>
            <a:lvl1pPr marL="228594" indent="-228594">
              <a:buFont typeface="Wingdings" panose="05000000000000000000" pitchFamily="2" charset="2"/>
              <a:buChar char="§"/>
              <a:defRPr sz="2400">
                <a:latin typeface="Buxton Sketch" panose="03080500000500000004" pitchFamily="66" charset="0"/>
                <a:cs typeface="Segoe UI" panose="020B0502040204020203" pitchFamily="34" charset="0"/>
              </a:defRPr>
            </a:lvl1pPr>
            <a:lvl2pPr marL="685783" indent="-228594">
              <a:buFont typeface="Wingdings" panose="05000000000000000000" pitchFamily="2" charset="2"/>
              <a:buChar char="§"/>
              <a:defRPr sz="2000">
                <a:latin typeface="Buxton Sketch" panose="03080500000500000004" pitchFamily="66" charset="0"/>
                <a:cs typeface="Segoe UI" panose="020B0502040204020203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1800">
                <a:latin typeface="Buxton Sketch" panose="03080500000500000004" pitchFamily="66" charset="0"/>
                <a:cs typeface="Segoe UI" panose="020B0502040204020203" pitchFamily="34" charset="0"/>
              </a:defRPr>
            </a:lvl3pPr>
            <a:lvl4pPr marL="1600160" indent="-228594">
              <a:buFont typeface="Wingdings" panose="05000000000000000000" pitchFamily="2" charset="2"/>
              <a:buChar char="§"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114498" indent="-285744">
              <a:buFont typeface="Wingdings" panose="05000000000000000000" pitchFamily="2" charset="2"/>
              <a:buChar char="§"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Rectangle 8"/>
          <p:cNvSpPr/>
          <p:nvPr userDrawn="1"/>
        </p:nvSpPr>
        <p:spPr>
          <a:xfrm>
            <a:off x="3188598" y="6560738"/>
            <a:ext cx="4529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4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04-Paralel Donanım Mimarileri - Devam 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9863398" y="6552237"/>
            <a:ext cx="2277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03413A1-5E13-47B4-A296-66EE5D353E22}" type="slidenum">
              <a:rPr lang="tr-TR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tr-TR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7" name="Straight Connector 11"/>
          <p:cNvCxnSpPr/>
          <p:nvPr userDrawn="1"/>
        </p:nvCxnSpPr>
        <p:spPr>
          <a:xfrm>
            <a:off x="163437" y="6524631"/>
            <a:ext cx="11977495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0"/>
          <p:cNvSpPr/>
          <p:nvPr userDrawn="1"/>
        </p:nvSpPr>
        <p:spPr>
          <a:xfrm>
            <a:off x="163434" y="6545222"/>
            <a:ext cx="43037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14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BİL4010 –</a:t>
            </a:r>
            <a:r>
              <a:rPr lang="tr-TR" sz="1400" baseline="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Paralel Programlama</a:t>
            </a:r>
            <a:endParaRPr lang="en-US" sz="14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8" descr="Sivas Cumhuriyet Üniversitesi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1519" y="200880"/>
            <a:ext cx="775597" cy="76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7067775" y="6553025"/>
            <a:ext cx="4529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4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Dr. Öğr. Üyesi</a:t>
            </a:r>
            <a:r>
              <a:rPr lang="tr-TR" sz="1400" baseline="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Emre YALÇIN</a:t>
            </a:r>
            <a:endParaRPr lang="en-US" sz="14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9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43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303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075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635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083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507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679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923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306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97C28-5198-4DA2-ABCE-86FFE1FC7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437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/>
        </p:nvSpPr>
        <p:spPr>
          <a:xfrm>
            <a:off x="238278" y="1693586"/>
            <a:ext cx="880704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6000" b="1" cap="small" dirty="0">
              <a:solidFill>
                <a:srgbClr val="800000"/>
              </a:solidFill>
              <a:latin typeface="ISOCPEUR" panose="020B0604020202020204" pitchFamily="34" charset="0"/>
              <a:cs typeface="Segoe UI" panose="020B0502040204020203" pitchFamily="34" charset="0"/>
            </a:endParaRPr>
          </a:p>
          <a:p>
            <a:r>
              <a:rPr lang="tr-TR" sz="6000" b="1" cap="small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Paralel programlama</a:t>
            </a:r>
          </a:p>
          <a:p>
            <a:r>
              <a:rPr lang="tr-TR" sz="4000" b="1" cap="small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4. Hafta</a:t>
            </a:r>
          </a:p>
          <a:p>
            <a:r>
              <a:rPr lang="tr-TR" sz="4000" b="1" cap="small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Paralel Donanım Mimarileri - Devam</a:t>
            </a:r>
            <a:endParaRPr lang="en-US" sz="4000" b="1" cap="small" dirty="0">
              <a:solidFill>
                <a:srgbClr val="800000"/>
              </a:solidFill>
              <a:latin typeface="ISOCPEUR" panose="020B06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184196" y="490008"/>
            <a:ext cx="375936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9600" b="1" dirty="0">
                <a:solidFill>
                  <a:srgbClr val="800000"/>
                </a:solidFill>
                <a:latin typeface="ISOCPEUR" panose="020B0604020202020204" pitchFamily="34" charset="0"/>
                <a:cs typeface="Segoe UI" panose="020B0502040204020203" pitchFamily="34" charset="0"/>
              </a:rPr>
              <a:t>BİL4010</a:t>
            </a:r>
            <a:endParaRPr lang="tr-TR" sz="9600" dirty="0">
              <a:latin typeface="ISOCPEUR" panose="020B0604020202020204" pitchFamily="34" charset="0"/>
            </a:endParaRPr>
          </a:p>
        </p:txBody>
      </p:sp>
      <p:sp>
        <p:nvSpPr>
          <p:cNvPr id="2" name="AutoShape 2" descr="Sivas Cumhuriyet Üniversites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Sivas Cumhuriyet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774" y="338394"/>
            <a:ext cx="1306732" cy="128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aralel Programlama | Mavis Kameralı Kontrol Projeleri">
            <a:extLst>
              <a:ext uri="{FF2B5EF4-FFF2-40B4-BE49-F238E27FC236}">
                <a16:creationId xmlns:a16="http://schemas.microsoft.com/office/drawing/2014/main" id="{9E0383ED-DB1D-D7C3-96D7-F3ADE603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879" y="3591382"/>
            <a:ext cx="3972088" cy="248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27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/>
              <a:t>İçerik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E8FB47-BA63-0B34-F4FC-140E46157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Paralel Donanımlar ve Yazılımlar</a:t>
            </a:r>
          </a:p>
          <a:p>
            <a:r>
              <a:rPr lang="tr-TR" sz="3600" dirty="0" err="1"/>
              <a:t>Von</a:t>
            </a:r>
            <a:r>
              <a:rPr lang="tr-TR" sz="3600" dirty="0"/>
              <a:t> Neumann Architecture</a:t>
            </a:r>
          </a:p>
          <a:p>
            <a:r>
              <a:rPr lang="tr-TR" sz="3600" dirty="0"/>
              <a:t>İşlem (</a:t>
            </a:r>
            <a:r>
              <a:rPr lang="tr-TR" sz="3600" dirty="0" err="1"/>
              <a:t>Process</a:t>
            </a:r>
            <a:r>
              <a:rPr lang="tr-TR" sz="3600" dirty="0"/>
              <a:t>), Multi-</a:t>
            </a:r>
            <a:r>
              <a:rPr lang="tr-TR" sz="3600" dirty="0" err="1"/>
              <a:t>tasking</a:t>
            </a:r>
            <a:r>
              <a:rPr lang="tr-TR" sz="3600" dirty="0"/>
              <a:t> ve </a:t>
            </a:r>
            <a:r>
              <a:rPr lang="tr-TR" sz="3600" dirty="0" err="1"/>
              <a:t>Thread</a:t>
            </a:r>
            <a:endParaRPr lang="tr-TR" sz="3600" dirty="0"/>
          </a:p>
          <a:p>
            <a:r>
              <a:rPr lang="tr-TR" sz="3600" dirty="0" err="1"/>
              <a:t>Caching</a:t>
            </a:r>
            <a:r>
              <a:rPr lang="tr-TR" sz="3600" dirty="0"/>
              <a:t> ve Sanal Bellek (Virtual Memory)</a:t>
            </a:r>
          </a:p>
          <a:p>
            <a:r>
              <a:rPr lang="tr-TR" sz="3600" dirty="0" err="1"/>
              <a:t>Pipelines</a:t>
            </a:r>
            <a:endParaRPr lang="tr-TR" sz="3600" dirty="0"/>
          </a:p>
          <a:p>
            <a:r>
              <a:rPr lang="tr-TR" sz="3600" dirty="0"/>
              <a:t>Paralel Donanım Mimarileri</a:t>
            </a:r>
          </a:p>
        </p:txBody>
      </p:sp>
    </p:spTree>
    <p:extLst>
      <p:ext uri="{BB962C8B-B14F-4D97-AF65-F5344CB8AC3E}">
        <p14:creationId xmlns:p14="http://schemas.microsoft.com/office/powerpoint/2010/main" val="303369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/>
              <a:t>Pipelines</a:t>
            </a:r>
            <a:r>
              <a:rPr lang="tr-TR" sz="5400" dirty="0"/>
              <a:t> (Boru Hattı Mimarisi)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3600" dirty="0"/>
              <a:t>İşlemci üzerinde komutların paralel (eş zamanlı olarak) çalışması prensibine dayanmaktadır. (</a:t>
            </a:r>
            <a:r>
              <a:rPr lang="tr-TR" sz="3600" dirty="0" err="1">
                <a:solidFill>
                  <a:srgbClr val="800000"/>
                </a:solidFill>
              </a:rPr>
              <a:t>Instruction</a:t>
            </a:r>
            <a:r>
              <a:rPr lang="tr-TR" sz="3600" dirty="0">
                <a:solidFill>
                  <a:srgbClr val="800000"/>
                </a:solidFill>
              </a:rPr>
              <a:t> Level </a:t>
            </a:r>
            <a:r>
              <a:rPr lang="tr-TR" sz="3600" dirty="0" err="1">
                <a:solidFill>
                  <a:srgbClr val="800000"/>
                </a:solidFill>
              </a:rPr>
              <a:t>Parallelism</a:t>
            </a:r>
            <a:r>
              <a:rPr lang="tr-TR" sz="3600" dirty="0"/>
              <a:t>)</a:t>
            </a:r>
          </a:p>
          <a:p>
            <a:r>
              <a:rPr lang="tr-TR" sz="3600" dirty="0"/>
              <a:t>Zamanı kısaltarak toplam işi arttıran, toplu komutların daha hızlı çalışmasını sağlayan günümüzde daha hızlı işlemci tasarımında kullanılan önemli bir yöntemdir.</a:t>
            </a:r>
          </a:p>
          <a:p>
            <a:r>
              <a:rPr lang="tr-TR" sz="3600" dirty="0"/>
              <a:t>Bir komut 4 temel bileşenden oluşmaktadır:</a:t>
            </a:r>
          </a:p>
          <a:p>
            <a:pPr lvl="1"/>
            <a:r>
              <a:rPr lang="tr-TR" sz="3200" dirty="0"/>
              <a:t>FI: </a:t>
            </a:r>
            <a:r>
              <a:rPr lang="tr-TR" sz="3200" dirty="0" err="1"/>
              <a:t>Fetch</a:t>
            </a:r>
            <a:r>
              <a:rPr lang="tr-TR" sz="3200" dirty="0"/>
              <a:t> </a:t>
            </a:r>
            <a:r>
              <a:rPr lang="tr-TR" sz="3200" dirty="0" err="1"/>
              <a:t>Instruction</a:t>
            </a:r>
            <a:r>
              <a:rPr lang="tr-TR" sz="3200" dirty="0"/>
              <a:t> (Git Getir)</a:t>
            </a:r>
          </a:p>
          <a:p>
            <a:pPr lvl="1"/>
            <a:r>
              <a:rPr lang="tr-TR" sz="3200" dirty="0"/>
              <a:t>DA: </a:t>
            </a:r>
            <a:r>
              <a:rPr lang="tr-TR" sz="3200" dirty="0" err="1"/>
              <a:t>Decode</a:t>
            </a:r>
            <a:r>
              <a:rPr lang="tr-TR" sz="3200" dirty="0"/>
              <a:t> </a:t>
            </a:r>
            <a:r>
              <a:rPr lang="tr-TR" sz="3200" dirty="0" err="1"/>
              <a:t>and</a:t>
            </a:r>
            <a:r>
              <a:rPr lang="tr-TR" sz="3200" dirty="0"/>
              <a:t> </a:t>
            </a:r>
            <a:r>
              <a:rPr lang="tr-TR" sz="3200" dirty="0" err="1"/>
              <a:t>Calculate</a:t>
            </a:r>
            <a:r>
              <a:rPr lang="tr-TR" sz="3200" dirty="0"/>
              <a:t> </a:t>
            </a:r>
            <a:r>
              <a:rPr lang="tr-TR" sz="3200" dirty="0" err="1"/>
              <a:t>Effective</a:t>
            </a:r>
            <a:r>
              <a:rPr lang="tr-TR" sz="3200" dirty="0"/>
              <a:t> </a:t>
            </a:r>
            <a:r>
              <a:rPr lang="tr-TR" sz="3200" dirty="0" err="1"/>
              <a:t>Address</a:t>
            </a:r>
            <a:r>
              <a:rPr lang="tr-TR" sz="3200" dirty="0"/>
              <a:t> (Çözümleme)</a:t>
            </a:r>
          </a:p>
          <a:p>
            <a:pPr lvl="1"/>
            <a:r>
              <a:rPr lang="tr-TR" sz="3200" dirty="0"/>
              <a:t>FO: </a:t>
            </a:r>
            <a:r>
              <a:rPr lang="tr-TR" sz="3200" dirty="0" err="1"/>
              <a:t>Fetch</a:t>
            </a:r>
            <a:r>
              <a:rPr lang="tr-TR" sz="3200" dirty="0"/>
              <a:t> </a:t>
            </a:r>
            <a:r>
              <a:rPr lang="tr-TR" sz="3200" dirty="0" err="1"/>
              <a:t>Operand</a:t>
            </a:r>
            <a:r>
              <a:rPr lang="tr-TR" sz="3200" dirty="0"/>
              <a:t> (Bellekten Veri Okuma)</a:t>
            </a:r>
          </a:p>
          <a:p>
            <a:pPr lvl="1"/>
            <a:r>
              <a:rPr lang="tr-TR" sz="3200" dirty="0"/>
              <a:t>EX: </a:t>
            </a:r>
            <a:r>
              <a:rPr lang="tr-TR" sz="3200" dirty="0" err="1"/>
              <a:t>Execute</a:t>
            </a:r>
            <a:r>
              <a:rPr lang="tr-TR" sz="3200" dirty="0"/>
              <a:t> (İşlemi Gerçekleştir - Yaz)</a:t>
            </a:r>
          </a:p>
          <a:p>
            <a:r>
              <a:rPr lang="tr-TR" sz="3600" dirty="0"/>
              <a:t>Her zaman aralığında bir bileşen gerçekleştirilir.</a:t>
            </a:r>
          </a:p>
        </p:txBody>
      </p:sp>
    </p:spTree>
    <p:extLst>
      <p:ext uri="{BB962C8B-B14F-4D97-AF65-F5344CB8AC3E}">
        <p14:creationId xmlns:p14="http://schemas.microsoft.com/office/powerpoint/2010/main" val="235745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/>
              <a:t>Pipelines</a:t>
            </a:r>
            <a:r>
              <a:rPr lang="tr-TR" sz="5400" dirty="0"/>
              <a:t> (Boru Hattı Mimarisi)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4 kademeli Boru Hattında üç komutun uygulanması:</a:t>
            </a:r>
          </a:p>
          <a:p>
            <a:pPr marL="0" indent="0">
              <a:buNone/>
            </a:pPr>
            <a:r>
              <a:rPr lang="tr-TR" sz="3600" dirty="0">
                <a:solidFill>
                  <a:srgbClr val="800000"/>
                </a:solidFill>
              </a:rPr>
              <a:t>Klasik Yöntem</a:t>
            </a:r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r>
              <a:rPr lang="tr-TR" sz="3600" dirty="0">
                <a:solidFill>
                  <a:srgbClr val="800000"/>
                </a:solidFill>
              </a:rPr>
              <a:t>								Boru Hattı ile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D38B861-EFA6-453E-A15E-6B0F7DD5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74" y="2412682"/>
            <a:ext cx="6505601" cy="1662929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CD620E22-023D-CF88-1069-4B69CEEF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053" y="4161509"/>
            <a:ext cx="3668868" cy="173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2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/>
              <a:t>Pipelines</a:t>
            </a:r>
            <a:r>
              <a:rPr lang="tr-TR" sz="5400" dirty="0"/>
              <a:t> (Boru Hattı Mimarisi)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Bu yöntemin en büyük sıkıntısı döngü işlemlerinde döngü sona erene kadar sistemin yeni bir komut almaması gerekmektedir.</a:t>
            </a:r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1693E34-D082-A437-9400-48436C541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32" y="2243193"/>
            <a:ext cx="8493851" cy="344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/>
              <a:t>Paralel Donanım Mimarileri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3600" dirty="0"/>
              <a:t>Flynn’in Klasik Taksonomisi (Flynn Sınıflandırması): 1966 yılında Micheal J. Flynn tarafından yapılan bilgisayar mimarisinin sınıflandırmasıdır.</a:t>
            </a:r>
          </a:p>
          <a:p>
            <a:endParaRPr lang="tr-TR" sz="3600" dirty="0"/>
          </a:p>
          <a:p>
            <a:r>
              <a:rPr lang="tr-TR" sz="3600" dirty="0"/>
              <a:t>Paralel Donanım Mimarileri:</a:t>
            </a:r>
          </a:p>
          <a:p>
            <a:pPr lvl="1"/>
            <a:r>
              <a:rPr lang="tr-TR" sz="3200" dirty="0">
                <a:solidFill>
                  <a:srgbClr val="800000"/>
                </a:solidFill>
              </a:rPr>
              <a:t>SISD (</a:t>
            </a:r>
            <a:r>
              <a:rPr lang="tr-TR" sz="3200" dirty="0" err="1">
                <a:solidFill>
                  <a:srgbClr val="800000"/>
                </a:solidFill>
              </a:rPr>
              <a:t>Single</a:t>
            </a:r>
            <a:r>
              <a:rPr lang="tr-TR" sz="3200" dirty="0">
                <a:solidFill>
                  <a:srgbClr val="800000"/>
                </a:solidFill>
              </a:rPr>
              <a:t> </a:t>
            </a:r>
            <a:r>
              <a:rPr lang="tr-TR" sz="3200" dirty="0" err="1">
                <a:solidFill>
                  <a:srgbClr val="800000"/>
                </a:solidFill>
              </a:rPr>
              <a:t>Instruction</a:t>
            </a:r>
            <a:r>
              <a:rPr lang="tr-TR" sz="3200" dirty="0">
                <a:solidFill>
                  <a:srgbClr val="800000"/>
                </a:solidFill>
              </a:rPr>
              <a:t>, </a:t>
            </a:r>
            <a:r>
              <a:rPr lang="tr-TR" sz="3200" dirty="0" err="1">
                <a:solidFill>
                  <a:srgbClr val="800000"/>
                </a:solidFill>
              </a:rPr>
              <a:t>Single</a:t>
            </a:r>
            <a:r>
              <a:rPr lang="tr-TR" sz="3200" dirty="0">
                <a:solidFill>
                  <a:srgbClr val="800000"/>
                </a:solidFill>
              </a:rPr>
              <a:t> Data </a:t>
            </a:r>
            <a:r>
              <a:rPr lang="tr-TR" sz="3200" dirty="0" err="1">
                <a:solidFill>
                  <a:srgbClr val="800000"/>
                </a:solidFill>
              </a:rPr>
              <a:t>Stream</a:t>
            </a:r>
            <a:r>
              <a:rPr lang="tr-TR" sz="3200" dirty="0">
                <a:solidFill>
                  <a:srgbClr val="800000"/>
                </a:solidFill>
              </a:rPr>
              <a:t>) – Tek Komut Tek Veri Akışı</a:t>
            </a:r>
          </a:p>
          <a:p>
            <a:pPr lvl="1"/>
            <a:r>
              <a:rPr lang="tr-TR" sz="3200" dirty="0">
                <a:solidFill>
                  <a:srgbClr val="800000"/>
                </a:solidFill>
              </a:rPr>
              <a:t>SIMD (</a:t>
            </a:r>
            <a:r>
              <a:rPr lang="tr-TR" sz="3200" dirty="0" err="1">
                <a:solidFill>
                  <a:srgbClr val="800000"/>
                </a:solidFill>
              </a:rPr>
              <a:t>Single</a:t>
            </a:r>
            <a:r>
              <a:rPr lang="tr-TR" sz="3200" dirty="0">
                <a:solidFill>
                  <a:srgbClr val="800000"/>
                </a:solidFill>
              </a:rPr>
              <a:t> </a:t>
            </a:r>
            <a:r>
              <a:rPr lang="tr-TR" sz="3200" dirty="0" err="1">
                <a:solidFill>
                  <a:srgbClr val="800000"/>
                </a:solidFill>
              </a:rPr>
              <a:t>Instruction</a:t>
            </a:r>
            <a:r>
              <a:rPr lang="tr-TR" sz="3200" dirty="0">
                <a:solidFill>
                  <a:srgbClr val="800000"/>
                </a:solidFill>
              </a:rPr>
              <a:t>, Multiple Data </a:t>
            </a:r>
            <a:r>
              <a:rPr lang="tr-TR" sz="3200" dirty="0" err="1">
                <a:solidFill>
                  <a:srgbClr val="800000"/>
                </a:solidFill>
              </a:rPr>
              <a:t>Stream</a:t>
            </a:r>
            <a:r>
              <a:rPr lang="tr-TR" sz="3200" dirty="0">
                <a:solidFill>
                  <a:srgbClr val="800000"/>
                </a:solidFill>
              </a:rPr>
              <a:t>) – Tek Komut Çok Veri Akışı</a:t>
            </a:r>
          </a:p>
          <a:p>
            <a:pPr lvl="1"/>
            <a:r>
              <a:rPr lang="tr-TR" sz="3200" dirty="0">
                <a:solidFill>
                  <a:srgbClr val="800000"/>
                </a:solidFill>
              </a:rPr>
              <a:t>MIST (Multiple </a:t>
            </a:r>
            <a:r>
              <a:rPr lang="tr-TR" sz="3200" dirty="0" err="1">
                <a:solidFill>
                  <a:srgbClr val="800000"/>
                </a:solidFill>
              </a:rPr>
              <a:t>Instruction</a:t>
            </a:r>
            <a:r>
              <a:rPr lang="tr-TR" sz="3200" dirty="0">
                <a:solidFill>
                  <a:srgbClr val="800000"/>
                </a:solidFill>
              </a:rPr>
              <a:t>, </a:t>
            </a:r>
            <a:r>
              <a:rPr lang="tr-TR" sz="3200" dirty="0" err="1">
                <a:solidFill>
                  <a:srgbClr val="800000"/>
                </a:solidFill>
              </a:rPr>
              <a:t>Single</a:t>
            </a:r>
            <a:r>
              <a:rPr lang="tr-TR" sz="3200" dirty="0">
                <a:solidFill>
                  <a:srgbClr val="800000"/>
                </a:solidFill>
              </a:rPr>
              <a:t> Data </a:t>
            </a:r>
            <a:r>
              <a:rPr lang="tr-TR" sz="3200" dirty="0" err="1">
                <a:solidFill>
                  <a:srgbClr val="800000"/>
                </a:solidFill>
              </a:rPr>
              <a:t>Stream</a:t>
            </a:r>
            <a:r>
              <a:rPr lang="tr-TR" sz="3200" dirty="0">
                <a:solidFill>
                  <a:srgbClr val="800000"/>
                </a:solidFill>
              </a:rPr>
              <a:t>) – Çok Komut Tek Veri Akışı</a:t>
            </a:r>
          </a:p>
          <a:p>
            <a:pPr lvl="1"/>
            <a:r>
              <a:rPr lang="tr-TR" sz="3200" dirty="0">
                <a:solidFill>
                  <a:srgbClr val="800000"/>
                </a:solidFill>
              </a:rPr>
              <a:t>MIMD (Multiple </a:t>
            </a:r>
            <a:r>
              <a:rPr lang="tr-TR" sz="3200" dirty="0" err="1">
                <a:solidFill>
                  <a:srgbClr val="800000"/>
                </a:solidFill>
              </a:rPr>
              <a:t>Instruction</a:t>
            </a:r>
            <a:r>
              <a:rPr lang="tr-TR" sz="3200" dirty="0">
                <a:solidFill>
                  <a:srgbClr val="800000"/>
                </a:solidFill>
              </a:rPr>
              <a:t>, Multiple Data </a:t>
            </a:r>
            <a:r>
              <a:rPr lang="tr-TR" sz="3200" dirty="0" err="1">
                <a:solidFill>
                  <a:srgbClr val="800000"/>
                </a:solidFill>
              </a:rPr>
              <a:t>Stream</a:t>
            </a:r>
            <a:r>
              <a:rPr lang="tr-TR" sz="3200" dirty="0">
                <a:solidFill>
                  <a:srgbClr val="800000"/>
                </a:solidFill>
              </a:rPr>
              <a:t>) – Çok Komut Çok Veri Akışı</a:t>
            </a:r>
          </a:p>
          <a:p>
            <a:pPr lvl="1"/>
            <a:endParaRPr lang="tr-TR" sz="3200" dirty="0"/>
          </a:p>
          <a:p>
            <a:pPr lvl="1"/>
            <a:endParaRPr lang="tr-TR" sz="32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0598685-2D85-93D6-E385-100D89040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012" y="1641540"/>
            <a:ext cx="1595969" cy="18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1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SISD (</a:t>
            </a:r>
            <a:r>
              <a:rPr lang="tr-TR" sz="5400" dirty="0" err="1">
                <a:solidFill>
                  <a:srgbClr val="800000"/>
                </a:solidFill>
              </a:rPr>
              <a:t>Single</a:t>
            </a:r>
            <a:r>
              <a:rPr lang="tr-TR" sz="5400" dirty="0">
                <a:solidFill>
                  <a:srgbClr val="800000"/>
                </a:solidFill>
              </a:rPr>
              <a:t> </a:t>
            </a:r>
            <a:r>
              <a:rPr lang="tr-TR" sz="5400" dirty="0" err="1">
                <a:solidFill>
                  <a:srgbClr val="800000"/>
                </a:solidFill>
              </a:rPr>
              <a:t>Instruction</a:t>
            </a:r>
            <a:r>
              <a:rPr lang="tr-TR" sz="5400" dirty="0">
                <a:solidFill>
                  <a:srgbClr val="800000"/>
                </a:solidFill>
              </a:rPr>
              <a:t>, </a:t>
            </a:r>
            <a:r>
              <a:rPr lang="tr-TR" sz="5400" dirty="0" err="1">
                <a:solidFill>
                  <a:srgbClr val="800000"/>
                </a:solidFill>
              </a:rPr>
              <a:t>Single</a:t>
            </a:r>
            <a:r>
              <a:rPr lang="tr-TR" sz="5400" dirty="0">
                <a:solidFill>
                  <a:srgbClr val="800000"/>
                </a:solidFill>
              </a:rPr>
              <a:t> Data </a:t>
            </a:r>
            <a:r>
              <a:rPr lang="tr-TR" sz="5400" dirty="0" err="1">
                <a:solidFill>
                  <a:srgbClr val="800000"/>
                </a:solidFill>
              </a:rPr>
              <a:t>Stream</a:t>
            </a:r>
            <a:r>
              <a:rPr lang="tr-TR" sz="5400" dirty="0">
                <a:solidFill>
                  <a:srgbClr val="800000"/>
                </a:solidFill>
              </a:rPr>
              <a:t>)</a:t>
            </a:r>
            <a:endParaRPr lang="tr-TR" sz="54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3600" dirty="0"/>
              <a:t>Klasik Seri olarak çalışan bilgisayardır.</a:t>
            </a:r>
          </a:p>
          <a:p>
            <a:r>
              <a:rPr lang="tr-TR" sz="3600" dirty="0" err="1"/>
              <a:t>Von</a:t>
            </a:r>
            <a:r>
              <a:rPr lang="tr-TR" sz="3600" dirty="0"/>
              <a:t> Neumann mimarisi örnek olarak verilebilir.</a:t>
            </a:r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r>
              <a:rPr lang="tr-TR" sz="3600" dirty="0"/>
              <a:t>								     </a:t>
            </a:r>
            <a:r>
              <a:rPr lang="tr-TR" sz="3600" i="1" dirty="0">
                <a:solidFill>
                  <a:srgbClr val="800000"/>
                </a:solidFill>
              </a:rPr>
              <a:t>PU:</a:t>
            </a:r>
            <a:r>
              <a:rPr lang="tr-TR" sz="3600" dirty="0"/>
              <a:t> </a:t>
            </a:r>
            <a:r>
              <a:rPr lang="tr-TR" sz="3600" dirty="0" err="1"/>
              <a:t>Processing</a:t>
            </a:r>
            <a:r>
              <a:rPr lang="tr-TR" sz="3600" dirty="0"/>
              <a:t> </a:t>
            </a:r>
            <a:r>
              <a:rPr lang="tr-TR" sz="3600" dirty="0" err="1"/>
              <a:t>Unit</a:t>
            </a:r>
            <a:endParaRPr lang="tr-TR" sz="3600" dirty="0"/>
          </a:p>
          <a:p>
            <a:pPr marL="3657600" lvl="8" indent="0">
              <a:buNone/>
            </a:pPr>
            <a:r>
              <a:rPr lang="tr-TR" sz="3000" dirty="0"/>
              <a:t>				P</a:t>
            </a:r>
          </a:p>
          <a:p>
            <a:endParaRPr lang="tr-TR" sz="36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200BD9E-5F02-DF1A-2018-F2086BA36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536" y="2267610"/>
            <a:ext cx="3826680" cy="401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7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SIMD (</a:t>
            </a:r>
            <a:r>
              <a:rPr lang="tr-TR" sz="5400" dirty="0" err="1">
                <a:solidFill>
                  <a:srgbClr val="800000"/>
                </a:solidFill>
              </a:rPr>
              <a:t>Single</a:t>
            </a:r>
            <a:r>
              <a:rPr lang="tr-TR" sz="5400" dirty="0">
                <a:solidFill>
                  <a:srgbClr val="800000"/>
                </a:solidFill>
              </a:rPr>
              <a:t> </a:t>
            </a:r>
            <a:r>
              <a:rPr lang="tr-TR" sz="5400" dirty="0" err="1">
                <a:solidFill>
                  <a:srgbClr val="800000"/>
                </a:solidFill>
              </a:rPr>
              <a:t>Instruction</a:t>
            </a:r>
            <a:r>
              <a:rPr lang="tr-TR" sz="5400" dirty="0">
                <a:solidFill>
                  <a:srgbClr val="800000"/>
                </a:solidFill>
              </a:rPr>
              <a:t>, Multiple Data </a:t>
            </a:r>
            <a:r>
              <a:rPr lang="tr-TR" sz="5400" dirty="0" err="1">
                <a:solidFill>
                  <a:srgbClr val="800000"/>
                </a:solidFill>
              </a:rPr>
              <a:t>Stream</a:t>
            </a:r>
            <a:r>
              <a:rPr lang="tr-TR" sz="5400" dirty="0">
                <a:solidFill>
                  <a:srgbClr val="800000"/>
                </a:solidFill>
              </a:rPr>
              <a:t>)</a:t>
            </a:r>
            <a:endParaRPr lang="tr-TR" sz="54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38" y="1173455"/>
            <a:ext cx="7473980" cy="5227347"/>
          </a:xfrm>
        </p:spPr>
        <p:txBody>
          <a:bodyPr>
            <a:normAutofit fontScale="92500"/>
          </a:bodyPr>
          <a:lstStyle/>
          <a:p>
            <a:r>
              <a:rPr lang="tr-TR" sz="3600" dirty="0"/>
              <a:t>Bu sistemler Paralel sistemlerdir.</a:t>
            </a:r>
          </a:p>
          <a:p>
            <a:r>
              <a:rPr lang="tr-TR" sz="3600" dirty="0"/>
              <a:t>Çoklu veri akışları üzerinde aynı komutu paralel olarak işleyebilen sistemlerdir.</a:t>
            </a:r>
          </a:p>
          <a:p>
            <a:r>
              <a:rPr lang="tr-TR" sz="3600" dirty="0" err="1"/>
              <a:t>Single</a:t>
            </a:r>
            <a:r>
              <a:rPr lang="tr-TR" sz="3600" dirty="0"/>
              <a:t> Control </a:t>
            </a:r>
            <a:r>
              <a:rPr lang="tr-TR" sz="3600" dirty="0" err="1"/>
              <a:t>Unit</a:t>
            </a:r>
            <a:r>
              <a:rPr lang="tr-TR" sz="3600" dirty="0"/>
              <a:t>, Multiple ALU (Tek Kontrol Ünitesi, Çoklu Aritmetik Lojik Birim)</a:t>
            </a:r>
          </a:p>
          <a:p>
            <a:endParaRPr lang="tr-TR" sz="3600" dirty="0"/>
          </a:p>
          <a:p>
            <a:pPr marL="0" indent="0">
              <a:buNone/>
            </a:pPr>
            <a:r>
              <a:rPr lang="tr-TR" sz="3600" dirty="0"/>
              <a:t>				     </a:t>
            </a:r>
            <a:r>
              <a:rPr lang="tr-TR" sz="3600" i="1" dirty="0">
                <a:solidFill>
                  <a:srgbClr val="800000"/>
                </a:solidFill>
              </a:rPr>
              <a:t>PU:</a:t>
            </a:r>
            <a:r>
              <a:rPr lang="tr-TR" sz="3600" dirty="0"/>
              <a:t> </a:t>
            </a:r>
            <a:r>
              <a:rPr lang="tr-TR" sz="3600" dirty="0" err="1"/>
              <a:t>Processing</a:t>
            </a:r>
            <a:r>
              <a:rPr lang="tr-TR" sz="3600" dirty="0"/>
              <a:t> </a:t>
            </a:r>
            <a:r>
              <a:rPr lang="tr-TR" sz="3600" dirty="0" err="1"/>
              <a:t>Unit</a:t>
            </a:r>
            <a:endParaRPr lang="tr-TR" sz="3600" dirty="0"/>
          </a:p>
          <a:p>
            <a:pPr marL="3657600" lvl="8" indent="0">
              <a:buNone/>
            </a:pPr>
            <a:r>
              <a:rPr lang="tr-TR" sz="3000" dirty="0"/>
              <a:t>				</a:t>
            </a:r>
            <a:endParaRPr lang="tr-TR" sz="3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023F34F-78F0-0DA5-7416-56870B673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61" y="1461939"/>
            <a:ext cx="4733939" cy="458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SIMD (</a:t>
            </a:r>
            <a:r>
              <a:rPr lang="tr-TR" sz="5400" dirty="0" err="1">
                <a:solidFill>
                  <a:srgbClr val="800000"/>
                </a:solidFill>
              </a:rPr>
              <a:t>Single</a:t>
            </a:r>
            <a:r>
              <a:rPr lang="tr-TR" sz="5400" dirty="0">
                <a:solidFill>
                  <a:srgbClr val="800000"/>
                </a:solidFill>
              </a:rPr>
              <a:t> </a:t>
            </a:r>
            <a:r>
              <a:rPr lang="tr-TR" sz="5400" dirty="0" err="1">
                <a:solidFill>
                  <a:srgbClr val="800000"/>
                </a:solidFill>
              </a:rPr>
              <a:t>Instruction</a:t>
            </a:r>
            <a:r>
              <a:rPr lang="tr-TR" sz="5400" dirty="0">
                <a:solidFill>
                  <a:srgbClr val="800000"/>
                </a:solidFill>
              </a:rPr>
              <a:t>, Multiple Data </a:t>
            </a:r>
            <a:r>
              <a:rPr lang="tr-TR" sz="5400" dirty="0" err="1">
                <a:solidFill>
                  <a:srgbClr val="800000"/>
                </a:solidFill>
              </a:rPr>
              <a:t>Stream</a:t>
            </a:r>
            <a:r>
              <a:rPr lang="tr-TR" sz="5400" dirty="0">
                <a:solidFill>
                  <a:srgbClr val="800000"/>
                </a:solidFill>
              </a:rPr>
              <a:t>)</a:t>
            </a:r>
            <a:endParaRPr lang="tr-TR" sz="5400" dirty="0"/>
          </a:p>
        </p:txBody>
      </p:sp>
      <p:sp>
        <p:nvSpPr>
          <p:cNvPr id="3" name="İçerik Yer Tutucusu 3">
            <a:extLst>
              <a:ext uri="{FF2B5EF4-FFF2-40B4-BE49-F238E27FC236}">
                <a16:creationId xmlns:a16="http://schemas.microsoft.com/office/drawing/2014/main" id="{2B7530E5-749A-79DF-BB8F-230760A65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37" y="1173455"/>
            <a:ext cx="11977495" cy="5227347"/>
          </a:xfrm>
        </p:spPr>
        <p:txBody>
          <a:bodyPr>
            <a:normAutofit/>
          </a:bodyPr>
          <a:lstStyle/>
          <a:p>
            <a:r>
              <a:rPr lang="tr-TR" sz="3600" dirty="0" err="1">
                <a:solidFill>
                  <a:srgbClr val="800000"/>
                </a:solidFill>
              </a:rPr>
              <a:t>Vector</a:t>
            </a:r>
            <a:r>
              <a:rPr lang="tr-TR" sz="3600" dirty="0">
                <a:solidFill>
                  <a:srgbClr val="800000"/>
                </a:solidFill>
              </a:rPr>
              <a:t> </a:t>
            </a:r>
            <a:r>
              <a:rPr lang="tr-TR" sz="3600" dirty="0" err="1">
                <a:solidFill>
                  <a:srgbClr val="800000"/>
                </a:solidFill>
              </a:rPr>
              <a:t>Processors</a:t>
            </a:r>
            <a:r>
              <a:rPr lang="tr-TR" sz="3600" dirty="0">
                <a:solidFill>
                  <a:srgbClr val="800000"/>
                </a:solidFill>
              </a:rPr>
              <a:t> (Vektör İşlemciler):</a:t>
            </a:r>
          </a:p>
          <a:p>
            <a:pPr lvl="1"/>
            <a:r>
              <a:rPr lang="tr-TR" sz="3600" dirty="0"/>
              <a:t>Bu tip işlemciler dizi ya da vektör şeklindeki veri üzerinde paralel olarak çalışabilme kabiliyetine sahiptir.</a:t>
            </a:r>
          </a:p>
          <a:p>
            <a:pPr lvl="1"/>
            <a:r>
              <a:rPr lang="tr-TR" sz="3600" dirty="0"/>
              <a:t>Örneğin veri yolu genişliği boyutundaki bir diziyi tek bir IC (</a:t>
            </a:r>
            <a:r>
              <a:rPr lang="tr-TR" sz="3600" dirty="0" err="1"/>
              <a:t>Instruction</a:t>
            </a:r>
            <a:r>
              <a:rPr lang="tr-TR" sz="3600" dirty="0"/>
              <a:t> </a:t>
            </a:r>
            <a:r>
              <a:rPr lang="tr-TR" sz="3600" dirty="0" err="1"/>
              <a:t>Cycle</a:t>
            </a:r>
            <a:r>
              <a:rPr lang="tr-TR" sz="3600" dirty="0"/>
              <a:t>) komut döngüsü süresinde işleyebilir.</a:t>
            </a:r>
          </a:p>
          <a:p>
            <a:r>
              <a:rPr lang="tr-TR" sz="4000" dirty="0">
                <a:solidFill>
                  <a:srgbClr val="800000"/>
                </a:solidFill>
              </a:rPr>
              <a:t>Grafik işlemcileri (GPU: </a:t>
            </a:r>
            <a:r>
              <a:rPr lang="tr-TR" sz="4000" dirty="0" err="1">
                <a:solidFill>
                  <a:srgbClr val="800000"/>
                </a:solidFill>
              </a:rPr>
              <a:t>Graphic</a:t>
            </a:r>
            <a:r>
              <a:rPr lang="tr-TR" sz="4000" dirty="0">
                <a:solidFill>
                  <a:srgbClr val="800000"/>
                </a:solidFill>
              </a:rPr>
              <a:t> </a:t>
            </a:r>
            <a:r>
              <a:rPr lang="tr-TR" sz="4000" dirty="0" err="1">
                <a:solidFill>
                  <a:srgbClr val="800000"/>
                </a:solidFill>
              </a:rPr>
              <a:t>Processing</a:t>
            </a:r>
            <a:r>
              <a:rPr lang="tr-TR" sz="4000" dirty="0">
                <a:solidFill>
                  <a:srgbClr val="800000"/>
                </a:solidFill>
              </a:rPr>
              <a:t> </a:t>
            </a:r>
            <a:r>
              <a:rPr lang="tr-TR" sz="4000" dirty="0" err="1">
                <a:solidFill>
                  <a:srgbClr val="800000"/>
                </a:solidFill>
              </a:rPr>
              <a:t>Units</a:t>
            </a:r>
            <a:r>
              <a:rPr lang="tr-TR" sz="4000" dirty="0">
                <a:solidFill>
                  <a:srgbClr val="800000"/>
                </a:solidFill>
              </a:rPr>
              <a:t>):</a:t>
            </a:r>
          </a:p>
          <a:p>
            <a:pPr lvl="1"/>
            <a:r>
              <a:rPr lang="tr-TR" sz="3600" dirty="0" err="1"/>
              <a:t>Graphic</a:t>
            </a:r>
            <a:r>
              <a:rPr lang="tr-TR" sz="3600" dirty="0"/>
              <a:t> </a:t>
            </a:r>
            <a:r>
              <a:rPr lang="tr-TR" sz="3600" dirty="0" err="1"/>
              <a:t>processing</a:t>
            </a:r>
            <a:r>
              <a:rPr lang="tr-TR" sz="3600" dirty="0"/>
              <a:t> </a:t>
            </a:r>
            <a:r>
              <a:rPr lang="tr-TR" sz="3600" dirty="0" err="1"/>
              <a:t>pipeline</a:t>
            </a:r>
            <a:r>
              <a:rPr lang="tr-TR" sz="3600" dirty="0"/>
              <a:t> kullanarak piksel dizilerinin ve grafik işlemlerinin paralel olarak işlenebilmesini sağlamaktadır.</a:t>
            </a:r>
          </a:p>
        </p:txBody>
      </p:sp>
    </p:spTree>
    <p:extLst>
      <p:ext uri="{BB962C8B-B14F-4D97-AF65-F5344CB8AC3E}">
        <p14:creationId xmlns:p14="http://schemas.microsoft.com/office/powerpoint/2010/main" val="126909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/>
              <a:t>M</a:t>
            </a:r>
            <a:r>
              <a:rPr lang="tr-TR" sz="5400" dirty="0">
                <a:solidFill>
                  <a:srgbClr val="800000"/>
                </a:solidFill>
              </a:rPr>
              <a:t>ISD (Multiple </a:t>
            </a:r>
            <a:r>
              <a:rPr lang="tr-TR" sz="5400" dirty="0" err="1">
                <a:solidFill>
                  <a:srgbClr val="800000"/>
                </a:solidFill>
              </a:rPr>
              <a:t>Instruction</a:t>
            </a:r>
            <a:r>
              <a:rPr lang="tr-TR" sz="5400" dirty="0">
                <a:solidFill>
                  <a:srgbClr val="800000"/>
                </a:solidFill>
              </a:rPr>
              <a:t>, </a:t>
            </a:r>
            <a:r>
              <a:rPr lang="tr-TR" sz="5400" dirty="0" err="1">
                <a:solidFill>
                  <a:srgbClr val="800000"/>
                </a:solidFill>
              </a:rPr>
              <a:t>Single</a:t>
            </a:r>
            <a:r>
              <a:rPr lang="tr-TR" sz="5400" dirty="0">
                <a:solidFill>
                  <a:srgbClr val="800000"/>
                </a:solidFill>
              </a:rPr>
              <a:t> Data </a:t>
            </a:r>
            <a:r>
              <a:rPr lang="tr-TR" sz="5400" dirty="0" err="1">
                <a:solidFill>
                  <a:srgbClr val="800000"/>
                </a:solidFill>
              </a:rPr>
              <a:t>Stream</a:t>
            </a:r>
            <a:r>
              <a:rPr lang="tr-TR" sz="5400" dirty="0">
                <a:solidFill>
                  <a:srgbClr val="800000"/>
                </a:solidFill>
              </a:rPr>
              <a:t>)</a:t>
            </a:r>
            <a:endParaRPr lang="tr-TR" sz="54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38" y="1173455"/>
            <a:ext cx="7473980" cy="5227347"/>
          </a:xfrm>
        </p:spPr>
        <p:txBody>
          <a:bodyPr>
            <a:normAutofit/>
          </a:bodyPr>
          <a:lstStyle/>
          <a:p>
            <a:r>
              <a:rPr lang="tr-TR" sz="3600" dirty="0"/>
              <a:t>Tek bir veri üzerinde birden fazla komut setinin eş zamanlı olarak çalıştırılması prensibine dayanmaktadır.</a:t>
            </a:r>
          </a:p>
          <a:p>
            <a:endParaRPr lang="tr-TR" sz="3600" dirty="0"/>
          </a:p>
          <a:p>
            <a:endParaRPr lang="tr-TR" sz="3600" dirty="0"/>
          </a:p>
          <a:p>
            <a:endParaRPr lang="tr-TR" sz="3600" dirty="0"/>
          </a:p>
          <a:p>
            <a:pPr marL="0" indent="0">
              <a:buNone/>
            </a:pPr>
            <a:r>
              <a:rPr lang="tr-TR" sz="3600" dirty="0"/>
              <a:t>			     </a:t>
            </a:r>
            <a:r>
              <a:rPr lang="tr-TR" sz="3600" i="1" dirty="0">
                <a:solidFill>
                  <a:srgbClr val="800000"/>
                </a:solidFill>
              </a:rPr>
              <a:t>PU:</a:t>
            </a:r>
            <a:r>
              <a:rPr lang="tr-TR" sz="3600" dirty="0"/>
              <a:t> </a:t>
            </a:r>
            <a:r>
              <a:rPr lang="tr-TR" sz="3600" dirty="0" err="1"/>
              <a:t>Processing</a:t>
            </a:r>
            <a:r>
              <a:rPr lang="tr-TR" sz="3600" dirty="0"/>
              <a:t> </a:t>
            </a:r>
            <a:r>
              <a:rPr lang="tr-TR" sz="3600" dirty="0" err="1"/>
              <a:t>Unit</a:t>
            </a:r>
            <a:endParaRPr lang="tr-TR" sz="3600" dirty="0"/>
          </a:p>
          <a:p>
            <a:pPr marL="3657600" lvl="8" indent="0">
              <a:buNone/>
            </a:pPr>
            <a:r>
              <a:rPr lang="tr-TR" sz="3000" dirty="0"/>
              <a:t>				</a:t>
            </a:r>
            <a:endParaRPr lang="tr-TR" sz="36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A08E74B-6AFB-B4D5-8E75-FDE5470A3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1173455"/>
            <a:ext cx="532447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3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800" dirty="0"/>
              <a:t>M</a:t>
            </a:r>
            <a:r>
              <a:rPr lang="tr-TR" sz="4800" dirty="0">
                <a:solidFill>
                  <a:srgbClr val="800000"/>
                </a:solidFill>
              </a:rPr>
              <a:t>IMD (Multiple </a:t>
            </a:r>
            <a:r>
              <a:rPr lang="tr-TR" sz="4800" dirty="0" err="1">
                <a:solidFill>
                  <a:srgbClr val="800000"/>
                </a:solidFill>
              </a:rPr>
              <a:t>Instruction</a:t>
            </a:r>
            <a:r>
              <a:rPr lang="tr-TR" sz="4800" dirty="0">
                <a:solidFill>
                  <a:srgbClr val="800000"/>
                </a:solidFill>
              </a:rPr>
              <a:t>, Multiple Data </a:t>
            </a:r>
            <a:r>
              <a:rPr lang="tr-TR" sz="4800" dirty="0" err="1">
                <a:solidFill>
                  <a:srgbClr val="800000"/>
                </a:solidFill>
              </a:rPr>
              <a:t>Stream</a:t>
            </a:r>
            <a:r>
              <a:rPr lang="tr-TR" sz="4800" dirty="0">
                <a:solidFill>
                  <a:srgbClr val="800000"/>
                </a:solidFill>
              </a:rPr>
              <a:t>)</a:t>
            </a:r>
            <a:endParaRPr lang="tr-TR" sz="48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5F3691D-DED4-7EBA-4378-B8C2C3B7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38" y="1173455"/>
            <a:ext cx="7473980" cy="5227347"/>
          </a:xfrm>
        </p:spPr>
        <p:txBody>
          <a:bodyPr>
            <a:normAutofit fontScale="85000" lnSpcReduction="20000"/>
          </a:bodyPr>
          <a:lstStyle/>
          <a:p>
            <a:r>
              <a:rPr lang="tr-TR" sz="3600" dirty="0"/>
              <a:t>MIMD sistemler birbirinden tamamen bağımsız ve paralel olarak çalışabilen çekirdeklere (</a:t>
            </a:r>
            <a:r>
              <a:rPr lang="tr-TR" sz="3600" dirty="0" err="1"/>
              <a:t>core</a:t>
            </a:r>
            <a:r>
              <a:rPr lang="tr-TR" sz="3600" dirty="0"/>
              <a:t>) sahiptirler.</a:t>
            </a:r>
          </a:p>
          <a:p>
            <a:r>
              <a:rPr lang="tr-TR" sz="3600" dirty="0"/>
              <a:t>Her bir </a:t>
            </a:r>
            <a:r>
              <a:rPr lang="tr-TR" sz="3600" dirty="0" err="1"/>
              <a:t>core</a:t>
            </a:r>
            <a:r>
              <a:rPr lang="tr-TR" sz="3600" dirty="0"/>
              <a:t> kendisine ait bir ALU ve Kontrol Ünitesine sahiptir.</a:t>
            </a:r>
          </a:p>
          <a:p>
            <a:r>
              <a:rPr lang="tr-TR" sz="3600" dirty="0"/>
              <a:t>SIMD sistemlerinin aksine MIMD sistemler asenkron olarak çalışabilir.</a:t>
            </a:r>
          </a:p>
          <a:p>
            <a:r>
              <a:rPr lang="tr-TR" sz="3600" dirty="0"/>
              <a:t>Birçok MIMD sistemde global bir saat darbesi (</a:t>
            </a:r>
            <a:r>
              <a:rPr lang="tr-TR" sz="3600" dirty="0" err="1"/>
              <a:t>clock</a:t>
            </a:r>
            <a:r>
              <a:rPr lang="tr-TR" sz="3600" dirty="0"/>
              <a:t> </a:t>
            </a:r>
            <a:r>
              <a:rPr lang="tr-TR" sz="3600" dirty="0" err="1"/>
              <a:t>pulse</a:t>
            </a:r>
            <a:r>
              <a:rPr lang="tr-TR" sz="3600" dirty="0"/>
              <a:t>) yoktur.</a:t>
            </a:r>
          </a:p>
          <a:p>
            <a:r>
              <a:rPr lang="tr-TR" sz="3600" dirty="0"/>
              <a:t>Bunun yerine kullanıcı sistemi kendi arasında senkronize etmelidir.</a:t>
            </a:r>
          </a:p>
          <a:p>
            <a:pPr marL="0" indent="0">
              <a:buNone/>
            </a:pPr>
            <a:r>
              <a:rPr lang="tr-TR" sz="3600" dirty="0"/>
              <a:t>			     </a:t>
            </a:r>
            <a:r>
              <a:rPr lang="tr-TR" sz="3600" i="1" dirty="0">
                <a:solidFill>
                  <a:srgbClr val="800000"/>
                </a:solidFill>
              </a:rPr>
              <a:t>PU:</a:t>
            </a:r>
            <a:r>
              <a:rPr lang="tr-TR" sz="3600" dirty="0"/>
              <a:t> </a:t>
            </a:r>
            <a:r>
              <a:rPr lang="tr-TR" sz="3600" dirty="0" err="1"/>
              <a:t>Processing</a:t>
            </a:r>
            <a:r>
              <a:rPr lang="tr-TR" sz="3600" dirty="0"/>
              <a:t> </a:t>
            </a:r>
            <a:r>
              <a:rPr lang="tr-TR" sz="3600" dirty="0" err="1"/>
              <a:t>Unit</a:t>
            </a:r>
            <a:endParaRPr lang="tr-TR" sz="3600" dirty="0"/>
          </a:p>
          <a:p>
            <a:pPr marL="3657600" lvl="8" indent="0">
              <a:buNone/>
            </a:pPr>
            <a:r>
              <a:rPr lang="tr-TR" sz="3000" dirty="0"/>
              <a:t>			</a:t>
            </a:r>
            <a:endParaRPr lang="tr-TR" sz="3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FA07C51-3DA6-92D6-7193-0851B56C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717" y="1454195"/>
            <a:ext cx="3958971" cy="431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71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MIMD Sistemler</a:t>
            </a:r>
            <a:endParaRPr lang="tr-TR" sz="5400" dirty="0"/>
          </a:p>
        </p:txBody>
      </p:sp>
      <p:sp>
        <p:nvSpPr>
          <p:cNvPr id="3" name="İçerik Yer Tutucusu 3">
            <a:extLst>
              <a:ext uri="{FF2B5EF4-FFF2-40B4-BE49-F238E27FC236}">
                <a16:creationId xmlns:a16="http://schemas.microsoft.com/office/drawing/2014/main" id="{2B7530E5-749A-79DF-BB8F-230760A65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37" y="1173455"/>
            <a:ext cx="11977495" cy="5227347"/>
          </a:xfrm>
        </p:spPr>
        <p:txBody>
          <a:bodyPr>
            <a:normAutofit/>
          </a:bodyPr>
          <a:lstStyle/>
          <a:p>
            <a:r>
              <a:rPr lang="tr-TR" sz="3600" dirty="0"/>
              <a:t>Bu sistemler iki temel gruba ayrılır:</a:t>
            </a:r>
          </a:p>
          <a:p>
            <a:r>
              <a:rPr lang="tr-TR" sz="3600" dirty="0" err="1">
                <a:solidFill>
                  <a:srgbClr val="800000"/>
                </a:solidFill>
              </a:rPr>
              <a:t>Shared</a:t>
            </a:r>
            <a:r>
              <a:rPr lang="tr-TR" sz="3600" dirty="0">
                <a:solidFill>
                  <a:srgbClr val="800000"/>
                </a:solidFill>
              </a:rPr>
              <a:t>-Memory </a:t>
            </a:r>
            <a:r>
              <a:rPr lang="tr-TR" sz="3600" dirty="0" err="1">
                <a:solidFill>
                  <a:srgbClr val="800000"/>
                </a:solidFill>
              </a:rPr>
              <a:t>Systems</a:t>
            </a:r>
            <a:r>
              <a:rPr lang="tr-TR" sz="3600" dirty="0">
                <a:solidFill>
                  <a:srgbClr val="800000"/>
                </a:solidFill>
              </a:rPr>
              <a:t> - Hafıza Paylaşımlı Sistemler: </a:t>
            </a:r>
          </a:p>
          <a:p>
            <a:pPr lvl="1"/>
            <a:r>
              <a:rPr lang="tr-TR" sz="3200" dirty="0" err="1"/>
              <a:t>Uniform</a:t>
            </a:r>
            <a:r>
              <a:rPr lang="tr-TR" sz="3200" dirty="0"/>
              <a:t> Memory Access (UMA) – Tekdüze Bellek Erişimi</a:t>
            </a:r>
          </a:p>
          <a:p>
            <a:pPr lvl="1"/>
            <a:r>
              <a:rPr lang="tr-TR" sz="3200" dirty="0" err="1"/>
              <a:t>Nonuniform</a:t>
            </a:r>
            <a:r>
              <a:rPr lang="tr-TR" sz="3200" dirty="0"/>
              <a:t> Memory Access (NMA) – Tekdüze Olmayan Bellek Erişimi</a:t>
            </a:r>
          </a:p>
          <a:p>
            <a:pPr lvl="1"/>
            <a:endParaRPr lang="tr-TR" sz="3200" dirty="0"/>
          </a:p>
          <a:p>
            <a:r>
              <a:rPr lang="tr-TR" sz="3600" dirty="0">
                <a:solidFill>
                  <a:srgbClr val="800000"/>
                </a:solidFill>
              </a:rPr>
              <a:t>Distributed-Memory </a:t>
            </a:r>
            <a:r>
              <a:rPr lang="tr-TR" sz="3600" dirty="0" err="1">
                <a:solidFill>
                  <a:srgbClr val="800000"/>
                </a:solidFill>
              </a:rPr>
              <a:t>Systems</a:t>
            </a:r>
            <a:r>
              <a:rPr lang="tr-TR" sz="3600" dirty="0">
                <a:solidFill>
                  <a:srgbClr val="800000"/>
                </a:solidFill>
              </a:rPr>
              <a:t> - Dağıtık Bellek Sistemleri:</a:t>
            </a:r>
          </a:p>
          <a:p>
            <a:pPr lvl="1"/>
            <a:r>
              <a:rPr lang="tr-TR" sz="3200" dirty="0"/>
              <a:t>Bu sistemlere en iyi örnek işlemsel kümelerdir (</a:t>
            </a:r>
            <a:r>
              <a:rPr lang="tr-TR" sz="3200" dirty="0" err="1"/>
              <a:t>clusters</a:t>
            </a:r>
            <a:r>
              <a:rPr lang="tr-TR" sz="3200" dirty="0"/>
              <a:t>). Birbirlerine network ile bağlı olan PC’lerden oluşan küme sistemleri gibi</a:t>
            </a:r>
          </a:p>
          <a:p>
            <a:pPr lvl="1"/>
            <a:r>
              <a:rPr lang="tr-TR" sz="3200" dirty="0" err="1"/>
              <a:t>Hadoop</a:t>
            </a:r>
            <a:r>
              <a:rPr lang="tr-TR" sz="3200" dirty="0"/>
              <a:t> (</a:t>
            </a:r>
            <a:r>
              <a:rPr lang="tr-TR" sz="3200" dirty="0" err="1"/>
              <a:t>Hadoop</a:t>
            </a:r>
            <a:r>
              <a:rPr lang="tr-TR" sz="3200" dirty="0"/>
              <a:t> Distributed File </a:t>
            </a:r>
            <a:r>
              <a:rPr lang="tr-TR" sz="3200" dirty="0" err="1"/>
              <a:t>System</a:t>
            </a:r>
            <a:r>
              <a:rPr lang="tr-TR" sz="3200" dirty="0"/>
              <a:t> (HDFS) on Java)</a:t>
            </a:r>
          </a:p>
        </p:txBody>
      </p:sp>
    </p:spTree>
    <p:extLst>
      <p:ext uri="{BB962C8B-B14F-4D97-AF65-F5344CB8AC3E}">
        <p14:creationId xmlns:p14="http://schemas.microsoft.com/office/powerpoint/2010/main" val="1745819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Hafıza Paylaşımlı Sistem</a:t>
            </a:r>
            <a:endParaRPr lang="tr-TR" sz="54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6C127C3-A1CC-ECFF-B95C-B5AD6EEEB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8477" y="1173163"/>
            <a:ext cx="8975045" cy="4941593"/>
          </a:xfrm>
        </p:spPr>
      </p:pic>
    </p:spTree>
    <p:extLst>
      <p:ext uri="{BB962C8B-B14F-4D97-AF65-F5344CB8AC3E}">
        <p14:creationId xmlns:p14="http://schemas.microsoft.com/office/powerpoint/2010/main" val="52921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UMA ve NMA Kıyaslaması</a:t>
            </a:r>
            <a:endParaRPr lang="tr-TR" sz="5400" dirty="0"/>
          </a:p>
        </p:txBody>
      </p:sp>
      <p:pic>
        <p:nvPicPr>
          <p:cNvPr id="7" name="İçerik Yer Tutucusu 6">
            <a:extLst>
              <a:ext uri="{FF2B5EF4-FFF2-40B4-BE49-F238E27FC236}">
                <a16:creationId xmlns:a16="http://schemas.microsoft.com/office/drawing/2014/main" id="{773497EA-B7EE-5CBB-2D8C-6920B8060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821" y="1628918"/>
            <a:ext cx="11322308" cy="4162281"/>
          </a:xfrm>
        </p:spPr>
      </p:pic>
    </p:spTree>
    <p:extLst>
      <p:ext uri="{BB962C8B-B14F-4D97-AF65-F5344CB8AC3E}">
        <p14:creationId xmlns:p14="http://schemas.microsoft.com/office/powerpoint/2010/main" val="2004155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Dağıtık Bellek Sistemleri</a:t>
            </a:r>
            <a:endParaRPr lang="tr-TR" sz="5400" dirty="0"/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4DD6A286-3E24-8875-3A3A-1856D2A04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566" y="1199290"/>
            <a:ext cx="9869818" cy="4889860"/>
          </a:xfrm>
        </p:spPr>
      </p:pic>
    </p:spTree>
    <p:extLst>
      <p:ext uri="{BB962C8B-B14F-4D97-AF65-F5344CB8AC3E}">
        <p14:creationId xmlns:p14="http://schemas.microsoft.com/office/powerpoint/2010/main" val="4045762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800000"/>
                </a:solidFill>
              </a:rPr>
              <a:t>Arabağlantı</a:t>
            </a:r>
            <a:r>
              <a:rPr lang="tr-TR" sz="5400" dirty="0">
                <a:solidFill>
                  <a:srgbClr val="800000"/>
                </a:solidFill>
              </a:rPr>
              <a:t> Ağları (</a:t>
            </a:r>
            <a:r>
              <a:rPr lang="tr-TR" sz="5400" dirty="0" err="1">
                <a:solidFill>
                  <a:srgbClr val="800000"/>
                </a:solidFill>
              </a:rPr>
              <a:t>Interconnection</a:t>
            </a:r>
            <a:r>
              <a:rPr lang="tr-TR" sz="5400" dirty="0">
                <a:solidFill>
                  <a:srgbClr val="800000"/>
                </a:solidFill>
              </a:rPr>
              <a:t> Networks)</a:t>
            </a:r>
            <a:endParaRPr lang="tr-TR" sz="54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D1CC598-1EA4-4D1C-9A84-7B6F95E8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Günümüzde en çok kullanılan </a:t>
            </a:r>
            <a:r>
              <a:rPr lang="tr-TR" sz="3600" dirty="0" err="1"/>
              <a:t>arabağlantı</a:t>
            </a:r>
            <a:r>
              <a:rPr lang="tr-TR" sz="3600" dirty="0"/>
              <a:t> yöntemleri:</a:t>
            </a:r>
          </a:p>
          <a:p>
            <a:pPr lvl="1"/>
            <a:r>
              <a:rPr lang="tr-TR" sz="3200" dirty="0" err="1"/>
              <a:t>Bus</a:t>
            </a:r>
            <a:r>
              <a:rPr lang="tr-TR" sz="3200" dirty="0"/>
              <a:t> (Tümleşik veri bağlantı yolları)</a:t>
            </a:r>
          </a:p>
          <a:p>
            <a:pPr lvl="1"/>
            <a:r>
              <a:rPr lang="tr-TR" sz="3200" dirty="0" err="1"/>
              <a:t>Multiport</a:t>
            </a:r>
            <a:r>
              <a:rPr lang="tr-TR" sz="3200" dirty="0"/>
              <a:t> Memory (Çok yollu hafızalar)</a:t>
            </a:r>
          </a:p>
          <a:p>
            <a:pPr lvl="1"/>
            <a:r>
              <a:rPr lang="tr-TR" sz="3200" dirty="0" err="1"/>
              <a:t>Crossbars</a:t>
            </a:r>
            <a:r>
              <a:rPr lang="tr-TR" sz="3200" dirty="0"/>
              <a:t> (Çapraz bağlantılar)</a:t>
            </a:r>
          </a:p>
          <a:p>
            <a:pPr lvl="1"/>
            <a:r>
              <a:rPr lang="tr-TR" sz="3200" dirty="0" err="1"/>
              <a:t>Multistage</a:t>
            </a:r>
            <a:r>
              <a:rPr lang="tr-TR" sz="3200" dirty="0"/>
              <a:t> </a:t>
            </a:r>
            <a:r>
              <a:rPr lang="tr-TR" sz="3200" dirty="0" err="1"/>
              <a:t>Switching</a:t>
            </a:r>
            <a:r>
              <a:rPr lang="tr-TR" sz="3200" dirty="0"/>
              <a:t> Network (Çok kademeli Anahtarlama Ağı)</a:t>
            </a:r>
          </a:p>
          <a:p>
            <a:pPr lvl="1"/>
            <a:r>
              <a:rPr lang="tr-TR" sz="3200" dirty="0" err="1"/>
              <a:t>Hypercube</a:t>
            </a:r>
            <a:r>
              <a:rPr lang="tr-TR" sz="3200" dirty="0"/>
              <a:t> </a:t>
            </a:r>
            <a:r>
              <a:rPr lang="tr-TR" sz="3200" dirty="0" err="1"/>
              <a:t>System</a:t>
            </a:r>
            <a:r>
              <a:rPr lang="tr-TR" sz="3200" dirty="0"/>
              <a:t> (</a:t>
            </a:r>
            <a:r>
              <a:rPr lang="tr-TR" sz="3200" dirty="0" err="1"/>
              <a:t>Hiperküp</a:t>
            </a:r>
            <a:r>
              <a:rPr lang="tr-TR" sz="3200" dirty="0"/>
              <a:t> sistemler)</a:t>
            </a:r>
          </a:p>
          <a:p>
            <a:r>
              <a:rPr lang="tr-TR" sz="3600" dirty="0"/>
              <a:t>En çok kullanılan </a:t>
            </a:r>
            <a:r>
              <a:rPr lang="tr-TR" sz="3600" dirty="0" err="1"/>
              <a:t>Bus</a:t>
            </a:r>
            <a:r>
              <a:rPr lang="tr-TR" sz="3600" dirty="0"/>
              <a:t> ve </a:t>
            </a:r>
            <a:r>
              <a:rPr lang="tr-TR" sz="3600" dirty="0" err="1"/>
              <a:t>Crossbars</a:t>
            </a:r>
            <a:r>
              <a:rPr lang="tr-TR" sz="3600" dirty="0"/>
              <a:t> yapılarıdır.</a:t>
            </a:r>
          </a:p>
        </p:txBody>
      </p:sp>
    </p:spTree>
    <p:extLst>
      <p:ext uri="{BB962C8B-B14F-4D97-AF65-F5344CB8AC3E}">
        <p14:creationId xmlns:p14="http://schemas.microsoft.com/office/powerpoint/2010/main" val="4145085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800000"/>
                </a:solidFill>
              </a:rPr>
              <a:t>BUS </a:t>
            </a:r>
            <a:r>
              <a:rPr lang="tr-TR" sz="5400" dirty="0"/>
              <a:t>Y</a:t>
            </a:r>
            <a:r>
              <a:rPr lang="tr-TR" sz="5400" dirty="0">
                <a:solidFill>
                  <a:srgbClr val="800000"/>
                </a:solidFill>
              </a:rPr>
              <a:t>apısı</a:t>
            </a:r>
            <a:endParaRPr lang="tr-TR" sz="54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AAB9F48-8BD0-80B6-9575-C48D3FA2A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742" y="1094785"/>
            <a:ext cx="7580073" cy="5227637"/>
          </a:xfrm>
        </p:spPr>
      </p:pic>
    </p:spTree>
    <p:extLst>
      <p:ext uri="{BB962C8B-B14F-4D97-AF65-F5344CB8AC3E}">
        <p14:creationId xmlns:p14="http://schemas.microsoft.com/office/powerpoint/2010/main" val="2150606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800000"/>
                </a:solidFill>
              </a:rPr>
              <a:t>Multiport</a:t>
            </a:r>
            <a:r>
              <a:rPr lang="tr-TR" sz="5400" dirty="0">
                <a:solidFill>
                  <a:srgbClr val="800000"/>
                </a:solidFill>
              </a:rPr>
              <a:t> </a:t>
            </a:r>
            <a:r>
              <a:rPr lang="tr-TR" sz="5400" dirty="0"/>
              <a:t>Y</a:t>
            </a:r>
            <a:r>
              <a:rPr lang="tr-TR" sz="5400" dirty="0">
                <a:solidFill>
                  <a:srgbClr val="800000"/>
                </a:solidFill>
              </a:rPr>
              <a:t>apısı</a:t>
            </a:r>
            <a:endParaRPr lang="tr-TR" sz="540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43EDBB31-85B9-B039-4E83-2275A9CD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17" y="1157559"/>
            <a:ext cx="7283965" cy="515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9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800000"/>
                </a:solidFill>
              </a:rPr>
              <a:t>Crossbar</a:t>
            </a:r>
            <a:r>
              <a:rPr lang="tr-TR" sz="5400" dirty="0">
                <a:solidFill>
                  <a:srgbClr val="800000"/>
                </a:solidFill>
              </a:rPr>
              <a:t> </a:t>
            </a:r>
            <a:r>
              <a:rPr lang="tr-TR" sz="5400" dirty="0"/>
              <a:t>Y</a:t>
            </a:r>
            <a:r>
              <a:rPr lang="tr-TR" sz="5400" dirty="0">
                <a:solidFill>
                  <a:srgbClr val="800000"/>
                </a:solidFill>
              </a:rPr>
              <a:t>apısı</a:t>
            </a:r>
            <a:endParaRPr lang="tr-TR" sz="54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B45EE2B-2529-4AD1-C145-9391946F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37" y="1129937"/>
            <a:ext cx="11506201" cy="493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27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/>
              <a:t>Multistage</a:t>
            </a:r>
            <a:r>
              <a:rPr lang="tr-TR" sz="5400" dirty="0"/>
              <a:t> </a:t>
            </a:r>
            <a:r>
              <a:rPr lang="tr-TR" sz="5400" dirty="0" err="1"/>
              <a:t>Switching</a:t>
            </a:r>
            <a:r>
              <a:rPr lang="tr-TR" sz="5400" dirty="0"/>
              <a:t> Network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43DBF13-6021-E4AD-75C8-5471B50F3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690" y="1279750"/>
            <a:ext cx="8513173" cy="491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00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/>
              <a:t>Örn</a:t>
            </a:r>
            <a:r>
              <a:rPr lang="tr-TR" sz="5400" dirty="0"/>
              <a:t>: </a:t>
            </a:r>
            <a:r>
              <a:rPr lang="tr-TR" sz="5400" dirty="0" err="1"/>
              <a:t>Multistage</a:t>
            </a:r>
            <a:r>
              <a:rPr lang="tr-TR" sz="5400" dirty="0"/>
              <a:t> </a:t>
            </a:r>
            <a:r>
              <a:rPr lang="tr-TR" sz="5400" dirty="0" err="1"/>
              <a:t>Switching</a:t>
            </a:r>
            <a:r>
              <a:rPr lang="tr-TR" sz="5400" dirty="0"/>
              <a:t> Network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99F76DB-C4C9-5FFB-9225-7C6A22AEC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31" y="1018757"/>
            <a:ext cx="7283224" cy="546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2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/>
              <a:t>Hypercube</a:t>
            </a:r>
            <a:r>
              <a:rPr lang="tr-TR" sz="5400" dirty="0"/>
              <a:t> </a:t>
            </a:r>
            <a:r>
              <a:rPr lang="tr-TR" sz="5400" dirty="0" err="1"/>
              <a:t>System</a:t>
            </a:r>
            <a:endParaRPr lang="tr-TR" sz="54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9F93805-40FE-A61D-E970-3305B882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99" y="1375682"/>
            <a:ext cx="5692004" cy="287410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BDD2D19-94BF-1DF0-E124-7C8AB9C75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345" y="843099"/>
            <a:ext cx="4138204" cy="3483236"/>
          </a:xfrm>
          <a:prstGeom prst="rect">
            <a:avLst/>
          </a:prstGeom>
        </p:spPr>
      </p:pic>
      <p:sp>
        <p:nvSpPr>
          <p:cNvPr id="8" name="İçerik Yer Tutucusu 3">
            <a:extLst>
              <a:ext uri="{FF2B5EF4-FFF2-40B4-BE49-F238E27FC236}">
                <a16:creationId xmlns:a16="http://schemas.microsoft.com/office/drawing/2014/main" id="{AC5ADDBD-81E1-7DD6-5268-E9392F719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90" y="4204608"/>
            <a:ext cx="11977495" cy="2170636"/>
          </a:xfrm>
        </p:spPr>
        <p:txBody>
          <a:bodyPr>
            <a:normAutofit fontScale="92500" lnSpcReduction="10000"/>
          </a:bodyPr>
          <a:lstStyle/>
          <a:p>
            <a:r>
              <a:rPr lang="tr-TR" sz="3600" dirty="0"/>
              <a:t>N-boyutlu </a:t>
            </a:r>
            <a:r>
              <a:rPr lang="tr-TR" sz="3600" dirty="0" err="1"/>
              <a:t>hypercube</a:t>
            </a:r>
            <a:r>
              <a:rPr lang="tr-TR" sz="3600" dirty="0"/>
              <a:t>:</a:t>
            </a:r>
          </a:p>
          <a:p>
            <a:pPr lvl="1"/>
            <a:r>
              <a:rPr lang="tr-TR" sz="3200" dirty="0"/>
              <a:t>p = 2</a:t>
            </a:r>
            <a:r>
              <a:rPr lang="tr-TR" sz="3200" baseline="30000" dirty="0"/>
              <a:t>n </a:t>
            </a:r>
            <a:r>
              <a:rPr lang="tr-TR" sz="3200" dirty="0"/>
              <a:t> --&gt; p: </a:t>
            </a:r>
            <a:r>
              <a:rPr lang="tr-TR" sz="3200" dirty="0" err="1"/>
              <a:t>hypercube</a:t>
            </a:r>
            <a:r>
              <a:rPr lang="tr-TR" sz="3200" dirty="0"/>
              <a:t> </a:t>
            </a:r>
            <a:r>
              <a:rPr lang="tr-TR" sz="3200" dirty="0" err="1"/>
              <a:t>node</a:t>
            </a:r>
            <a:r>
              <a:rPr lang="tr-TR" sz="3200" dirty="0"/>
              <a:t> sayısı, n: </a:t>
            </a:r>
            <a:r>
              <a:rPr lang="tr-TR" sz="3200" dirty="0" err="1"/>
              <a:t>hypercube</a:t>
            </a:r>
            <a:r>
              <a:rPr lang="tr-TR" sz="3200" dirty="0"/>
              <a:t> boyutu (derecesi)</a:t>
            </a:r>
            <a:endParaRPr lang="tr-TR" sz="3200" baseline="30000" dirty="0"/>
          </a:p>
          <a:p>
            <a:pPr lvl="1"/>
            <a:endParaRPr lang="tr-TR" sz="3200" baseline="30000" dirty="0"/>
          </a:p>
          <a:p>
            <a:pPr lvl="1"/>
            <a:r>
              <a:rPr lang="tr-TR" sz="3200" dirty="0"/>
              <a:t>İşlemciler n-boyutlu bir </a:t>
            </a:r>
            <a:r>
              <a:rPr lang="tr-TR" sz="3200" dirty="0" err="1"/>
              <a:t>hypercube’in</a:t>
            </a:r>
            <a:r>
              <a:rPr lang="tr-TR" sz="3200" dirty="0"/>
              <a:t> köşesinde bulunur ve her biri doğrudan diğer komşu düğümlere bağlıdır.</a:t>
            </a:r>
          </a:p>
        </p:txBody>
      </p:sp>
    </p:spTree>
    <p:extLst>
      <p:ext uri="{BB962C8B-B14F-4D97-AF65-F5344CB8AC3E}">
        <p14:creationId xmlns:p14="http://schemas.microsoft.com/office/powerpoint/2010/main" val="2176654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800000"/>
                </a:solidFill>
              </a:rPr>
              <a:t>Latency</a:t>
            </a:r>
            <a:r>
              <a:rPr lang="tr-TR" sz="5400" dirty="0">
                <a:solidFill>
                  <a:srgbClr val="800000"/>
                </a:solidFill>
              </a:rPr>
              <a:t> ve </a:t>
            </a:r>
            <a:r>
              <a:rPr lang="tr-TR" sz="5400" dirty="0" err="1">
                <a:solidFill>
                  <a:srgbClr val="800000"/>
                </a:solidFill>
              </a:rPr>
              <a:t>Bandwith</a:t>
            </a:r>
            <a:r>
              <a:rPr lang="tr-TR" sz="5400" dirty="0">
                <a:solidFill>
                  <a:srgbClr val="800000"/>
                </a:solidFill>
              </a:rPr>
              <a:t> (Gecikme ve </a:t>
            </a:r>
            <a:r>
              <a:rPr lang="tr-TR" sz="5400" dirty="0" err="1">
                <a:solidFill>
                  <a:srgbClr val="800000"/>
                </a:solidFill>
              </a:rPr>
              <a:t>Bantgenişliği</a:t>
            </a:r>
            <a:r>
              <a:rPr lang="tr-TR" sz="5400" dirty="0"/>
              <a:t>)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D1CC598-1EA4-4D1C-9A84-7B6F95E8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tr-TR" sz="3600" dirty="0"/>
          </a:p>
          <a:p>
            <a:pPr marL="0" indent="0" algn="ctr">
              <a:buNone/>
            </a:pPr>
            <a:r>
              <a:rPr lang="tr-TR" sz="3600" i="1" dirty="0"/>
              <a:t>Mesaj Gönderim Süresi = </a:t>
            </a:r>
            <a:r>
              <a:rPr lang="tr-TR" sz="3600" i="1" dirty="0">
                <a:solidFill>
                  <a:srgbClr val="800000"/>
                </a:solidFill>
              </a:rPr>
              <a:t>l + n / b</a:t>
            </a:r>
          </a:p>
          <a:p>
            <a:pPr marL="0" indent="0">
              <a:buNone/>
            </a:pPr>
            <a:endParaRPr lang="tr-TR" sz="3600" dirty="0"/>
          </a:p>
          <a:p>
            <a:pPr marL="0" indent="0">
              <a:buNone/>
            </a:pPr>
            <a:r>
              <a:rPr lang="tr-TR" sz="3600" i="1" dirty="0">
                <a:solidFill>
                  <a:srgbClr val="800000"/>
                </a:solidFill>
              </a:rPr>
              <a:t>l : </a:t>
            </a:r>
            <a:r>
              <a:rPr lang="tr-TR" sz="3600" i="1" dirty="0"/>
              <a:t>Veri iletim hattın gecikme süresi (</a:t>
            </a:r>
            <a:r>
              <a:rPr lang="tr-TR" sz="3600" i="1" dirty="0" err="1"/>
              <a:t>encode</a:t>
            </a:r>
            <a:r>
              <a:rPr lang="tr-TR" sz="3600" i="1" dirty="0"/>
              <a:t>, </a:t>
            </a:r>
            <a:r>
              <a:rPr lang="tr-TR" sz="3600" i="1" dirty="0" err="1"/>
              <a:t>decode</a:t>
            </a:r>
            <a:r>
              <a:rPr lang="tr-TR" sz="3600" i="1" dirty="0"/>
              <a:t>)</a:t>
            </a:r>
          </a:p>
          <a:p>
            <a:pPr marL="0" indent="0">
              <a:buNone/>
            </a:pPr>
            <a:r>
              <a:rPr lang="tr-TR" sz="3600" i="1" dirty="0">
                <a:solidFill>
                  <a:srgbClr val="800000"/>
                </a:solidFill>
              </a:rPr>
              <a:t>n : </a:t>
            </a:r>
            <a:r>
              <a:rPr lang="tr-TR" sz="3600" i="1" dirty="0"/>
              <a:t>Mesaj uzunluğu (byte türünde)</a:t>
            </a:r>
          </a:p>
          <a:p>
            <a:pPr marL="0" indent="0">
              <a:buNone/>
            </a:pPr>
            <a:r>
              <a:rPr lang="tr-TR" sz="3600" i="1" dirty="0">
                <a:solidFill>
                  <a:srgbClr val="800000"/>
                </a:solidFill>
              </a:rPr>
              <a:t>b : </a:t>
            </a:r>
            <a:r>
              <a:rPr lang="tr-TR" sz="3600" i="1" dirty="0"/>
              <a:t>(</a:t>
            </a:r>
            <a:r>
              <a:rPr lang="tr-TR" sz="3600" i="1" dirty="0" err="1"/>
              <a:t>Bantgenişliği</a:t>
            </a:r>
            <a:r>
              <a:rPr lang="tr-TR" sz="3600" i="1" dirty="0"/>
              <a:t>) Veri yolunun saniyede gönderebileceği maksimum byte miktarı</a:t>
            </a:r>
          </a:p>
          <a:p>
            <a:pPr marL="0" indent="0">
              <a:buNone/>
            </a:pP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3955073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095E78-538F-15EC-C0F6-8BA34337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800000"/>
                </a:solidFill>
              </a:rPr>
              <a:t>Örn</a:t>
            </a:r>
            <a:r>
              <a:rPr lang="tr-TR" sz="5400" dirty="0">
                <a:solidFill>
                  <a:srgbClr val="800000"/>
                </a:solidFill>
              </a:rPr>
              <a:t>: </a:t>
            </a:r>
            <a:r>
              <a:rPr lang="tr-TR" sz="5400" dirty="0" err="1">
                <a:solidFill>
                  <a:srgbClr val="800000"/>
                </a:solidFill>
              </a:rPr>
              <a:t>Latency</a:t>
            </a:r>
            <a:r>
              <a:rPr lang="tr-TR" sz="5400" dirty="0">
                <a:solidFill>
                  <a:srgbClr val="800000"/>
                </a:solidFill>
              </a:rPr>
              <a:t> ve </a:t>
            </a:r>
            <a:r>
              <a:rPr lang="tr-TR" sz="5400" dirty="0" err="1">
                <a:solidFill>
                  <a:srgbClr val="800000"/>
                </a:solidFill>
              </a:rPr>
              <a:t>Bandwith</a:t>
            </a:r>
            <a:endParaRPr lang="tr-TR" sz="5400" dirty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D1CC598-1EA4-4D1C-9A84-7B6F95E8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600" dirty="0"/>
              <a:t>Bant genişliği 8Kbps olan </a:t>
            </a:r>
            <a:r>
              <a:rPr lang="tr-TR" sz="3600" dirty="0" err="1"/>
              <a:t>veriyolu</a:t>
            </a:r>
            <a:r>
              <a:rPr lang="tr-TR" sz="3600" dirty="0"/>
              <a:t> hattı üzerinde 8KB bir veri paketi taşınmak isteniyor. Sistemin gecikmesi 10 </a:t>
            </a:r>
            <a:r>
              <a:rPr lang="tr-TR" sz="3600" dirty="0" err="1"/>
              <a:t>ms</a:t>
            </a:r>
            <a:r>
              <a:rPr lang="tr-TR" sz="3600" dirty="0"/>
              <a:t> olduğuna göre bu paketin alıcıya iletilmesi ne kadar süre alır?</a:t>
            </a:r>
          </a:p>
          <a:p>
            <a:endParaRPr lang="tr-TR" sz="3600" dirty="0"/>
          </a:p>
          <a:p>
            <a:pPr marL="457189" lvl="1" indent="0">
              <a:buNone/>
            </a:pPr>
            <a:r>
              <a:rPr lang="tr-TR" sz="3200" dirty="0" err="1"/>
              <a:t>Gs</a:t>
            </a:r>
            <a:r>
              <a:rPr lang="tr-TR" sz="3200" dirty="0"/>
              <a:t> = </a:t>
            </a:r>
            <a:r>
              <a:rPr lang="tr-TR" sz="3200" i="1" dirty="0"/>
              <a:t>l + n / b = </a:t>
            </a:r>
            <a:r>
              <a:rPr lang="tr-TR" sz="3200" dirty="0"/>
              <a:t>10ms + 2^3 * 8Kb / 8Kbps = 8,010s</a:t>
            </a:r>
            <a:endParaRPr lang="tr-TR" sz="3200" i="1" dirty="0"/>
          </a:p>
        </p:txBody>
      </p:sp>
    </p:spTree>
    <p:extLst>
      <p:ext uri="{BB962C8B-B14F-4D97-AF65-F5344CB8AC3E}">
        <p14:creationId xmlns:p14="http://schemas.microsoft.com/office/powerpoint/2010/main" val="486614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BD5C1E-0C72-B710-F9CC-0866670C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5FDA8F-AFA6-849D-C727-A4956773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tr-TR" sz="4800" i="1" dirty="0"/>
          </a:p>
          <a:p>
            <a:pPr marL="0" indent="0">
              <a:buNone/>
            </a:pPr>
            <a:endParaRPr lang="tr-TR" sz="4800" i="1" dirty="0"/>
          </a:p>
          <a:p>
            <a:pPr marL="0" indent="0" algn="r">
              <a:buNone/>
            </a:pPr>
            <a:r>
              <a:rPr lang="tr-TR" sz="4800" i="1" dirty="0"/>
              <a:t>Teşekkürler.</a:t>
            </a:r>
          </a:p>
          <a:p>
            <a:pPr marL="0" indent="0" algn="r">
              <a:buNone/>
            </a:pPr>
            <a:endParaRPr lang="tr-TR" sz="4800" i="1" dirty="0"/>
          </a:p>
          <a:p>
            <a:pPr marL="0" indent="0" algn="r">
              <a:buNone/>
            </a:pPr>
            <a:r>
              <a:rPr lang="tr-TR" sz="4800" i="1" dirty="0"/>
              <a:t>Sorular…</a:t>
            </a:r>
          </a:p>
        </p:txBody>
      </p:sp>
    </p:spTree>
    <p:extLst>
      <p:ext uri="{BB962C8B-B14F-4D97-AF65-F5344CB8AC3E}">
        <p14:creationId xmlns:p14="http://schemas.microsoft.com/office/powerpoint/2010/main" val="22661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11260</TotalTime>
  <Words>850</Words>
  <Application>Microsoft Office PowerPoint</Application>
  <PresentationFormat>Geniş ekran</PresentationFormat>
  <Paragraphs>123</Paragraphs>
  <Slides>25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3" baseType="lpstr">
      <vt:lpstr>Wingdings</vt:lpstr>
      <vt:lpstr>ISOCPEUR</vt:lpstr>
      <vt:lpstr>Calibri</vt:lpstr>
      <vt:lpstr>Segoe UI</vt:lpstr>
      <vt:lpstr>Arial</vt:lpstr>
      <vt:lpstr>Buxton Sketch</vt:lpstr>
      <vt:lpstr>Calibri Light</vt:lpstr>
      <vt:lpstr>Office Theme</vt:lpstr>
      <vt:lpstr>PowerPoint Sunusu</vt:lpstr>
      <vt:lpstr>İçerik</vt:lpstr>
      <vt:lpstr>Pipelines (Boru Hattı Mimarisi)</vt:lpstr>
      <vt:lpstr>Pipelines (Boru Hattı Mimarisi)</vt:lpstr>
      <vt:lpstr>Pipelines (Boru Hattı Mimarisi)</vt:lpstr>
      <vt:lpstr>Paralel Donanım Mimarileri</vt:lpstr>
      <vt:lpstr>SISD (Single Instruction, Single Data Stream)</vt:lpstr>
      <vt:lpstr>SIMD (Single Instruction, Multiple Data Stream)</vt:lpstr>
      <vt:lpstr>SIMD (Single Instruction, Multiple Data Stream)</vt:lpstr>
      <vt:lpstr>MISD (Multiple Instruction, Single Data Stream)</vt:lpstr>
      <vt:lpstr>MIMD (Multiple Instruction, Multiple Data Stream)</vt:lpstr>
      <vt:lpstr>MIMD Sistemler</vt:lpstr>
      <vt:lpstr>Hafıza Paylaşımlı Sistem</vt:lpstr>
      <vt:lpstr>UMA ve NMA Kıyaslaması</vt:lpstr>
      <vt:lpstr>Dağıtık Bellek Sistemleri</vt:lpstr>
      <vt:lpstr>Arabağlantı Ağları (Interconnection Networks)</vt:lpstr>
      <vt:lpstr>BUS Yapısı</vt:lpstr>
      <vt:lpstr>Multiport Yapısı</vt:lpstr>
      <vt:lpstr>Crossbar Yapısı</vt:lpstr>
      <vt:lpstr>Multistage Switching Network</vt:lpstr>
      <vt:lpstr>Örn: Multistage Switching Network</vt:lpstr>
      <vt:lpstr>Hypercube System</vt:lpstr>
      <vt:lpstr>Latency ve Bandwith (Gecikme ve Bantgenişliği)</vt:lpstr>
      <vt:lpstr>Örn: Latency ve Bandwith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FUNDA KUTLU ONAY</cp:lastModifiedBy>
  <cp:revision>450</cp:revision>
  <dcterms:created xsi:type="dcterms:W3CDTF">2014-08-07T11:12:53Z</dcterms:created>
  <dcterms:modified xsi:type="dcterms:W3CDTF">2024-03-03T19:29:07Z</dcterms:modified>
</cp:coreProperties>
</file>